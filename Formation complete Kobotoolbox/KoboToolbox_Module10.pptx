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80" y="1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hlou Alphonse Euphreme" userId="f12afe77-4db7-47e3-b604-bb0d456a5c02" providerId="ADAL" clId="{4890F534-C102-41F9-978A-E7DBDB1CFE02}"/>
    <pc:docChg chg="modSld">
      <pc:chgData name="Ahlou Alphonse Euphreme" userId="f12afe77-4db7-47e3-b604-bb0d456a5c02" providerId="ADAL" clId="{4890F534-C102-41F9-978A-E7DBDB1CFE02}" dt="2026-06-21T23:52:11.639" v="5" actId="1076"/>
      <pc:docMkLst>
        <pc:docMk/>
      </pc:docMkLst>
      <pc:sldChg chg="modSp mod">
        <pc:chgData name="Ahlou Alphonse Euphreme" userId="f12afe77-4db7-47e3-b604-bb0d456a5c02" providerId="ADAL" clId="{4890F534-C102-41F9-978A-E7DBDB1CFE02}" dt="2026-06-21T23:38:55.272" v="4" actId="13926"/>
        <pc:sldMkLst>
          <pc:docMk/>
          <pc:sldMk cId="0" sldId="261"/>
        </pc:sldMkLst>
        <pc:spChg chg="mod">
          <ac:chgData name="Ahlou Alphonse Euphreme" userId="f12afe77-4db7-47e3-b604-bb0d456a5c02" providerId="ADAL" clId="{4890F534-C102-41F9-978A-E7DBDB1CFE02}" dt="2026-06-21T23:38:45.112" v="3" actId="13926"/>
          <ac:spMkLst>
            <pc:docMk/>
            <pc:sldMk cId="0" sldId="261"/>
            <ac:spMk id="41" creationId="{00000000-0000-0000-0000-000000000000}"/>
          </ac:spMkLst>
        </pc:spChg>
        <pc:spChg chg="mod">
          <ac:chgData name="Ahlou Alphonse Euphreme" userId="f12afe77-4db7-47e3-b604-bb0d456a5c02" providerId="ADAL" clId="{4890F534-C102-41F9-978A-E7DBDB1CFE02}" dt="2026-06-21T23:38:34.336" v="2" actId="13926"/>
          <ac:spMkLst>
            <pc:docMk/>
            <pc:sldMk cId="0" sldId="261"/>
            <ac:spMk id="45" creationId="{00000000-0000-0000-0000-000000000000}"/>
          </ac:spMkLst>
        </pc:spChg>
        <pc:spChg chg="mod">
          <ac:chgData name="Ahlou Alphonse Euphreme" userId="f12afe77-4db7-47e3-b604-bb0d456a5c02" providerId="ADAL" clId="{4890F534-C102-41F9-978A-E7DBDB1CFE02}" dt="2026-06-21T23:38:22.473" v="1" actId="13926"/>
          <ac:spMkLst>
            <pc:docMk/>
            <pc:sldMk cId="0" sldId="261"/>
            <ac:spMk id="50" creationId="{00000000-0000-0000-0000-000000000000}"/>
          </ac:spMkLst>
        </pc:spChg>
        <pc:spChg chg="mod">
          <ac:chgData name="Ahlou Alphonse Euphreme" userId="f12afe77-4db7-47e3-b604-bb0d456a5c02" providerId="ADAL" clId="{4890F534-C102-41F9-978A-E7DBDB1CFE02}" dt="2026-06-21T23:38:55.272" v="4" actId="13926"/>
          <ac:spMkLst>
            <pc:docMk/>
            <pc:sldMk cId="0" sldId="261"/>
            <ac:spMk id="56" creationId="{00000000-0000-0000-0000-000000000000}"/>
          </ac:spMkLst>
        </pc:spChg>
      </pc:sldChg>
      <pc:sldChg chg="modSp mod">
        <pc:chgData name="Ahlou Alphonse Euphreme" userId="f12afe77-4db7-47e3-b604-bb0d456a5c02" providerId="ADAL" clId="{4890F534-C102-41F9-978A-E7DBDB1CFE02}" dt="2026-06-21T23:52:11.639" v="5" actId="1076"/>
        <pc:sldMkLst>
          <pc:docMk/>
          <pc:sldMk cId="0" sldId="262"/>
        </pc:sldMkLst>
        <pc:spChg chg="mod">
          <ac:chgData name="Ahlou Alphonse Euphreme" userId="f12afe77-4db7-47e3-b604-bb0d456a5c02" providerId="ADAL" clId="{4890F534-C102-41F9-978A-E7DBDB1CFE02}" dt="2026-06-21T23:52:11.639" v="5" actId="1076"/>
          <ac:spMkLst>
            <pc:docMk/>
            <pc:sldMk cId="0" sldId="262"/>
            <ac:spMk id="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002580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4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3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3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6217920" y="-457200"/>
            <a:ext cx="4114800" cy="685800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 rot="900000">
            <a:off x="6858000" y="-457200"/>
            <a:ext cx="4114800" cy="6858000"/>
          </a:xfrm>
          <a:prstGeom prst="rect">
            <a:avLst/>
          </a:prstGeom>
          <a:solidFill>
            <a:srgbClr val="0A274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B6E4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457200" y="457200"/>
            <a:ext cx="2194560" cy="384048"/>
          </a:xfrm>
          <a:prstGeom prst="rect">
            <a:avLst/>
          </a:prstGeom>
          <a:solidFill>
            <a:srgbClr val="0B6E4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10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5486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&amp;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" y="1682496"/>
            <a:ext cx="6400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intégrations</a:t>
            </a:r>
            <a:endParaRPr lang="en-US" sz="4000" dirty="0"/>
          </a:p>
        </p:txBody>
      </p:sp>
      <p:sp>
        <p:nvSpPr>
          <p:cNvPr id="9" name="Shape 7"/>
          <p:cNvSpPr/>
          <p:nvPr/>
        </p:nvSpPr>
        <p:spPr>
          <a:xfrm>
            <a:off x="457200" y="2542032"/>
            <a:ext cx="3200400" cy="36576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457200" y="2670048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9D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KoboToolbox de A à Z  ·  Vidéo 15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303580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~25 min  ·  XLS · CSV · KML · GeoJSON · API REST · Power BI · Google Sheets · Webhooks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858768"/>
            <a:ext cx="475488" cy="475488"/>
          </a:xfrm>
          <a:prstGeom prst="ellipse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950208"/>
            <a:ext cx="292608" cy="292608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320040" y="4389120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9D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XLS / CSV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2560320" y="3858768"/>
            <a:ext cx="475488" cy="475488"/>
          </a:xfrm>
          <a:prstGeom prst="ellipse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1760" y="3950208"/>
            <a:ext cx="292608" cy="29260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423160" y="4389120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9D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KML / GeoJSON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4663440" y="3858768"/>
            <a:ext cx="475488" cy="475488"/>
          </a:xfrm>
          <a:prstGeom prst="ellipse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3950208"/>
            <a:ext cx="292608" cy="29260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526280" y="4389120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9D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6766560" y="3858768"/>
            <a:ext cx="475488" cy="475488"/>
          </a:xfrm>
          <a:prstGeom prst="ellipse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0" y="3950208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629400" y="4389120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9D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188720"/>
          </a:xfrm>
          <a:prstGeom prst="rect">
            <a:avLst/>
          </a:prstGeom>
          <a:solidFill>
            <a:srgbClr val="0B6E4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128016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programme — Module 10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9D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Exporter, connecter et automatiser les données KoboToolbox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D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KoboToolbox de A à Z — Module 10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90118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9D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1280160"/>
            <a:ext cx="850392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320040" y="1280160"/>
            <a:ext cx="64008" cy="475488"/>
          </a:xfrm>
          <a:prstGeom prst="rect">
            <a:avLst/>
          </a:prstGeom>
          <a:solidFill>
            <a:srgbClr val="21734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57200" y="1298448"/>
            <a:ext cx="530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17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078992" y="1307592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XLS et CSV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078992" y="153619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Télécharger les données brutes pour analyse externe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1828800"/>
            <a:ext cx="850392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320040" y="1828800"/>
            <a:ext cx="64008" cy="475488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457200" y="1847088"/>
            <a:ext cx="530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078992" y="1856232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KML et GeoJSON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078992" y="208483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Exporter les données GPS pour cartographie (QGIS, Google Maps)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2377440"/>
            <a:ext cx="850392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320040" y="2377440"/>
            <a:ext cx="64008" cy="475488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457200" y="2395728"/>
            <a:ext cx="530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078992" y="2404872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— Accès avec token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078992" y="263347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Récupérer les données programmatiquement avec authentification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2926080"/>
            <a:ext cx="850392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320040" y="2926080"/>
            <a:ext cx="64008" cy="475488"/>
          </a:xfrm>
          <a:prstGeom prst="rect">
            <a:avLst/>
          </a:prstGeom>
          <a:solidFill>
            <a:srgbClr val="0F9D5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457200" y="2944368"/>
            <a:ext cx="530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9D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1078992" y="2953512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Connecter à Google Sheets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078992" y="318211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Synchronisation automatique des soumissions vers un tableur Google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" y="3474720"/>
            <a:ext cx="850392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0" name="Shape 28"/>
          <p:cNvSpPr/>
          <p:nvPr/>
        </p:nvSpPr>
        <p:spPr>
          <a:xfrm>
            <a:off x="320040" y="3474720"/>
            <a:ext cx="64008" cy="475488"/>
          </a:xfrm>
          <a:prstGeom prst="rect">
            <a:avLst/>
          </a:prstGeom>
          <a:solidFill>
            <a:srgbClr val="F2C81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457200" y="3493008"/>
            <a:ext cx="530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2C8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1078992" y="3502152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Connecter à Power BI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1078992" y="373075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professionnel avec actualisation automatique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20040" y="4023360"/>
            <a:ext cx="850392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5" name="Shape 33"/>
          <p:cNvSpPr/>
          <p:nvPr/>
        </p:nvSpPr>
        <p:spPr>
          <a:xfrm>
            <a:off x="320040" y="4023360"/>
            <a:ext cx="64008" cy="475488"/>
          </a:xfrm>
          <a:prstGeom prst="rect">
            <a:avLst/>
          </a:prstGeom>
          <a:solidFill>
            <a:srgbClr val="BA4A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457200" y="4041648"/>
            <a:ext cx="530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BA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1078992" y="4050792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Webhooks — notifications automatiques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1078992" y="427939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Déclencher une action externe à chaque nouvelle soumission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20040" y="4572000"/>
            <a:ext cx="850392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0" name="Shape 38"/>
          <p:cNvSpPr/>
          <p:nvPr/>
        </p:nvSpPr>
        <p:spPr>
          <a:xfrm>
            <a:off x="320040" y="4572000"/>
            <a:ext cx="64008" cy="475488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" name="Text 39"/>
          <p:cNvSpPr/>
          <p:nvPr/>
        </p:nvSpPr>
        <p:spPr>
          <a:xfrm>
            <a:off x="457200" y="4590288"/>
            <a:ext cx="530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700" dirty="0"/>
          </a:p>
        </p:txBody>
      </p:sp>
      <p:sp>
        <p:nvSpPr>
          <p:cNvPr id="42" name="Text 40"/>
          <p:cNvSpPr/>
          <p:nvPr/>
        </p:nvSpPr>
        <p:spPr>
          <a:xfrm>
            <a:off x="1078992" y="4599432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Bonnes pratiques d'intégration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1078992" y="482803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Sécurité, tokens, gestion des versions et des erreurs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188720"/>
          </a:xfrm>
          <a:prstGeom prst="rect">
            <a:avLst/>
          </a:prstGeom>
          <a:solidFill>
            <a:srgbClr val="0B6E4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128016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XLS — Excel et CSV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9D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Télécharger toutes les données en un clic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D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KoboToolbox de A à Z — Module 10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90118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9D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261872"/>
            <a:ext cx="64008" cy="3493008"/>
          </a:xfrm>
          <a:prstGeom prst="rect">
            <a:avLst/>
          </a:prstGeom>
          <a:solidFill>
            <a:srgbClr val="21734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548640" y="12801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7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exporter 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1664208"/>
            <a:ext cx="4114800" cy="585216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365760" y="1664208"/>
            <a:ext cx="64008" cy="585216"/>
          </a:xfrm>
          <a:prstGeom prst="rect">
            <a:avLst/>
          </a:prstGeom>
          <a:solidFill>
            <a:srgbClr val="21734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457200" y="1746504"/>
            <a:ext cx="420624" cy="420624"/>
          </a:xfrm>
          <a:prstGeom prst="ellipse">
            <a:avLst/>
          </a:prstGeom>
          <a:solidFill>
            <a:srgbClr val="21734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457200" y="17465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1792224"/>
            <a:ext cx="292608" cy="292608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371600" y="1719072"/>
            <a:ext cx="3035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Onglet Data → bouton « Télécharger »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1371600" y="1975104"/>
            <a:ext cx="3035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 Reports → bouton Télécharger (données + graphiques)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365760" y="2322576"/>
            <a:ext cx="4114800" cy="585216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9" name="Shape 16"/>
          <p:cNvSpPr/>
          <p:nvPr/>
        </p:nvSpPr>
        <p:spPr>
          <a:xfrm>
            <a:off x="365760" y="2322576"/>
            <a:ext cx="64008" cy="585216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Shape 17"/>
          <p:cNvSpPr/>
          <p:nvPr/>
        </p:nvSpPr>
        <p:spPr>
          <a:xfrm>
            <a:off x="457200" y="2404872"/>
            <a:ext cx="420624" cy="420624"/>
          </a:xfrm>
          <a:prstGeom prst="ellipse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8"/>
          <p:cNvSpPr/>
          <p:nvPr/>
        </p:nvSpPr>
        <p:spPr>
          <a:xfrm>
            <a:off x="457200" y="24048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" y="2450592"/>
            <a:ext cx="292608" cy="292608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1371600" y="2377440"/>
            <a:ext cx="3035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Choisir le format : XLS ou CSV</a:t>
            </a:r>
            <a:endParaRPr lang="en-US" sz="1150" dirty="0"/>
          </a:p>
        </p:txBody>
      </p:sp>
      <p:sp>
        <p:nvSpPr>
          <p:cNvPr id="24" name="Text 20"/>
          <p:cNvSpPr/>
          <p:nvPr/>
        </p:nvSpPr>
        <p:spPr>
          <a:xfrm>
            <a:off x="1371600" y="2633472"/>
            <a:ext cx="3035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XLS = Excel complet avec onglets · CSV = texte brut universel</a:t>
            </a:r>
            <a:endParaRPr lang="en-US" sz="950" dirty="0"/>
          </a:p>
        </p:txBody>
      </p:sp>
      <p:sp>
        <p:nvSpPr>
          <p:cNvPr id="25" name="Shape 21"/>
          <p:cNvSpPr/>
          <p:nvPr/>
        </p:nvSpPr>
        <p:spPr>
          <a:xfrm>
            <a:off x="365760" y="2980944"/>
            <a:ext cx="4114800" cy="585216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6" name="Shape 22"/>
          <p:cNvSpPr/>
          <p:nvPr/>
        </p:nvSpPr>
        <p:spPr>
          <a:xfrm>
            <a:off x="365760" y="2980944"/>
            <a:ext cx="64008" cy="585216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Shape 23"/>
          <p:cNvSpPr/>
          <p:nvPr/>
        </p:nvSpPr>
        <p:spPr>
          <a:xfrm>
            <a:off x="457200" y="3063240"/>
            <a:ext cx="420624" cy="420624"/>
          </a:xfrm>
          <a:prstGeom prst="ellipse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Text 24"/>
          <p:cNvSpPr/>
          <p:nvPr/>
        </p:nvSpPr>
        <p:spPr>
          <a:xfrm>
            <a:off x="457200" y="30632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552" y="3108960"/>
            <a:ext cx="292608" cy="292608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1371600" y="3035808"/>
            <a:ext cx="3035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Options avancées</a:t>
            </a:r>
            <a:endParaRPr lang="en-US" sz="1150" dirty="0"/>
          </a:p>
        </p:txBody>
      </p:sp>
      <p:sp>
        <p:nvSpPr>
          <p:cNvPr id="31" name="Text 26"/>
          <p:cNvSpPr/>
          <p:nvPr/>
        </p:nvSpPr>
        <p:spPr>
          <a:xfrm>
            <a:off x="1371600" y="3291840"/>
            <a:ext cx="3035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Inclure les médias · Colonnes de métadonnées · Groupes</a:t>
            </a:r>
            <a:endParaRPr lang="en-US" sz="950" dirty="0"/>
          </a:p>
        </p:txBody>
      </p:sp>
      <p:sp>
        <p:nvSpPr>
          <p:cNvPr id="32" name="Shape 27"/>
          <p:cNvSpPr/>
          <p:nvPr/>
        </p:nvSpPr>
        <p:spPr>
          <a:xfrm>
            <a:off x="365760" y="3639312"/>
            <a:ext cx="4114800" cy="585216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3" name="Shape 28"/>
          <p:cNvSpPr/>
          <p:nvPr/>
        </p:nvSpPr>
        <p:spPr>
          <a:xfrm>
            <a:off x="365760" y="3639312"/>
            <a:ext cx="64008" cy="585216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" name="Shape 29"/>
          <p:cNvSpPr/>
          <p:nvPr/>
        </p:nvSpPr>
        <p:spPr>
          <a:xfrm>
            <a:off x="457200" y="3721608"/>
            <a:ext cx="420624" cy="420624"/>
          </a:xfrm>
          <a:prstGeom prst="ellipse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" name="Text 30"/>
          <p:cNvSpPr/>
          <p:nvPr/>
        </p:nvSpPr>
        <p:spPr>
          <a:xfrm>
            <a:off x="457200" y="37216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pic>
        <p:nvPicPr>
          <p:cNvPr id="3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7552" y="3767328"/>
            <a:ext cx="292608" cy="292608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1371600" y="3694176"/>
            <a:ext cx="3035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Télécharger et ouvrir</a:t>
            </a:r>
            <a:endParaRPr lang="en-US" sz="1150" dirty="0"/>
          </a:p>
        </p:txBody>
      </p:sp>
      <p:sp>
        <p:nvSpPr>
          <p:cNvPr id="38" name="Text 32"/>
          <p:cNvSpPr/>
          <p:nvPr/>
        </p:nvSpPr>
        <p:spPr>
          <a:xfrm>
            <a:off x="1371600" y="3950208"/>
            <a:ext cx="3035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 ZIP si médias inclus · Fichier XLS/CSV directement sinon</a:t>
            </a:r>
            <a:endParaRPr lang="en-US" sz="950" dirty="0"/>
          </a:p>
        </p:txBody>
      </p:sp>
      <p:sp>
        <p:nvSpPr>
          <p:cNvPr id="39" name="Shape 33"/>
          <p:cNvSpPr/>
          <p:nvPr/>
        </p:nvSpPr>
        <p:spPr>
          <a:xfrm>
            <a:off x="4754880" y="1261872"/>
            <a:ext cx="4114800" cy="349300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0" name="Shape 34"/>
          <p:cNvSpPr/>
          <p:nvPr/>
        </p:nvSpPr>
        <p:spPr>
          <a:xfrm>
            <a:off x="4754880" y="1261872"/>
            <a:ext cx="4114800" cy="384048"/>
          </a:xfrm>
          <a:prstGeom prst="rect">
            <a:avLst/>
          </a:prstGeom>
          <a:solidFill>
            <a:srgbClr val="217346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28032" y="1316736"/>
            <a:ext cx="274320" cy="274320"/>
          </a:xfrm>
          <a:prstGeom prst="rect">
            <a:avLst/>
          </a:prstGeom>
        </p:spPr>
      </p:pic>
      <p:sp>
        <p:nvSpPr>
          <p:cNvPr id="42" name="Text 35"/>
          <p:cNvSpPr/>
          <p:nvPr/>
        </p:nvSpPr>
        <p:spPr>
          <a:xfrm>
            <a:off x="5138928" y="128016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du fichier XLS exporté</a:t>
            </a:r>
            <a:endParaRPr lang="en-US" sz="1000" dirty="0"/>
          </a:p>
        </p:txBody>
      </p:sp>
      <p:sp>
        <p:nvSpPr>
          <p:cNvPr id="43" name="Shape 36"/>
          <p:cNvSpPr/>
          <p:nvPr/>
        </p:nvSpPr>
        <p:spPr>
          <a:xfrm>
            <a:off x="4828032" y="1719072"/>
            <a:ext cx="1207008" cy="256032"/>
          </a:xfrm>
          <a:prstGeom prst="rect">
            <a:avLst/>
          </a:prstGeom>
          <a:solidFill>
            <a:srgbClr val="21734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4" name="Text 37"/>
          <p:cNvSpPr/>
          <p:nvPr/>
        </p:nvSpPr>
        <p:spPr>
          <a:xfrm>
            <a:off x="4828032" y="1719072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Enquête_VEZO</a:t>
            </a:r>
            <a:endParaRPr lang="en-US" sz="800" dirty="0"/>
          </a:p>
        </p:txBody>
      </p:sp>
      <p:sp>
        <p:nvSpPr>
          <p:cNvPr id="45" name="Shape 38"/>
          <p:cNvSpPr/>
          <p:nvPr/>
        </p:nvSpPr>
        <p:spPr>
          <a:xfrm>
            <a:off x="6089904" y="1719072"/>
            <a:ext cx="1207008" cy="256032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6" name="Text 39"/>
          <p:cNvSpPr/>
          <p:nvPr/>
        </p:nvSpPr>
        <p:spPr>
          <a:xfrm>
            <a:off x="6089904" y="1719072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choices</a:t>
            </a:r>
            <a:endParaRPr lang="en-US" sz="800" dirty="0"/>
          </a:p>
        </p:txBody>
      </p:sp>
      <p:sp>
        <p:nvSpPr>
          <p:cNvPr id="47" name="Shape 40"/>
          <p:cNvSpPr/>
          <p:nvPr/>
        </p:nvSpPr>
        <p:spPr>
          <a:xfrm>
            <a:off x="7351776" y="1719072"/>
            <a:ext cx="1207008" cy="256032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8" name="Text 41"/>
          <p:cNvSpPr/>
          <p:nvPr/>
        </p:nvSpPr>
        <p:spPr>
          <a:xfrm>
            <a:off x="7351776" y="1719072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</a:t>
            </a:r>
            <a:endParaRPr lang="en-US" sz="800" dirty="0"/>
          </a:p>
        </p:txBody>
      </p:sp>
      <p:sp>
        <p:nvSpPr>
          <p:cNvPr id="49" name="Shape 42"/>
          <p:cNvSpPr/>
          <p:nvPr/>
        </p:nvSpPr>
        <p:spPr>
          <a:xfrm>
            <a:off x="4828032" y="2011680"/>
            <a:ext cx="402336" cy="237744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0" name="Text 43"/>
          <p:cNvSpPr/>
          <p:nvPr/>
        </p:nvSpPr>
        <p:spPr>
          <a:xfrm>
            <a:off x="4846320" y="20299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650" dirty="0"/>
          </a:p>
        </p:txBody>
      </p:sp>
      <p:sp>
        <p:nvSpPr>
          <p:cNvPr id="51" name="Shape 44"/>
          <p:cNvSpPr/>
          <p:nvPr/>
        </p:nvSpPr>
        <p:spPr>
          <a:xfrm>
            <a:off x="5230368" y="2011680"/>
            <a:ext cx="402336" cy="237744"/>
          </a:xfrm>
          <a:prstGeom prst="rect">
            <a:avLst/>
          </a:prstGeom>
          <a:solidFill>
            <a:srgbClr val="21734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2" name="Text 45"/>
          <p:cNvSpPr/>
          <p:nvPr/>
        </p:nvSpPr>
        <p:spPr>
          <a:xfrm>
            <a:off x="5248656" y="20299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650" dirty="0"/>
          </a:p>
        </p:txBody>
      </p:sp>
      <p:sp>
        <p:nvSpPr>
          <p:cNvPr id="53" name="Shape 46"/>
          <p:cNvSpPr/>
          <p:nvPr/>
        </p:nvSpPr>
        <p:spPr>
          <a:xfrm>
            <a:off x="5632704" y="2011680"/>
            <a:ext cx="402336" cy="237744"/>
          </a:xfrm>
          <a:prstGeom prst="rect">
            <a:avLst/>
          </a:prstGeom>
          <a:solidFill>
            <a:srgbClr val="21734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4" name="Text 47"/>
          <p:cNvSpPr/>
          <p:nvPr/>
        </p:nvSpPr>
        <p:spPr>
          <a:xfrm>
            <a:off x="5650992" y="20299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650" dirty="0"/>
          </a:p>
        </p:txBody>
      </p:sp>
      <p:sp>
        <p:nvSpPr>
          <p:cNvPr id="55" name="Shape 48"/>
          <p:cNvSpPr/>
          <p:nvPr/>
        </p:nvSpPr>
        <p:spPr>
          <a:xfrm>
            <a:off x="6035040" y="2011680"/>
            <a:ext cx="402336" cy="237744"/>
          </a:xfrm>
          <a:prstGeom prst="rect">
            <a:avLst/>
          </a:prstGeom>
          <a:solidFill>
            <a:srgbClr val="21734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6" name="Text 49"/>
          <p:cNvSpPr/>
          <p:nvPr/>
        </p:nvSpPr>
        <p:spPr>
          <a:xfrm>
            <a:off x="6053328" y="20299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commune</a:t>
            </a:r>
            <a:endParaRPr lang="en-US" sz="650" dirty="0"/>
          </a:p>
        </p:txBody>
      </p:sp>
      <p:sp>
        <p:nvSpPr>
          <p:cNvPr id="57" name="Shape 50"/>
          <p:cNvSpPr/>
          <p:nvPr/>
        </p:nvSpPr>
        <p:spPr>
          <a:xfrm>
            <a:off x="6437376" y="2011680"/>
            <a:ext cx="402336" cy="237744"/>
          </a:xfrm>
          <a:prstGeom prst="rect">
            <a:avLst/>
          </a:prstGeom>
          <a:solidFill>
            <a:srgbClr val="21734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8" name="Text 51"/>
          <p:cNvSpPr/>
          <p:nvPr/>
        </p:nvSpPr>
        <p:spPr>
          <a:xfrm>
            <a:off x="6455664" y="20299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650" dirty="0"/>
          </a:p>
        </p:txBody>
      </p:sp>
      <p:sp>
        <p:nvSpPr>
          <p:cNvPr id="59" name="Shape 52"/>
          <p:cNvSpPr/>
          <p:nvPr/>
        </p:nvSpPr>
        <p:spPr>
          <a:xfrm>
            <a:off x="6839712" y="2011680"/>
            <a:ext cx="402336" cy="237744"/>
          </a:xfrm>
          <a:prstGeom prst="rect">
            <a:avLst/>
          </a:prstGeom>
          <a:solidFill>
            <a:srgbClr val="21734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0" name="Text 53"/>
          <p:cNvSpPr/>
          <p:nvPr/>
        </p:nvSpPr>
        <p:spPr>
          <a:xfrm>
            <a:off x="6858000" y="20299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sexe</a:t>
            </a:r>
            <a:endParaRPr lang="en-US" sz="650" dirty="0"/>
          </a:p>
        </p:txBody>
      </p:sp>
      <p:sp>
        <p:nvSpPr>
          <p:cNvPr id="61" name="Shape 54"/>
          <p:cNvSpPr/>
          <p:nvPr/>
        </p:nvSpPr>
        <p:spPr>
          <a:xfrm>
            <a:off x="7242048" y="2011680"/>
            <a:ext cx="914400" cy="237744"/>
          </a:xfrm>
          <a:prstGeom prst="rect">
            <a:avLst/>
          </a:prstGeom>
          <a:solidFill>
            <a:srgbClr val="21734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2" name="Text 55"/>
          <p:cNvSpPr/>
          <p:nvPr/>
        </p:nvSpPr>
        <p:spPr>
          <a:xfrm>
            <a:off x="7260336" y="2029968"/>
            <a:ext cx="877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religion</a:t>
            </a:r>
            <a:endParaRPr lang="en-US" sz="650" dirty="0"/>
          </a:p>
        </p:txBody>
      </p:sp>
      <p:sp>
        <p:nvSpPr>
          <p:cNvPr id="63" name="Shape 56"/>
          <p:cNvSpPr/>
          <p:nvPr/>
        </p:nvSpPr>
        <p:spPr>
          <a:xfrm>
            <a:off x="8156448" y="2011680"/>
            <a:ext cx="621792" cy="237744"/>
          </a:xfrm>
          <a:prstGeom prst="rect">
            <a:avLst/>
          </a:prstGeom>
          <a:solidFill>
            <a:srgbClr val="21734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4" name="Text 57"/>
          <p:cNvSpPr/>
          <p:nvPr/>
        </p:nvSpPr>
        <p:spPr>
          <a:xfrm>
            <a:off x="8174736" y="2029968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gps_lat</a:t>
            </a:r>
            <a:endParaRPr lang="en-US" sz="650" dirty="0"/>
          </a:p>
        </p:txBody>
      </p:sp>
      <p:sp>
        <p:nvSpPr>
          <p:cNvPr id="65" name="Shape 58"/>
          <p:cNvSpPr/>
          <p:nvPr/>
        </p:nvSpPr>
        <p:spPr>
          <a:xfrm>
            <a:off x="8778240" y="2011680"/>
            <a:ext cx="621792" cy="237744"/>
          </a:xfrm>
          <a:prstGeom prst="rect">
            <a:avLst/>
          </a:prstGeom>
          <a:solidFill>
            <a:srgbClr val="21734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6" name="Text 59"/>
          <p:cNvSpPr/>
          <p:nvPr/>
        </p:nvSpPr>
        <p:spPr>
          <a:xfrm>
            <a:off x="8796528" y="2029968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gps_lon</a:t>
            </a:r>
            <a:endParaRPr lang="en-US" sz="650" dirty="0"/>
          </a:p>
        </p:txBody>
      </p:sp>
      <p:sp>
        <p:nvSpPr>
          <p:cNvPr id="67" name="Shape 60"/>
          <p:cNvSpPr/>
          <p:nvPr/>
        </p:nvSpPr>
        <p:spPr>
          <a:xfrm>
            <a:off x="4828032" y="2249424"/>
            <a:ext cx="402336" cy="2377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8" name="Text 61"/>
          <p:cNvSpPr/>
          <p:nvPr/>
        </p:nvSpPr>
        <p:spPr>
          <a:xfrm>
            <a:off x="4846320" y="226771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650" dirty="0"/>
          </a:p>
        </p:txBody>
      </p:sp>
      <p:sp>
        <p:nvSpPr>
          <p:cNvPr id="69" name="Shape 62"/>
          <p:cNvSpPr/>
          <p:nvPr/>
        </p:nvSpPr>
        <p:spPr>
          <a:xfrm>
            <a:off x="5230368" y="2249424"/>
            <a:ext cx="402336" cy="2377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0" name="Text 63"/>
          <p:cNvSpPr/>
          <p:nvPr/>
        </p:nvSpPr>
        <p:spPr>
          <a:xfrm>
            <a:off x="5248656" y="226771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22/03</a:t>
            </a:r>
            <a:endParaRPr lang="en-US" sz="650" dirty="0"/>
          </a:p>
        </p:txBody>
      </p:sp>
      <p:sp>
        <p:nvSpPr>
          <p:cNvPr id="71" name="Shape 64"/>
          <p:cNvSpPr/>
          <p:nvPr/>
        </p:nvSpPr>
        <p:spPr>
          <a:xfrm>
            <a:off x="5632704" y="2249424"/>
            <a:ext cx="402336" cy="2377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2" name="Text 65"/>
          <p:cNvSpPr/>
          <p:nvPr/>
        </p:nvSpPr>
        <p:spPr>
          <a:xfrm>
            <a:off x="5650992" y="226771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Jean D.</a:t>
            </a:r>
            <a:endParaRPr lang="en-US" sz="650" dirty="0"/>
          </a:p>
        </p:txBody>
      </p:sp>
      <p:sp>
        <p:nvSpPr>
          <p:cNvPr id="73" name="Shape 66"/>
          <p:cNvSpPr/>
          <p:nvPr/>
        </p:nvSpPr>
        <p:spPr>
          <a:xfrm>
            <a:off x="6035040" y="2249424"/>
            <a:ext cx="402336" cy="2377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4" name="Text 67"/>
          <p:cNvSpPr/>
          <p:nvPr/>
        </p:nvSpPr>
        <p:spPr>
          <a:xfrm>
            <a:off x="6053328" y="226771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Glazoué</a:t>
            </a:r>
            <a:endParaRPr lang="en-US" sz="650" dirty="0"/>
          </a:p>
        </p:txBody>
      </p:sp>
      <p:sp>
        <p:nvSpPr>
          <p:cNvPr id="75" name="Shape 68"/>
          <p:cNvSpPr/>
          <p:nvPr/>
        </p:nvSpPr>
        <p:spPr>
          <a:xfrm>
            <a:off x="6437376" y="2249424"/>
            <a:ext cx="402336" cy="2377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6" name="Text 69"/>
          <p:cNvSpPr/>
          <p:nvPr/>
        </p:nvSpPr>
        <p:spPr>
          <a:xfrm>
            <a:off x="6455664" y="226771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650" dirty="0"/>
          </a:p>
        </p:txBody>
      </p:sp>
      <p:sp>
        <p:nvSpPr>
          <p:cNvPr id="77" name="Shape 70"/>
          <p:cNvSpPr/>
          <p:nvPr/>
        </p:nvSpPr>
        <p:spPr>
          <a:xfrm>
            <a:off x="6839712" y="2249424"/>
            <a:ext cx="402336" cy="2377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8" name="Text 71"/>
          <p:cNvSpPr/>
          <p:nvPr/>
        </p:nvSpPr>
        <p:spPr>
          <a:xfrm>
            <a:off x="6858000" y="226771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650" dirty="0"/>
          </a:p>
        </p:txBody>
      </p:sp>
      <p:sp>
        <p:nvSpPr>
          <p:cNvPr id="79" name="Shape 72"/>
          <p:cNvSpPr/>
          <p:nvPr/>
        </p:nvSpPr>
        <p:spPr>
          <a:xfrm>
            <a:off x="7242048" y="2249424"/>
            <a:ext cx="91440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0" name="Text 73"/>
          <p:cNvSpPr/>
          <p:nvPr/>
        </p:nvSpPr>
        <p:spPr>
          <a:xfrm>
            <a:off x="7260336" y="2267712"/>
            <a:ext cx="877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Chrétienne</a:t>
            </a:r>
            <a:endParaRPr lang="en-US" sz="650" dirty="0"/>
          </a:p>
        </p:txBody>
      </p:sp>
      <p:sp>
        <p:nvSpPr>
          <p:cNvPr id="81" name="Shape 74"/>
          <p:cNvSpPr/>
          <p:nvPr/>
        </p:nvSpPr>
        <p:spPr>
          <a:xfrm>
            <a:off x="8156448" y="2249424"/>
            <a:ext cx="621792" cy="2377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2" name="Text 75"/>
          <p:cNvSpPr/>
          <p:nvPr/>
        </p:nvSpPr>
        <p:spPr>
          <a:xfrm>
            <a:off x="8174736" y="2267712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7.9004</a:t>
            </a:r>
            <a:endParaRPr lang="en-US" sz="650" dirty="0"/>
          </a:p>
        </p:txBody>
      </p:sp>
      <p:sp>
        <p:nvSpPr>
          <p:cNvPr id="83" name="Shape 76"/>
          <p:cNvSpPr/>
          <p:nvPr/>
        </p:nvSpPr>
        <p:spPr>
          <a:xfrm>
            <a:off x="8778240" y="2249424"/>
            <a:ext cx="621792" cy="2377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4" name="Text 77"/>
          <p:cNvSpPr/>
          <p:nvPr/>
        </p:nvSpPr>
        <p:spPr>
          <a:xfrm>
            <a:off x="8796528" y="2267712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1.9817</a:t>
            </a:r>
            <a:endParaRPr lang="en-US" sz="650" dirty="0"/>
          </a:p>
        </p:txBody>
      </p:sp>
      <p:sp>
        <p:nvSpPr>
          <p:cNvPr id="85" name="Shape 78"/>
          <p:cNvSpPr/>
          <p:nvPr/>
        </p:nvSpPr>
        <p:spPr>
          <a:xfrm>
            <a:off x="4828032" y="2505456"/>
            <a:ext cx="402336" cy="237744"/>
          </a:xfrm>
          <a:prstGeom prst="rect">
            <a:avLst/>
          </a:prstGeom>
          <a:solidFill>
            <a:srgbClr val="E8F8F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6" name="Text 79"/>
          <p:cNvSpPr/>
          <p:nvPr/>
        </p:nvSpPr>
        <p:spPr>
          <a:xfrm>
            <a:off x="4846320" y="252374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650" dirty="0"/>
          </a:p>
        </p:txBody>
      </p:sp>
      <p:sp>
        <p:nvSpPr>
          <p:cNvPr id="87" name="Shape 80"/>
          <p:cNvSpPr/>
          <p:nvPr/>
        </p:nvSpPr>
        <p:spPr>
          <a:xfrm>
            <a:off x="5230368" y="2505456"/>
            <a:ext cx="402336" cy="237744"/>
          </a:xfrm>
          <a:prstGeom prst="rect">
            <a:avLst/>
          </a:prstGeom>
          <a:solidFill>
            <a:srgbClr val="E8F8F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8" name="Text 81"/>
          <p:cNvSpPr/>
          <p:nvPr/>
        </p:nvSpPr>
        <p:spPr>
          <a:xfrm>
            <a:off x="5248656" y="252374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22/03</a:t>
            </a:r>
            <a:endParaRPr lang="en-US" sz="650" dirty="0"/>
          </a:p>
        </p:txBody>
      </p:sp>
      <p:sp>
        <p:nvSpPr>
          <p:cNvPr id="89" name="Shape 82"/>
          <p:cNvSpPr/>
          <p:nvPr/>
        </p:nvSpPr>
        <p:spPr>
          <a:xfrm>
            <a:off x="5632704" y="2505456"/>
            <a:ext cx="402336" cy="237744"/>
          </a:xfrm>
          <a:prstGeom prst="rect">
            <a:avLst/>
          </a:prstGeom>
          <a:solidFill>
            <a:srgbClr val="E8F8F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0" name="Text 83"/>
          <p:cNvSpPr/>
          <p:nvPr/>
        </p:nvSpPr>
        <p:spPr>
          <a:xfrm>
            <a:off x="5650992" y="252374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Jean D.</a:t>
            </a:r>
            <a:endParaRPr lang="en-US" sz="650" dirty="0"/>
          </a:p>
        </p:txBody>
      </p:sp>
      <p:sp>
        <p:nvSpPr>
          <p:cNvPr id="91" name="Shape 84"/>
          <p:cNvSpPr/>
          <p:nvPr/>
        </p:nvSpPr>
        <p:spPr>
          <a:xfrm>
            <a:off x="6035040" y="2505456"/>
            <a:ext cx="402336" cy="237744"/>
          </a:xfrm>
          <a:prstGeom prst="rect">
            <a:avLst/>
          </a:prstGeom>
          <a:solidFill>
            <a:srgbClr val="E8F8F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2" name="Text 85"/>
          <p:cNvSpPr/>
          <p:nvPr/>
        </p:nvSpPr>
        <p:spPr>
          <a:xfrm>
            <a:off x="6053328" y="252374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Glazoué</a:t>
            </a:r>
            <a:endParaRPr lang="en-US" sz="650" dirty="0"/>
          </a:p>
        </p:txBody>
      </p:sp>
      <p:sp>
        <p:nvSpPr>
          <p:cNvPr id="93" name="Shape 86"/>
          <p:cNvSpPr/>
          <p:nvPr/>
        </p:nvSpPr>
        <p:spPr>
          <a:xfrm>
            <a:off x="6437376" y="2505456"/>
            <a:ext cx="402336" cy="237744"/>
          </a:xfrm>
          <a:prstGeom prst="rect">
            <a:avLst/>
          </a:prstGeom>
          <a:solidFill>
            <a:srgbClr val="E8F8F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4" name="Text 87"/>
          <p:cNvSpPr/>
          <p:nvPr/>
        </p:nvSpPr>
        <p:spPr>
          <a:xfrm>
            <a:off x="6455664" y="252374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650" dirty="0"/>
          </a:p>
        </p:txBody>
      </p:sp>
      <p:sp>
        <p:nvSpPr>
          <p:cNvPr id="95" name="Shape 88"/>
          <p:cNvSpPr/>
          <p:nvPr/>
        </p:nvSpPr>
        <p:spPr>
          <a:xfrm>
            <a:off x="6839712" y="2505456"/>
            <a:ext cx="402336" cy="237744"/>
          </a:xfrm>
          <a:prstGeom prst="rect">
            <a:avLst/>
          </a:prstGeom>
          <a:solidFill>
            <a:srgbClr val="E8F8F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6" name="Text 89"/>
          <p:cNvSpPr/>
          <p:nvPr/>
        </p:nvSpPr>
        <p:spPr>
          <a:xfrm>
            <a:off x="6858000" y="252374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650" dirty="0"/>
          </a:p>
        </p:txBody>
      </p:sp>
      <p:sp>
        <p:nvSpPr>
          <p:cNvPr id="97" name="Shape 90"/>
          <p:cNvSpPr/>
          <p:nvPr/>
        </p:nvSpPr>
        <p:spPr>
          <a:xfrm>
            <a:off x="7242048" y="2505456"/>
            <a:ext cx="914400" cy="237744"/>
          </a:xfrm>
          <a:prstGeom prst="rect">
            <a:avLst/>
          </a:prstGeom>
          <a:solidFill>
            <a:srgbClr val="E8F8F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8" name="Text 91"/>
          <p:cNvSpPr/>
          <p:nvPr/>
        </p:nvSpPr>
        <p:spPr>
          <a:xfrm>
            <a:off x="7260336" y="2523744"/>
            <a:ext cx="877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Muslimane</a:t>
            </a:r>
            <a:endParaRPr lang="en-US" sz="650" dirty="0"/>
          </a:p>
        </p:txBody>
      </p:sp>
      <p:sp>
        <p:nvSpPr>
          <p:cNvPr id="99" name="Shape 92"/>
          <p:cNvSpPr/>
          <p:nvPr/>
        </p:nvSpPr>
        <p:spPr>
          <a:xfrm>
            <a:off x="8156448" y="2505456"/>
            <a:ext cx="621792" cy="237744"/>
          </a:xfrm>
          <a:prstGeom prst="rect">
            <a:avLst/>
          </a:prstGeom>
          <a:solidFill>
            <a:srgbClr val="E8F8F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0" name="Text 93"/>
          <p:cNvSpPr/>
          <p:nvPr/>
        </p:nvSpPr>
        <p:spPr>
          <a:xfrm>
            <a:off x="8174736" y="2523744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7.9012</a:t>
            </a:r>
            <a:endParaRPr lang="en-US" sz="650" dirty="0"/>
          </a:p>
        </p:txBody>
      </p:sp>
      <p:sp>
        <p:nvSpPr>
          <p:cNvPr id="101" name="Shape 94"/>
          <p:cNvSpPr/>
          <p:nvPr/>
        </p:nvSpPr>
        <p:spPr>
          <a:xfrm>
            <a:off x="8778240" y="2505456"/>
            <a:ext cx="621792" cy="237744"/>
          </a:xfrm>
          <a:prstGeom prst="rect">
            <a:avLst/>
          </a:prstGeom>
          <a:solidFill>
            <a:srgbClr val="E8F8F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2" name="Text 95"/>
          <p:cNvSpPr/>
          <p:nvPr/>
        </p:nvSpPr>
        <p:spPr>
          <a:xfrm>
            <a:off x="8796528" y="2523744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1.9825</a:t>
            </a:r>
            <a:endParaRPr lang="en-US" sz="650" dirty="0"/>
          </a:p>
        </p:txBody>
      </p:sp>
      <p:sp>
        <p:nvSpPr>
          <p:cNvPr id="103" name="Shape 96"/>
          <p:cNvSpPr/>
          <p:nvPr/>
        </p:nvSpPr>
        <p:spPr>
          <a:xfrm>
            <a:off x="4828032" y="2761488"/>
            <a:ext cx="402336" cy="2377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4" name="Text 97"/>
          <p:cNvSpPr/>
          <p:nvPr/>
        </p:nvSpPr>
        <p:spPr>
          <a:xfrm>
            <a:off x="4846320" y="277977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650" dirty="0"/>
          </a:p>
        </p:txBody>
      </p:sp>
      <p:sp>
        <p:nvSpPr>
          <p:cNvPr id="105" name="Shape 98"/>
          <p:cNvSpPr/>
          <p:nvPr/>
        </p:nvSpPr>
        <p:spPr>
          <a:xfrm>
            <a:off x="5230368" y="2761488"/>
            <a:ext cx="402336" cy="2377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6" name="Text 99"/>
          <p:cNvSpPr/>
          <p:nvPr/>
        </p:nvSpPr>
        <p:spPr>
          <a:xfrm>
            <a:off x="5248656" y="277977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22/03</a:t>
            </a:r>
            <a:endParaRPr lang="en-US" sz="650" dirty="0"/>
          </a:p>
        </p:txBody>
      </p:sp>
      <p:sp>
        <p:nvSpPr>
          <p:cNvPr id="107" name="Shape 100"/>
          <p:cNvSpPr/>
          <p:nvPr/>
        </p:nvSpPr>
        <p:spPr>
          <a:xfrm>
            <a:off x="5632704" y="2761488"/>
            <a:ext cx="402336" cy="2377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8" name="Text 101"/>
          <p:cNvSpPr/>
          <p:nvPr/>
        </p:nvSpPr>
        <p:spPr>
          <a:xfrm>
            <a:off x="5650992" y="277977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Marie K.</a:t>
            </a:r>
            <a:endParaRPr lang="en-US" sz="650" dirty="0"/>
          </a:p>
        </p:txBody>
      </p:sp>
      <p:sp>
        <p:nvSpPr>
          <p:cNvPr id="109" name="Shape 102"/>
          <p:cNvSpPr/>
          <p:nvPr/>
        </p:nvSpPr>
        <p:spPr>
          <a:xfrm>
            <a:off x="6035040" y="2761488"/>
            <a:ext cx="402336" cy="2377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0" name="Text 103"/>
          <p:cNvSpPr/>
          <p:nvPr/>
        </p:nvSpPr>
        <p:spPr>
          <a:xfrm>
            <a:off x="6053328" y="277977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Savalou</a:t>
            </a:r>
            <a:endParaRPr lang="en-US" sz="650" dirty="0"/>
          </a:p>
        </p:txBody>
      </p:sp>
      <p:sp>
        <p:nvSpPr>
          <p:cNvPr id="111" name="Shape 104"/>
          <p:cNvSpPr/>
          <p:nvPr/>
        </p:nvSpPr>
        <p:spPr>
          <a:xfrm>
            <a:off x="6437376" y="2761488"/>
            <a:ext cx="402336" cy="2377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2" name="Text 105"/>
          <p:cNvSpPr/>
          <p:nvPr/>
        </p:nvSpPr>
        <p:spPr>
          <a:xfrm>
            <a:off x="6455664" y="277977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650" dirty="0"/>
          </a:p>
        </p:txBody>
      </p:sp>
      <p:sp>
        <p:nvSpPr>
          <p:cNvPr id="113" name="Shape 106"/>
          <p:cNvSpPr/>
          <p:nvPr/>
        </p:nvSpPr>
        <p:spPr>
          <a:xfrm>
            <a:off x="6839712" y="2761488"/>
            <a:ext cx="402336" cy="2377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4" name="Text 107"/>
          <p:cNvSpPr/>
          <p:nvPr/>
        </p:nvSpPr>
        <p:spPr>
          <a:xfrm>
            <a:off x="6858000" y="277977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650" dirty="0"/>
          </a:p>
        </p:txBody>
      </p:sp>
      <p:sp>
        <p:nvSpPr>
          <p:cNvPr id="115" name="Shape 108"/>
          <p:cNvSpPr/>
          <p:nvPr/>
        </p:nvSpPr>
        <p:spPr>
          <a:xfrm>
            <a:off x="7242048" y="2761488"/>
            <a:ext cx="91440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6" name="Text 109"/>
          <p:cNvSpPr/>
          <p:nvPr/>
        </p:nvSpPr>
        <p:spPr>
          <a:xfrm>
            <a:off x="7260336" y="2779776"/>
            <a:ext cx="877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Animiste</a:t>
            </a:r>
            <a:endParaRPr lang="en-US" sz="650" dirty="0"/>
          </a:p>
        </p:txBody>
      </p:sp>
      <p:sp>
        <p:nvSpPr>
          <p:cNvPr id="117" name="Shape 110"/>
          <p:cNvSpPr/>
          <p:nvPr/>
        </p:nvSpPr>
        <p:spPr>
          <a:xfrm>
            <a:off x="8156448" y="2761488"/>
            <a:ext cx="621792" cy="2377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8" name="Text 111"/>
          <p:cNvSpPr/>
          <p:nvPr/>
        </p:nvSpPr>
        <p:spPr>
          <a:xfrm>
            <a:off x="8174736" y="2779776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7.7834</a:t>
            </a:r>
            <a:endParaRPr lang="en-US" sz="650" dirty="0"/>
          </a:p>
        </p:txBody>
      </p:sp>
      <p:sp>
        <p:nvSpPr>
          <p:cNvPr id="119" name="Shape 112"/>
          <p:cNvSpPr/>
          <p:nvPr/>
        </p:nvSpPr>
        <p:spPr>
          <a:xfrm>
            <a:off x="8778240" y="2761488"/>
            <a:ext cx="621792" cy="2377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0" name="Text 113"/>
          <p:cNvSpPr/>
          <p:nvPr/>
        </p:nvSpPr>
        <p:spPr>
          <a:xfrm>
            <a:off x="8796528" y="2779776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1.8942</a:t>
            </a:r>
            <a:endParaRPr lang="en-US" sz="650" dirty="0"/>
          </a:p>
        </p:txBody>
      </p:sp>
      <p:sp>
        <p:nvSpPr>
          <p:cNvPr id="121" name="Shape 114"/>
          <p:cNvSpPr/>
          <p:nvPr/>
        </p:nvSpPr>
        <p:spPr>
          <a:xfrm>
            <a:off x="4828032" y="3054096"/>
            <a:ext cx="3968496" cy="310896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2" name="Text 115"/>
          <p:cNvSpPr/>
          <p:nvPr/>
        </p:nvSpPr>
        <p:spPr>
          <a:xfrm>
            <a:off x="4919472" y="3054096"/>
            <a:ext cx="3831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Options d'export</a:t>
            </a:r>
            <a:endParaRPr lang="en-US" sz="1000" dirty="0"/>
          </a:p>
        </p:txBody>
      </p:sp>
      <p:sp>
        <p:nvSpPr>
          <p:cNvPr id="123" name="Shape 116"/>
          <p:cNvSpPr/>
          <p:nvPr/>
        </p:nvSpPr>
        <p:spPr>
          <a:xfrm>
            <a:off x="4828032" y="3401568"/>
            <a:ext cx="3968496" cy="274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24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82896" y="3438144"/>
            <a:ext cx="182880" cy="182880"/>
          </a:xfrm>
          <a:prstGeom prst="rect">
            <a:avLst/>
          </a:prstGeom>
        </p:spPr>
      </p:pic>
      <p:sp>
        <p:nvSpPr>
          <p:cNvPr id="125" name="Text 117"/>
          <p:cNvSpPr/>
          <p:nvPr/>
        </p:nvSpPr>
        <p:spPr>
          <a:xfrm>
            <a:off x="5120640" y="341985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Inclure les médias (ZIP)</a:t>
            </a:r>
            <a:endParaRPr lang="en-US" sz="900" dirty="0"/>
          </a:p>
        </p:txBody>
      </p:sp>
      <p:sp>
        <p:nvSpPr>
          <p:cNvPr id="126" name="Text 118"/>
          <p:cNvSpPr/>
          <p:nvPr/>
        </p:nvSpPr>
        <p:spPr>
          <a:xfrm>
            <a:off x="7187184" y="3419856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Toutes photos + signatures</a:t>
            </a:r>
            <a:endParaRPr lang="en-US" sz="800" dirty="0"/>
          </a:p>
        </p:txBody>
      </p:sp>
      <p:sp>
        <p:nvSpPr>
          <p:cNvPr id="127" name="Shape 119"/>
          <p:cNvSpPr/>
          <p:nvPr/>
        </p:nvSpPr>
        <p:spPr>
          <a:xfrm>
            <a:off x="4828032" y="3694176"/>
            <a:ext cx="3968496" cy="274320"/>
          </a:xfrm>
          <a:prstGeom prst="rect">
            <a:avLst/>
          </a:prstGeom>
          <a:solidFill>
            <a:srgbClr val="E8F8F0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28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82896" y="3730752"/>
            <a:ext cx="182880" cy="182880"/>
          </a:xfrm>
          <a:prstGeom prst="rect">
            <a:avLst/>
          </a:prstGeom>
        </p:spPr>
      </p:pic>
      <p:sp>
        <p:nvSpPr>
          <p:cNvPr id="129" name="Text 120"/>
          <p:cNvSpPr/>
          <p:nvPr/>
        </p:nvSpPr>
        <p:spPr>
          <a:xfrm>
            <a:off x="5120640" y="371246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Métadonnées (heure, durée)</a:t>
            </a:r>
            <a:endParaRPr lang="en-US" sz="900" dirty="0"/>
          </a:p>
        </p:txBody>
      </p:sp>
      <p:sp>
        <p:nvSpPr>
          <p:cNvPr id="130" name="Text 121"/>
          <p:cNvSpPr/>
          <p:nvPr/>
        </p:nvSpPr>
        <p:spPr>
          <a:xfrm>
            <a:off x="7187184" y="3712464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Colonnes _submission_time, _duration</a:t>
            </a:r>
            <a:endParaRPr lang="en-US" sz="800" dirty="0"/>
          </a:p>
        </p:txBody>
      </p:sp>
      <p:sp>
        <p:nvSpPr>
          <p:cNvPr id="131" name="Shape 122"/>
          <p:cNvSpPr/>
          <p:nvPr/>
        </p:nvSpPr>
        <p:spPr>
          <a:xfrm>
            <a:off x="4828032" y="3986784"/>
            <a:ext cx="3968496" cy="274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32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82896" y="4023360"/>
            <a:ext cx="182880" cy="182880"/>
          </a:xfrm>
          <a:prstGeom prst="rect">
            <a:avLst/>
          </a:prstGeom>
        </p:spPr>
      </p:pic>
      <p:sp>
        <p:nvSpPr>
          <p:cNvPr id="133" name="Text 123"/>
          <p:cNvSpPr/>
          <p:nvPr/>
        </p:nvSpPr>
        <p:spPr>
          <a:xfrm>
            <a:off x="5120640" y="400507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Groupes imbriqués</a:t>
            </a:r>
            <a:endParaRPr lang="en-US" sz="900" dirty="0"/>
          </a:p>
        </p:txBody>
      </p:sp>
      <p:sp>
        <p:nvSpPr>
          <p:cNvPr id="134" name="Text 124"/>
          <p:cNvSpPr/>
          <p:nvPr/>
        </p:nvSpPr>
        <p:spPr>
          <a:xfrm>
            <a:off x="7187184" y="4005072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Colonnes séparées par section</a:t>
            </a:r>
            <a:endParaRPr lang="en-US" sz="800" dirty="0"/>
          </a:p>
        </p:txBody>
      </p:sp>
      <p:sp>
        <p:nvSpPr>
          <p:cNvPr id="135" name="Shape 125"/>
          <p:cNvSpPr/>
          <p:nvPr/>
        </p:nvSpPr>
        <p:spPr>
          <a:xfrm>
            <a:off x="4828032" y="4279392"/>
            <a:ext cx="3968496" cy="274320"/>
          </a:xfrm>
          <a:prstGeom prst="rect">
            <a:avLst/>
          </a:prstGeom>
          <a:solidFill>
            <a:srgbClr val="E8F8F0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36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82896" y="4315968"/>
            <a:ext cx="182880" cy="182880"/>
          </a:xfrm>
          <a:prstGeom prst="rect">
            <a:avLst/>
          </a:prstGeom>
        </p:spPr>
      </p:pic>
      <p:sp>
        <p:nvSpPr>
          <p:cNvPr id="137" name="Text 126"/>
          <p:cNvSpPr/>
          <p:nvPr/>
        </p:nvSpPr>
        <p:spPr>
          <a:xfrm>
            <a:off x="5120640" y="429768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Sélectionner les colonnes</a:t>
            </a:r>
            <a:endParaRPr lang="en-US" sz="900" dirty="0"/>
          </a:p>
        </p:txBody>
      </p:sp>
      <p:sp>
        <p:nvSpPr>
          <p:cNvPr id="138" name="Text 127"/>
          <p:cNvSpPr/>
          <p:nvPr/>
        </p:nvSpPr>
        <p:spPr>
          <a:xfrm>
            <a:off x="7187184" y="4297680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Choisir uniquement les champs utiles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188720"/>
          </a:xfrm>
          <a:prstGeom prst="rect">
            <a:avLst/>
          </a:prstGeom>
          <a:solidFill>
            <a:srgbClr val="0B6E4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128016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XLS vs CSV — Quel format choisir 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9D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Avantages et cas d'usage de chaque format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D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KoboToolbox de A à Z — Module 10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90118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9D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1261872"/>
            <a:ext cx="4206240" cy="349300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320040" y="1261872"/>
            <a:ext cx="64008" cy="3493008"/>
          </a:xfrm>
          <a:prstGeom prst="rect">
            <a:avLst/>
          </a:prstGeom>
          <a:solidFill>
            <a:srgbClr val="21734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320040" y="1261872"/>
            <a:ext cx="4206240" cy="457200"/>
          </a:xfrm>
          <a:prstGeom prst="rect">
            <a:avLst/>
          </a:prstGeom>
          <a:solidFill>
            <a:srgbClr val="217346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316736"/>
            <a:ext cx="329184" cy="329184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832104" y="1335024"/>
            <a:ext cx="3621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XLS (Excel)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411480" y="1810512"/>
            <a:ext cx="4005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Avantages :</a:t>
            </a:r>
            <a:endParaRPr lang="en-US" sz="10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" y="2066544"/>
            <a:ext cx="182880" cy="1828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67512" y="204825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Ouvre directement dans Excel ou LibreOffice</a:t>
            </a:r>
            <a:endParaRPr lang="en-US" sz="95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" y="2322576"/>
            <a:ext cx="182880" cy="1828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67512" y="230428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Plusieurs onglets (données + choix + paramètres)</a:t>
            </a:r>
            <a:endParaRPr lang="en-US" sz="95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" y="2578608"/>
            <a:ext cx="182880" cy="18288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67512" y="256032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forme conservée (dates, nombres)</a:t>
            </a:r>
            <a:endParaRPr lang="en-US" sz="95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" y="2834640"/>
            <a:ext cx="182880" cy="18288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67512" y="281635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Compatible avec la plupart des outils statistiques</a:t>
            </a:r>
            <a:endParaRPr lang="en-US" sz="950" dirty="0"/>
          </a:p>
        </p:txBody>
      </p:sp>
      <p:sp>
        <p:nvSpPr>
          <p:cNvPr id="23" name="Shape 16"/>
          <p:cNvSpPr/>
          <p:nvPr/>
        </p:nvSpPr>
        <p:spPr>
          <a:xfrm>
            <a:off x="411480" y="3108960"/>
            <a:ext cx="4005072" cy="0"/>
          </a:xfrm>
          <a:prstGeom prst="line">
            <a:avLst/>
          </a:prstGeom>
          <a:noFill/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17"/>
          <p:cNvSpPr/>
          <p:nvPr/>
        </p:nvSpPr>
        <p:spPr>
          <a:xfrm>
            <a:off x="411480" y="3163824"/>
            <a:ext cx="4005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A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Inconvénients :</a:t>
            </a:r>
            <a:endParaRPr lang="en-US" sz="1000" dirty="0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768" y="3401568"/>
            <a:ext cx="182880" cy="18288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67512" y="338328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Taille de fichier plus grande</a:t>
            </a:r>
            <a:endParaRPr lang="en-US" sz="900" dirty="0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768" y="3639312"/>
            <a:ext cx="182880" cy="182880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667512" y="362102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Moins compatible avec Python/R sans librairie</a:t>
            </a:r>
            <a:endParaRPr lang="en-US" sz="900" dirty="0"/>
          </a:p>
        </p:txBody>
      </p:sp>
      <p:sp>
        <p:nvSpPr>
          <p:cNvPr id="29" name="Shape 20"/>
          <p:cNvSpPr/>
          <p:nvPr/>
        </p:nvSpPr>
        <p:spPr>
          <a:xfrm>
            <a:off x="411480" y="3931920"/>
            <a:ext cx="4005072" cy="402336"/>
          </a:xfrm>
          <a:prstGeom prst="rect">
            <a:avLst/>
          </a:prstGeom>
          <a:solidFill>
            <a:srgbClr val="21734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Text 21"/>
          <p:cNvSpPr/>
          <p:nvPr/>
        </p:nvSpPr>
        <p:spPr>
          <a:xfrm>
            <a:off x="448056" y="3968496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217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Idéal pour : Analyse dans Excel · Rapport Word/PPT · Power BI · Partage équipe</a:t>
            </a:r>
            <a:endParaRPr lang="en-US" sz="950" dirty="0"/>
          </a:p>
        </p:txBody>
      </p:sp>
      <p:sp>
        <p:nvSpPr>
          <p:cNvPr id="31" name="Shape 22"/>
          <p:cNvSpPr/>
          <p:nvPr/>
        </p:nvSpPr>
        <p:spPr>
          <a:xfrm>
            <a:off x="4745736" y="1242621"/>
            <a:ext cx="4206240" cy="349300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2" name="Shape 23"/>
          <p:cNvSpPr/>
          <p:nvPr/>
        </p:nvSpPr>
        <p:spPr>
          <a:xfrm>
            <a:off x="4754880" y="1261872"/>
            <a:ext cx="64008" cy="3493008"/>
          </a:xfrm>
          <a:prstGeom prst="rect">
            <a:avLst/>
          </a:prstGeom>
          <a:solidFill>
            <a:srgbClr val="5E7D8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" name="Shape 24"/>
          <p:cNvSpPr/>
          <p:nvPr/>
        </p:nvSpPr>
        <p:spPr>
          <a:xfrm>
            <a:off x="4754880" y="1261872"/>
            <a:ext cx="4206240" cy="457200"/>
          </a:xfrm>
          <a:prstGeom prst="rect">
            <a:avLst/>
          </a:prstGeom>
          <a:solidFill>
            <a:srgbClr val="5E7D8E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4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1316736"/>
            <a:ext cx="329184" cy="329184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5266944" y="1335024"/>
            <a:ext cx="3621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(Valeurs séparées par virgules)</a:t>
            </a:r>
            <a:endParaRPr lang="en-US" sz="1500" dirty="0"/>
          </a:p>
        </p:txBody>
      </p:sp>
      <p:sp>
        <p:nvSpPr>
          <p:cNvPr id="36" name="Text 26"/>
          <p:cNvSpPr/>
          <p:nvPr/>
        </p:nvSpPr>
        <p:spPr>
          <a:xfrm>
            <a:off x="4846320" y="1810512"/>
            <a:ext cx="4005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Avantages :</a:t>
            </a:r>
            <a:endParaRPr lang="en-US" sz="1000" dirty="0"/>
          </a:p>
        </p:txBody>
      </p:sp>
      <p:pic>
        <p:nvPicPr>
          <p:cNvPr id="37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2066544"/>
            <a:ext cx="182880" cy="182880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5102352" y="204825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universel — compatible avec tout</a:t>
            </a:r>
            <a:endParaRPr lang="en-US" sz="950" dirty="0"/>
          </a:p>
        </p:txBody>
      </p:sp>
      <p:pic>
        <p:nvPicPr>
          <p:cNvPr id="39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2322576"/>
            <a:ext cx="182880" cy="182880"/>
          </a:xfrm>
          <a:prstGeom prst="rect">
            <a:avLst/>
          </a:prstGeom>
        </p:spPr>
      </p:pic>
      <p:sp>
        <p:nvSpPr>
          <p:cNvPr id="40" name="Text 28"/>
          <p:cNvSpPr/>
          <p:nvPr/>
        </p:nvSpPr>
        <p:spPr>
          <a:xfrm>
            <a:off x="5102352" y="230428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Léger et rapide à charger</a:t>
            </a:r>
            <a:endParaRPr lang="en-US" sz="950" dirty="0"/>
          </a:p>
        </p:txBody>
      </p:sp>
      <p:pic>
        <p:nvPicPr>
          <p:cNvPr id="41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2578608"/>
            <a:ext cx="182880" cy="182880"/>
          </a:xfrm>
          <a:prstGeom prst="rect">
            <a:avLst/>
          </a:prstGeom>
        </p:spPr>
      </p:pic>
      <p:sp>
        <p:nvSpPr>
          <p:cNvPr id="42" name="Text 29"/>
          <p:cNvSpPr/>
          <p:nvPr/>
        </p:nvSpPr>
        <p:spPr>
          <a:xfrm>
            <a:off x="5102352" y="256032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Idéal pour Python (pandas), R, QGIS</a:t>
            </a:r>
            <a:endParaRPr lang="en-US" sz="950" dirty="0"/>
          </a:p>
        </p:txBody>
      </p:sp>
      <p:pic>
        <p:nvPicPr>
          <p:cNvPr id="43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2834640"/>
            <a:ext cx="182880" cy="182880"/>
          </a:xfrm>
          <a:prstGeom prst="rect">
            <a:avLst/>
          </a:prstGeom>
        </p:spPr>
      </p:pic>
      <p:sp>
        <p:nvSpPr>
          <p:cNvPr id="44" name="Text 30"/>
          <p:cNvSpPr/>
          <p:nvPr/>
        </p:nvSpPr>
        <p:spPr>
          <a:xfrm>
            <a:off x="5102352" y="281635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direct dans bases de données (SQL)</a:t>
            </a:r>
            <a:endParaRPr lang="en-US" sz="950" dirty="0"/>
          </a:p>
        </p:txBody>
      </p:sp>
      <p:sp>
        <p:nvSpPr>
          <p:cNvPr id="45" name="Shape 31"/>
          <p:cNvSpPr/>
          <p:nvPr/>
        </p:nvSpPr>
        <p:spPr>
          <a:xfrm>
            <a:off x="4846320" y="3108960"/>
            <a:ext cx="4005072" cy="0"/>
          </a:xfrm>
          <a:prstGeom prst="line">
            <a:avLst/>
          </a:prstGeom>
          <a:noFill/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6" name="Text 32"/>
          <p:cNvSpPr/>
          <p:nvPr/>
        </p:nvSpPr>
        <p:spPr>
          <a:xfrm>
            <a:off x="4846320" y="3163824"/>
            <a:ext cx="4005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A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Inconvénients :</a:t>
            </a:r>
            <a:endParaRPr lang="en-US" sz="1000" dirty="0"/>
          </a:p>
        </p:txBody>
      </p:sp>
      <p:pic>
        <p:nvPicPr>
          <p:cNvPr id="47" name="Image 1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4608" y="3401568"/>
            <a:ext cx="182880" cy="182880"/>
          </a:xfrm>
          <a:prstGeom prst="rect">
            <a:avLst/>
          </a:prstGeom>
        </p:spPr>
      </p:pic>
      <p:sp>
        <p:nvSpPr>
          <p:cNvPr id="48" name="Text 33"/>
          <p:cNvSpPr/>
          <p:nvPr/>
        </p:nvSpPr>
        <p:spPr>
          <a:xfrm>
            <a:off x="5102352" y="338328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mise en forme des cellules</a:t>
            </a:r>
            <a:endParaRPr lang="en-US" sz="900" dirty="0"/>
          </a:p>
        </p:txBody>
      </p:sp>
      <p:pic>
        <p:nvPicPr>
          <p:cNvPr id="49" name="Image 1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4608" y="3639312"/>
            <a:ext cx="182880" cy="182880"/>
          </a:xfrm>
          <a:prstGeom prst="rect">
            <a:avLst/>
          </a:prstGeom>
        </p:spPr>
      </p:pic>
      <p:sp>
        <p:nvSpPr>
          <p:cNvPr id="50" name="Text 34"/>
          <p:cNvSpPr/>
          <p:nvPr/>
        </p:nvSpPr>
        <p:spPr>
          <a:xfrm>
            <a:off x="5102352" y="362102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gestion native des onglets multiples</a:t>
            </a:r>
            <a:endParaRPr lang="en-US" sz="900" dirty="0"/>
          </a:p>
        </p:txBody>
      </p:sp>
      <p:pic>
        <p:nvPicPr>
          <p:cNvPr id="51" name="Image 1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4608" y="3877056"/>
            <a:ext cx="182880" cy="182880"/>
          </a:xfrm>
          <a:prstGeom prst="rect">
            <a:avLst/>
          </a:prstGeom>
        </p:spPr>
      </p:pic>
      <p:sp>
        <p:nvSpPr>
          <p:cNvPr id="53" name="Shape 36"/>
          <p:cNvSpPr/>
          <p:nvPr/>
        </p:nvSpPr>
        <p:spPr>
          <a:xfrm>
            <a:off x="4969764" y="4171591"/>
            <a:ext cx="4005072" cy="402336"/>
          </a:xfrm>
          <a:prstGeom prst="rect">
            <a:avLst/>
          </a:prstGeom>
          <a:solidFill>
            <a:srgbClr val="5E7D8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4" name="Text 37"/>
          <p:cNvSpPr/>
          <p:nvPr/>
        </p:nvSpPr>
        <p:spPr>
          <a:xfrm>
            <a:off x="4946423" y="4395619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Idéal pour : Analyse Python/R · Import SQL · QGIS · Outils automatisés</a:t>
            </a:r>
            <a:endParaRPr lang="en-US" sz="950" dirty="0"/>
          </a:p>
        </p:txBody>
      </p:sp>
      <p:sp>
        <p:nvSpPr>
          <p:cNvPr id="52" name="Text 35"/>
          <p:cNvSpPr/>
          <p:nvPr/>
        </p:nvSpPr>
        <p:spPr>
          <a:xfrm>
            <a:off x="5102352" y="385876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Encodage (UTF-8) à vérifier pour les accents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188720"/>
          </a:xfrm>
          <a:prstGeom prst="rect">
            <a:avLst/>
          </a:prstGeom>
          <a:solidFill>
            <a:srgbClr val="0B6E4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128016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KML et GeoJSON — Données géospatiales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9D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Exploiter les coordonnées GPS dans des outils carto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D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KoboToolbox de A à Z — Module 10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90118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9D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1261872"/>
            <a:ext cx="4206240" cy="349300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320040" y="1261872"/>
            <a:ext cx="64008" cy="3493008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320040" y="1261872"/>
            <a:ext cx="4206240" cy="420624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" y="1316736"/>
            <a:ext cx="310896" cy="310896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95528" y="129844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KML (Google Maps / Google Earth)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411480" y="1773936"/>
            <a:ext cx="40050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XML de Google pour afficher des points, lignes et polygones. Compatible avec Google Maps, Google Earth, ArcGIS et QGIS.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411480" y="2304288"/>
            <a:ext cx="4005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d'usage :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411480" y="2505456"/>
            <a:ext cx="4005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Visualiser les ménages sur Google My Maps · Partager une carte annotée avec l'équipe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411480" y="2907792"/>
            <a:ext cx="4005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faire :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411480" y="3108960"/>
            <a:ext cx="4005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Exporter → KML → Ouvrir dans Google Earth ou importer dans Google My Maps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411480" y="3401568"/>
            <a:ext cx="4005072" cy="1261872"/>
          </a:xfrm>
          <a:prstGeom prst="rect">
            <a:avLst/>
          </a:prstGeom>
          <a:solidFill>
            <a:srgbClr val="0F3460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7"/>
          <p:cNvSpPr/>
          <p:nvPr/>
        </p:nvSpPr>
        <p:spPr>
          <a:xfrm>
            <a:off x="411480" y="3401568"/>
            <a:ext cx="54864" cy="1261872"/>
          </a:xfrm>
          <a:prstGeom prst="rect">
            <a:avLst/>
          </a:prstGeom>
          <a:solidFill>
            <a:srgbClr val="1ABC9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8"/>
          <p:cNvSpPr/>
          <p:nvPr/>
        </p:nvSpPr>
        <p:spPr>
          <a:xfrm>
            <a:off x="521208" y="3456432"/>
            <a:ext cx="38404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850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&lt;Placemark&gt;</a:t>
            </a:r>
            <a:endParaRPr lang="en-US" sz="8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850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&lt;name&gt;Ménage #1&lt;/name&gt;</a:t>
            </a:r>
            <a:endParaRPr lang="en-US" sz="8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850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&lt;Point&gt;</a:t>
            </a:r>
            <a:endParaRPr lang="en-US" sz="8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850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&lt;coordinates&gt;1.9817,7.9004,312&lt;/coordinates&gt;</a:t>
            </a:r>
            <a:endParaRPr lang="en-US" sz="8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850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&lt;/Point&gt;</a:t>
            </a:r>
            <a:endParaRPr lang="en-US" sz="8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850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&lt;/Placemark&gt;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4754880" y="1261872"/>
            <a:ext cx="4206240" cy="349300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3" name="Shape 20"/>
          <p:cNvSpPr/>
          <p:nvPr/>
        </p:nvSpPr>
        <p:spPr>
          <a:xfrm>
            <a:off x="4754880" y="1261872"/>
            <a:ext cx="64008" cy="3493008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Shape 21"/>
          <p:cNvSpPr/>
          <p:nvPr/>
        </p:nvSpPr>
        <p:spPr>
          <a:xfrm>
            <a:off x="4754880" y="1261872"/>
            <a:ext cx="4206240" cy="420624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1316736"/>
            <a:ext cx="310896" cy="310896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5230368" y="129844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GeoJSON (QGIS / Cartographie web)</a:t>
            </a:r>
            <a:endParaRPr lang="en-US" sz="1150" dirty="0"/>
          </a:p>
        </p:txBody>
      </p:sp>
      <p:sp>
        <p:nvSpPr>
          <p:cNvPr id="27" name="Text 23"/>
          <p:cNvSpPr/>
          <p:nvPr/>
        </p:nvSpPr>
        <p:spPr>
          <a:xfrm>
            <a:off x="4846320" y="1773936"/>
            <a:ext cx="40050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JSON standard pour les données géospatiales. Idéal pour l'analyse dans QGIS, Mapbox, Leaflet.js et tout outil GIS moderne.</a:t>
            </a:r>
            <a:endParaRPr lang="en-US" sz="950" dirty="0"/>
          </a:p>
        </p:txBody>
      </p:sp>
      <p:sp>
        <p:nvSpPr>
          <p:cNvPr id="28" name="Text 24"/>
          <p:cNvSpPr/>
          <p:nvPr/>
        </p:nvSpPr>
        <p:spPr>
          <a:xfrm>
            <a:off x="4846320" y="2304288"/>
            <a:ext cx="4005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d'usage :</a:t>
            </a:r>
            <a:endParaRPr lang="en-US" sz="950" dirty="0"/>
          </a:p>
        </p:txBody>
      </p:sp>
      <p:sp>
        <p:nvSpPr>
          <p:cNvPr id="29" name="Text 25"/>
          <p:cNvSpPr/>
          <p:nvPr/>
        </p:nvSpPr>
        <p:spPr>
          <a:xfrm>
            <a:off x="4846320" y="2505456"/>
            <a:ext cx="4005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spatiale dans QGIS · Carte web interactive avec Leaflet · Jointure avec données administratives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4846320" y="2907792"/>
            <a:ext cx="4005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faire :</a:t>
            </a:r>
            <a:endParaRPr lang="en-US" sz="950" dirty="0"/>
          </a:p>
        </p:txBody>
      </p:sp>
      <p:sp>
        <p:nvSpPr>
          <p:cNvPr id="31" name="Text 27"/>
          <p:cNvSpPr/>
          <p:nvPr/>
        </p:nvSpPr>
        <p:spPr>
          <a:xfrm>
            <a:off x="4846320" y="3108960"/>
            <a:ext cx="4005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Exporter → GeoJSON → Ouvrir dans QGIS ou importer dans Mapbox</a:t>
            </a:r>
            <a:endParaRPr lang="en-US" sz="900" dirty="0"/>
          </a:p>
        </p:txBody>
      </p:sp>
      <p:sp>
        <p:nvSpPr>
          <p:cNvPr id="32" name="Shape 28"/>
          <p:cNvSpPr/>
          <p:nvPr/>
        </p:nvSpPr>
        <p:spPr>
          <a:xfrm>
            <a:off x="4846320" y="3401568"/>
            <a:ext cx="4005072" cy="1261872"/>
          </a:xfrm>
          <a:prstGeom prst="rect">
            <a:avLst/>
          </a:prstGeom>
          <a:solidFill>
            <a:srgbClr val="0F3460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3" name="Shape 29"/>
          <p:cNvSpPr/>
          <p:nvPr/>
        </p:nvSpPr>
        <p:spPr>
          <a:xfrm>
            <a:off x="4846320" y="3401568"/>
            <a:ext cx="54864" cy="1261872"/>
          </a:xfrm>
          <a:prstGeom prst="rect">
            <a:avLst/>
          </a:prstGeom>
          <a:solidFill>
            <a:srgbClr val="1ABC9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" name="Text 30"/>
          <p:cNvSpPr/>
          <p:nvPr/>
        </p:nvSpPr>
        <p:spPr>
          <a:xfrm>
            <a:off x="4956048" y="3456432"/>
            <a:ext cx="38404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850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</a:t>
            </a:r>
            <a:endParaRPr lang="en-US" sz="8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850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"type":"FeatureCollection",</a:t>
            </a:r>
            <a:endParaRPr lang="en-US" sz="8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850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"features":[{</a:t>
            </a:r>
            <a:endParaRPr lang="en-US" sz="8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850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"type":"Feature",</a:t>
            </a:r>
            <a:endParaRPr lang="en-US" sz="8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850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"geometry":{</a:t>
            </a:r>
            <a:endParaRPr lang="en-US" sz="8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850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"type":"Point",</a:t>
            </a:r>
            <a:endParaRPr lang="en-US" sz="8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850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"coordinates":[1.9817,7.9004]</a:t>
            </a:r>
            <a:endParaRPr lang="en-US" sz="8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850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},</a:t>
            </a:r>
            <a:endParaRPr lang="en-US" sz="8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850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"properties":{</a:t>
            </a:r>
            <a:endParaRPr lang="en-US" sz="8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850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"age":34,"commune":"Glazoué"</a:t>
            </a:r>
            <a:endParaRPr lang="en-US" sz="8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850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}</a:t>
            </a:r>
            <a:endParaRPr lang="en-US" sz="8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850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}]</a:t>
            </a:r>
            <a:endParaRPr lang="en-US" sz="8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850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}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188720"/>
          </a:xfrm>
          <a:prstGeom prst="rect">
            <a:avLst/>
          </a:prstGeom>
          <a:solidFill>
            <a:srgbClr val="0B6E4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128016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— Accès programmatique aux données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9D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Récupérer les données avec un token d'authentification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D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KoboToolbox de A à Z — Module 10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90118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9D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1261872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L'API REST de KoboToolbox permet d'accéder aux données via des requêtes HTTP. Idéale pour automatiser les exports, alimenter des dashboards ou intégrer dans des applications.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17373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Obtenir son token API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2176272"/>
            <a:ext cx="237744" cy="237744"/>
          </a:xfrm>
          <a:prstGeom prst="ellipse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365760" y="21762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76656" y="2139696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 → Paramètres → Sécurité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76656" y="235915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Section « API Token »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2596896"/>
            <a:ext cx="237744" cy="237744"/>
          </a:xfrm>
          <a:prstGeom prst="ellipse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365760" y="259689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76656" y="256032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Cliquer sur « Générer un token »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76656" y="2779776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Chaîne alphanumérique de 40 caractères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3017520"/>
            <a:ext cx="237744" cy="237744"/>
          </a:xfrm>
          <a:prstGeom prst="ellipse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365760" y="301752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76656" y="2980944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Copier et stocker en lieu sûr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76656" y="320040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Ne jamais partager ce token !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65760" y="3401568"/>
            <a:ext cx="4114800" cy="402336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438912" y="3438144"/>
            <a:ext cx="3968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: a1b2c3d4e5f6a1b2c3d4e5f6a1b2c3d4e5f6a1b2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65760" y="3877056"/>
            <a:ext cx="4114800" cy="566928"/>
          </a:xfrm>
          <a:prstGeom prst="rect">
            <a:avLst/>
          </a:prstGeom>
          <a:solidFill>
            <a:srgbClr val="FFF0E0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968496"/>
            <a:ext cx="237744" cy="237744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749808" y="3931920"/>
            <a:ext cx="3639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token = mot de passe d'accès à TOUTES vos données. Ne jamais l'exposer dans du code public (GitHub) ni le partager par email.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4754880" y="1737360"/>
            <a:ext cx="4114800" cy="2724912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9" name="Shape 26"/>
          <p:cNvSpPr/>
          <p:nvPr/>
        </p:nvSpPr>
        <p:spPr>
          <a:xfrm>
            <a:off x="4754880" y="1737360"/>
            <a:ext cx="64008" cy="2724912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Shape 27"/>
          <p:cNvSpPr/>
          <p:nvPr/>
        </p:nvSpPr>
        <p:spPr>
          <a:xfrm>
            <a:off x="4754880" y="1737360"/>
            <a:ext cx="4114800" cy="347472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" name="Text 28"/>
          <p:cNvSpPr/>
          <p:nvPr/>
        </p:nvSpPr>
        <p:spPr>
          <a:xfrm>
            <a:off x="4828032" y="173736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Endpoints principaux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4828032" y="2139696"/>
            <a:ext cx="3968496" cy="40233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" name="Shape 30"/>
          <p:cNvSpPr/>
          <p:nvPr/>
        </p:nvSpPr>
        <p:spPr>
          <a:xfrm>
            <a:off x="4828032" y="2157984"/>
            <a:ext cx="475488" cy="201168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" name="Text 31"/>
          <p:cNvSpPr/>
          <p:nvPr/>
        </p:nvSpPr>
        <p:spPr>
          <a:xfrm>
            <a:off x="4828032" y="2157984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5358384" y="215798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Lister vos projets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5358384" y="2359152"/>
            <a:ext cx="3346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/api/v2/assets/</a:t>
            </a:r>
            <a:endParaRPr lang="en-US" sz="750" dirty="0"/>
          </a:p>
        </p:txBody>
      </p:sp>
      <p:sp>
        <p:nvSpPr>
          <p:cNvPr id="37" name="Shape 34"/>
          <p:cNvSpPr/>
          <p:nvPr/>
        </p:nvSpPr>
        <p:spPr>
          <a:xfrm>
            <a:off x="4828032" y="2578608"/>
            <a:ext cx="3968496" cy="402336"/>
          </a:xfrm>
          <a:prstGeom prst="rect">
            <a:avLst/>
          </a:prstGeom>
          <a:solidFill>
            <a:srgbClr val="E8F8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" name="Shape 35"/>
          <p:cNvSpPr/>
          <p:nvPr/>
        </p:nvSpPr>
        <p:spPr>
          <a:xfrm>
            <a:off x="4828032" y="2596896"/>
            <a:ext cx="475488" cy="201168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" name="Text 36"/>
          <p:cNvSpPr/>
          <p:nvPr/>
        </p:nvSpPr>
        <p:spPr>
          <a:xfrm>
            <a:off x="4828032" y="2596896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750" dirty="0"/>
          </a:p>
        </p:txBody>
      </p:sp>
      <p:sp>
        <p:nvSpPr>
          <p:cNvPr id="40" name="Text 37"/>
          <p:cNvSpPr/>
          <p:nvPr/>
        </p:nvSpPr>
        <p:spPr>
          <a:xfrm>
            <a:off x="5358384" y="259689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d'un formulaire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5358384" y="2798064"/>
            <a:ext cx="3346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/api/v2/assets/{</a:t>
            </a:r>
            <a:r>
              <a:rPr lang="en-US" sz="750" dirty="0">
                <a:solidFill>
                  <a:srgbClr val="5E7D8E"/>
                </a:solidFill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uid</a:t>
            </a:r>
            <a:r>
              <a:rPr lang="en-US" sz="7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}/data/</a:t>
            </a:r>
            <a:endParaRPr lang="en-US" sz="750" dirty="0"/>
          </a:p>
        </p:txBody>
      </p:sp>
      <p:sp>
        <p:nvSpPr>
          <p:cNvPr id="42" name="Shape 39"/>
          <p:cNvSpPr/>
          <p:nvPr/>
        </p:nvSpPr>
        <p:spPr>
          <a:xfrm>
            <a:off x="4828032" y="3017520"/>
            <a:ext cx="3968496" cy="40233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3" name="Shape 40"/>
          <p:cNvSpPr/>
          <p:nvPr/>
        </p:nvSpPr>
        <p:spPr>
          <a:xfrm>
            <a:off x="4828032" y="3035808"/>
            <a:ext cx="475488" cy="201168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4" name="Text 41"/>
          <p:cNvSpPr/>
          <p:nvPr/>
        </p:nvSpPr>
        <p:spPr>
          <a:xfrm>
            <a:off x="4828032" y="3035808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750" dirty="0"/>
          </a:p>
        </p:txBody>
      </p:sp>
      <p:sp>
        <p:nvSpPr>
          <p:cNvPr id="45" name="Text 42"/>
          <p:cNvSpPr/>
          <p:nvPr/>
        </p:nvSpPr>
        <p:spPr>
          <a:xfrm>
            <a:off x="5358384" y="303580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E3D"/>
                </a:solidFill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Soumissions filtrées</a:t>
            </a:r>
            <a:endParaRPr lang="en-US" sz="900" dirty="0">
              <a:highlight>
                <a:srgbClr val="FFFF00"/>
              </a:highlight>
            </a:endParaRPr>
          </a:p>
        </p:txBody>
      </p:sp>
      <p:sp>
        <p:nvSpPr>
          <p:cNvPr id="46" name="Text 43"/>
          <p:cNvSpPr/>
          <p:nvPr/>
        </p:nvSpPr>
        <p:spPr>
          <a:xfrm>
            <a:off x="5358384" y="3236976"/>
            <a:ext cx="3346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/api/v2/assets/{uid}/data/?format=json</a:t>
            </a:r>
            <a:endParaRPr lang="en-US" sz="750" dirty="0"/>
          </a:p>
        </p:txBody>
      </p:sp>
      <p:sp>
        <p:nvSpPr>
          <p:cNvPr id="47" name="Shape 44"/>
          <p:cNvSpPr/>
          <p:nvPr/>
        </p:nvSpPr>
        <p:spPr>
          <a:xfrm>
            <a:off x="4828032" y="3456432"/>
            <a:ext cx="3968496" cy="402336"/>
          </a:xfrm>
          <a:prstGeom prst="rect">
            <a:avLst/>
          </a:prstGeom>
          <a:solidFill>
            <a:srgbClr val="E8F8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8" name="Shape 45"/>
          <p:cNvSpPr/>
          <p:nvPr/>
        </p:nvSpPr>
        <p:spPr>
          <a:xfrm>
            <a:off x="4828032" y="3474720"/>
            <a:ext cx="475488" cy="201168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9" name="Text 46"/>
          <p:cNvSpPr/>
          <p:nvPr/>
        </p:nvSpPr>
        <p:spPr>
          <a:xfrm>
            <a:off x="4828032" y="3474720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750" dirty="0"/>
          </a:p>
        </p:txBody>
      </p:sp>
      <p:sp>
        <p:nvSpPr>
          <p:cNvPr id="50" name="Text 47"/>
          <p:cNvSpPr/>
          <p:nvPr/>
        </p:nvSpPr>
        <p:spPr>
          <a:xfrm>
            <a:off x="5358384" y="347472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E3D"/>
                </a:solidFill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Export en XLS</a:t>
            </a:r>
            <a:endParaRPr lang="en-US" sz="900" dirty="0">
              <a:highlight>
                <a:srgbClr val="FFFF00"/>
              </a:highlight>
            </a:endParaRPr>
          </a:p>
        </p:txBody>
      </p:sp>
      <p:sp>
        <p:nvSpPr>
          <p:cNvPr id="51" name="Text 48"/>
          <p:cNvSpPr/>
          <p:nvPr/>
        </p:nvSpPr>
        <p:spPr>
          <a:xfrm>
            <a:off x="5358384" y="3675888"/>
            <a:ext cx="3346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/api/v2/assets/{uid}/export/?format=xls</a:t>
            </a:r>
            <a:endParaRPr lang="en-US" sz="750" dirty="0"/>
          </a:p>
        </p:txBody>
      </p:sp>
      <p:sp>
        <p:nvSpPr>
          <p:cNvPr id="52" name="Shape 49"/>
          <p:cNvSpPr/>
          <p:nvPr/>
        </p:nvSpPr>
        <p:spPr>
          <a:xfrm>
            <a:off x="4828032" y="3895344"/>
            <a:ext cx="3968496" cy="40233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3" name="Shape 50"/>
          <p:cNvSpPr/>
          <p:nvPr/>
        </p:nvSpPr>
        <p:spPr>
          <a:xfrm>
            <a:off x="4828032" y="3913632"/>
            <a:ext cx="475488" cy="201168"/>
          </a:xfrm>
          <a:prstGeom prst="rect">
            <a:avLst/>
          </a:prstGeom>
          <a:solidFill>
            <a:srgbClr val="BA4A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4" name="Text 51"/>
          <p:cNvSpPr/>
          <p:nvPr/>
        </p:nvSpPr>
        <p:spPr>
          <a:xfrm>
            <a:off x="4828032" y="3913632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750" dirty="0"/>
          </a:p>
        </p:txBody>
      </p:sp>
      <p:sp>
        <p:nvSpPr>
          <p:cNvPr id="55" name="Text 52"/>
          <p:cNvSpPr/>
          <p:nvPr/>
        </p:nvSpPr>
        <p:spPr>
          <a:xfrm>
            <a:off x="5358384" y="391363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Soumettre des données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358384" y="4114800"/>
            <a:ext cx="3346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E7D8E"/>
                </a:solidFill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/api/v2/assets/{uid}/submissions/</a:t>
            </a:r>
            <a:endParaRPr lang="en-US" sz="750" dirty="0">
              <a:highlight>
                <a:srgbClr val="FFFF00"/>
              </a:highlight>
            </a:endParaRPr>
          </a:p>
        </p:txBody>
      </p:sp>
      <p:sp>
        <p:nvSpPr>
          <p:cNvPr id="57" name="Shape 54"/>
          <p:cNvSpPr/>
          <p:nvPr/>
        </p:nvSpPr>
        <p:spPr>
          <a:xfrm>
            <a:off x="4828032" y="4535424"/>
            <a:ext cx="3968496" cy="347472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8" name="Text 55"/>
          <p:cNvSpPr/>
          <p:nvPr/>
        </p:nvSpPr>
        <p:spPr>
          <a:xfrm>
            <a:off x="4882896" y="4572000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URL : https://kf.kobotoolbox.org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50292"/>
            <a:ext cx="9144000" cy="118872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188720"/>
          </a:xfrm>
          <a:prstGeom prst="rect">
            <a:avLst/>
          </a:prstGeom>
          <a:solidFill>
            <a:srgbClr val="0B6E4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128016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— Exemples de requêtes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9D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Accéder aux données depuis Python, R ou curl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D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KoboToolbox de A à Z — Module 10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90118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9D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12618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Exemples pratiques pour récupérer les soumissions depuis différents outils :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1609344"/>
            <a:ext cx="8412480" cy="310896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57200" y="1609344"/>
            <a:ext cx="8275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1 — curl (terminal / ligne de commande)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1956816"/>
            <a:ext cx="8412480" cy="694944"/>
          </a:xfrm>
          <a:prstGeom prst="rect">
            <a:avLst/>
          </a:prstGeom>
          <a:solidFill>
            <a:srgbClr val="0F3460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365760" y="1956816"/>
            <a:ext cx="54864" cy="694944"/>
          </a:xfrm>
          <a:prstGeom prst="rect">
            <a:avLst/>
          </a:prstGeom>
          <a:solidFill>
            <a:srgbClr val="1ABC9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475488" y="2011680"/>
            <a:ext cx="82478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850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curl -X GET "https://kf.kobotoolbox.org/api/v2/assets/aBcDeF/data/?format=json" \</a:t>
            </a:r>
            <a:endParaRPr lang="en-US" sz="8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850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-H "Authorization: Token a1b2c3d4e5f6a1b2c3d4e5f6a1b2c3d4e5f6a1b2"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65760" y="2724912"/>
            <a:ext cx="8412480" cy="310896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457200" y="2724912"/>
            <a:ext cx="8275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2 — Python (pandas + requests)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072384"/>
            <a:ext cx="8412480" cy="932688"/>
          </a:xfrm>
          <a:prstGeom prst="rect">
            <a:avLst/>
          </a:prstGeom>
          <a:solidFill>
            <a:srgbClr val="0F3460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365760" y="3072384"/>
            <a:ext cx="54864" cy="932688"/>
          </a:xfrm>
          <a:prstGeom prst="rect">
            <a:avLst/>
          </a:prstGeom>
          <a:solidFill>
            <a:srgbClr val="1ABC9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475488" y="3127248"/>
            <a:ext cx="82478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850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requests, pandas as pd</a:t>
            </a:r>
            <a:endParaRPr lang="en-US" sz="8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850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= "a1b2c3d4e5f6..."</a:t>
            </a:r>
            <a:endParaRPr lang="en-US" sz="8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850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  = "https://kf.kobotoolbox.org/api/v2/assets/aBcDeF/data/?format=json"</a:t>
            </a:r>
            <a:endParaRPr lang="en-US" sz="8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850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requests.get(URL, headers={"Authorization": f"Token {TOKEN}"})</a:t>
            </a:r>
            <a:endParaRPr lang="en-US" sz="8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850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 = pd.DataFrame(r.json()["results"])  # → DataFrame avec toutes les soumissions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65760" y="4078224"/>
            <a:ext cx="8412480" cy="310896"/>
          </a:xfrm>
          <a:prstGeom prst="rect">
            <a:avLst/>
          </a:prstGeom>
          <a:solidFill>
            <a:srgbClr val="0B6E4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457200" y="4078224"/>
            <a:ext cx="8275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de la réponse JSON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4425696"/>
            <a:ext cx="8412480" cy="621792"/>
          </a:xfrm>
          <a:prstGeom prst="rect">
            <a:avLst/>
          </a:prstGeom>
          <a:solidFill>
            <a:srgbClr val="0F3460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365760" y="4425696"/>
            <a:ext cx="54864" cy="621792"/>
          </a:xfrm>
          <a:prstGeom prst="rect">
            <a:avLst/>
          </a:prstGeom>
          <a:solidFill>
            <a:srgbClr val="1ABC9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475488" y="4480560"/>
            <a:ext cx="82478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850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 "count": 216, "next": null, "previous": null,</a:t>
            </a:r>
            <a:endParaRPr lang="en-US" sz="8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850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"results": [ { "_id": 1, "date_collecte": "2026-03-22", "commune": "Glazoué", "age": 34, ... }, ... ] }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188720"/>
          </a:xfrm>
          <a:prstGeom prst="rect">
            <a:avLst/>
          </a:prstGeom>
          <a:solidFill>
            <a:srgbClr val="0B6E4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128016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Connecter à Google Sheets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9D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Synchronisation automatique des soumissions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D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KoboToolbox de A à Z — Module 10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90118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9D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1261872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KoboToolbox peut envoyer automatiquement chaque nouvelle soumission vers un Google Sheet via un REST Service (webhook) ou via des outils comme Zapier ou Make.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1737360"/>
            <a:ext cx="4114800" cy="310896"/>
          </a:xfrm>
          <a:prstGeom prst="rect">
            <a:avLst/>
          </a:prstGeom>
          <a:solidFill>
            <a:srgbClr val="0F9D5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57200" y="1737360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 1 — REST Service natif Kobo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38912" y="2121408"/>
            <a:ext cx="201168" cy="201168"/>
          </a:xfrm>
          <a:prstGeom prst="ellipse">
            <a:avLst/>
          </a:prstGeom>
          <a:solidFill>
            <a:srgbClr val="0F9D5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438912" y="212140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94944" y="2103120"/>
            <a:ext cx="3712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Paramètres du projet → REST Services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38912" y="2450592"/>
            <a:ext cx="201168" cy="201168"/>
          </a:xfrm>
          <a:prstGeom prst="ellipse">
            <a:avLst/>
          </a:prstGeom>
          <a:solidFill>
            <a:srgbClr val="0F9D5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438912" y="245059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94944" y="2432304"/>
            <a:ext cx="3712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Cliquer « + Ajouter un service »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38912" y="2779776"/>
            <a:ext cx="201168" cy="201168"/>
          </a:xfrm>
          <a:prstGeom prst="ellipse">
            <a:avLst/>
          </a:prstGeom>
          <a:solidFill>
            <a:srgbClr val="0F9D5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438912" y="277977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94944" y="2761488"/>
            <a:ext cx="3712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 : « Google Sheets sync »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38912" y="3108960"/>
            <a:ext cx="201168" cy="201168"/>
          </a:xfrm>
          <a:prstGeom prst="ellipse">
            <a:avLst/>
          </a:prstGeom>
          <a:solidFill>
            <a:srgbClr val="0F9D5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438912" y="310896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94944" y="3090672"/>
            <a:ext cx="3712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: URL du script Google Apps Script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38912" y="3438144"/>
            <a:ext cx="201168" cy="201168"/>
          </a:xfrm>
          <a:prstGeom prst="ellipse">
            <a:avLst/>
          </a:prstGeom>
          <a:solidFill>
            <a:srgbClr val="0F9D5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438912" y="343814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94944" y="3419856"/>
            <a:ext cx="3712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Activer → Tester avec une soumission test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65760" y="3822192"/>
            <a:ext cx="4114800" cy="310896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457200" y="3822192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Google Apps Script (côté Google)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4169664"/>
            <a:ext cx="4114800" cy="621792"/>
          </a:xfrm>
          <a:prstGeom prst="rect">
            <a:avLst/>
          </a:prstGeom>
          <a:solidFill>
            <a:srgbClr val="0F3460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0" name="Shape 28"/>
          <p:cNvSpPr/>
          <p:nvPr/>
        </p:nvSpPr>
        <p:spPr>
          <a:xfrm>
            <a:off x="365760" y="4169664"/>
            <a:ext cx="54864" cy="621792"/>
          </a:xfrm>
          <a:prstGeom prst="rect">
            <a:avLst/>
          </a:prstGeom>
          <a:solidFill>
            <a:srgbClr val="1ABC9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475488" y="4224528"/>
            <a:ext cx="39502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850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doPost(e) {</a:t>
            </a:r>
            <a:endParaRPr lang="en-US" sz="8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850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var data = JSON.parse(e.postData.contents);</a:t>
            </a:r>
            <a:endParaRPr lang="en-US" sz="8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850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SpreadsheetApp.getActiveSheet().appendRow([data.date, data.commune, data.age]);</a:t>
            </a:r>
            <a:endParaRPr lang="en-US" sz="8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850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}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663440" y="1737360"/>
            <a:ext cx="4114800" cy="310896"/>
          </a:xfrm>
          <a:prstGeom prst="rect">
            <a:avLst/>
          </a:prstGeom>
          <a:solidFill>
            <a:srgbClr val="BA4A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4754880" y="1737360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 2 — Zapier / Make (no-code)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36592" y="2121408"/>
            <a:ext cx="3968496" cy="3657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" name="Shape 33"/>
          <p:cNvSpPr/>
          <p:nvPr/>
        </p:nvSpPr>
        <p:spPr>
          <a:xfrm>
            <a:off x="4736592" y="2121408"/>
            <a:ext cx="475488" cy="365760"/>
          </a:xfrm>
          <a:prstGeom prst="rect">
            <a:avLst/>
          </a:prstGeom>
          <a:solidFill>
            <a:srgbClr val="BA4A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4736592" y="2139696"/>
            <a:ext cx="475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Zapier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5266944" y="2157984"/>
            <a:ext cx="3364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un « Zap » · Trigger : KoboToolbox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736592" y="2523744"/>
            <a:ext cx="3968496" cy="365760"/>
          </a:xfrm>
          <a:prstGeom prst="rect">
            <a:avLst/>
          </a:prstGeom>
          <a:solidFill>
            <a:srgbClr val="F0FBF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" name="Shape 37"/>
          <p:cNvSpPr/>
          <p:nvPr/>
        </p:nvSpPr>
        <p:spPr>
          <a:xfrm>
            <a:off x="4736592" y="2523744"/>
            <a:ext cx="475488" cy="365760"/>
          </a:xfrm>
          <a:prstGeom prst="rect">
            <a:avLst/>
          </a:prstGeom>
          <a:solidFill>
            <a:srgbClr val="0F9D5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" name="Text 38"/>
          <p:cNvSpPr/>
          <p:nvPr/>
        </p:nvSpPr>
        <p:spPr>
          <a:xfrm>
            <a:off x="4736592" y="2542032"/>
            <a:ext cx="475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5266944" y="2560320"/>
            <a:ext cx="3364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: Google Sheets · Créer une ligne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736592" y="2926080"/>
            <a:ext cx="3968496" cy="3657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3" name="Shape 41"/>
          <p:cNvSpPr/>
          <p:nvPr/>
        </p:nvSpPr>
        <p:spPr>
          <a:xfrm>
            <a:off x="4736592" y="2926080"/>
            <a:ext cx="475488" cy="365760"/>
          </a:xfrm>
          <a:prstGeom prst="rect">
            <a:avLst/>
          </a:prstGeom>
          <a:solidFill>
            <a:srgbClr val="BA4A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4" name="Text 42"/>
          <p:cNvSpPr/>
          <p:nvPr/>
        </p:nvSpPr>
        <p:spPr>
          <a:xfrm>
            <a:off x="4736592" y="2944368"/>
            <a:ext cx="475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5266944" y="2962656"/>
            <a:ext cx="3364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un scénario · Module KoboToolbox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736592" y="3328416"/>
            <a:ext cx="3968496" cy="365760"/>
          </a:xfrm>
          <a:prstGeom prst="rect">
            <a:avLst/>
          </a:prstGeom>
          <a:solidFill>
            <a:srgbClr val="F0FBF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7" name="Shape 45"/>
          <p:cNvSpPr/>
          <p:nvPr/>
        </p:nvSpPr>
        <p:spPr>
          <a:xfrm>
            <a:off x="4736592" y="3328416"/>
            <a:ext cx="475488" cy="365760"/>
          </a:xfrm>
          <a:prstGeom prst="rect">
            <a:avLst/>
          </a:prstGeom>
          <a:solidFill>
            <a:srgbClr val="0F9D5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8" name="Text 46"/>
          <p:cNvSpPr/>
          <p:nvPr/>
        </p:nvSpPr>
        <p:spPr>
          <a:xfrm>
            <a:off x="4736592" y="3346704"/>
            <a:ext cx="475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5266944" y="3364992"/>
            <a:ext cx="3364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Google Sheets · Ajouter ligne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663440" y="3822192"/>
            <a:ext cx="4114800" cy="310896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1" name="Text 49"/>
          <p:cNvSpPr/>
          <p:nvPr/>
        </p:nvSpPr>
        <p:spPr>
          <a:xfrm>
            <a:off x="4754880" y="3822192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 des méthodes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736592" y="4169664"/>
            <a:ext cx="3968496" cy="274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3" name="Shape 51"/>
          <p:cNvSpPr/>
          <p:nvPr/>
        </p:nvSpPr>
        <p:spPr>
          <a:xfrm>
            <a:off x="4736592" y="4169664"/>
            <a:ext cx="676656" cy="274320"/>
          </a:xfrm>
          <a:prstGeom prst="rect">
            <a:avLst/>
          </a:prstGeom>
          <a:solidFill>
            <a:srgbClr val="0F9D5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4" name="Text 52"/>
          <p:cNvSpPr/>
          <p:nvPr/>
        </p:nvSpPr>
        <p:spPr>
          <a:xfrm>
            <a:off x="4736592" y="4187952"/>
            <a:ext cx="676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Service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5449824" y="4206240"/>
            <a:ext cx="3218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Gratuit · Technique · Code requis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736592" y="4462272"/>
            <a:ext cx="3968496" cy="274320"/>
          </a:xfrm>
          <a:prstGeom prst="rect">
            <a:avLst/>
          </a:prstGeom>
          <a:solidFill>
            <a:srgbClr val="F0FBF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7" name="Shape 55"/>
          <p:cNvSpPr/>
          <p:nvPr/>
        </p:nvSpPr>
        <p:spPr>
          <a:xfrm>
            <a:off x="4736592" y="4462272"/>
            <a:ext cx="676656" cy="274320"/>
          </a:xfrm>
          <a:prstGeom prst="rect">
            <a:avLst/>
          </a:prstGeom>
          <a:solidFill>
            <a:srgbClr val="BA4A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8" name="Text 56"/>
          <p:cNvSpPr/>
          <p:nvPr/>
        </p:nvSpPr>
        <p:spPr>
          <a:xfrm>
            <a:off x="4736592" y="4480560"/>
            <a:ext cx="676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Zapier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5449824" y="4498848"/>
            <a:ext cx="3218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Payant · No-code · 100+ apps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4736592" y="4754880"/>
            <a:ext cx="3968496" cy="274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1" name="Shape 59"/>
          <p:cNvSpPr/>
          <p:nvPr/>
        </p:nvSpPr>
        <p:spPr>
          <a:xfrm>
            <a:off x="4736592" y="4754880"/>
            <a:ext cx="676656" cy="274320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2" name="Text 60"/>
          <p:cNvSpPr/>
          <p:nvPr/>
        </p:nvSpPr>
        <p:spPr>
          <a:xfrm>
            <a:off x="4736592" y="4773168"/>
            <a:ext cx="676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5449824" y="4791456"/>
            <a:ext cx="3218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Freemium · No-code · Flexible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8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188720"/>
          </a:xfrm>
          <a:prstGeom prst="rect">
            <a:avLst/>
          </a:prstGeom>
          <a:solidFill>
            <a:srgbClr val="0B6E4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128016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Connecter à Power BI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9D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Dashboard professionnel avec données live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D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KoboToolbox de A à Z — Module 10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90118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9D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126187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peut se connecter directement à l'API Kobo via le connecteur Web pour afficher les données en temps réel dans un dashboard professionnel.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168249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C8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pas à pas :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2011680"/>
            <a:ext cx="411480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365760" y="2011680"/>
            <a:ext cx="64008" cy="475488"/>
          </a:xfrm>
          <a:prstGeom prst="rect">
            <a:avLst/>
          </a:prstGeom>
          <a:solidFill>
            <a:srgbClr val="F2C811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121408"/>
            <a:ext cx="274320" cy="27432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22960" y="2066544"/>
            <a:ext cx="3584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Desktop → Accueil → Obtenir des données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822960" y="2286000"/>
            <a:ext cx="3584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Choisir « Web »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365760" y="2560320"/>
            <a:ext cx="411480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4"/>
          <p:cNvSpPr/>
          <p:nvPr/>
        </p:nvSpPr>
        <p:spPr>
          <a:xfrm>
            <a:off x="365760" y="2560320"/>
            <a:ext cx="64008" cy="475488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670048"/>
            <a:ext cx="274320" cy="27432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822960" y="2615184"/>
            <a:ext cx="3584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Entrer l'URL de l'API avec format JSON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822960" y="2834640"/>
            <a:ext cx="3584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https://kf.kobotoolbox.org/api/v2/assets/{uid}/data/?format=json</a:t>
            </a:r>
            <a:endParaRPr lang="en-US" sz="850" dirty="0"/>
          </a:p>
        </p:txBody>
      </p:sp>
      <p:sp>
        <p:nvSpPr>
          <p:cNvPr id="21" name="Shape 17"/>
          <p:cNvSpPr/>
          <p:nvPr/>
        </p:nvSpPr>
        <p:spPr>
          <a:xfrm>
            <a:off x="365760" y="3108960"/>
            <a:ext cx="411480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2" name="Shape 18"/>
          <p:cNvSpPr/>
          <p:nvPr/>
        </p:nvSpPr>
        <p:spPr>
          <a:xfrm>
            <a:off x="365760" y="3108960"/>
            <a:ext cx="64008" cy="475488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218688"/>
            <a:ext cx="274320" cy="27432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822960" y="3163824"/>
            <a:ext cx="3584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 → Avancé</a:t>
            </a:r>
            <a:endParaRPr lang="en-US" sz="1050" dirty="0"/>
          </a:p>
        </p:txBody>
      </p:sp>
      <p:sp>
        <p:nvSpPr>
          <p:cNvPr id="25" name="Text 20"/>
          <p:cNvSpPr/>
          <p:nvPr/>
        </p:nvSpPr>
        <p:spPr>
          <a:xfrm>
            <a:off x="822960" y="3383280"/>
            <a:ext cx="3584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Ajouter l'en-tête : Authorization = Token votre_token</a:t>
            </a:r>
            <a:endParaRPr lang="en-US" sz="850" dirty="0"/>
          </a:p>
        </p:txBody>
      </p:sp>
      <p:sp>
        <p:nvSpPr>
          <p:cNvPr id="26" name="Shape 21"/>
          <p:cNvSpPr/>
          <p:nvPr/>
        </p:nvSpPr>
        <p:spPr>
          <a:xfrm>
            <a:off x="365760" y="3657600"/>
            <a:ext cx="411480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7" name="Shape 22"/>
          <p:cNvSpPr/>
          <p:nvPr/>
        </p:nvSpPr>
        <p:spPr>
          <a:xfrm>
            <a:off x="365760" y="3657600"/>
            <a:ext cx="64008" cy="475488"/>
          </a:xfrm>
          <a:prstGeom prst="rect">
            <a:avLst/>
          </a:prstGeom>
          <a:solidFill>
            <a:srgbClr val="0F9D5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767328"/>
            <a:ext cx="274320" cy="27432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822960" y="3712464"/>
            <a:ext cx="3584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les données</a:t>
            </a:r>
            <a:endParaRPr lang="en-US" sz="1050" dirty="0"/>
          </a:p>
        </p:txBody>
      </p:sp>
      <p:sp>
        <p:nvSpPr>
          <p:cNvPr id="30" name="Text 24"/>
          <p:cNvSpPr/>
          <p:nvPr/>
        </p:nvSpPr>
        <p:spPr>
          <a:xfrm>
            <a:off x="822960" y="3931920"/>
            <a:ext cx="3584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 → Développer la colonne « results » → Choisir les champs</a:t>
            </a:r>
            <a:endParaRPr lang="en-US" sz="850" dirty="0"/>
          </a:p>
        </p:txBody>
      </p:sp>
      <p:sp>
        <p:nvSpPr>
          <p:cNvPr id="31" name="Shape 25"/>
          <p:cNvSpPr/>
          <p:nvPr/>
        </p:nvSpPr>
        <p:spPr>
          <a:xfrm>
            <a:off x="365760" y="4206240"/>
            <a:ext cx="411480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2" name="Shape 26"/>
          <p:cNvSpPr/>
          <p:nvPr/>
        </p:nvSpPr>
        <p:spPr>
          <a:xfrm>
            <a:off x="365760" y="4206240"/>
            <a:ext cx="64008" cy="475488"/>
          </a:xfrm>
          <a:prstGeom prst="rect">
            <a:avLst/>
          </a:prstGeom>
          <a:solidFill>
            <a:srgbClr val="1ABC9C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4315968"/>
            <a:ext cx="274320" cy="27432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822960" y="4261104"/>
            <a:ext cx="3584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Actualisation automatique</a:t>
            </a:r>
            <a:endParaRPr lang="en-US" sz="1050" dirty="0"/>
          </a:p>
        </p:txBody>
      </p:sp>
      <p:sp>
        <p:nvSpPr>
          <p:cNvPr id="35" name="Text 28"/>
          <p:cNvSpPr/>
          <p:nvPr/>
        </p:nvSpPr>
        <p:spPr>
          <a:xfrm>
            <a:off x="822960" y="4480560"/>
            <a:ext cx="3584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Planifier un rafraîchissement dans Power BI Service (toutes les heures)</a:t>
            </a:r>
            <a:endParaRPr lang="en-US" sz="850" dirty="0"/>
          </a:p>
        </p:txBody>
      </p:sp>
      <p:sp>
        <p:nvSpPr>
          <p:cNvPr id="36" name="Shape 29"/>
          <p:cNvSpPr/>
          <p:nvPr/>
        </p:nvSpPr>
        <p:spPr>
          <a:xfrm>
            <a:off x="4663440" y="1682496"/>
            <a:ext cx="4114800" cy="3090672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7" name="Shape 30"/>
          <p:cNvSpPr/>
          <p:nvPr/>
        </p:nvSpPr>
        <p:spPr>
          <a:xfrm>
            <a:off x="4663440" y="1682496"/>
            <a:ext cx="4114800" cy="347472"/>
          </a:xfrm>
          <a:prstGeom prst="rect">
            <a:avLst/>
          </a:prstGeom>
          <a:solidFill>
            <a:srgbClr val="F2C81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" name="Text 31"/>
          <p:cNvSpPr/>
          <p:nvPr/>
        </p:nvSpPr>
        <p:spPr>
          <a:xfrm>
            <a:off x="4736592" y="170078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— Dashboard VEZO</a:t>
            </a:r>
            <a:endParaRPr lang="en-US" sz="1050" dirty="0"/>
          </a:p>
        </p:txBody>
      </p:sp>
      <p:sp>
        <p:nvSpPr>
          <p:cNvPr id="39" name="Shape 32"/>
          <p:cNvSpPr/>
          <p:nvPr/>
        </p:nvSpPr>
        <p:spPr>
          <a:xfrm>
            <a:off x="4736592" y="2103120"/>
            <a:ext cx="1261872" cy="548640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" name="Text 33"/>
          <p:cNvSpPr/>
          <p:nvPr/>
        </p:nvSpPr>
        <p:spPr>
          <a:xfrm>
            <a:off x="4736592" y="2139696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216</a:t>
            </a:r>
            <a:endParaRPr lang="en-US" sz="2000" dirty="0"/>
          </a:p>
        </p:txBody>
      </p:sp>
      <p:sp>
        <p:nvSpPr>
          <p:cNvPr id="41" name="Text 34"/>
          <p:cNvSpPr/>
          <p:nvPr/>
        </p:nvSpPr>
        <p:spPr>
          <a:xfrm>
            <a:off x="4736592" y="2432304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Soumissions</a:t>
            </a:r>
            <a:endParaRPr lang="en-US" sz="800" dirty="0"/>
          </a:p>
        </p:txBody>
      </p:sp>
      <p:sp>
        <p:nvSpPr>
          <p:cNvPr id="42" name="Shape 35"/>
          <p:cNvSpPr/>
          <p:nvPr/>
        </p:nvSpPr>
        <p:spPr>
          <a:xfrm>
            <a:off x="6053328" y="2103120"/>
            <a:ext cx="1261872" cy="548640"/>
          </a:xfrm>
          <a:prstGeom prst="rect">
            <a:avLst/>
          </a:prstGeom>
          <a:solidFill>
            <a:srgbClr val="0F9D5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3" name="Text 36"/>
          <p:cNvSpPr/>
          <p:nvPr/>
        </p:nvSpPr>
        <p:spPr>
          <a:xfrm>
            <a:off x="6053328" y="2139696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9D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63%</a:t>
            </a:r>
            <a:endParaRPr lang="en-US" sz="2000" dirty="0"/>
          </a:p>
        </p:txBody>
      </p:sp>
      <p:sp>
        <p:nvSpPr>
          <p:cNvPr id="44" name="Text 37"/>
          <p:cNvSpPr/>
          <p:nvPr/>
        </p:nvSpPr>
        <p:spPr>
          <a:xfrm>
            <a:off x="6053328" y="2432304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Femmes</a:t>
            </a:r>
            <a:endParaRPr lang="en-US" sz="800" dirty="0"/>
          </a:p>
        </p:txBody>
      </p:sp>
      <p:sp>
        <p:nvSpPr>
          <p:cNvPr id="45" name="Shape 38"/>
          <p:cNvSpPr/>
          <p:nvPr/>
        </p:nvSpPr>
        <p:spPr>
          <a:xfrm>
            <a:off x="7370064" y="2103120"/>
            <a:ext cx="1261872" cy="548640"/>
          </a:xfrm>
          <a:prstGeom prst="rect">
            <a:avLst/>
          </a:prstGeom>
          <a:solidFill>
            <a:srgbClr val="0B6E4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6" name="Text 39"/>
          <p:cNvSpPr/>
          <p:nvPr/>
        </p:nvSpPr>
        <p:spPr>
          <a:xfrm>
            <a:off x="7370064" y="2139696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82%</a:t>
            </a:r>
            <a:endParaRPr lang="en-US" sz="2000" dirty="0"/>
          </a:p>
        </p:txBody>
      </p:sp>
      <p:sp>
        <p:nvSpPr>
          <p:cNvPr id="47" name="Text 40"/>
          <p:cNvSpPr/>
          <p:nvPr/>
        </p:nvSpPr>
        <p:spPr>
          <a:xfrm>
            <a:off x="7370064" y="2432304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Satisfaits</a:t>
            </a:r>
            <a:endParaRPr lang="en-US" sz="800" dirty="0"/>
          </a:p>
        </p:txBody>
      </p:sp>
      <p:sp>
        <p:nvSpPr>
          <p:cNvPr id="48" name="Shape 41"/>
          <p:cNvSpPr/>
          <p:nvPr/>
        </p:nvSpPr>
        <p:spPr>
          <a:xfrm>
            <a:off x="4736592" y="2724912"/>
            <a:ext cx="3968496" cy="1517904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9" name="Text 42"/>
          <p:cNvSpPr/>
          <p:nvPr/>
        </p:nvSpPr>
        <p:spPr>
          <a:xfrm>
            <a:off x="4809744" y="2761488"/>
            <a:ext cx="3822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 par commune</a:t>
            </a:r>
            <a:endParaRPr lang="en-US" sz="900" dirty="0"/>
          </a:p>
        </p:txBody>
      </p:sp>
      <p:sp>
        <p:nvSpPr>
          <p:cNvPr id="50" name="Shape 43"/>
          <p:cNvSpPr/>
          <p:nvPr/>
        </p:nvSpPr>
        <p:spPr>
          <a:xfrm>
            <a:off x="4809744" y="3017520"/>
            <a:ext cx="3127248" cy="292608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1" name="Text 44"/>
          <p:cNvSpPr/>
          <p:nvPr/>
        </p:nvSpPr>
        <p:spPr>
          <a:xfrm>
            <a:off x="4809744" y="307238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Glazoué</a:t>
            </a:r>
            <a:endParaRPr lang="en-US" sz="900" dirty="0"/>
          </a:p>
        </p:txBody>
      </p:sp>
      <p:sp>
        <p:nvSpPr>
          <p:cNvPr id="52" name="Text 45"/>
          <p:cNvSpPr/>
          <p:nvPr/>
        </p:nvSpPr>
        <p:spPr>
          <a:xfrm>
            <a:off x="8010144" y="3072384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900" dirty="0"/>
          </a:p>
        </p:txBody>
      </p:sp>
      <p:sp>
        <p:nvSpPr>
          <p:cNvPr id="53" name="Shape 46"/>
          <p:cNvSpPr/>
          <p:nvPr/>
        </p:nvSpPr>
        <p:spPr>
          <a:xfrm>
            <a:off x="4809744" y="3401568"/>
            <a:ext cx="2432304" cy="292608"/>
          </a:xfrm>
          <a:prstGeom prst="rect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4" name="Text 47"/>
          <p:cNvSpPr/>
          <p:nvPr/>
        </p:nvSpPr>
        <p:spPr>
          <a:xfrm>
            <a:off x="4809744" y="34564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Savalou</a:t>
            </a:r>
            <a:endParaRPr lang="en-US" sz="900" dirty="0"/>
          </a:p>
        </p:txBody>
      </p:sp>
      <p:sp>
        <p:nvSpPr>
          <p:cNvPr id="55" name="Text 48"/>
          <p:cNvSpPr/>
          <p:nvPr/>
        </p:nvSpPr>
        <p:spPr>
          <a:xfrm>
            <a:off x="7315200" y="3456432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900" dirty="0"/>
          </a:p>
        </p:txBody>
      </p:sp>
      <p:sp>
        <p:nvSpPr>
          <p:cNvPr id="56" name="Shape 49"/>
          <p:cNvSpPr/>
          <p:nvPr/>
        </p:nvSpPr>
        <p:spPr>
          <a:xfrm>
            <a:off x="4809744" y="3785616"/>
            <a:ext cx="2779776" cy="292608"/>
          </a:xfrm>
          <a:prstGeom prst="rect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7" name="Text 50"/>
          <p:cNvSpPr/>
          <p:nvPr/>
        </p:nvSpPr>
        <p:spPr>
          <a:xfrm>
            <a:off x="4809744" y="384048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Dassa</a:t>
            </a:r>
            <a:endParaRPr lang="en-US" sz="900" dirty="0"/>
          </a:p>
        </p:txBody>
      </p:sp>
      <p:sp>
        <p:nvSpPr>
          <p:cNvPr id="58" name="Text 51"/>
          <p:cNvSpPr/>
          <p:nvPr/>
        </p:nvSpPr>
        <p:spPr>
          <a:xfrm>
            <a:off x="7662672" y="3840480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900" dirty="0"/>
          </a:p>
        </p:txBody>
      </p:sp>
      <p:sp>
        <p:nvSpPr>
          <p:cNvPr id="59" name="Shape 52"/>
          <p:cNvSpPr/>
          <p:nvPr/>
        </p:nvSpPr>
        <p:spPr>
          <a:xfrm>
            <a:off x="4736592" y="4315968"/>
            <a:ext cx="3968496" cy="347472"/>
          </a:xfrm>
          <a:prstGeom prst="rect">
            <a:avLst/>
          </a:prstGeom>
          <a:solidFill>
            <a:srgbClr val="FFF8E1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6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09744" y="4370832"/>
            <a:ext cx="201168" cy="201168"/>
          </a:xfrm>
          <a:prstGeom prst="rect">
            <a:avLst/>
          </a:prstGeom>
        </p:spPr>
      </p:pic>
      <p:sp>
        <p:nvSpPr>
          <p:cNvPr id="61" name="Text 53"/>
          <p:cNvSpPr/>
          <p:nvPr/>
        </p:nvSpPr>
        <p:spPr>
          <a:xfrm>
            <a:off x="5065776" y="435254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Service : planifier le rafraîchissement toutes les heures pour un monitoring quasi temps réel.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8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188720"/>
          </a:xfrm>
          <a:prstGeom prst="rect">
            <a:avLst/>
          </a:prstGeom>
          <a:solidFill>
            <a:srgbClr val="0B6E4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128016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Webhooks — Notifications automatiques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9D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Déclencher une action à chaque nouvelle soumission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D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KoboToolbox de A à Z — Module 10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90118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9D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1261872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webhook est une URL externe que KoboToolbox appelle automatiquement dès qu'une nouvelle soumission est reçue. Les données sont envoyées en JSON.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1719072"/>
            <a:ext cx="8412480" cy="310896"/>
          </a:xfrm>
          <a:prstGeom prst="rect">
            <a:avLst/>
          </a:prstGeom>
          <a:solidFill>
            <a:srgbClr val="BA4A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57200" y="1719072"/>
            <a:ext cx="8275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ça marche ?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103120"/>
            <a:ext cx="1975104" cy="749808"/>
          </a:xfrm>
          <a:prstGeom prst="rect">
            <a:avLst/>
          </a:prstGeom>
          <a:solidFill>
            <a:srgbClr val="0B6E4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457200" y="2139696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Enquêteur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2395728"/>
            <a:ext cx="19751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E8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Soumet un</a:t>
            </a:r>
            <a:endParaRPr lang="en-US" sz="9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E8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formulaire Kobo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432304" y="2395728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2578608" y="2103120"/>
            <a:ext cx="1975104" cy="749808"/>
          </a:xfrm>
          <a:prstGeom prst="rect">
            <a:avLst/>
          </a:prstGeom>
          <a:solidFill>
            <a:srgbClr val="BA4A00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2578608" y="2139696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KoboToolbox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578608" y="2395728"/>
            <a:ext cx="19751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E8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Déclenche l'appel</a:t>
            </a:r>
            <a:endParaRPr lang="en-US" sz="9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E8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POST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53712" y="2395728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4700016" y="2103120"/>
            <a:ext cx="1975104" cy="749808"/>
          </a:xfrm>
          <a:prstGeom prst="rect">
            <a:avLst/>
          </a:prstGeom>
          <a:solidFill>
            <a:srgbClr val="1A5276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4700016" y="2139696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serveur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00016" y="2395728"/>
            <a:ext cx="19751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E8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Reçoit les données</a:t>
            </a:r>
            <a:endParaRPr lang="en-US" sz="9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E8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675120" y="2395728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821424" y="2103120"/>
            <a:ext cx="1975104" cy="749808"/>
          </a:xfrm>
          <a:prstGeom prst="rect">
            <a:avLst/>
          </a:prstGeom>
          <a:solidFill>
            <a:srgbClr val="0F9D58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6821424" y="2139696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821424" y="2395728"/>
            <a:ext cx="19751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E8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· Feuille</a:t>
            </a:r>
            <a:endParaRPr lang="en-US" sz="9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E8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· Base de données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65760" y="2944368"/>
            <a:ext cx="4114800" cy="310896"/>
          </a:xfrm>
          <a:prstGeom prst="rect">
            <a:avLst/>
          </a:prstGeom>
          <a:solidFill>
            <a:srgbClr val="BA4A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457200" y="2944368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Configurer un webhook dans Kobo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3291840"/>
            <a:ext cx="4114800" cy="29260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Shape 28"/>
          <p:cNvSpPr/>
          <p:nvPr/>
        </p:nvSpPr>
        <p:spPr>
          <a:xfrm>
            <a:off x="438912" y="3328416"/>
            <a:ext cx="201168" cy="201168"/>
          </a:xfrm>
          <a:prstGeom prst="ellipse">
            <a:avLst/>
          </a:prstGeom>
          <a:solidFill>
            <a:srgbClr val="BA4A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438912" y="332841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94944" y="3328416"/>
            <a:ext cx="3712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Paramètres du projet → « REST Services »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65760" y="3602736"/>
            <a:ext cx="4114800" cy="292608"/>
          </a:xfrm>
          <a:prstGeom prst="rect">
            <a:avLst/>
          </a:prstGeom>
          <a:solidFill>
            <a:srgbClr val="E8F8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" name="Shape 32"/>
          <p:cNvSpPr/>
          <p:nvPr/>
        </p:nvSpPr>
        <p:spPr>
          <a:xfrm>
            <a:off x="438912" y="3639312"/>
            <a:ext cx="201168" cy="201168"/>
          </a:xfrm>
          <a:prstGeom prst="ellipse">
            <a:avLst/>
          </a:prstGeom>
          <a:solidFill>
            <a:srgbClr val="BA4A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438912" y="363931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94944" y="3639312"/>
            <a:ext cx="3712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Ajouter un service → Nom : ex « Alerte SMS »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65760" y="3913632"/>
            <a:ext cx="4114800" cy="29260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" name="Shape 36"/>
          <p:cNvSpPr/>
          <p:nvPr/>
        </p:nvSpPr>
        <p:spPr>
          <a:xfrm>
            <a:off x="438912" y="3950208"/>
            <a:ext cx="201168" cy="201168"/>
          </a:xfrm>
          <a:prstGeom prst="ellipse">
            <a:avLst/>
          </a:prstGeom>
          <a:solidFill>
            <a:srgbClr val="BA4A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" name="Text 37"/>
          <p:cNvSpPr/>
          <p:nvPr/>
        </p:nvSpPr>
        <p:spPr>
          <a:xfrm>
            <a:off x="438912" y="395020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94944" y="3950208"/>
            <a:ext cx="3712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: https://votre-serveur.com/kobo-hook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65760" y="4224528"/>
            <a:ext cx="4114800" cy="292608"/>
          </a:xfrm>
          <a:prstGeom prst="rect">
            <a:avLst/>
          </a:prstGeom>
          <a:solidFill>
            <a:srgbClr val="E8F8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2" name="Shape 40"/>
          <p:cNvSpPr/>
          <p:nvPr/>
        </p:nvSpPr>
        <p:spPr>
          <a:xfrm>
            <a:off x="438912" y="4261104"/>
            <a:ext cx="201168" cy="201168"/>
          </a:xfrm>
          <a:prstGeom prst="ellipse">
            <a:avLst/>
          </a:prstGeom>
          <a:solidFill>
            <a:srgbClr val="BA4A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3" name="Text 41"/>
          <p:cNvSpPr/>
          <p:nvPr/>
        </p:nvSpPr>
        <p:spPr>
          <a:xfrm>
            <a:off x="438912" y="426110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694944" y="4261104"/>
            <a:ext cx="3712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 : POST · Format : JSON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65760" y="4535424"/>
            <a:ext cx="4114800" cy="29260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6" name="Shape 44"/>
          <p:cNvSpPr/>
          <p:nvPr/>
        </p:nvSpPr>
        <p:spPr>
          <a:xfrm>
            <a:off x="438912" y="4572000"/>
            <a:ext cx="201168" cy="201168"/>
          </a:xfrm>
          <a:prstGeom prst="ellipse">
            <a:avLst/>
          </a:prstGeom>
          <a:solidFill>
            <a:srgbClr val="BA4A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7" name="Text 45"/>
          <p:cNvSpPr/>
          <p:nvPr/>
        </p:nvSpPr>
        <p:spPr>
          <a:xfrm>
            <a:off x="438912" y="457200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694944" y="4572000"/>
            <a:ext cx="3712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Activer → Tester avec une soumission de test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663440" y="2944368"/>
            <a:ext cx="4114800" cy="310896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0" name="Text 48"/>
          <p:cNvSpPr/>
          <p:nvPr/>
        </p:nvSpPr>
        <p:spPr>
          <a:xfrm>
            <a:off x="4754880" y="2944368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d'usage concrets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736592" y="3291840"/>
            <a:ext cx="3968496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2" name="Shape 50"/>
          <p:cNvSpPr/>
          <p:nvPr/>
        </p:nvSpPr>
        <p:spPr>
          <a:xfrm>
            <a:off x="4736592" y="3291840"/>
            <a:ext cx="54864" cy="347472"/>
          </a:xfrm>
          <a:prstGeom prst="rect">
            <a:avLst/>
          </a:prstGeom>
          <a:solidFill>
            <a:srgbClr val="0B6E4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3" name="Text 51"/>
          <p:cNvSpPr/>
          <p:nvPr/>
        </p:nvSpPr>
        <p:spPr>
          <a:xfrm>
            <a:off x="4846320" y="332841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 superviseur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6163056" y="3328416"/>
            <a:ext cx="2505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Email/SMS dès qu'une soumission GPS hors zone est reçue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736592" y="3657600"/>
            <a:ext cx="3968496" cy="347472"/>
          </a:xfrm>
          <a:prstGeom prst="rect">
            <a:avLst/>
          </a:prstGeom>
          <a:solidFill>
            <a:srgbClr val="E8F8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6" name="Shape 54"/>
          <p:cNvSpPr/>
          <p:nvPr/>
        </p:nvSpPr>
        <p:spPr>
          <a:xfrm>
            <a:off x="4736592" y="3657600"/>
            <a:ext cx="54864" cy="347472"/>
          </a:xfrm>
          <a:prstGeom prst="rect">
            <a:avLst/>
          </a:prstGeom>
          <a:solidFill>
            <a:srgbClr val="0F9D5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7" name="Text 55"/>
          <p:cNvSpPr/>
          <p:nvPr/>
        </p:nvSpPr>
        <p:spPr>
          <a:xfrm>
            <a:off x="4846320" y="369417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9D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Sheets live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6163056" y="3694176"/>
            <a:ext cx="2505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soumission → ajout automatique d'une ligne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736592" y="4023360"/>
            <a:ext cx="3968496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0" name="Shape 58"/>
          <p:cNvSpPr/>
          <p:nvPr/>
        </p:nvSpPr>
        <p:spPr>
          <a:xfrm>
            <a:off x="4736592" y="4023360"/>
            <a:ext cx="54864" cy="347472"/>
          </a:xfrm>
          <a:prstGeom prst="rect">
            <a:avLst/>
          </a:prstGeom>
          <a:solidFill>
            <a:srgbClr val="BA4A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1" name="Text 59"/>
          <p:cNvSpPr/>
          <p:nvPr/>
        </p:nvSpPr>
        <p:spPr>
          <a:xfrm>
            <a:off x="4846320" y="405993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A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WhatsApp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6163056" y="4059936"/>
            <a:ext cx="2505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Twilio ou Make → WhatsApp message avec résumé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4736592" y="4389120"/>
            <a:ext cx="3968496" cy="347472"/>
          </a:xfrm>
          <a:prstGeom prst="rect">
            <a:avLst/>
          </a:prstGeom>
          <a:solidFill>
            <a:srgbClr val="E8F8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4" name="Shape 62"/>
          <p:cNvSpPr/>
          <p:nvPr/>
        </p:nvSpPr>
        <p:spPr>
          <a:xfrm>
            <a:off x="4736592" y="4389120"/>
            <a:ext cx="54864" cy="347472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5" name="Text 63"/>
          <p:cNvSpPr/>
          <p:nvPr/>
        </p:nvSpPr>
        <p:spPr>
          <a:xfrm>
            <a:off x="4846320" y="442569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données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6163056" y="4425696"/>
            <a:ext cx="2505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dans PostgreSQL ou MySQL à chaque soumission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365760" y="4572000"/>
            <a:ext cx="8412480" cy="310896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8" name="Text 66"/>
          <p:cNvSpPr/>
          <p:nvPr/>
        </p:nvSpPr>
        <p:spPr>
          <a:xfrm>
            <a:off x="457200" y="4572000"/>
            <a:ext cx="8275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de payload JSON envoyé par le webhook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8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188720"/>
          </a:xfrm>
          <a:prstGeom prst="rect">
            <a:avLst/>
          </a:prstGeom>
          <a:solidFill>
            <a:srgbClr val="0B6E4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128016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— Payload et sécurité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9D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Structure des données reçues et bonnes pratiques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D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KoboToolbox de A à Z — Module 10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90118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9D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12618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de payload JSON reçu par votre serveur :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1591056"/>
            <a:ext cx="8412480" cy="1481328"/>
          </a:xfrm>
          <a:prstGeom prst="rect">
            <a:avLst/>
          </a:prstGeom>
          <a:solidFill>
            <a:srgbClr val="0F3460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365760" y="1591056"/>
            <a:ext cx="54864" cy="1481328"/>
          </a:xfrm>
          <a:prstGeom prst="rect">
            <a:avLst/>
          </a:prstGeom>
          <a:solidFill>
            <a:srgbClr val="1ABC9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475488" y="1645920"/>
            <a:ext cx="824788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850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</a:t>
            </a:r>
            <a:endParaRPr lang="en-US" sz="8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850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"_id": 1,</a:t>
            </a:r>
            <a:endParaRPr lang="en-US" sz="8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850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"date_collecte": "2026-03-22",</a:t>
            </a:r>
            <a:endParaRPr lang="en-US" sz="8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850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"nom_agent": "Jean Dupont",</a:t>
            </a:r>
            <a:endParaRPr lang="en-US" sz="8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850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"commune": "glazoue",</a:t>
            </a:r>
            <a:endParaRPr lang="en-US" sz="8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850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"age": 34,</a:t>
            </a:r>
            <a:endParaRPr lang="en-US" sz="8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850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"sexe": "femme",</a:t>
            </a:r>
            <a:endParaRPr lang="en-US" sz="8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850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"gps_menage": "7.9004 1.9817 312 3.2",</a:t>
            </a:r>
            <a:endParaRPr lang="en-US" sz="8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850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"_submission_time": "2026-03-22T09:42:11",</a:t>
            </a:r>
            <a:endParaRPr lang="en-US" sz="8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850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"_version_": "vAbCdEf"</a:t>
            </a:r>
            <a:endParaRPr lang="en-US" sz="8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850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}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65760" y="3145536"/>
            <a:ext cx="8412480" cy="310896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457200" y="3145536"/>
            <a:ext cx="8275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des webhooks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3511296"/>
            <a:ext cx="841248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365760" y="3511296"/>
            <a:ext cx="45720" cy="237744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3538728"/>
            <a:ext cx="182880" cy="18288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676656" y="354787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Utiliser HTTPS obligatoirement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2999232" y="3547872"/>
            <a:ext cx="57058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webhook en HTTP expose vos données en clair. Toujours HTTPS.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365760" y="3767328"/>
            <a:ext cx="8412480" cy="237744"/>
          </a:xfrm>
          <a:prstGeom prst="rect">
            <a:avLst/>
          </a:prstGeom>
          <a:solidFill>
            <a:srgbClr val="E8F8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Shape 18"/>
          <p:cNvSpPr/>
          <p:nvPr/>
        </p:nvSpPr>
        <p:spPr>
          <a:xfrm>
            <a:off x="365760" y="3767328"/>
            <a:ext cx="45720" cy="237744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3794760"/>
            <a:ext cx="182880" cy="18288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676656" y="3803904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Valider le secret partagé</a:t>
            </a:r>
            <a:endParaRPr lang="en-US" sz="950" dirty="0"/>
          </a:p>
        </p:txBody>
      </p:sp>
      <p:sp>
        <p:nvSpPr>
          <p:cNvPr id="24" name="Text 20"/>
          <p:cNvSpPr/>
          <p:nvPr/>
        </p:nvSpPr>
        <p:spPr>
          <a:xfrm>
            <a:off x="2999232" y="3803904"/>
            <a:ext cx="57058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Configurer un secret dans Kobo et vérifier la signature dans votre code.</a:t>
            </a:r>
            <a:endParaRPr lang="en-US" sz="950" dirty="0"/>
          </a:p>
        </p:txBody>
      </p:sp>
      <p:sp>
        <p:nvSpPr>
          <p:cNvPr id="25" name="Shape 21"/>
          <p:cNvSpPr/>
          <p:nvPr/>
        </p:nvSpPr>
        <p:spPr>
          <a:xfrm>
            <a:off x="365760" y="4023360"/>
            <a:ext cx="841248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Shape 22"/>
          <p:cNvSpPr/>
          <p:nvPr/>
        </p:nvSpPr>
        <p:spPr>
          <a:xfrm>
            <a:off x="365760" y="4023360"/>
            <a:ext cx="45720" cy="237744"/>
          </a:xfrm>
          <a:prstGeom prst="rect">
            <a:avLst/>
          </a:prstGeom>
          <a:solidFill>
            <a:srgbClr val="BA4A00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4050792"/>
            <a:ext cx="182880" cy="18288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676656" y="4059936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A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Limiter les IPs autorisées</a:t>
            </a:r>
            <a:endParaRPr lang="en-US" sz="950" dirty="0"/>
          </a:p>
        </p:txBody>
      </p:sp>
      <p:sp>
        <p:nvSpPr>
          <p:cNvPr id="29" name="Text 24"/>
          <p:cNvSpPr/>
          <p:nvPr/>
        </p:nvSpPr>
        <p:spPr>
          <a:xfrm>
            <a:off x="2999232" y="4059936"/>
            <a:ext cx="57058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Whitelister les IPs de Kobo dans votre firewall pour les appels entrants.</a:t>
            </a:r>
            <a:endParaRPr lang="en-US" sz="950" dirty="0"/>
          </a:p>
        </p:txBody>
      </p:sp>
      <p:sp>
        <p:nvSpPr>
          <p:cNvPr id="30" name="Shape 25"/>
          <p:cNvSpPr/>
          <p:nvPr/>
        </p:nvSpPr>
        <p:spPr>
          <a:xfrm>
            <a:off x="365760" y="4279392"/>
            <a:ext cx="8412480" cy="237744"/>
          </a:xfrm>
          <a:prstGeom prst="rect">
            <a:avLst/>
          </a:prstGeom>
          <a:solidFill>
            <a:srgbClr val="E8F8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" name="Shape 26"/>
          <p:cNvSpPr/>
          <p:nvPr/>
        </p:nvSpPr>
        <p:spPr>
          <a:xfrm>
            <a:off x="365760" y="4279392"/>
            <a:ext cx="45720" cy="237744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" y="4306824"/>
            <a:ext cx="182880" cy="18288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676656" y="431596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Répondre rapidement (&lt; 5s)</a:t>
            </a:r>
            <a:endParaRPr lang="en-US" sz="950" dirty="0"/>
          </a:p>
        </p:txBody>
      </p:sp>
      <p:sp>
        <p:nvSpPr>
          <p:cNvPr id="34" name="Text 28"/>
          <p:cNvSpPr/>
          <p:nvPr/>
        </p:nvSpPr>
        <p:spPr>
          <a:xfrm>
            <a:off x="2999232" y="4315968"/>
            <a:ext cx="57058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votre serveur met trop de temps, Kobo considère l'envoi comme échoué et réessaie.</a:t>
            </a:r>
            <a:endParaRPr lang="en-US" sz="950" dirty="0"/>
          </a:p>
        </p:txBody>
      </p:sp>
      <p:sp>
        <p:nvSpPr>
          <p:cNvPr id="35" name="Shape 29"/>
          <p:cNvSpPr/>
          <p:nvPr/>
        </p:nvSpPr>
        <p:spPr>
          <a:xfrm>
            <a:off x="365760" y="4535424"/>
            <a:ext cx="841248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" name="Shape 30"/>
          <p:cNvSpPr/>
          <p:nvPr/>
        </p:nvSpPr>
        <p:spPr>
          <a:xfrm>
            <a:off x="365760" y="4535424"/>
            <a:ext cx="45720" cy="237744"/>
          </a:xfrm>
          <a:prstGeom prst="rect">
            <a:avLst/>
          </a:prstGeom>
          <a:solidFill>
            <a:srgbClr val="0B6E4F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" y="4562856"/>
            <a:ext cx="182880" cy="182880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676656" y="457200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Journaliser tous les appels</a:t>
            </a:r>
            <a:endParaRPr lang="en-US" sz="950" dirty="0"/>
          </a:p>
        </p:txBody>
      </p:sp>
      <p:sp>
        <p:nvSpPr>
          <p:cNvPr id="39" name="Text 32"/>
          <p:cNvSpPr/>
          <p:nvPr/>
        </p:nvSpPr>
        <p:spPr>
          <a:xfrm>
            <a:off x="2999232" y="4572000"/>
            <a:ext cx="57058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Stocker chaque payload reçu avec horodatage pour audit et débogage.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8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188720"/>
          </a:xfrm>
          <a:prstGeom prst="rect">
            <a:avLst/>
          </a:prstGeom>
          <a:solidFill>
            <a:srgbClr val="0B6E4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128016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d'ensemble — Toutes les options d'intégration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9D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Choisir la bonne approche selon votre contexte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D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KoboToolbox de A à Z — Module 10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90118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9D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12618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 des méthodes d'intégration disponibles :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1572768"/>
            <a:ext cx="1828800" cy="420624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365760" y="1591056"/>
            <a:ext cx="1755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167128" y="1572768"/>
            <a:ext cx="1005840" cy="420624"/>
          </a:xfrm>
          <a:prstGeom prst="rect">
            <a:avLst/>
          </a:prstGeom>
          <a:solidFill>
            <a:srgbClr val="0B6E4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2212848" y="1591056"/>
            <a:ext cx="932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191256" y="1572768"/>
            <a:ext cx="914400" cy="420624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3236976" y="1591056"/>
            <a:ext cx="841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Compétence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123944" y="1572768"/>
            <a:ext cx="822960" cy="420624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4169664" y="1591056"/>
            <a:ext cx="749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réel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965192" y="1572768"/>
            <a:ext cx="822960" cy="420624"/>
          </a:xfrm>
          <a:prstGeom prst="rect">
            <a:avLst/>
          </a:prstGeom>
          <a:solidFill>
            <a:srgbClr val="21734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5010912" y="1591056"/>
            <a:ext cx="749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806440" y="1572768"/>
            <a:ext cx="2743200" cy="420624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5852160" y="1591056"/>
            <a:ext cx="2670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Idéal pour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0040" y="2011680"/>
            <a:ext cx="1828800" cy="420624"/>
          </a:xfrm>
          <a:prstGeom prst="rect">
            <a:avLst/>
          </a:prstGeom>
          <a:solidFill>
            <a:srgbClr val="E8F8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365760" y="2029968"/>
            <a:ext cx="1755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XLS/CSV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167128" y="2011680"/>
            <a:ext cx="1005840" cy="420624"/>
          </a:xfrm>
          <a:prstGeom prst="rect">
            <a:avLst/>
          </a:prstGeom>
          <a:solidFill>
            <a:srgbClr val="E8F8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2212848" y="2029968"/>
            <a:ext cx="932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XLS · CSV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191256" y="2011680"/>
            <a:ext cx="914400" cy="420624"/>
          </a:xfrm>
          <a:prstGeom prst="rect">
            <a:avLst/>
          </a:prstGeom>
          <a:solidFill>
            <a:srgbClr val="E8F8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3236976" y="2029968"/>
            <a:ext cx="841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123944" y="2011680"/>
            <a:ext cx="822960" cy="420624"/>
          </a:xfrm>
          <a:prstGeom prst="rect">
            <a:avLst/>
          </a:prstGeom>
          <a:solidFill>
            <a:srgbClr val="E8F8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4169664" y="2029968"/>
            <a:ext cx="749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965192" y="2011680"/>
            <a:ext cx="822960" cy="420624"/>
          </a:xfrm>
          <a:prstGeom prst="rect">
            <a:avLst/>
          </a:prstGeom>
          <a:solidFill>
            <a:srgbClr val="E8F8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5010912" y="2029968"/>
            <a:ext cx="749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Gratuit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806440" y="2011680"/>
            <a:ext cx="2743200" cy="420624"/>
          </a:xfrm>
          <a:prstGeom prst="rect">
            <a:avLst/>
          </a:prstGeom>
          <a:solidFill>
            <a:srgbClr val="E8F8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5852160" y="2029968"/>
            <a:ext cx="2670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ponctuelle · Rapport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20040" y="2450592"/>
            <a:ext cx="1828800" cy="42062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365760" y="2468880"/>
            <a:ext cx="1755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KML/GeoJSON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167128" y="2450592"/>
            <a:ext cx="1005840" cy="42062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" name="Text 35"/>
          <p:cNvSpPr/>
          <p:nvPr/>
        </p:nvSpPr>
        <p:spPr>
          <a:xfrm>
            <a:off x="2212848" y="2468880"/>
            <a:ext cx="932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KML · GeoJSON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191256" y="2450592"/>
            <a:ext cx="914400" cy="42062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" name="Text 37"/>
          <p:cNvSpPr/>
          <p:nvPr/>
        </p:nvSpPr>
        <p:spPr>
          <a:xfrm>
            <a:off x="3236976" y="2468880"/>
            <a:ext cx="841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Légère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123944" y="2450592"/>
            <a:ext cx="822960" cy="42062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" name="Text 39"/>
          <p:cNvSpPr/>
          <p:nvPr/>
        </p:nvSpPr>
        <p:spPr>
          <a:xfrm>
            <a:off x="4169664" y="2468880"/>
            <a:ext cx="749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965192" y="2450592"/>
            <a:ext cx="822960" cy="42062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3" name="Text 41"/>
          <p:cNvSpPr/>
          <p:nvPr/>
        </p:nvSpPr>
        <p:spPr>
          <a:xfrm>
            <a:off x="5010912" y="2468880"/>
            <a:ext cx="749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Gratuit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5806440" y="2450592"/>
            <a:ext cx="2743200" cy="42062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5" name="Text 43"/>
          <p:cNvSpPr/>
          <p:nvPr/>
        </p:nvSpPr>
        <p:spPr>
          <a:xfrm>
            <a:off x="5852160" y="2468880"/>
            <a:ext cx="2670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Cartographie QGIS · Google Maps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320040" y="2889504"/>
            <a:ext cx="1828800" cy="420624"/>
          </a:xfrm>
          <a:prstGeom prst="rect">
            <a:avLst/>
          </a:prstGeom>
          <a:solidFill>
            <a:srgbClr val="E8F8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7" name="Text 45"/>
          <p:cNvSpPr/>
          <p:nvPr/>
        </p:nvSpPr>
        <p:spPr>
          <a:xfrm>
            <a:off x="365760" y="2907792"/>
            <a:ext cx="1755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2167128" y="2889504"/>
            <a:ext cx="1005840" cy="420624"/>
          </a:xfrm>
          <a:prstGeom prst="rect">
            <a:avLst/>
          </a:prstGeom>
          <a:solidFill>
            <a:srgbClr val="E8F8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9" name="Text 47"/>
          <p:cNvSpPr/>
          <p:nvPr/>
        </p:nvSpPr>
        <p:spPr>
          <a:xfrm>
            <a:off x="2212848" y="2907792"/>
            <a:ext cx="932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3191256" y="2889504"/>
            <a:ext cx="914400" cy="420624"/>
          </a:xfrm>
          <a:prstGeom prst="rect">
            <a:avLst/>
          </a:prstGeom>
          <a:solidFill>
            <a:srgbClr val="E8F8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1" name="Text 49"/>
          <p:cNvSpPr/>
          <p:nvPr/>
        </p:nvSpPr>
        <p:spPr>
          <a:xfrm>
            <a:off x="3236976" y="2907792"/>
            <a:ext cx="841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requis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4123944" y="2889504"/>
            <a:ext cx="822960" cy="420624"/>
          </a:xfrm>
          <a:prstGeom prst="rect">
            <a:avLst/>
          </a:prstGeom>
          <a:solidFill>
            <a:srgbClr val="E8F8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3" name="Text 51"/>
          <p:cNvSpPr/>
          <p:nvPr/>
        </p:nvSpPr>
        <p:spPr>
          <a:xfrm>
            <a:off x="4169664" y="2907792"/>
            <a:ext cx="749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Oui (pull)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4965192" y="2889504"/>
            <a:ext cx="822960" cy="420624"/>
          </a:xfrm>
          <a:prstGeom prst="rect">
            <a:avLst/>
          </a:prstGeom>
          <a:solidFill>
            <a:srgbClr val="E8F8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5" name="Text 53"/>
          <p:cNvSpPr/>
          <p:nvPr/>
        </p:nvSpPr>
        <p:spPr>
          <a:xfrm>
            <a:off x="5010912" y="2907792"/>
            <a:ext cx="749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Gratuit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5806440" y="2889504"/>
            <a:ext cx="2743200" cy="420624"/>
          </a:xfrm>
          <a:prstGeom prst="rect">
            <a:avLst/>
          </a:prstGeom>
          <a:solidFill>
            <a:srgbClr val="E8F8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7" name="Text 55"/>
          <p:cNvSpPr/>
          <p:nvPr/>
        </p:nvSpPr>
        <p:spPr>
          <a:xfrm>
            <a:off x="5852160" y="2907792"/>
            <a:ext cx="2670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· Dashboard custom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320040" y="3328416"/>
            <a:ext cx="1828800" cy="42062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9" name="Text 57"/>
          <p:cNvSpPr/>
          <p:nvPr/>
        </p:nvSpPr>
        <p:spPr>
          <a:xfrm>
            <a:off x="365760" y="3346704"/>
            <a:ext cx="1755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Service (webhook)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2167128" y="3328416"/>
            <a:ext cx="1005840" cy="42062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1" name="Text 59"/>
          <p:cNvSpPr/>
          <p:nvPr/>
        </p:nvSpPr>
        <p:spPr>
          <a:xfrm>
            <a:off x="2212848" y="3346704"/>
            <a:ext cx="932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3191256" y="3328416"/>
            <a:ext cx="914400" cy="42062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3" name="Text 61"/>
          <p:cNvSpPr/>
          <p:nvPr/>
        </p:nvSpPr>
        <p:spPr>
          <a:xfrm>
            <a:off x="3236976" y="3346704"/>
            <a:ext cx="841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requis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4123944" y="3328416"/>
            <a:ext cx="822960" cy="42062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5" name="Text 63"/>
          <p:cNvSpPr/>
          <p:nvPr/>
        </p:nvSpPr>
        <p:spPr>
          <a:xfrm>
            <a:off x="4169664" y="3346704"/>
            <a:ext cx="749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Oui (push)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4965192" y="3328416"/>
            <a:ext cx="822960" cy="42062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7" name="Text 65"/>
          <p:cNvSpPr/>
          <p:nvPr/>
        </p:nvSpPr>
        <p:spPr>
          <a:xfrm>
            <a:off x="5010912" y="3346704"/>
            <a:ext cx="749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Gratuit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5806440" y="3328416"/>
            <a:ext cx="2743200" cy="42062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9" name="Text 67"/>
          <p:cNvSpPr/>
          <p:nvPr/>
        </p:nvSpPr>
        <p:spPr>
          <a:xfrm>
            <a:off x="5852160" y="3346704"/>
            <a:ext cx="2670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Alertes · Base de données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320040" y="3767328"/>
            <a:ext cx="1828800" cy="420624"/>
          </a:xfrm>
          <a:prstGeom prst="rect">
            <a:avLst/>
          </a:prstGeom>
          <a:solidFill>
            <a:srgbClr val="E8F8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1" name="Text 69"/>
          <p:cNvSpPr/>
          <p:nvPr/>
        </p:nvSpPr>
        <p:spPr>
          <a:xfrm>
            <a:off x="365760" y="3785616"/>
            <a:ext cx="1755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Sheets (Zapier)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2167128" y="3767328"/>
            <a:ext cx="1005840" cy="420624"/>
          </a:xfrm>
          <a:prstGeom prst="rect">
            <a:avLst/>
          </a:prstGeom>
          <a:solidFill>
            <a:srgbClr val="E8F8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3" name="Text 71"/>
          <p:cNvSpPr/>
          <p:nvPr/>
        </p:nvSpPr>
        <p:spPr>
          <a:xfrm>
            <a:off x="2212848" y="3785616"/>
            <a:ext cx="932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Sheets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3191256" y="3767328"/>
            <a:ext cx="914400" cy="420624"/>
          </a:xfrm>
          <a:prstGeom prst="rect">
            <a:avLst/>
          </a:prstGeom>
          <a:solidFill>
            <a:srgbClr val="E8F8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5" name="Text 73"/>
          <p:cNvSpPr/>
          <p:nvPr/>
        </p:nvSpPr>
        <p:spPr>
          <a:xfrm>
            <a:off x="3236976" y="3785616"/>
            <a:ext cx="841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4123944" y="3767328"/>
            <a:ext cx="822960" cy="420624"/>
          </a:xfrm>
          <a:prstGeom prst="rect">
            <a:avLst/>
          </a:prstGeom>
          <a:solidFill>
            <a:srgbClr val="E8F8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7" name="Text 75"/>
          <p:cNvSpPr/>
          <p:nvPr/>
        </p:nvSpPr>
        <p:spPr>
          <a:xfrm>
            <a:off x="4169664" y="3785616"/>
            <a:ext cx="749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Oui (push)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4965192" y="3767328"/>
            <a:ext cx="822960" cy="420624"/>
          </a:xfrm>
          <a:prstGeom prst="rect">
            <a:avLst/>
          </a:prstGeom>
          <a:solidFill>
            <a:srgbClr val="E8F8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9" name="Text 77"/>
          <p:cNvSpPr/>
          <p:nvPr/>
        </p:nvSpPr>
        <p:spPr>
          <a:xfrm>
            <a:off x="5010912" y="3785616"/>
            <a:ext cx="749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Freemium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5806440" y="3767328"/>
            <a:ext cx="2743200" cy="420624"/>
          </a:xfrm>
          <a:prstGeom prst="rect">
            <a:avLst/>
          </a:prstGeom>
          <a:solidFill>
            <a:srgbClr val="E8F8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1" name="Text 79"/>
          <p:cNvSpPr/>
          <p:nvPr/>
        </p:nvSpPr>
        <p:spPr>
          <a:xfrm>
            <a:off x="5852160" y="3785616"/>
            <a:ext cx="2670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 non-tech · Tableau live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320040" y="4206240"/>
            <a:ext cx="1828800" cy="42062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3" name="Text 81"/>
          <p:cNvSpPr/>
          <p:nvPr/>
        </p:nvSpPr>
        <p:spPr>
          <a:xfrm>
            <a:off x="365760" y="4224528"/>
            <a:ext cx="1755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850" dirty="0"/>
          </a:p>
        </p:txBody>
      </p:sp>
      <p:sp>
        <p:nvSpPr>
          <p:cNvPr id="84" name="Shape 82"/>
          <p:cNvSpPr/>
          <p:nvPr/>
        </p:nvSpPr>
        <p:spPr>
          <a:xfrm>
            <a:off x="2167128" y="4206240"/>
            <a:ext cx="1005840" cy="42062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5" name="Text 83"/>
          <p:cNvSpPr/>
          <p:nvPr/>
        </p:nvSpPr>
        <p:spPr>
          <a:xfrm>
            <a:off x="2212848" y="4224528"/>
            <a:ext cx="932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JSON→PBI</a:t>
            </a:r>
            <a:endParaRPr lang="en-US" sz="850" dirty="0"/>
          </a:p>
        </p:txBody>
      </p:sp>
      <p:sp>
        <p:nvSpPr>
          <p:cNvPr id="86" name="Shape 84"/>
          <p:cNvSpPr/>
          <p:nvPr/>
        </p:nvSpPr>
        <p:spPr>
          <a:xfrm>
            <a:off x="3191256" y="4206240"/>
            <a:ext cx="914400" cy="42062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7" name="Text 85"/>
          <p:cNvSpPr/>
          <p:nvPr/>
        </p:nvSpPr>
        <p:spPr>
          <a:xfrm>
            <a:off x="3236976" y="4224528"/>
            <a:ext cx="841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Intermédiaire</a:t>
            </a:r>
            <a:endParaRPr lang="en-US" sz="850" dirty="0"/>
          </a:p>
        </p:txBody>
      </p:sp>
      <p:sp>
        <p:nvSpPr>
          <p:cNvPr id="88" name="Shape 86"/>
          <p:cNvSpPr/>
          <p:nvPr/>
        </p:nvSpPr>
        <p:spPr>
          <a:xfrm>
            <a:off x="4123944" y="4206240"/>
            <a:ext cx="822960" cy="42062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9" name="Text 87"/>
          <p:cNvSpPr/>
          <p:nvPr/>
        </p:nvSpPr>
        <p:spPr>
          <a:xfrm>
            <a:off x="4169664" y="4224528"/>
            <a:ext cx="749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Oui (pull)</a:t>
            </a:r>
            <a:endParaRPr lang="en-US" sz="850" dirty="0"/>
          </a:p>
        </p:txBody>
      </p:sp>
      <p:sp>
        <p:nvSpPr>
          <p:cNvPr id="90" name="Shape 88"/>
          <p:cNvSpPr/>
          <p:nvPr/>
        </p:nvSpPr>
        <p:spPr>
          <a:xfrm>
            <a:off x="4965192" y="4206240"/>
            <a:ext cx="822960" cy="42062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1" name="Text 89"/>
          <p:cNvSpPr/>
          <p:nvPr/>
        </p:nvSpPr>
        <p:spPr>
          <a:xfrm>
            <a:off x="5010912" y="4224528"/>
            <a:ext cx="749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Payant</a:t>
            </a:r>
            <a:endParaRPr lang="en-US" sz="850" dirty="0"/>
          </a:p>
        </p:txBody>
      </p:sp>
      <p:sp>
        <p:nvSpPr>
          <p:cNvPr id="92" name="Shape 90"/>
          <p:cNvSpPr/>
          <p:nvPr/>
        </p:nvSpPr>
        <p:spPr>
          <a:xfrm>
            <a:off x="5806440" y="4206240"/>
            <a:ext cx="2743200" cy="42062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3" name="Text 91"/>
          <p:cNvSpPr/>
          <p:nvPr/>
        </p:nvSpPr>
        <p:spPr>
          <a:xfrm>
            <a:off x="5852160" y="4224528"/>
            <a:ext cx="2670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pro · Rapports riches</a:t>
            </a:r>
            <a:endParaRPr lang="en-US" sz="850" dirty="0"/>
          </a:p>
        </p:txBody>
      </p:sp>
      <p:sp>
        <p:nvSpPr>
          <p:cNvPr id="94" name="Shape 92"/>
          <p:cNvSpPr/>
          <p:nvPr/>
        </p:nvSpPr>
        <p:spPr>
          <a:xfrm>
            <a:off x="320040" y="4645152"/>
            <a:ext cx="1828800" cy="420624"/>
          </a:xfrm>
          <a:prstGeom prst="rect">
            <a:avLst/>
          </a:prstGeom>
          <a:solidFill>
            <a:srgbClr val="E8F8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5" name="Text 93"/>
          <p:cNvSpPr/>
          <p:nvPr/>
        </p:nvSpPr>
        <p:spPr>
          <a:xfrm>
            <a:off x="365760" y="4663440"/>
            <a:ext cx="1755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/ Zapier</a:t>
            </a:r>
            <a:endParaRPr lang="en-US" sz="850" dirty="0"/>
          </a:p>
        </p:txBody>
      </p:sp>
      <p:sp>
        <p:nvSpPr>
          <p:cNvPr id="96" name="Shape 94"/>
          <p:cNvSpPr/>
          <p:nvPr/>
        </p:nvSpPr>
        <p:spPr>
          <a:xfrm>
            <a:off x="2167128" y="4645152"/>
            <a:ext cx="1005840" cy="420624"/>
          </a:xfrm>
          <a:prstGeom prst="rect">
            <a:avLst/>
          </a:prstGeom>
          <a:solidFill>
            <a:srgbClr val="E8F8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7" name="Text 95"/>
          <p:cNvSpPr/>
          <p:nvPr/>
        </p:nvSpPr>
        <p:spPr>
          <a:xfrm>
            <a:off x="2212848" y="4663440"/>
            <a:ext cx="932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</a:t>
            </a:r>
            <a:endParaRPr lang="en-US" sz="850" dirty="0"/>
          </a:p>
        </p:txBody>
      </p:sp>
      <p:sp>
        <p:nvSpPr>
          <p:cNvPr id="98" name="Shape 96"/>
          <p:cNvSpPr/>
          <p:nvPr/>
        </p:nvSpPr>
        <p:spPr>
          <a:xfrm>
            <a:off x="3191256" y="4645152"/>
            <a:ext cx="914400" cy="420624"/>
          </a:xfrm>
          <a:prstGeom prst="rect">
            <a:avLst/>
          </a:prstGeom>
          <a:solidFill>
            <a:srgbClr val="E8F8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9" name="Text 97"/>
          <p:cNvSpPr/>
          <p:nvPr/>
        </p:nvSpPr>
        <p:spPr>
          <a:xfrm>
            <a:off x="3236976" y="4663440"/>
            <a:ext cx="841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</a:t>
            </a:r>
            <a:endParaRPr lang="en-US" sz="850" dirty="0"/>
          </a:p>
        </p:txBody>
      </p:sp>
      <p:sp>
        <p:nvSpPr>
          <p:cNvPr id="100" name="Shape 98"/>
          <p:cNvSpPr/>
          <p:nvPr/>
        </p:nvSpPr>
        <p:spPr>
          <a:xfrm>
            <a:off x="4123944" y="4645152"/>
            <a:ext cx="822960" cy="420624"/>
          </a:xfrm>
          <a:prstGeom prst="rect">
            <a:avLst/>
          </a:prstGeom>
          <a:solidFill>
            <a:srgbClr val="E8F8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1" name="Text 99"/>
          <p:cNvSpPr/>
          <p:nvPr/>
        </p:nvSpPr>
        <p:spPr>
          <a:xfrm>
            <a:off x="4169664" y="4663440"/>
            <a:ext cx="749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Oui (push)</a:t>
            </a:r>
            <a:endParaRPr lang="en-US" sz="850" dirty="0"/>
          </a:p>
        </p:txBody>
      </p:sp>
      <p:sp>
        <p:nvSpPr>
          <p:cNvPr id="102" name="Shape 100"/>
          <p:cNvSpPr/>
          <p:nvPr/>
        </p:nvSpPr>
        <p:spPr>
          <a:xfrm>
            <a:off x="4965192" y="4645152"/>
            <a:ext cx="822960" cy="420624"/>
          </a:xfrm>
          <a:prstGeom prst="rect">
            <a:avLst/>
          </a:prstGeom>
          <a:solidFill>
            <a:srgbClr val="E8F8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3" name="Text 101"/>
          <p:cNvSpPr/>
          <p:nvPr/>
        </p:nvSpPr>
        <p:spPr>
          <a:xfrm>
            <a:off x="5010912" y="4663440"/>
            <a:ext cx="749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Freemium</a:t>
            </a:r>
            <a:endParaRPr lang="en-US" sz="850" dirty="0"/>
          </a:p>
        </p:txBody>
      </p:sp>
      <p:sp>
        <p:nvSpPr>
          <p:cNvPr id="104" name="Shape 102"/>
          <p:cNvSpPr/>
          <p:nvPr/>
        </p:nvSpPr>
        <p:spPr>
          <a:xfrm>
            <a:off x="5806440" y="4645152"/>
            <a:ext cx="2743200" cy="420624"/>
          </a:xfrm>
          <a:prstGeom prst="rect">
            <a:avLst/>
          </a:prstGeom>
          <a:solidFill>
            <a:srgbClr val="E8F8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5" name="Text 103"/>
          <p:cNvSpPr/>
          <p:nvPr/>
        </p:nvSpPr>
        <p:spPr>
          <a:xfrm>
            <a:off x="5852160" y="4663440"/>
            <a:ext cx="2670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Automatisation no-code · 100+ apps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8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188720"/>
          </a:xfrm>
          <a:prstGeom prst="rect">
            <a:avLst/>
          </a:prstGeom>
          <a:solidFill>
            <a:srgbClr val="0B6E4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128016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Bonnes pratiques d'intégration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9D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— Sécurité, tokens et gestion des erreurs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D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KoboToolbox de A à Z — Module 10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90118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9D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1261872"/>
            <a:ext cx="420624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320040" y="1261872"/>
            <a:ext cx="64008" cy="1188720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371600"/>
            <a:ext cx="329184" cy="32918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32104" y="1335024"/>
            <a:ext cx="3602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jamais exposer votre token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11480" y="1737360"/>
            <a:ext cx="4005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token API = accès total à TOUTES vos données. Ne pas le mettre dans du code public (GitHub), ni dans un email, ni dans une URL visible.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11480" y="2194560"/>
            <a:ext cx="4005072" cy="201168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2"/>
          <p:cNvSpPr/>
          <p:nvPr/>
        </p:nvSpPr>
        <p:spPr>
          <a:xfrm>
            <a:off x="448056" y="2212848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Stocker dans des variables d'environnement (.env) ou un gestionnaire de secrets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4754880" y="1261872"/>
            <a:ext cx="420624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4"/>
          <p:cNvSpPr/>
          <p:nvPr/>
        </p:nvSpPr>
        <p:spPr>
          <a:xfrm>
            <a:off x="4754880" y="1261872"/>
            <a:ext cx="64008" cy="1188720"/>
          </a:xfrm>
          <a:prstGeom prst="rect">
            <a:avLst/>
          </a:prstGeom>
          <a:solidFill>
            <a:srgbClr val="0F9D5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1371600"/>
            <a:ext cx="329184" cy="329184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266944" y="1335024"/>
            <a:ext cx="3602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Gérer les quotas API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4846320" y="1737360"/>
            <a:ext cx="4005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L'API Kobo a des limites de requêtes (rate limiting). Ne pas faire de boucles trop rapides — attendre entre chaque appel si nécessaire.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4846320" y="2194560"/>
            <a:ext cx="4005072" cy="201168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ext 18"/>
          <p:cNvSpPr/>
          <p:nvPr/>
        </p:nvSpPr>
        <p:spPr>
          <a:xfrm>
            <a:off x="4882896" y="2212848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Utiliser la pagination : paramètre ?limit=100&amp;offset=0 pour paginer les résultats</a:t>
            </a:r>
            <a:endParaRPr lang="en-US" sz="850" dirty="0"/>
          </a:p>
        </p:txBody>
      </p:sp>
      <p:sp>
        <p:nvSpPr>
          <p:cNvPr id="23" name="Shape 19"/>
          <p:cNvSpPr/>
          <p:nvPr/>
        </p:nvSpPr>
        <p:spPr>
          <a:xfrm>
            <a:off x="320040" y="2578608"/>
            <a:ext cx="420624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4" name="Shape 20"/>
          <p:cNvSpPr/>
          <p:nvPr/>
        </p:nvSpPr>
        <p:spPr>
          <a:xfrm>
            <a:off x="320040" y="2578608"/>
            <a:ext cx="64008" cy="1188720"/>
          </a:xfrm>
          <a:prstGeom prst="rect">
            <a:avLst/>
          </a:prstGeom>
          <a:solidFill>
            <a:srgbClr val="BA4A00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2688336"/>
            <a:ext cx="329184" cy="329184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832104" y="2651760"/>
            <a:ext cx="3602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Versionner les exports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411480" y="3054096"/>
            <a:ext cx="4005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Nommer les exports avec la date : VEZO_export_2026-03-22.xlsx. Conserver les archives dans un dossier organisé.</a:t>
            </a:r>
            <a:endParaRPr lang="en-US" sz="950" dirty="0"/>
          </a:p>
        </p:txBody>
      </p:sp>
      <p:sp>
        <p:nvSpPr>
          <p:cNvPr id="28" name="Shape 23"/>
          <p:cNvSpPr/>
          <p:nvPr/>
        </p:nvSpPr>
        <p:spPr>
          <a:xfrm>
            <a:off x="411480" y="3511296"/>
            <a:ext cx="4005072" cy="201168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Text 24"/>
          <p:cNvSpPr/>
          <p:nvPr/>
        </p:nvSpPr>
        <p:spPr>
          <a:xfrm>
            <a:off x="448056" y="352958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Convention : NomProjet_AAAA-MM-JJ_NbSoumissions.xlsx</a:t>
            </a:r>
            <a:endParaRPr lang="en-US" sz="850" dirty="0"/>
          </a:p>
        </p:txBody>
      </p:sp>
      <p:sp>
        <p:nvSpPr>
          <p:cNvPr id="30" name="Shape 25"/>
          <p:cNvSpPr/>
          <p:nvPr/>
        </p:nvSpPr>
        <p:spPr>
          <a:xfrm>
            <a:off x="4754880" y="2578608"/>
            <a:ext cx="420624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1" name="Shape 26"/>
          <p:cNvSpPr/>
          <p:nvPr/>
        </p:nvSpPr>
        <p:spPr>
          <a:xfrm>
            <a:off x="4754880" y="2578608"/>
            <a:ext cx="64008" cy="1188720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2688336"/>
            <a:ext cx="329184" cy="329184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5266944" y="2651760"/>
            <a:ext cx="3602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Documenter les connexions</a:t>
            </a:r>
            <a:endParaRPr lang="en-US" sz="1200" dirty="0"/>
          </a:p>
        </p:txBody>
      </p:sp>
      <p:sp>
        <p:nvSpPr>
          <p:cNvPr id="34" name="Text 28"/>
          <p:cNvSpPr/>
          <p:nvPr/>
        </p:nvSpPr>
        <p:spPr>
          <a:xfrm>
            <a:off x="4846320" y="3054096"/>
            <a:ext cx="4005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Tenir un registre de toutes les intégrations actives (webhook URLs, tokens, fréquence de rafraîchissement).</a:t>
            </a:r>
            <a:endParaRPr lang="en-US" sz="950" dirty="0"/>
          </a:p>
        </p:txBody>
      </p:sp>
      <p:sp>
        <p:nvSpPr>
          <p:cNvPr id="35" name="Shape 29"/>
          <p:cNvSpPr/>
          <p:nvPr/>
        </p:nvSpPr>
        <p:spPr>
          <a:xfrm>
            <a:off x="4846320" y="3511296"/>
            <a:ext cx="4005072" cy="201168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" name="Text 30"/>
          <p:cNvSpPr/>
          <p:nvPr/>
        </p:nvSpPr>
        <p:spPr>
          <a:xfrm>
            <a:off x="4882896" y="352958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Fichier README : API_token créé le … · Webhook actif vers … · Mis à jour le …</a:t>
            </a:r>
            <a:endParaRPr lang="en-US" sz="850" dirty="0"/>
          </a:p>
        </p:txBody>
      </p:sp>
      <p:sp>
        <p:nvSpPr>
          <p:cNvPr id="37" name="Shape 31"/>
          <p:cNvSpPr/>
          <p:nvPr/>
        </p:nvSpPr>
        <p:spPr>
          <a:xfrm>
            <a:off x="320040" y="3895344"/>
            <a:ext cx="420624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8" name="Shape 32"/>
          <p:cNvSpPr/>
          <p:nvPr/>
        </p:nvSpPr>
        <p:spPr>
          <a:xfrm>
            <a:off x="320040" y="3895344"/>
            <a:ext cx="64008" cy="118872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480" y="4005072"/>
            <a:ext cx="329184" cy="329184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832104" y="3968496"/>
            <a:ext cx="3602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Anticiper les ruptures de version</a:t>
            </a:r>
            <a:endParaRPr lang="en-US" sz="1200" dirty="0"/>
          </a:p>
        </p:txBody>
      </p:sp>
      <p:sp>
        <p:nvSpPr>
          <p:cNvPr id="41" name="Text 34"/>
          <p:cNvSpPr/>
          <p:nvPr/>
        </p:nvSpPr>
        <p:spPr>
          <a:xfrm>
            <a:off x="411480" y="4370832"/>
            <a:ext cx="4005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re-déploiement Kobo change l'UID ou les noms de colonnes. Tester les exports après chaque modification du formulaire.</a:t>
            </a:r>
            <a:endParaRPr lang="en-US" sz="950" dirty="0"/>
          </a:p>
        </p:txBody>
      </p:sp>
      <p:sp>
        <p:nvSpPr>
          <p:cNvPr id="42" name="Shape 35"/>
          <p:cNvSpPr/>
          <p:nvPr/>
        </p:nvSpPr>
        <p:spPr>
          <a:xfrm>
            <a:off x="411480" y="4828032"/>
            <a:ext cx="4005072" cy="201168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3" name="Text 36"/>
          <p:cNvSpPr/>
          <p:nvPr/>
        </p:nvSpPr>
        <p:spPr>
          <a:xfrm>
            <a:off x="448056" y="4846320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Tester le pipeline API après chaque nouvelle version du formulaire</a:t>
            </a:r>
            <a:endParaRPr lang="en-US" sz="850" dirty="0"/>
          </a:p>
        </p:txBody>
      </p:sp>
      <p:sp>
        <p:nvSpPr>
          <p:cNvPr id="44" name="Shape 37"/>
          <p:cNvSpPr/>
          <p:nvPr/>
        </p:nvSpPr>
        <p:spPr>
          <a:xfrm>
            <a:off x="4754880" y="3895344"/>
            <a:ext cx="420624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5" name="Shape 38"/>
          <p:cNvSpPr/>
          <p:nvPr/>
        </p:nvSpPr>
        <p:spPr>
          <a:xfrm>
            <a:off x="4754880" y="3895344"/>
            <a:ext cx="64008" cy="1188720"/>
          </a:xfrm>
          <a:prstGeom prst="rect">
            <a:avLst/>
          </a:prstGeom>
          <a:solidFill>
            <a:srgbClr val="0B6E4F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46320" y="4005072"/>
            <a:ext cx="329184" cy="329184"/>
          </a:xfrm>
          <a:prstGeom prst="rect">
            <a:avLst/>
          </a:prstGeom>
        </p:spPr>
      </p:pic>
      <p:sp>
        <p:nvSpPr>
          <p:cNvPr id="47" name="Text 39"/>
          <p:cNvSpPr/>
          <p:nvPr/>
        </p:nvSpPr>
        <p:spPr>
          <a:xfrm>
            <a:off x="5266944" y="3968496"/>
            <a:ext cx="3602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Préférer l'automatisation</a:t>
            </a:r>
            <a:endParaRPr lang="en-US" sz="1200" dirty="0"/>
          </a:p>
        </p:txBody>
      </p:sp>
      <p:sp>
        <p:nvSpPr>
          <p:cNvPr id="48" name="Text 40"/>
          <p:cNvSpPr/>
          <p:nvPr/>
        </p:nvSpPr>
        <p:spPr>
          <a:xfrm>
            <a:off x="4846320" y="4370832"/>
            <a:ext cx="4005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export manuel quotidien est une source d'erreur. Mettre en place un webhook ou une tâche planifiée dès que la collecte dépasse 500 soumissions.</a:t>
            </a:r>
            <a:endParaRPr lang="en-US" sz="950" dirty="0"/>
          </a:p>
        </p:txBody>
      </p:sp>
      <p:sp>
        <p:nvSpPr>
          <p:cNvPr id="49" name="Shape 41"/>
          <p:cNvSpPr/>
          <p:nvPr/>
        </p:nvSpPr>
        <p:spPr>
          <a:xfrm>
            <a:off x="4846320" y="4828032"/>
            <a:ext cx="4005072" cy="201168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0" name="Text 42"/>
          <p:cNvSpPr/>
          <p:nvPr/>
        </p:nvSpPr>
        <p:spPr>
          <a:xfrm>
            <a:off x="4882896" y="4846320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Cron job quotidien ou webhook live selon les besoins de fraîcheur des données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8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188720"/>
          </a:xfrm>
          <a:prstGeom prst="rect">
            <a:avLst/>
          </a:prstGeom>
          <a:solidFill>
            <a:srgbClr val="0B6E4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128016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pratique — Pipeline export VEZO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9D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terrain à l'analyse en mode automatisé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D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KoboToolbox de A à Z — Module 10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90118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9D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1261872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: données disponibles automatiquement dans Excel ET dans un dashboard Power BI, dès qu'une soumission est reçue.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" y="1645920"/>
            <a:ext cx="274320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320040" y="1645920"/>
            <a:ext cx="64008" cy="1554480"/>
          </a:xfrm>
          <a:prstGeom prst="rect">
            <a:avLst/>
          </a:prstGeom>
          <a:solidFill>
            <a:srgbClr val="0B6E4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320040" y="1645920"/>
            <a:ext cx="2743200" cy="365760"/>
          </a:xfrm>
          <a:prstGeom prst="rect">
            <a:avLst/>
          </a:prstGeom>
          <a:solidFill>
            <a:srgbClr val="0B6E4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411480" y="1737360"/>
            <a:ext cx="219456" cy="21945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411480" y="173736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22376" y="1737360"/>
            <a:ext cx="2249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 terrain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11480" y="2121408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Enquêteurs → KoboCollect hors ligne → Sync Wi-Fi le soir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0" y="1645920"/>
            <a:ext cx="274320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3200400" y="1645920"/>
            <a:ext cx="64008" cy="1554480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3200400" y="1645920"/>
            <a:ext cx="2743200" cy="365760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3291840" y="1737360"/>
            <a:ext cx="219456" cy="21945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3291840" y="173736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602736" y="1737360"/>
            <a:ext cx="2249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déclenché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291840" y="2121408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 appelle automatiquement votre endpoint HTTPS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80760" y="1645920"/>
            <a:ext cx="274320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6080760" y="1645920"/>
            <a:ext cx="64008" cy="1554480"/>
          </a:xfrm>
          <a:prstGeom prst="rect">
            <a:avLst/>
          </a:prstGeom>
          <a:solidFill>
            <a:srgbClr val="0F9D5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6080760" y="1645920"/>
            <a:ext cx="2743200" cy="365760"/>
          </a:xfrm>
          <a:prstGeom prst="rect">
            <a:avLst/>
          </a:prstGeom>
          <a:solidFill>
            <a:srgbClr val="0F9D5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Shape 25"/>
          <p:cNvSpPr/>
          <p:nvPr/>
        </p:nvSpPr>
        <p:spPr>
          <a:xfrm>
            <a:off x="6172200" y="1737360"/>
            <a:ext cx="219456" cy="21945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6172200" y="173736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9D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83096" y="1737360"/>
            <a:ext cx="2249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Google Sheets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172200" y="2121408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Apps Script ajoute la ligne → tableur live pour toute l'équipe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172200" y="2633472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En place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20040" y="3328416"/>
            <a:ext cx="274320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3" name="Shape 31"/>
          <p:cNvSpPr/>
          <p:nvPr/>
        </p:nvSpPr>
        <p:spPr>
          <a:xfrm>
            <a:off x="320040" y="3328416"/>
            <a:ext cx="64008" cy="1554480"/>
          </a:xfrm>
          <a:prstGeom prst="rect">
            <a:avLst/>
          </a:prstGeom>
          <a:solidFill>
            <a:srgbClr val="F2C81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" name="Shape 32"/>
          <p:cNvSpPr/>
          <p:nvPr/>
        </p:nvSpPr>
        <p:spPr>
          <a:xfrm>
            <a:off x="320040" y="3328416"/>
            <a:ext cx="2743200" cy="365760"/>
          </a:xfrm>
          <a:prstGeom prst="rect">
            <a:avLst/>
          </a:prstGeom>
          <a:solidFill>
            <a:srgbClr val="F2C81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" name="Shape 33"/>
          <p:cNvSpPr/>
          <p:nvPr/>
        </p:nvSpPr>
        <p:spPr>
          <a:xfrm>
            <a:off x="411480" y="3419856"/>
            <a:ext cx="219456" cy="21945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411480" y="341985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2C8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22376" y="3419856"/>
            <a:ext cx="2249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Power BI (actualis.)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11480" y="3803904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Rafraîchissement toutes les heures via API → dashboard mis à jour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200400" y="3328416"/>
            <a:ext cx="274320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0" name="Shape 38"/>
          <p:cNvSpPr/>
          <p:nvPr/>
        </p:nvSpPr>
        <p:spPr>
          <a:xfrm>
            <a:off x="3200400" y="3328416"/>
            <a:ext cx="64008" cy="1554480"/>
          </a:xfrm>
          <a:prstGeom prst="rect">
            <a:avLst/>
          </a:prstGeom>
          <a:solidFill>
            <a:srgbClr val="21734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" name="Shape 39"/>
          <p:cNvSpPr/>
          <p:nvPr/>
        </p:nvSpPr>
        <p:spPr>
          <a:xfrm>
            <a:off x="3200400" y="3328416"/>
            <a:ext cx="2743200" cy="365760"/>
          </a:xfrm>
          <a:prstGeom prst="rect">
            <a:avLst/>
          </a:prstGeom>
          <a:solidFill>
            <a:srgbClr val="21734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2" name="Shape 40"/>
          <p:cNvSpPr/>
          <p:nvPr/>
        </p:nvSpPr>
        <p:spPr>
          <a:xfrm>
            <a:off x="3291840" y="3419856"/>
            <a:ext cx="219456" cy="21945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3" name="Text 41"/>
          <p:cNvSpPr/>
          <p:nvPr/>
        </p:nvSpPr>
        <p:spPr>
          <a:xfrm>
            <a:off x="3291840" y="341985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17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602736" y="3419856"/>
            <a:ext cx="2249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XLS hebdomadaire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3291840" y="3803904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lundi 8h : export automatique + email superviseur avec le fichier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080760" y="3328416"/>
            <a:ext cx="274320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7" name="Shape 45"/>
          <p:cNvSpPr/>
          <p:nvPr/>
        </p:nvSpPr>
        <p:spPr>
          <a:xfrm>
            <a:off x="6080760" y="3328416"/>
            <a:ext cx="64008" cy="15544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8" name="Shape 46"/>
          <p:cNvSpPr/>
          <p:nvPr/>
        </p:nvSpPr>
        <p:spPr>
          <a:xfrm>
            <a:off x="6080760" y="3328416"/>
            <a:ext cx="2743200" cy="36576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9" name="Shape 47"/>
          <p:cNvSpPr/>
          <p:nvPr/>
        </p:nvSpPr>
        <p:spPr>
          <a:xfrm>
            <a:off x="6172200" y="3419856"/>
            <a:ext cx="219456" cy="21945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0" name="Text 48"/>
          <p:cNvSpPr/>
          <p:nvPr/>
        </p:nvSpPr>
        <p:spPr>
          <a:xfrm>
            <a:off x="6172200" y="341985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483096" y="3419856"/>
            <a:ext cx="2249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KML mensuel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172200" y="3803904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fin de mois : export KML → QGIS → carte de couverture terrain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4407408" y="3218688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8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188720"/>
          </a:xfrm>
          <a:prstGeom prst="rect">
            <a:avLst/>
          </a:prstGeom>
          <a:solidFill>
            <a:srgbClr val="0B6E4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128016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Erreurs courantes — Export &amp; intégrations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9D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Pièges fréquents à connaître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D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KoboToolbox de A à Z — Module 10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90118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9D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1280160"/>
            <a:ext cx="4206240" cy="1133856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320040" y="1280160"/>
            <a:ext cx="64008" cy="1133856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371600"/>
            <a:ext cx="292608" cy="29260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95528" y="1353312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API expiré ou révoqué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411480" y="1700784"/>
            <a:ext cx="4005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un token est régénéré ou supprimé, toutes les intégrations qui l'utilisent s'arrêtent silencieusement. Aucune alerte n'est envoyée.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11480" y="2157984"/>
            <a:ext cx="4005072" cy="201168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2"/>
          <p:cNvSpPr/>
          <p:nvPr/>
        </p:nvSpPr>
        <p:spPr>
          <a:xfrm>
            <a:off x="448056" y="217627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Tester régulièrement les connexions API · Mettre en place des alertes de monitoring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4754880" y="1280160"/>
            <a:ext cx="4206240" cy="1133856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4"/>
          <p:cNvSpPr/>
          <p:nvPr/>
        </p:nvSpPr>
        <p:spPr>
          <a:xfrm>
            <a:off x="4754880" y="1280160"/>
            <a:ext cx="64008" cy="1133856"/>
          </a:xfrm>
          <a:prstGeom prst="rect">
            <a:avLst/>
          </a:prstGeom>
          <a:solidFill>
            <a:srgbClr val="BA4A00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371600"/>
            <a:ext cx="292608" cy="29260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230368" y="1353312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Encodage UTF-8 manquant dans les CSV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4846320" y="1700784"/>
            <a:ext cx="4005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caractères accentués (é, à, ç) peuvent s'afficher comme des symboles bizarres dans Excel si l'encodage UTF-8 n'est pas déclaré.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4846320" y="2157984"/>
            <a:ext cx="4005072" cy="201168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ext 18"/>
          <p:cNvSpPr/>
          <p:nvPr/>
        </p:nvSpPr>
        <p:spPr>
          <a:xfrm>
            <a:off x="4882896" y="217627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Excel : Données → Depuis texte/CSV → Encodage = UTF-8 · Ou utiliser LibreOffice</a:t>
            </a:r>
            <a:endParaRPr lang="en-US" sz="850" dirty="0"/>
          </a:p>
        </p:txBody>
      </p:sp>
      <p:sp>
        <p:nvSpPr>
          <p:cNvPr id="23" name="Shape 19"/>
          <p:cNvSpPr/>
          <p:nvPr/>
        </p:nvSpPr>
        <p:spPr>
          <a:xfrm>
            <a:off x="320040" y="2487168"/>
            <a:ext cx="4206240" cy="1133856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4" name="Shape 20"/>
          <p:cNvSpPr/>
          <p:nvPr/>
        </p:nvSpPr>
        <p:spPr>
          <a:xfrm>
            <a:off x="320040" y="2487168"/>
            <a:ext cx="64008" cy="1133856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578608"/>
            <a:ext cx="292608" cy="292608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795528" y="2560320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Pagination API ignorée</a:t>
            </a:r>
            <a:endParaRPr lang="en-US" sz="1150" dirty="0"/>
          </a:p>
        </p:txBody>
      </p:sp>
      <p:sp>
        <p:nvSpPr>
          <p:cNvPr id="27" name="Text 22"/>
          <p:cNvSpPr/>
          <p:nvPr/>
        </p:nvSpPr>
        <p:spPr>
          <a:xfrm>
            <a:off x="411480" y="2907792"/>
            <a:ext cx="4005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L'API retourne 30 000 résultats maximum par requête. Si vous avez plus de soumissions, il faut paginer avec ?limit=X&amp;offset=Y.</a:t>
            </a:r>
            <a:endParaRPr lang="en-US" sz="950" dirty="0"/>
          </a:p>
        </p:txBody>
      </p:sp>
      <p:sp>
        <p:nvSpPr>
          <p:cNvPr id="28" name="Shape 23"/>
          <p:cNvSpPr/>
          <p:nvPr/>
        </p:nvSpPr>
        <p:spPr>
          <a:xfrm>
            <a:off x="411480" y="3364992"/>
            <a:ext cx="4005072" cy="201168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Text 24"/>
          <p:cNvSpPr/>
          <p:nvPr/>
        </p:nvSpPr>
        <p:spPr>
          <a:xfrm>
            <a:off x="448056" y="3383280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Vérifier le champ « count » dans la réponse · Boucler sur les pages jusqu'à offset &gt;= count</a:t>
            </a:r>
            <a:endParaRPr lang="en-US" sz="850" dirty="0"/>
          </a:p>
        </p:txBody>
      </p:sp>
      <p:sp>
        <p:nvSpPr>
          <p:cNvPr id="30" name="Shape 25"/>
          <p:cNvSpPr/>
          <p:nvPr/>
        </p:nvSpPr>
        <p:spPr>
          <a:xfrm>
            <a:off x="4754880" y="2487168"/>
            <a:ext cx="4206240" cy="1133856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1" name="Shape 26"/>
          <p:cNvSpPr/>
          <p:nvPr/>
        </p:nvSpPr>
        <p:spPr>
          <a:xfrm>
            <a:off x="4754880" y="2487168"/>
            <a:ext cx="64008" cy="1133856"/>
          </a:xfrm>
          <a:prstGeom prst="rect">
            <a:avLst/>
          </a:prstGeom>
          <a:solidFill>
            <a:srgbClr val="0F9D5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578608"/>
            <a:ext cx="292608" cy="29260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5230368" y="2560320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vers HTTP au lieu de HTTPS</a:t>
            </a:r>
            <a:endParaRPr lang="en-US" sz="1150" dirty="0"/>
          </a:p>
        </p:txBody>
      </p:sp>
      <p:sp>
        <p:nvSpPr>
          <p:cNvPr id="34" name="Text 28"/>
          <p:cNvSpPr/>
          <p:nvPr/>
        </p:nvSpPr>
        <p:spPr>
          <a:xfrm>
            <a:off x="4846320" y="2907792"/>
            <a:ext cx="4005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KoboToolbox refusera d'envoyer des données vers une URL HTTP non sécurisée. Toujours utiliser HTTPS.</a:t>
            </a:r>
            <a:endParaRPr lang="en-US" sz="950" dirty="0"/>
          </a:p>
        </p:txBody>
      </p:sp>
      <p:sp>
        <p:nvSpPr>
          <p:cNvPr id="35" name="Shape 29"/>
          <p:cNvSpPr/>
          <p:nvPr/>
        </p:nvSpPr>
        <p:spPr>
          <a:xfrm>
            <a:off x="4846320" y="3364992"/>
            <a:ext cx="4005072" cy="201168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" name="Text 30"/>
          <p:cNvSpPr/>
          <p:nvPr/>
        </p:nvSpPr>
        <p:spPr>
          <a:xfrm>
            <a:off x="4882896" y="3383280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Configurer un certificat SSL sur votre serveur · Utiliser Let's Encrypt (gratuit)</a:t>
            </a:r>
            <a:endParaRPr lang="en-US" sz="850" dirty="0"/>
          </a:p>
        </p:txBody>
      </p:sp>
      <p:sp>
        <p:nvSpPr>
          <p:cNvPr id="37" name="Shape 31"/>
          <p:cNvSpPr/>
          <p:nvPr/>
        </p:nvSpPr>
        <p:spPr>
          <a:xfrm>
            <a:off x="320040" y="3694176"/>
            <a:ext cx="4206240" cy="1133856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8" name="Shape 32"/>
          <p:cNvSpPr/>
          <p:nvPr/>
        </p:nvSpPr>
        <p:spPr>
          <a:xfrm>
            <a:off x="320040" y="3694176"/>
            <a:ext cx="64008" cy="1133856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9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785616"/>
            <a:ext cx="292608" cy="292608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795528" y="3767328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Coordonnées GPS inversées (lat/lon)</a:t>
            </a:r>
            <a:endParaRPr lang="en-US" sz="1150" dirty="0"/>
          </a:p>
        </p:txBody>
      </p:sp>
      <p:sp>
        <p:nvSpPr>
          <p:cNvPr id="41" name="Text 34"/>
          <p:cNvSpPr/>
          <p:nvPr/>
        </p:nvSpPr>
        <p:spPr>
          <a:xfrm>
            <a:off x="411480" y="4114800"/>
            <a:ext cx="4005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 stocke : lat lon alt précision. Certains outils (Google Maps) attendent lon lat. Vérifier l'ordre avant import.</a:t>
            </a:r>
            <a:endParaRPr lang="en-US" sz="950" dirty="0"/>
          </a:p>
        </p:txBody>
      </p:sp>
      <p:sp>
        <p:nvSpPr>
          <p:cNvPr id="42" name="Shape 35"/>
          <p:cNvSpPr/>
          <p:nvPr/>
        </p:nvSpPr>
        <p:spPr>
          <a:xfrm>
            <a:off x="411480" y="4572000"/>
            <a:ext cx="4005072" cy="201168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3" name="Text 36"/>
          <p:cNvSpPr/>
          <p:nvPr/>
        </p:nvSpPr>
        <p:spPr>
          <a:xfrm>
            <a:off x="448056" y="4590288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KML Kobo : ordre correct · GeoJSON : [longitude, latitude] (standard GeoJSON)</a:t>
            </a:r>
            <a:endParaRPr lang="en-US" sz="850" dirty="0"/>
          </a:p>
        </p:txBody>
      </p:sp>
      <p:sp>
        <p:nvSpPr>
          <p:cNvPr id="44" name="Shape 37"/>
          <p:cNvSpPr/>
          <p:nvPr/>
        </p:nvSpPr>
        <p:spPr>
          <a:xfrm>
            <a:off x="4754880" y="3694176"/>
            <a:ext cx="4206240" cy="1133856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5" name="Shape 38"/>
          <p:cNvSpPr/>
          <p:nvPr/>
        </p:nvSpPr>
        <p:spPr>
          <a:xfrm>
            <a:off x="4754880" y="3694176"/>
            <a:ext cx="64008" cy="1133856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6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3785616"/>
            <a:ext cx="292608" cy="292608"/>
          </a:xfrm>
          <a:prstGeom prst="rect">
            <a:avLst/>
          </a:prstGeom>
        </p:spPr>
      </p:pic>
      <p:sp>
        <p:nvSpPr>
          <p:cNvPr id="47" name="Text 39"/>
          <p:cNvSpPr/>
          <p:nvPr/>
        </p:nvSpPr>
        <p:spPr>
          <a:xfrm>
            <a:off x="5230368" y="3767328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sans filtrer les soumissions de test</a:t>
            </a:r>
            <a:endParaRPr lang="en-US" sz="1150" dirty="0"/>
          </a:p>
        </p:txBody>
      </p:sp>
      <p:sp>
        <p:nvSpPr>
          <p:cNvPr id="48" name="Text 40"/>
          <p:cNvSpPr/>
          <p:nvPr/>
        </p:nvSpPr>
        <p:spPr>
          <a:xfrm>
            <a:off x="4846320" y="4114800"/>
            <a:ext cx="4005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soumissions de test sont incluses dans tous les exports. Oublier de les supprimer fausse toutes les analyses.</a:t>
            </a:r>
            <a:endParaRPr lang="en-US" sz="950" dirty="0"/>
          </a:p>
        </p:txBody>
      </p:sp>
      <p:sp>
        <p:nvSpPr>
          <p:cNvPr id="49" name="Shape 41"/>
          <p:cNvSpPr/>
          <p:nvPr/>
        </p:nvSpPr>
        <p:spPr>
          <a:xfrm>
            <a:off x="4846320" y="4572000"/>
            <a:ext cx="4005072" cy="201168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0" name="Text 42"/>
          <p:cNvSpPr/>
          <p:nvPr/>
        </p:nvSpPr>
        <p:spPr>
          <a:xfrm>
            <a:off x="4882896" y="4590288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Supprimer les tests avant tout export · Vérifier le compteur (données brutes vs nettoyées)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8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188720"/>
          </a:xfrm>
          <a:prstGeom prst="rect">
            <a:avLst/>
          </a:prstGeom>
          <a:solidFill>
            <a:srgbClr val="0B6E4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128016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Référence rapide — Exports et API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9D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 les formats, endpoints et paramètres utiles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D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KoboToolbox de A à Z — Module 10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90118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9D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1261872"/>
            <a:ext cx="8503920" cy="310896"/>
          </a:xfrm>
          <a:prstGeom prst="rect">
            <a:avLst/>
          </a:prstGeom>
          <a:solidFill>
            <a:srgbClr val="0B6E4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411480" y="1261872"/>
            <a:ext cx="8366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Formats d'export disponibles dans l'interface Kobo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47472" y="1609344"/>
            <a:ext cx="1097280" cy="310896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393192" y="1627632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463040" y="1609344"/>
            <a:ext cx="914400" cy="310896"/>
          </a:xfrm>
          <a:prstGeom prst="rect">
            <a:avLst/>
          </a:prstGeom>
          <a:solidFill>
            <a:srgbClr val="0B6E4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1508760" y="1627632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395728" y="1609344"/>
            <a:ext cx="3200400" cy="310896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2441448" y="1627632"/>
            <a:ext cx="3127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Contenu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614416" y="1609344"/>
            <a:ext cx="3017520" cy="310896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5660136" y="1627632"/>
            <a:ext cx="2944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 cible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47472" y="1938528"/>
            <a:ext cx="1097280" cy="310896"/>
          </a:xfrm>
          <a:prstGeom prst="rect">
            <a:avLst/>
          </a:prstGeom>
          <a:solidFill>
            <a:srgbClr val="E8F8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393192" y="1956816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463040" y="1938528"/>
            <a:ext cx="914400" cy="310896"/>
          </a:xfrm>
          <a:prstGeom prst="rect">
            <a:avLst/>
          </a:prstGeom>
          <a:solidFill>
            <a:srgbClr val="E8F8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1508760" y="1956816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395728" y="1938528"/>
            <a:ext cx="3200400" cy="310896"/>
          </a:xfrm>
          <a:prstGeom prst="rect">
            <a:avLst/>
          </a:prstGeom>
          <a:solidFill>
            <a:srgbClr val="E8F8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2441448" y="1956816"/>
            <a:ext cx="3127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+ métadonnées + onglets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614416" y="1938528"/>
            <a:ext cx="3017520" cy="310896"/>
          </a:xfrm>
          <a:prstGeom prst="rect">
            <a:avLst/>
          </a:prstGeom>
          <a:solidFill>
            <a:srgbClr val="E8F8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5660136" y="1956816"/>
            <a:ext cx="2944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· LibreOffice · Power BI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47472" y="2267712"/>
            <a:ext cx="109728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393192" y="2286000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463040" y="2267712"/>
            <a:ext cx="91440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1508760" y="2286000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395728" y="2267712"/>
            <a:ext cx="320040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2441448" y="2286000"/>
            <a:ext cx="3127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brutes séparées par virgule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614416" y="2267712"/>
            <a:ext cx="301752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5660136" y="2286000"/>
            <a:ext cx="2944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R · SQL · QGIS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47472" y="2596896"/>
            <a:ext cx="1097280" cy="310896"/>
          </a:xfrm>
          <a:prstGeom prst="rect">
            <a:avLst/>
          </a:prstGeom>
          <a:solidFill>
            <a:srgbClr val="E8F8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393192" y="2615184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GeoJSON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1463040" y="2596896"/>
            <a:ext cx="914400" cy="310896"/>
          </a:xfrm>
          <a:prstGeom prst="rect">
            <a:avLst/>
          </a:prstGeom>
          <a:solidFill>
            <a:srgbClr val="E8F8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" name="Text 36"/>
          <p:cNvSpPr/>
          <p:nvPr/>
        </p:nvSpPr>
        <p:spPr>
          <a:xfrm>
            <a:off x="1508760" y="2615184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geojson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395728" y="2596896"/>
            <a:ext cx="3200400" cy="310896"/>
          </a:xfrm>
          <a:prstGeom prst="rect">
            <a:avLst/>
          </a:prstGeom>
          <a:solidFill>
            <a:srgbClr val="E8F8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" name="Text 38"/>
          <p:cNvSpPr/>
          <p:nvPr/>
        </p:nvSpPr>
        <p:spPr>
          <a:xfrm>
            <a:off x="2441448" y="2615184"/>
            <a:ext cx="3127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+ géométries GPS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614416" y="2596896"/>
            <a:ext cx="3017520" cy="310896"/>
          </a:xfrm>
          <a:prstGeom prst="rect">
            <a:avLst/>
          </a:prstGeom>
          <a:solidFill>
            <a:srgbClr val="E8F8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2" name="Text 40"/>
          <p:cNvSpPr/>
          <p:nvPr/>
        </p:nvSpPr>
        <p:spPr>
          <a:xfrm>
            <a:off x="5660136" y="2615184"/>
            <a:ext cx="2944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QGIS · Mapbox · Leaflet.js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47472" y="2926080"/>
            <a:ext cx="109728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4" name="Text 42"/>
          <p:cNvSpPr/>
          <p:nvPr/>
        </p:nvSpPr>
        <p:spPr>
          <a:xfrm>
            <a:off x="393192" y="2944368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KML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1463040" y="2926080"/>
            <a:ext cx="91440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6" name="Text 44"/>
          <p:cNvSpPr/>
          <p:nvPr/>
        </p:nvSpPr>
        <p:spPr>
          <a:xfrm>
            <a:off x="1508760" y="2944368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kml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395728" y="2926080"/>
            <a:ext cx="320040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8" name="Text 46"/>
          <p:cNvSpPr/>
          <p:nvPr/>
        </p:nvSpPr>
        <p:spPr>
          <a:xfrm>
            <a:off x="2441448" y="2944368"/>
            <a:ext cx="3127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GPS en format XML Google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614416" y="2926080"/>
            <a:ext cx="301752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0" name="Text 48"/>
          <p:cNvSpPr/>
          <p:nvPr/>
        </p:nvSpPr>
        <p:spPr>
          <a:xfrm>
            <a:off x="5660136" y="2944368"/>
            <a:ext cx="2944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Earth · Google My Maps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347472" y="3255264"/>
            <a:ext cx="1097280" cy="310896"/>
          </a:xfrm>
          <a:prstGeom prst="rect">
            <a:avLst/>
          </a:prstGeom>
          <a:solidFill>
            <a:srgbClr val="E8F8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2" name="Text 50"/>
          <p:cNvSpPr/>
          <p:nvPr/>
        </p:nvSpPr>
        <p:spPr>
          <a:xfrm>
            <a:off x="393192" y="3273552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(séparateur point-virgule)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1463040" y="3255264"/>
            <a:ext cx="914400" cy="310896"/>
          </a:xfrm>
          <a:prstGeom prst="rect">
            <a:avLst/>
          </a:prstGeom>
          <a:solidFill>
            <a:srgbClr val="E8F8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4" name="Text 52"/>
          <p:cNvSpPr/>
          <p:nvPr/>
        </p:nvSpPr>
        <p:spPr>
          <a:xfrm>
            <a:off x="1508760" y="3273552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2395728" y="3255264"/>
            <a:ext cx="3200400" cy="310896"/>
          </a:xfrm>
          <a:prstGeom prst="rect">
            <a:avLst/>
          </a:prstGeom>
          <a:solidFill>
            <a:srgbClr val="E8F8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6" name="Text 54"/>
          <p:cNvSpPr/>
          <p:nvPr/>
        </p:nvSpPr>
        <p:spPr>
          <a:xfrm>
            <a:off x="2441448" y="3273552"/>
            <a:ext cx="3127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 CSV mais avec ;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5614416" y="3255264"/>
            <a:ext cx="3017520" cy="310896"/>
          </a:xfrm>
          <a:prstGeom prst="rect">
            <a:avLst/>
          </a:prstGeom>
          <a:solidFill>
            <a:srgbClr val="E8F8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8" name="Text 56"/>
          <p:cNvSpPr/>
          <p:nvPr/>
        </p:nvSpPr>
        <p:spPr>
          <a:xfrm>
            <a:off x="5660136" y="3273552"/>
            <a:ext cx="2944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FR · Fichiers locaux FR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347472" y="3584448"/>
            <a:ext cx="109728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0" name="Text 58"/>
          <p:cNvSpPr/>
          <p:nvPr/>
        </p:nvSpPr>
        <p:spPr>
          <a:xfrm>
            <a:off x="393192" y="3602736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SPSS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1463040" y="3584448"/>
            <a:ext cx="91440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2" name="Text 60"/>
          <p:cNvSpPr/>
          <p:nvPr/>
        </p:nvSpPr>
        <p:spPr>
          <a:xfrm>
            <a:off x="1508760" y="3602736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2395728" y="3584448"/>
            <a:ext cx="320040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4" name="Text 62"/>
          <p:cNvSpPr/>
          <p:nvPr/>
        </p:nvSpPr>
        <p:spPr>
          <a:xfrm>
            <a:off x="2441448" y="3602736"/>
            <a:ext cx="3127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statistique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5614416" y="3584448"/>
            <a:ext cx="301752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6" name="Text 64"/>
          <p:cNvSpPr/>
          <p:nvPr/>
        </p:nvSpPr>
        <p:spPr>
          <a:xfrm>
            <a:off x="5660136" y="3602736"/>
            <a:ext cx="2944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SPSS · R (bibliothèque haven)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320040" y="3913632"/>
            <a:ext cx="8503920" cy="310896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8" name="Text 66"/>
          <p:cNvSpPr/>
          <p:nvPr/>
        </p:nvSpPr>
        <p:spPr>
          <a:xfrm>
            <a:off x="411480" y="3913632"/>
            <a:ext cx="8366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— Paramètres de filtrage utiles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347472" y="4261104"/>
            <a:ext cx="8449056" cy="29260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0" name="Shape 68"/>
          <p:cNvSpPr/>
          <p:nvPr/>
        </p:nvSpPr>
        <p:spPr>
          <a:xfrm>
            <a:off x="347472" y="4279392"/>
            <a:ext cx="2377440" cy="18288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1" name="Text 69"/>
          <p:cNvSpPr/>
          <p:nvPr/>
        </p:nvSpPr>
        <p:spPr>
          <a:xfrm>
            <a:off x="384048" y="4279392"/>
            <a:ext cx="2304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?format=json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2798064" y="4297680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Retourner les données en JSON (défaut)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347472" y="4572000"/>
            <a:ext cx="8449056" cy="292608"/>
          </a:xfrm>
          <a:prstGeom prst="rect">
            <a:avLst/>
          </a:prstGeom>
          <a:solidFill>
            <a:srgbClr val="E8F8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4" name="Shape 72"/>
          <p:cNvSpPr/>
          <p:nvPr/>
        </p:nvSpPr>
        <p:spPr>
          <a:xfrm>
            <a:off x="347472" y="4590288"/>
            <a:ext cx="2377440" cy="18288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5" name="Text 73"/>
          <p:cNvSpPr/>
          <p:nvPr/>
        </p:nvSpPr>
        <p:spPr>
          <a:xfrm>
            <a:off x="384048" y="4590288"/>
            <a:ext cx="2304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?format=xls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2798064" y="4608576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Retourner un fichier Excel directement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347472" y="4882896"/>
            <a:ext cx="8449056" cy="29260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8" name="Shape 76"/>
          <p:cNvSpPr/>
          <p:nvPr/>
        </p:nvSpPr>
        <p:spPr>
          <a:xfrm>
            <a:off x="347472" y="4901184"/>
            <a:ext cx="2377440" cy="18288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9" name="Text 77"/>
          <p:cNvSpPr/>
          <p:nvPr/>
        </p:nvSpPr>
        <p:spPr>
          <a:xfrm>
            <a:off x="384048" y="4901184"/>
            <a:ext cx="2304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?limit=100&amp;offset=0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2798064" y="4919472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Paginer les résultats — 100 par page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347472" y="5193792"/>
            <a:ext cx="8449056" cy="292608"/>
          </a:xfrm>
          <a:prstGeom prst="rect">
            <a:avLst/>
          </a:prstGeom>
          <a:solidFill>
            <a:srgbClr val="E8F8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2" name="Shape 80"/>
          <p:cNvSpPr/>
          <p:nvPr/>
        </p:nvSpPr>
        <p:spPr>
          <a:xfrm>
            <a:off x="347472" y="5212080"/>
            <a:ext cx="2377440" cy="18288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3" name="Text 81"/>
          <p:cNvSpPr/>
          <p:nvPr/>
        </p:nvSpPr>
        <p:spPr>
          <a:xfrm>
            <a:off x="384048" y="5212080"/>
            <a:ext cx="2304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?query={"commune":"glazoue"}</a:t>
            </a:r>
            <a:endParaRPr lang="en-US" sz="800" dirty="0"/>
          </a:p>
        </p:txBody>
      </p:sp>
      <p:sp>
        <p:nvSpPr>
          <p:cNvPr id="84" name="Text 82"/>
          <p:cNvSpPr/>
          <p:nvPr/>
        </p:nvSpPr>
        <p:spPr>
          <a:xfrm>
            <a:off x="2798064" y="5230368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Filtrer par valeur de champ (format JSON)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8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188720"/>
          </a:xfrm>
          <a:prstGeom prst="rect">
            <a:avLst/>
          </a:prstGeom>
          <a:solidFill>
            <a:srgbClr val="0B6E4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128016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Récapitulatif — Module 10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9D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qu'il faut retenir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D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KoboToolbox de A à Z — Module 10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90118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9D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1280160"/>
            <a:ext cx="859536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274320" y="1280160"/>
            <a:ext cx="64008" cy="438912"/>
          </a:xfrm>
          <a:prstGeom prst="rect">
            <a:avLst/>
          </a:prstGeom>
          <a:solidFill>
            <a:srgbClr val="21734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347472" y="1280160"/>
            <a:ext cx="438912" cy="438912"/>
          </a:xfrm>
          <a:prstGeom prst="ellipse">
            <a:avLst/>
          </a:prstGeom>
          <a:solidFill>
            <a:srgbClr val="21734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347472" y="12801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1298448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7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XLS / CSV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286000" y="1371600"/>
            <a:ext cx="36576" cy="274320"/>
          </a:xfrm>
          <a:prstGeom prst="rect">
            <a:avLst/>
          </a:prstGeom>
          <a:solidFill>
            <a:srgbClr val="D0D8E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2395728" y="1316736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→ Télécharger · XLS pour Excel · CSV pour Python/R/SQL · options médias et métadonnées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1792224"/>
            <a:ext cx="859536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274320" y="1792224"/>
            <a:ext cx="64008" cy="438912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347472" y="1792224"/>
            <a:ext cx="438912" cy="438912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347472" y="17922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14400" y="1810512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KML / GeoJSON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286000" y="1883664"/>
            <a:ext cx="36576" cy="274320"/>
          </a:xfrm>
          <a:prstGeom prst="rect">
            <a:avLst/>
          </a:prstGeom>
          <a:solidFill>
            <a:srgbClr val="D0D8E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2395728" y="182880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géospatial · KML → Google Earth/Maps · GeoJSON → QGIS/Leaflet · coordonnées GPS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2304288"/>
            <a:ext cx="859536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274320" y="2304288"/>
            <a:ext cx="64008" cy="438912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347472" y="2304288"/>
            <a:ext cx="438912" cy="438912"/>
          </a:xfrm>
          <a:prstGeom prst="ellipse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347472" y="23042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14400" y="2322576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286000" y="2395728"/>
            <a:ext cx="36576" cy="274320"/>
          </a:xfrm>
          <a:prstGeom prst="rect">
            <a:avLst/>
          </a:prstGeom>
          <a:solidFill>
            <a:srgbClr val="D0D8E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2395728" y="2340864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dans Authorization header · GET /api/v2/assets/{uid}/data/ · pagination avec limit/offset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74320" y="2816352"/>
            <a:ext cx="859536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1" name="Shape 29"/>
          <p:cNvSpPr/>
          <p:nvPr/>
        </p:nvSpPr>
        <p:spPr>
          <a:xfrm>
            <a:off x="274320" y="2816352"/>
            <a:ext cx="64008" cy="438912"/>
          </a:xfrm>
          <a:prstGeom prst="rect">
            <a:avLst/>
          </a:prstGeom>
          <a:solidFill>
            <a:srgbClr val="0F9D5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" name="Shape 30"/>
          <p:cNvSpPr/>
          <p:nvPr/>
        </p:nvSpPr>
        <p:spPr>
          <a:xfrm>
            <a:off x="347472" y="2816352"/>
            <a:ext cx="438912" cy="438912"/>
          </a:xfrm>
          <a:prstGeom prst="ellipse">
            <a:avLst/>
          </a:prstGeom>
          <a:solidFill>
            <a:srgbClr val="0F9D5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347472" y="28163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14400" y="283464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9D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Sheets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286000" y="2907792"/>
            <a:ext cx="36576" cy="274320"/>
          </a:xfrm>
          <a:prstGeom prst="rect">
            <a:avLst/>
          </a:prstGeom>
          <a:solidFill>
            <a:srgbClr val="D0D8E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2395728" y="2852928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Service natif OU Zapier/Make · webhook → Apps Script → appendRow()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74320" y="3328416"/>
            <a:ext cx="859536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8" name="Shape 36"/>
          <p:cNvSpPr/>
          <p:nvPr/>
        </p:nvSpPr>
        <p:spPr>
          <a:xfrm>
            <a:off x="274320" y="3328416"/>
            <a:ext cx="64008" cy="438912"/>
          </a:xfrm>
          <a:prstGeom prst="rect">
            <a:avLst/>
          </a:prstGeom>
          <a:solidFill>
            <a:srgbClr val="F2C81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" name="Shape 37"/>
          <p:cNvSpPr/>
          <p:nvPr/>
        </p:nvSpPr>
        <p:spPr>
          <a:xfrm>
            <a:off x="347472" y="3328416"/>
            <a:ext cx="438912" cy="438912"/>
          </a:xfrm>
          <a:prstGeom prst="ellipse">
            <a:avLst/>
          </a:prstGeom>
          <a:solidFill>
            <a:srgbClr val="F2C81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" name="Text 38"/>
          <p:cNvSpPr/>
          <p:nvPr/>
        </p:nvSpPr>
        <p:spPr>
          <a:xfrm>
            <a:off x="347472" y="33284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914400" y="3346704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2C8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2286000" y="3419856"/>
            <a:ext cx="36576" cy="274320"/>
          </a:xfrm>
          <a:prstGeom prst="rect">
            <a:avLst/>
          </a:prstGeom>
          <a:solidFill>
            <a:srgbClr val="D0D8E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3" name="Text 41"/>
          <p:cNvSpPr/>
          <p:nvPr/>
        </p:nvSpPr>
        <p:spPr>
          <a:xfrm>
            <a:off x="2395728" y="3364992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Connecteur Web → URL API + token · Power Query → résultats · refresh planifié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74320" y="3840480"/>
            <a:ext cx="859536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5" name="Shape 43"/>
          <p:cNvSpPr/>
          <p:nvPr/>
        </p:nvSpPr>
        <p:spPr>
          <a:xfrm>
            <a:off x="274320" y="3840480"/>
            <a:ext cx="64008" cy="438912"/>
          </a:xfrm>
          <a:prstGeom prst="rect">
            <a:avLst/>
          </a:prstGeom>
          <a:solidFill>
            <a:srgbClr val="BA4A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6" name="Shape 44"/>
          <p:cNvSpPr/>
          <p:nvPr/>
        </p:nvSpPr>
        <p:spPr>
          <a:xfrm>
            <a:off x="347472" y="3840480"/>
            <a:ext cx="438912" cy="438912"/>
          </a:xfrm>
          <a:prstGeom prst="ellipse">
            <a:avLst/>
          </a:prstGeom>
          <a:solidFill>
            <a:srgbClr val="BA4A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7" name="Text 45"/>
          <p:cNvSpPr/>
          <p:nvPr/>
        </p:nvSpPr>
        <p:spPr>
          <a:xfrm>
            <a:off x="347472" y="38404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914400" y="3858768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A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Webhooks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2286000" y="3931920"/>
            <a:ext cx="36576" cy="274320"/>
          </a:xfrm>
          <a:prstGeom prst="rect">
            <a:avLst/>
          </a:prstGeom>
          <a:solidFill>
            <a:srgbClr val="D0D8E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0" name="Text 48"/>
          <p:cNvSpPr/>
          <p:nvPr/>
        </p:nvSpPr>
        <p:spPr>
          <a:xfrm>
            <a:off x="2395728" y="3877056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POST automatique par soumission · Paramètres → REST Services · payload JSON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274320" y="4352544"/>
            <a:ext cx="859536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2" name="Shape 50"/>
          <p:cNvSpPr/>
          <p:nvPr/>
        </p:nvSpPr>
        <p:spPr>
          <a:xfrm>
            <a:off x="274320" y="4352544"/>
            <a:ext cx="64008" cy="438912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3" name="Shape 51"/>
          <p:cNvSpPr/>
          <p:nvPr/>
        </p:nvSpPr>
        <p:spPr>
          <a:xfrm>
            <a:off x="347472" y="4352544"/>
            <a:ext cx="438912" cy="438912"/>
          </a:xfrm>
          <a:prstGeom prst="ellipse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4" name="Text 52"/>
          <p:cNvSpPr/>
          <p:nvPr/>
        </p:nvSpPr>
        <p:spPr>
          <a:xfrm>
            <a:off x="347472" y="43525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914400" y="4370832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2286000" y="4443984"/>
            <a:ext cx="36576" cy="274320"/>
          </a:xfrm>
          <a:prstGeom prst="rect">
            <a:avLst/>
          </a:prstGeom>
          <a:solidFill>
            <a:srgbClr val="D0D8E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7" name="Text 55"/>
          <p:cNvSpPr/>
          <p:nvPr/>
        </p:nvSpPr>
        <p:spPr>
          <a:xfrm>
            <a:off x="2395728" y="438912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= secret absolu · HTTPS obligatoire · versionner les exports · documenter les connexions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6217920" y="-457200"/>
            <a:ext cx="4114800" cy="685800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 rot="900000">
            <a:off x="6858000" y="-457200"/>
            <a:ext cx="4114800" cy="6858000"/>
          </a:xfrm>
          <a:prstGeom prst="rect">
            <a:avLst/>
          </a:prstGeom>
          <a:solidFill>
            <a:srgbClr val="0A274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B6E4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457200" y="457200"/>
            <a:ext cx="2926080" cy="384048"/>
          </a:xfrm>
          <a:prstGeom prst="rect">
            <a:avLst/>
          </a:prstGeom>
          <a:solidFill>
            <a:srgbClr val="0B6E4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PROCHAINE VIDÉO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A9D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Vidéo 16 :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150876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457200" y="2212848"/>
            <a:ext cx="7315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utilisateurs &amp; équipes</a:t>
            </a:r>
            <a:endParaRPr lang="en-US" sz="3400" dirty="0"/>
          </a:p>
        </p:txBody>
      </p:sp>
      <p:sp>
        <p:nvSpPr>
          <p:cNvPr id="10" name="Shape 8"/>
          <p:cNvSpPr/>
          <p:nvPr/>
        </p:nvSpPr>
        <p:spPr>
          <a:xfrm>
            <a:off x="457200" y="3072384"/>
            <a:ext cx="3200400" cy="36576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57200" y="320040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0B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Ajouter des collaborateurs à un projet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" y="3511296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0B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Les rôles : Admin · Éditeur · Lecteur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" y="382219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0B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Gérer les permissions par formulaire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" y="413308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0B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Partager un projet avec une organisation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4443984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0B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Sécuriser l'accès aux données sensibles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466344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Abonnez-vous pour ne pas manquer la suite !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57200" y="491947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· Commentaire · Partage — ça aide vraiment 🙌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3271</Words>
  <Application>Microsoft Office PowerPoint</Application>
  <PresentationFormat>Affichage à l'écran (16:9)</PresentationFormat>
  <Paragraphs>566</Paragraphs>
  <Slides>18</Slides>
  <Notes>18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KoboToolbox – Module 10 : Export &amp; intégrations</dc:title>
  <dc:subject>PptxGenJS Presentation</dc:subject>
  <dc:creator>PptxGenJS</dc:creator>
  <cp:lastModifiedBy>Fabien Nacheley</cp:lastModifiedBy>
  <cp:revision>1</cp:revision>
  <dcterms:created xsi:type="dcterms:W3CDTF">2026-03-22T19:11:15Z</dcterms:created>
  <dcterms:modified xsi:type="dcterms:W3CDTF">2026-06-21T23:52:14Z</dcterms:modified>
</cp:coreProperties>
</file>