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7" r:id="rId6"/>
    <p:sldId id="268" r:id="rId7"/>
    <p:sldId id="269" r:id="rId8"/>
    <p:sldId id="271" r:id="rId9"/>
    <p:sldId id="27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5" autoAdjust="0"/>
  </p:normalViewPr>
  <p:slideViewPr>
    <p:cSldViewPr snapToGrid="0" snapToObjects="1">
      <p:cViewPr varScale="1">
        <p:scale>
          <a:sx n="125" d="100"/>
          <a:sy n="125" d="100"/>
        </p:scale>
        <p:origin x="7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lou Alphonse Euphreme" userId="f12afe77-4db7-47e3-b604-bb0d456a5c02" providerId="ADAL" clId="{4890F534-C102-41F9-978A-E7DBDB1CFE02}"/>
    <pc:docChg chg="delSld modSld">
      <pc:chgData name="Ahlou Alphonse Euphreme" userId="f12afe77-4db7-47e3-b604-bb0d456a5c02" providerId="ADAL" clId="{4890F534-C102-41F9-978A-E7DBDB1CFE02}" dt="2026-04-21T12:46:34.365" v="10" actId="20577"/>
      <pc:docMkLst>
        <pc:docMk/>
      </pc:docMkLst>
      <pc:sldChg chg="modSp mod">
        <pc:chgData name="Ahlou Alphonse Euphreme" userId="f12afe77-4db7-47e3-b604-bb0d456a5c02" providerId="ADAL" clId="{4890F534-C102-41F9-978A-E7DBDB1CFE02}" dt="2026-04-21T12:46:34.365" v="10" actId="20577"/>
        <pc:sldMkLst>
          <pc:docMk/>
          <pc:sldMk cId="0" sldId="256"/>
        </pc:sldMkLst>
        <pc:spChg chg="mod">
          <ac:chgData name="Ahlou Alphonse Euphreme" userId="f12afe77-4db7-47e3-b604-bb0d456a5c02" providerId="ADAL" clId="{4890F534-C102-41F9-978A-E7DBDB1CFE02}" dt="2026-04-21T12:46:34.365" v="10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 del">
        <pc:chgData name="Ahlou Alphonse Euphreme" userId="f12afe77-4db7-47e3-b604-bb0d456a5c02" providerId="ADAL" clId="{4890F534-C102-41F9-978A-E7DBDB1CFE02}" dt="2026-04-21T12:45:19.779" v="5" actId="47"/>
        <pc:sldMkLst>
          <pc:docMk/>
          <pc:sldMk cId="0" sldId="259"/>
        </pc:sldMkLst>
      </pc:sldChg>
      <pc:sldChg chg="modSp del">
        <pc:chgData name="Ahlou Alphonse Euphreme" userId="f12afe77-4db7-47e3-b604-bb0d456a5c02" providerId="ADAL" clId="{4890F534-C102-41F9-978A-E7DBDB1CFE02}" dt="2026-04-21T12:42:08.129" v="1" actId="47"/>
        <pc:sldMkLst>
          <pc:docMk/>
          <pc:sldMk cId="0" sldId="261"/>
        </pc:sldMkLst>
      </pc:sldChg>
      <pc:sldChg chg="modSp del">
        <pc:chgData name="Ahlou Alphonse Euphreme" userId="f12afe77-4db7-47e3-b604-bb0d456a5c02" providerId="ADAL" clId="{4890F534-C102-41F9-978A-E7DBDB1CFE02}" dt="2026-04-21T12:42:13.857" v="2" actId="47"/>
        <pc:sldMkLst>
          <pc:docMk/>
          <pc:sldMk cId="0" sldId="263"/>
        </pc:sldMkLst>
      </pc:sldChg>
      <pc:sldChg chg="del">
        <pc:chgData name="Ahlou Alphonse Euphreme" userId="f12afe77-4db7-47e3-b604-bb0d456a5c02" providerId="ADAL" clId="{4890F534-C102-41F9-978A-E7DBDB1CFE02}" dt="2026-04-21T12:42:27.371" v="3" actId="47"/>
        <pc:sldMkLst>
          <pc:docMk/>
          <pc:sldMk cId="0" sldId="264"/>
        </pc:sldMkLst>
      </pc:sldChg>
      <pc:sldChg chg="modSp del">
        <pc:chgData name="Ahlou Alphonse Euphreme" userId="f12afe77-4db7-47e3-b604-bb0d456a5c02" providerId="ADAL" clId="{4890F534-C102-41F9-978A-E7DBDB1CFE02}" dt="2026-04-21T12:44:22.569" v="4" actId="47"/>
        <pc:sldMkLst>
          <pc:docMk/>
          <pc:sldMk cId="0" sldId="270"/>
        </pc:sldMkLst>
      </pc:sldChg>
      <pc:sldChg chg="del">
        <pc:chgData name="Ahlou Alphonse Euphreme" userId="f12afe77-4db7-47e3-b604-bb0d456a5c02" providerId="ADAL" clId="{4890F534-C102-41F9-978A-E7DBDB1CFE02}" dt="2026-04-21T12:46:20.524" v="6" actId="47"/>
        <pc:sldMkLst>
          <pc:docMk/>
          <pc:sldMk cId="0" sldId="272"/>
        </pc:sldMkLst>
      </pc:sldChg>
    </pc:docChg>
  </pc:docChgLst>
  <pc:docChgLst>
    <pc:chgData name="Ahlou Alphonse Euphreme" userId="f12afe77-4db7-47e3-b604-bb0d456a5c02" providerId="ADAL" clId="{5735D98A-5E9D-45E5-9858-B2F8FC0FB54C}"/>
    <pc:docChg chg="undo redo custSel addSld delSld modSld sldOrd">
      <pc:chgData name="Ahlou Alphonse Euphreme" userId="f12afe77-4db7-47e3-b604-bb0d456a5c02" providerId="ADAL" clId="{5735D98A-5E9D-45E5-9858-B2F8FC0FB54C}" dt="2026-04-19T20:25:11.509" v="117" actId="478"/>
      <pc:docMkLst>
        <pc:docMk/>
      </pc:docMkLst>
      <pc:sldChg chg="addSp delSp modSp mod">
        <pc:chgData name="Ahlou Alphonse Euphreme" userId="f12afe77-4db7-47e3-b604-bb0d456a5c02" providerId="ADAL" clId="{5735D98A-5E9D-45E5-9858-B2F8FC0FB54C}" dt="2026-04-19T20:25:11.509" v="117" actId="478"/>
        <pc:sldMkLst>
          <pc:docMk/>
          <pc:sldMk cId="0" sldId="257"/>
        </pc:sldMkLst>
        <pc:spChg chg="add del">
          <ac:chgData name="Ahlou Alphonse Euphreme" userId="f12afe77-4db7-47e3-b604-bb0d456a5c02" providerId="ADAL" clId="{5735D98A-5E9D-45E5-9858-B2F8FC0FB54C}" dt="2026-04-19T20:25:08.381" v="115" actId="478"/>
          <ac:spMkLst>
            <pc:docMk/>
            <pc:sldMk cId="0" sldId="257"/>
            <ac:spMk id="39" creationId="{00000000-0000-0000-0000-000000000000}"/>
          </ac:spMkLst>
        </pc:spChg>
      </pc:sldChg>
      <pc:sldChg chg="add del">
        <pc:chgData name="Ahlou Alphonse Euphreme" userId="f12afe77-4db7-47e3-b604-bb0d456a5c02" providerId="ADAL" clId="{5735D98A-5E9D-45E5-9858-B2F8FC0FB54C}" dt="2026-04-19T20:25:06.867" v="113" actId="47"/>
        <pc:sldMkLst>
          <pc:docMk/>
          <pc:sldMk cId="0" sldId="267"/>
        </pc:sldMkLst>
      </pc:sldChg>
      <pc:sldChg chg="add del">
        <pc:chgData name="Ahlou Alphonse Euphreme" userId="f12afe77-4db7-47e3-b604-bb0d456a5c02" providerId="ADAL" clId="{5735D98A-5E9D-45E5-9858-B2F8FC0FB54C}" dt="2026-04-19T20:25:06.244" v="112" actId="47"/>
        <pc:sldMkLst>
          <pc:docMk/>
          <pc:sldMk cId="0" sldId="268"/>
        </pc:sldMkLst>
      </pc:sldChg>
      <pc:sldChg chg="add del">
        <pc:chgData name="Ahlou Alphonse Euphreme" userId="f12afe77-4db7-47e3-b604-bb0d456a5c02" providerId="ADAL" clId="{5735D98A-5E9D-45E5-9858-B2F8FC0FB54C}" dt="2026-04-19T20:25:05.380" v="111" actId="47"/>
        <pc:sldMkLst>
          <pc:docMk/>
          <pc:sldMk cId="0" sldId="269"/>
        </pc:sldMkLst>
      </pc:sldChg>
      <pc:sldChg chg="add del">
        <pc:chgData name="Ahlou Alphonse Euphreme" userId="f12afe77-4db7-47e3-b604-bb0d456a5c02" providerId="ADAL" clId="{5735D98A-5E9D-45E5-9858-B2F8FC0FB54C}" dt="2026-04-19T20:25:04.355" v="109" actId="47"/>
        <pc:sldMkLst>
          <pc:docMk/>
          <pc:sldMk cId="0" sldId="271"/>
        </pc:sldMkLst>
      </pc:sldChg>
      <pc:sldChg chg="add del">
        <pc:chgData name="Ahlou Alphonse Euphreme" userId="f12afe77-4db7-47e3-b604-bb0d456a5c02" providerId="ADAL" clId="{5735D98A-5E9D-45E5-9858-B2F8FC0FB54C}" dt="2026-04-19T20:25:03.328" v="107" actId="47"/>
        <pc:sldMkLst>
          <pc:docMk/>
          <pc:sldMk cId="0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983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217920" y="-457200"/>
            <a:ext cx="4114800" cy="68580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 rot="900000">
            <a:off x="6858000" y="-457200"/>
            <a:ext cx="4114800" cy="6858000"/>
          </a:xfrm>
          <a:prstGeom prst="rect">
            <a:avLst/>
          </a:prstGeom>
          <a:solidFill>
            <a:srgbClr val="0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194560" cy="38404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de données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1682496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terrain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32004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267004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 ·  Vidéos 10–11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0358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  ·  KoboCollect · Hors ligne · Enketo · Multi-langue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50208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KoboCollect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6032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3950208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42316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ligne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6344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950208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2628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Enketo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76656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395020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62940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 — Module 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qu'il faut savoir pour collecter sur le terrain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64008" cy="475488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29844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78992" y="13075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KoboCollect — Installation et configuration Android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78992" y="15361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Télécharger, configurer l'URL serveur, se connecter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82880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1828800"/>
            <a:ext cx="64008" cy="47548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184708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78992" y="18562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et ouvrir un formulaire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78992" y="20848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Sélectionner, télécharger et commencer une collecte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37744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2377440"/>
            <a:ext cx="64008" cy="47548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239572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78992" y="240487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hors ligne — comment ça marche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78992" y="26334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Stocker localement, synchroniser à la connexion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92608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2926080"/>
            <a:ext cx="64008" cy="47548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294436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78992" y="29535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web via Enketo (navigateur)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78992" y="318211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le lien ou QR depuis Chrome, Firefox, Safari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47472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3474720"/>
            <a:ext cx="64008" cy="475488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57200" y="349300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78992" y="35021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Synchroniser les données soumises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78992" y="373075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 les formulaires remplis au serveur Kobo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57200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KoboCollect — Installation sur Android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L'application officielle de collecte terrain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64008" cy="3493008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d'installation 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664208"/>
            <a:ext cx="411480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65760" y="1664208"/>
            <a:ext cx="64008" cy="585216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57200" y="1746504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1746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792224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71600" y="1719072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Play Store sur la tablette/smartphone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371600" y="197510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« KoboCollect » (développeur : KoboToolbox)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65760" y="2322576"/>
            <a:ext cx="411480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365760" y="2322576"/>
            <a:ext cx="64008" cy="585216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457200" y="2404872"/>
            <a:ext cx="420624" cy="420624"/>
          </a:xfrm>
          <a:prstGeom prst="ellipse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457200" y="2404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2450592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371600" y="2377440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l'application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1371600" y="2633472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: ~15 Mo · Compatible Android 5.0 et supérieur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65760" y="2980944"/>
            <a:ext cx="411480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2"/>
          <p:cNvSpPr/>
          <p:nvPr/>
        </p:nvSpPr>
        <p:spPr>
          <a:xfrm>
            <a:off x="365760" y="2980944"/>
            <a:ext cx="64008" cy="58521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3"/>
          <p:cNvSpPr/>
          <p:nvPr/>
        </p:nvSpPr>
        <p:spPr>
          <a:xfrm>
            <a:off x="457200" y="3063240"/>
            <a:ext cx="420624" cy="420624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4"/>
          <p:cNvSpPr/>
          <p:nvPr/>
        </p:nvSpPr>
        <p:spPr>
          <a:xfrm>
            <a:off x="457200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3108960"/>
            <a:ext cx="292608" cy="29260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371600" y="3035808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KoboCollect → Paramètres généraux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1371600" y="3291840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dans « Gestion du serveur » ou l'icône ⚙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365760" y="3639312"/>
            <a:ext cx="411480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28"/>
          <p:cNvSpPr/>
          <p:nvPr/>
        </p:nvSpPr>
        <p:spPr>
          <a:xfrm>
            <a:off x="365760" y="3639312"/>
            <a:ext cx="64008" cy="58521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29"/>
          <p:cNvSpPr/>
          <p:nvPr/>
        </p:nvSpPr>
        <p:spPr>
          <a:xfrm>
            <a:off x="457200" y="3721608"/>
            <a:ext cx="420624" cy="420624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0"/>
          <p:cNvSpPr/>
          <p:nvPr/>
        </p:nvSpPr>
        <p:spPr>
          <a:xfrm>
            <a:off x="457200" y="3721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3767328"/>
            <a:ext cx="292608" cy="29260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371600" y="3694176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l'URL du serveur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1371600" y="3950208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https://kf.kobotoolbox.org (ou URL humanitaire selon votre compte)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365760" y="4297680"/>
            <a:ext cx="411480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4"/>
          <p:cNvSpPr/>
          <p:nvPr/>
        </p:nvSpPr>
        <p:spPr>
          <a:xfrm>
            <a:off x="365760" y="4297680"/>
            <a:ext cx="64008" cy="585216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5"/>
          <p:cNvSpPr/>
          <p:nvPr/>
        </p:nvSpPr>
        <p:spPr>
          <a:xfrm>
            <a:off x="457200" y="4379976"/>
            <a:ext cx="420624" cy="420624"/>
          </a:xfrm>
          <a:prstGeom prst="ellipse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36"/>
          <p:cNvSpPr/>
          <p:nvPr/>
        </p:nvSpPr>
        <p:spPr>
          <a:xfrm>
            <a:off x="457200" y="4379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" y="4425696"/>
            <a:ext cx="292608" cy="29260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1371600" y="4352544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Entrer identifiants et tester la connexion</a:t>
            </a:r>
            <a:endParaRPr lang="en-US" sz="1150" dirty="0"/>
          </a:p>
        </p:txBody>
      </p:sp>
      <p:sp>
        <p:nvSpPr>
          <p:cNvPr id="45" name="Text 38"/>
          <p:cNvSpPr/>
          <p:nvPr/>
        </p:nvSpPr>
        <p:spPr>
          <a:xfrm>
            <a:off x="1371600" y="4608576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d'utilisateur + mot de passe → bouton « Tester »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4846320" y="1261872"/>
            <a:ext cx="3291840" cy="3611880"/>
          </a:xfrm>
          <a:prstGeom prst="rect">
            <a:avLst/>
          </a:prstGeom>
          <a:solidFill>
            <a:srgbClr val="1C1C2E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" name="Shape 40"/>
          <p:cNvSpPr/>
          <p:nvPr/>
        </p:nvSpPr>
        <p:spPr>
          <a:xfrm>
            <a:off x="4937760" y="1408176"/>
            <a:ext cx="3108960" cy="33558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1"/>
          <p:cNvSpPr/>
          <p:nvPr/>
        </p:nvSpPr>
        <p:spPr>
          <a:xfrm>
            <a:off x="6327648" y="1307592"/>
            <a:ext cx="329184" cy="73152"/>
          </a:xfrm>
          <a:prstGeom prst="rect">
            <a:avLst/>
          </a:prstGeom>
          <a:solidFill>
            <a:srgbClr val="4444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2"/>
          <p:cNvSpPr/>
          <p:nvPr/>
        </p:nvSpPr>
        <p:spPr>
          <a:xfrm>
            <a:off x="6400800" y="4745736"/>
            <a:ext cx="182880" cy="182880"/>
          </a:xfrm>
          <a:prstGeom prst="ellipse">
            <a:avLst/>
          </a:prstGeom>
          <a:solidFill>
            <a:srgbClr val="4444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3"/>
          <p:cNvSpPr/>
          <p:nvPr/>
        </p:nvSpPr>
        <p:spPr>
          <a:xfrm>
            <a:off x="4937760" y="1408176"/>
            <a:ext cx="3108960" cy="256032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4"/>
          <p:cNvSpPr/>
          <p:nvPr/>
        </p:nvSpPr>
        <p:spPr>
          <a:xfrm>
            <a:off x="4937760" y="14081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KoboCollect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4937760" y="1664208"/>
            <a:ext cx="310896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46"/>
          <p:cNvSpPr/>
          <p:nvPr/>
        </p:nvSpPr>
        <p:spPr>
          <a:xfrm>
            <a:off x="5029200" y="166420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Paramètres serveur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4937760" y="2011680"/>
            <a:ext cx="31089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Text 48"/>
          <p:cNvSpPr/>
          <p:nvPr/>
        </p:nvSpPr>
        <p:spPr>
          <a:xfrm>
            <a:off x="5010912" y="2048256"/>
            <a:ext cx="2962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serveur</a:t>
            </a:r>
            <a:endParaRPr lang="en-US" sz="850" dirty="0"/>
          </a:p>
        </p:txBody>
      </p:sp>
      <p:sp>
        <p:nvSpPr>
          <p:cNvPr id="56" name="Text 49"/>
          <p:cNvSpPr/>
          <p:nvPr/>
        </p:nvSpPr>
        <p:spPr>
          <a:xfrm>
            <a:off x="5010912" y="2231136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https://kf.kobotoolbox.org</a:t>
            </a:r>
            <a:endParaRPr lang="en-US" sz="1000" dirty="0"/>
          </a:p>
        </p:txBody>
      </p:sp>
      <p:sp>
        <p:nvSpPr>
          <p:cNvPr id="57" name="Shape 50"/>
          <p:cNvSpPr/>
          <p:nvPr/>
        </p:nvSpPr>
        <p:spPr>
          <a:xfrm>
            <a:off x="4937760" y="2487168"/>
            <a:ext cx="3108960" cy="457200"/>
          </a:xfrm>
          <a:prstGeom prst="rect">
            <a:avLst/>
          </a:prstGeom>
          <a:solidFill>
            <a:srgbClr val="F0F7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1"/>
          <p:cNvSpPr/>
          <p:nvPr/>
        </p:nvSpPr>
        <p:spPr>
          <a:xfrm>
            <a:off x="5010912" y="2523744"/>
            <a:ext cx="2962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850" dirty="0"/>
          </a:p>
        </p:txBody>
      </p:sp>
      <p:sp>
        <p:nvSpPr>
          <p:cNvPr id="59" name="Text 52"/>
          <p:cNvSpPr/>
          <p:nvPr/>
        </p:nvSpPr>
        <p:spPr>
          <a:xfrm>
            <a:off x="5010912" y="2706624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jean.dupont</a:t>
            </a:r>
            <a:endParaRPr lang="en-US" sz="1000" dirty="0"/>
          </a:p>
        </p:txBody>
      </p:sp>
      <p:sp>
        <p:nvSpPr>
          <p:cNvPr id="60" name="Shape 53"/>
          <p:cNvSpPr/>
          <p:nvPr/>
        </p:nvSpPr>
        <p:spPr>
          <a:xfrm>
            <a:off x="4937760" y="2962656"/>
            <a:ext cx="31089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54"/>
          <p:cNvSpPr/>
          <p:nvPr/>
        </p:nvSpPr>
        <p:spPr>
          <a:xfrm>
            <a:off x="5010912" y="2999232"/>
            <a:ext cx="2962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</a:t>
            </a:r>
            <a:endParaRPr lang="en-US" sz="850" dirty="0"/>
          </a:p>
        </p:txBody>
      </p:sp>
      <p:sp>
        <p:nvSpPr>
          <p:cNvPr id="62" name="Text 55"/>
          <p:cNvSpPr/>
          <p:nvPr/>
        </p:nvSpPr>
        <p:spPr>
          <a:xfrm>
            <a:off x="5010912" y="3182112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••••••••••</a:t>
            </a:r>
            <a:endParaRPr lang="en-US" sz="1000" dirty="0"/>
          </a:p>
        </p:txBody>
      </p:sp>
      <p:sp>
        <p:nvSpPr>
          <p:cNvPr id="63" name="Shape 56"/>
          <p:cNvSpPr/>
          <p:nvPr/>
        </p:nvSpPr>
        <p:spPr>
          <a:xfrm>
            <a:off x="4937760" y="3456432"/>
            <a:ext cx="3108960" cy="347472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Text 57"/>
          <p:cNvSpPr/>
          <p:nvPr/>
        </p:nvSpPr>
        <p:spPr>
          <a:xfrm>
            <a:off x="4937760" y="34564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Tester la connexion</a:t>
            </a:r>
            <a:endParaRPr lang="en-US" sz="1000" dirty="0"/>
          </a:p>
        </p:txBody>
      </p:sp>
      <p:sp>
        <p:nvSpPr>
          <p:cNvPr id="65" name="Shape 58"/>
          <p:cNvSpPr/>
          <p:nvPr/>
        </p:nvSpPr>
        <p:spPr>
          <a:xfrm>
            <a:off x="4937760" y="3858768"/>
            <a:ext cx="3108960" cy="256032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Text 59"/>
          <p:cNvSpPr/>
          <p:nvPr/>
        </p:nvSpPr>
        <p:spPr>
          <a:xfrm>
            <a:off x="4937760" y="38587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réussie !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hors ligne — Comment ça marche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Comprendre le cycle offline/sync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KoboCollect fonctionne entièrement sans connexion internet. Les données sont stockées localement sur l'appareil et synchronisées dès que la connexion est disponible.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73936"/>
            <a:ext cx="1975104" cy="1408176"/>
          </a:xfrm>
          <a:prstGeom prst="rect">
            <a:avLst/>
          </a:prstGeom>
          <a:solidFill>
            <a:srgbClr val="0E6655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1828800"/>
            <a:ext cx="475488" cy="4754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235915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2615184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zone connectée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Formulaire stocké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l'appareil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432304" y="239572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2578608" y="1773936"/>
            <a:ext cx="1975104" cy="1408176"/>
          </a:xfrm>
          <a:prstGeom prst="rect">
            <a:avLst/>
          </a:prstGeom>
          <a:solidFill>
            <a:srgbClr val="0E6655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416" y="1828800"/>
            <a:ext cx="475488" cy="4754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78608" y="235915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hors ligne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578608" y="2615184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des données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réseau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Stockées localement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553712" y="239572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4700016" y="1773936"/>
            <a:ext cx="1975104" cy="1408176"/>
          </a:xfrm>
          <a:prstGeom prst="rect">
            <a:avLst/>
          </a:prstGeom>
          <a:solidFill>
            <a:srgbClr val="BA4A00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9824" y="1828800"/>
            <a:ext cx="475488" cy="4754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00016" y="235915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attente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700016" y="2615184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Soumissions prêtes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envoyer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File d'attente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675120" y="239572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6821424" y="1773936"/>
            <a:ext cx="1975104" cy="1408176"/>
          </a:xfrm>
          <a:prstGeom prst="rect">
            <a:avLst/>
          </a:prstGeom>
          <a:solidFill>
            <a:srgbClr val="1ABC9C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232" y="1828800"/>
            <a:ext cx="475488" cy="4754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21424" y="235915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821424" y="2615184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connexion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Envoi automatique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serveur Kobo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65760" y="3310128"/>
            <a:ext cx="8412480" cy="310896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4"/>
          <p:cNvSpPr/>
          <p:nvPr/>
        </p:nvSpPr>
        <p:spPr>
          <a:xfrm>
            <a:off x="457200" y="3310128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Détails techniques — ce qui se passe en coulisses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365760" y="3694176"/>
            <a:ext cx="420624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26"/>
          <p:cNvSpPr/>
          <p:nvPr/>
        </p:nvSpPr>
        <p:spPr>
          <a:xfrm>
            <a:off x="365760" y="3694176"/>
            <a:ext cx="64008" cy="512064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27"/>
          <p:cNvSpPr/>
          <p:nvPr/>
        </p:nvSpPr>
        <p:spPr>
          <a:xfrm>
            <a:off x="493776" y="373075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local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1737360" y="37673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réponses sont enregistrées dans la base SQLite interne de KoboCollect. Aucune limite de soumissions en attente.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4800600" y="3694176"/>
            <a:ext cx="420624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0"/>
          <p:cNvSpPr/>
          <p:nvPr/>
        </p:nvSpPr>
        <p:spPr>
          <a:xfrm>
            <a:off x="4800600" y="3694176"/>
            <a:ext cx="64008" cy="51206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1"/>
          <p:cNvSpPr/>
          <p:nvPr/>
        </p:nvSpPr>
        <p:spPr>
          <a:xfrm>
            <a:off x="4928616" y="373075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d'envoi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6172200" y="37673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« Envoyer les formulaires finalisés » → liste toutes les soumissions prêtes. Envoi manuel ou automatique.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365760" y="4279392"/>
            <a:ext cx="420624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4"/>
          <p:cNvSpPr/>
          <p:nvPr/>
        </p:nvSpPr>
        <p:spPr>
          <a:xfrm>
            <a:off x="365760" y="4279392"/>
            <a:ext cx="64008" cy="51206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5"/>
          <p:cNvSpPr/>
          <p:nvPr/>
        </p:nvSpPr>
        <p:spPr>
          <a:xfrm>
            <a:off x="493776" y="43159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auto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1737360" y="43525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KoboCollect peut être configuré pour synchroniser automatiquement dès qu'une connexion Wi-Fi est détectée.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4800600" y="4279392"/>
            <a:ext cx="420624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4" name="Shape 38"/>
          <p:cNvSpPr/>
          <p:nvPr/>
        </p:nvSpPr>
        <p:spPr>
          <a:xfrm>
            <a:off x="4800600" y="4279392"/>
            <a:ext cx="64008" cy="512064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39"/>
          <p:cNvSpPr/>
          <p:nvPr/>
        </p:nvSpPr>
        <p:spPr>
          <a:xfrm>
            <a:off x="4928616" y="43159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Conflits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6172200" y="43525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formulaire a été mis à jour (nouvelle version) entre le téléchargement et la soumission, Kobo gère automatiquement la compatibilité.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9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courantes — Collecte terrain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Pièges fréquents des enquêteurs débutants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64008" cy="113385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0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95528" y="13533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Oublier de finaliser avant d'envoyer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11480" y="1700784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KoboCollect sépare l'enregistrement (brouillon) et l'envoi (finalisé). Remplir sans finaliser = données jamais envoyées.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2157984"/>
            <a:ext cx="4005072" cy="201168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48056" y="21762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Toujours cocher « Finaliser » à la fin avant d'envoyer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54880" y="1280160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754880" y="1280160"/>
            <a:ext cx="64008" cy="113385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71600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30368" y="13533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pris en intérieur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846320" y="1700784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précision peut atteindre 50+ mètres en intérieur. Les coordonnées seront incorrectes sur la carte.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846320" y="2157984"/>
            <a:ext cx="4005072" cy="201168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4882896" y="21762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Sortir à l'air libre · Attendre accuracy &lt; 10 m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20040" y="2487168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0"/>
          <p:cNvSpPr/>
          <p:nvPr/>
        </p:nvSpPr>
        <p:spPr>
          <a:xfrm>
            <a:off x="320040" y="2487168"/>
            <a:ext cx="64008" cy="113385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78608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95528" y="25603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synchroniser avant la fin de batterie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411480" y="290779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brouillons et finalisés non envoyés peuvent être perdus si la batterie meurt et l'application plante.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11480" y="3364992"/>
            <a:ext cx="4005072" cy="201168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4"/>
          <p:cNvSpPr/>
          <p:nvPr/>
        </p:nvSpPr>
        <p:spPr>
          <a:xfrm>
            <a:off x="448056" y="33832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Synchroniser après chaque 5–10 soumissions finalisées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4754880" y="2487168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6"/>
          <p:cNvSpPr/>
          <p:nvPr/>
        </p:nvSpPr>
        <p:spPr>
          <a:xfrm>
            <a:off x="4754880" y="2487168"/>
            <a:ext cx="64008" cy="113385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578608"/>
            <a:ext cx="292608" cy="29260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230368" y="25603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les questions pendant la collecte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4846320" y="290779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Re-déployer un formulaire pendant une campagne active crée une rupture de version. Les collecteurs avec l'ancienne version peuvent avoir des conflits.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4846320" y="3364992"/>
            <a:ext cx="4005072" cy="201168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0"/>
          <p:cNvSpPr/>
          <p:nvPr/>
        </p:nvSpPr>
        <p:spPr>
          <a:xfrm>
            <a:off x="4882896" y="33832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Figer le formulaire avant le départ terrain · Modification = fin de campagne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320040" y="3694176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2"/>
          <p:cNvSpPr/>
          <p:nvPr/>
        </p:nvSpPr>
        <p:spPr>
          <a:xfrm>
            <a:off x="320040" y="3694176"/>
            <a:ext cx="64008" cy="1133856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785616"/>
            <a:ext cx="292608" cy="29260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95528" y="376732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le lien Online sur terrain sans réseau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411480" y="411480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lien Enketo Online-Only ne fonctionne pas sans connexion. Le formulaire ne s'affiche pas.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411480" y="4572000"/>
            <a:ext cx="4005072" cy="201168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36"/>
          <p:cNvSpPr/>
          <p:nvPr/>
        </p:nvSpPr>
        <p:spPr>
          <a:xfrm>
            <a:off x="448056" y="459028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Toujours utiliser le lien #offline ou KoboCollect pour les zones sans réseau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4754880" y="3694176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38"/>
          <p:cNvSpPr/>
          <p:nvPr/>
        </p:nvSpPr>
        <p:spPr>
          <a:xfrm>
            <a:off x="4754880" y="3694176"/>
            <a:ext cx="64008" cy="113385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785616"/>
            <a:ext cx="292608" cy="292608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230368" y="376732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KoboCollect sans synchroniser</a:t>
            </a:r>
            <a:endParaRPr lang="en-US" sz="1150" dirty="0"/>
          </a:p>
        </p:txBody>
      </p:sp>
      <p:sp>
        <p:nvSpPr>
          <p:cNvPr id="48" name="Text 40"/>
          <p:cNvSpPr/>
          <p:nvPr/>
        </p:nvSpPr>
        <p:spPr>
          <a:xfrm>
            <a:off x="4846320" y="411480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Désinstaller ou effacer les données de KoboCollect supprime définitivement tous les brouillons et finalisés non envoyés.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4846320" y="4572000"/>
            <a:ext cx="4005072" cy="201168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2"/>
          <p:cNvSpPr/>
          <p:nvPr/>
        </p:nvSpPr>
        <p:spPr>
          <a:xfrm>
            <a:off x="4882896" y="459028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Vérifier que toutes les soumissions sont envoyées avant toute suppression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9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collecte terrain — Enquêteurs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chaque enquêteur doit vérifier avant de partir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distribuer à l'équipe avant chaque campagne de collecte 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27632"/>
            <a:ext cx="85039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627632"/>
            <a:ext cx="45720" cy="29260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84048" y="1664208"/>
            <a:ext cx="822960" cy="20116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84048" y="16642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Appareil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61872" y="168249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 &gt; 80% · Stockage disponible &gt; 1 Go · Coques de protection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956816"/>
            <a:ext cx="8503920" cy="292608"/>
          </a:xfrm>
          <a:prstGeom prst="rect">
            <a:avLst/>
          </a:prstGeom>
          <a:solidFill>
            <a:srgbClr val="E9F7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20040" y="1956816"/>
            <a:ext cx="45720" cy="29260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84048" y="1993392"/>
            <a:ext cx="822960" cy="20116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84048" y="19933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KoboCollect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261872" y="201168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à jour · URL serveur configurée · Formulaire(s) téléchargé(s)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286000"/>
            <a:ext cx="85039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" y="2286000"/>
            <a:ext cx="45720" cy="29260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84048" y="2322576"/>
            <a:ext cx="822960" cy="20116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84048" y="23225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Connexion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261872" y="234086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connexion au départ · SIM avec data si terrain 4G disponible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615184"/>
            <a:ext cx="8503920" cy="292608"/>
          </a:xfrm>
          <a:prstGeom prst="rect">
            <a:avLst/>
          </a:prstGeom>
          <a:solidFill>
            <a:srgbClr val="E9F7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20040" y="2615184"/>
            <a:ext cx="45720" cy="29260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84048" y="2651760"/>
            <a:ext cx="822960" cy="20116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84048" y="26517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261872" y="267004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GPS haute précision · Tester en extérieur avant départ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2944368"/>
            <a:ext cx="85039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20040" y="2944368"/>
            <a:ext cx="45720" cy="29260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84048" y="2980944"/>
            <a:ext cx="822960" cy="20116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84048" y="29809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Formulaire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261872" y="299923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Remplir une soumission test et l'envoyer — confirmer réception dans Kobo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273552"/>
            <a:ext cx="8503920" cy="292608"/>
          </a:xfrm>
          <a:prstGeom prst="rect">
            <a:avLst/>
          </a:prstGeom>
          <a:solidFill>
            <a:srgbClr val="E9F7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320040" y="3273552"/>
            <a:ext cx="45720" cy="29260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384048" y="3310128"/>
            <a:ext cx="822960" cy="20116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384048" y="33101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Lien/QR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261872" y="332841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 lien Enketo Offline dans le navigateur si backup nécessaire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3602736"/>
            <a:ext cx="85039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320040" y="3602736"/>
            <a:ext cx="45720" cy="29260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384048" y="3639312"/>
            <a:ext cx="822960" cy="20116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384048" y="36393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Protocole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61872" y="365760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Avoir les instructions de collecte et les zones d'enquête assignées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3931920"/>
            <a:ext cx="8503920" cy="292608"/>
          </a:xfrm>
          <a:prstGeom prst="rect">
            <a:avLst/>
          </a:prstGeom>
          <a:solidFill>
            <a:srgbClr val="E9F7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320040" y="3931920"/>
            <a:ext cx="45720" cy="29260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384048" y="3968496"/>
            <a:ext cx="822960" cy="20116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384048" y="396849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Contacts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261872" y="39867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du superviseur · WhatsApp groupe équipe · Procédure en cas d'erreur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4261104"/>
            <a:ext cx="85039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320040" y="4261104"/>
            <a:ext cx="45720" cy="29260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384048" y="4297680"/>
            <a:ext cx="822960" cy="20116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384048" y="42976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Brouillons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261872" y="431596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qu'il n'y a aucun brouillon en attente d'une campagne précédente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20040" y="4590288"/>
            <a:ext cx="8503920" cy="292608"/>
          </a:xfrm>
          <a:prstGeom prst="rect">
            <a:avLst/>
          </a:prstGeom>
          <a:solidFill>
            <a:srgbClr val="E9F7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320040" y="4590288"/>
            <a:ext cx="45720" cy="2926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384048" y="4626864"/>
            <a:ext cx="822960" cy="20116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384048" y="46268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À éviter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261872" y="46451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modifier le formulaire · Ne pas désinstaller KoboCollect · Ne pas éteindre sans sync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avancés KoboCollect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pour usage professionnel terrain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20624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64008" cy="1261872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8988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32104" y="13533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automatique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1755648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→ Gestion du serveur → « Mise à jour automatique du formulaire »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KoboCollect vérifie les nouvelles versions au démarrage.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2231136"/>
            <a:ext cx="4005072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48056" y="224942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update = ON (recommandé pour campagnes longues)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754880" y="1261872"/>
            <a:ext cx="420624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754880" y="1261872"/>
            <a:ext cx="64008" cy="126187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89888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66944" y="13533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automatique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46320" y="1755648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→ Gestion du serveur → « Envoi automatique »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formulaires finalisés sont envoyés dès qu'une connexion est détectée.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846320" y="2231136"/>
            <a:ext cx="4005072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4882896" y="224942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send = ON via Wi-Fi (économise la data mobile)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320040" y="2651760"/>
            <a:ext cx="420624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0"/>
          <p:cNvSpPr/>
          <p:nvPr/>
        </p:nvSpPr>
        <p:spPr>
          <a:xfrm>
            <a:off x="320040" y="2651760"/>
            <a:ext cx="64008" cy="1261872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779776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32104" y="2743200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 GPS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11480" y="3145536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formulaire Kobo, ajouter accuracy_threshold = 10 dans les paramètres de la question geopoint.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11480" y="3621024"/>
            <a:ext cx="4005072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4"/>
          <p:cNvSpPr/>
          <p:nvPr/>
        </p:nvSpPr>
        <p:spPr>
          <a:xfrm>
            <a:off x="448056" y="363931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accuracy_threshold = 10 (bloque si précision &gt; 10 m)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4754880" y="2651760"/>
            <a:ext cx="420624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6"/>
          <p:cNvSpPr/>
          <p:nvPr/>
        </p:nvSpPr>
        <p:spPr>
          <a:xfrm>
            <a:off x="4754880" y="2651760"/>
            <a:ext cx="64008" cy="126187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779776"/>
            <a:ext cx="329184" cy="32918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266944" y="2743200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Verrouillage de l'interface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4846320" y="3145536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→ Accès admin → Définir un code PIN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Empêche les enquêteurs de modifier les paramètres serveur.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4846320" y="3621024"/>
            <a:ext cx="4005072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0"/>
          <p:cNvSpPr/>
          <p:nvPr/>
        </p:nvSpPr>
        <p:spPr>
          <a:xfrm>
            <a:off x="4882896" y="363931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PIN = activer pour usage terrain sécurisé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320040" y="4041648"/>
            <a:ext cx="420624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2"/>
          <p:cNvSpPr/>
          <p:nvPr/>
        </p:nvSpPr>
        <p:spPr>
          <a:xfrm>
            <a:off x="320040" y="4041648"/>
            <a:ext cx="64008" cy="1261872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169664"/>
            <a:ext cx="329184" cy="32918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832104" y="4133088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économie batterie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411480" y="4535424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Désactiver le Wi-Fi et la data entre les interviews. Activer le mode avion avec GPS activé manuellement.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411480" y="5010912"/>
            <a:ext cx="4005072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36"/>
          <p:cNvSpPr/>
          <p:nvPr/>
        </p:nvSpPr>
        <p:spPr>
          <a:xfrm>
            <a:off x="448056" y="502920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terrain : Wi-Fi activé seulement pour la sync</a:t>
            </a:r>
            <a:endParaRPr lang="en-US" sz="800" dirty="0"/>
          </a:p>
        </p:txBody>
      </p:sp>
      <p:sp>
        <p:nvSpPr>
          <p:cNvPr id="44" name="Shape 37"/>
          <p:cNvSpPr/>
          <p:nvPr/>
        </p:nvSpPr>
        <p:spPr>
          <a:xfrm>
            <a:off x="4754880" y="4041648"/>
            <a:ext cx="420624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38"/>
          <p:cNvSpPr/>
          <p:nvPr/>
        </p:nvSpPr>
        <p:spPr>
          <a:xfrm>
            <a:off x="4754880" y="4041648"/>
            <a:ext cx="64008" cy="1261872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4169664"/>
            <a:ext cx="329184" cy="32918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266944" y="4133088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d'activité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4846320" y="4535424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→ Journal des envois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 des soumissions envoyées avec horodatage.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4846320" y="5010912"/>
            <a:ext cx="4005072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2"/>
          <p:cNvSpPr/>
          <p:nvPr/>
        </p:nvSpPr>
        <p:spPr>
          <a:xfrm>
            <a:off x="4882896" y="502920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 journal en fin de journée terrain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9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de décision — KoboCollect ou Enketo 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le bon outil selon la situation terrain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Répondre à ces 4 questions pour choisir le meilleur mode de collecte 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27632"/>
            <a:ext cx="8503920" cy="621792"/>
          </a:xfrm>
          <a:prstGeom prst="rect">
            <a:avLst/>
          </a:prstGeom>
          <a:solidFill>
            <a:srgbClr val="F8FFFE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627632"/>
            <a:ext cx="64008" cy="621792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57200" y="16824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L'appareil est-il Android 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682496"/>
            <a:ext cx="1828800" cy="219456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700016" y="1700784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→ → KoboCollect disponible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565392" y="1682496"/>
            <a:ext cx="2139696" cy="21945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601968" y="1700784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→ → iOS/PC → Enketo obligatoire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322576"/>
            <a:ext cx="8503920" cy="621792"/>
          </a:xfrm>
          <a:prstGeom prst="rect">
            <a:avLst/>
          </a:prstGeom>
          <a:solidFill>
            <a:srgbClr val="F8FFFE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0040" y="2322576"/>
            <a:ext cx="64008" cy="621792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7200" y="2377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Y a-t-il du réseau sur le terrain 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377440"/>
            <a:ext cx="1828800" cy="219456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700016" y="2395728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→ Online ou Offline OK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65392" y="2377440"/>
            <a:ext cx="2139696" cy="21945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601968" y="239572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→ → KoboCollect ou Enketo Offline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3017520"/>
            <a:ext cx="8503920" cy="621792"/>
          </a:xfrm>
          <a:prstGeom prst="rect">
            <a:avLst/>
          </a:prstGeom>
          <a:solidFill>
            <a:srgbClr val="F8FFFE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3017520"/>
            <a:ext cx="64008" cy="621792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30723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Y a-t-il beaucoup de formulaires à remplir 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3072384"/>
            <a:ext cx="1828800" cy="219456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700016" y="309067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→ → KoboCollect recommandé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565392" y="3072384"/>
            <a:ext cx="2139696" cy="21945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601968" y="3090672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→ → Enketo suffit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3712464"/>
            <a:ext cx="8503920" cy="621792"/>
          </a:xfrm>
          <a:prstGeom prst="rect">
            <a:avLst/>
          </a:prstGeom>
          <a:solidFill>
            <a:srgbClr val="F8FFFE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20040" y="3712464"/>
            <a:ext cx="64008" cy="621792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57200" y="37673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La collecte dure plus d'une semaine ?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3767328"/>
            <a:ext cx="1828800" cy="219456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700016" y="378561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→ → KoboCollect (sync auto)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565392" y="3767328"/>
            <a:ext cx="2139696" cy="21945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6601968" y="3785616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→ → Enketo OK pour courte durée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" y="4517136"/>
            <a:ext cx="4005072" cy="47548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02336" y="4535424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KoboCollect recommandé si 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02336" y="475488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Terrain hors ligne · Campagne longue · Grande équipe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462272" y="4517136"/>
            <a:ext cx="4361688" cy="47548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535424" y="4535424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Enketo recommandé si 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35424" y="4754880"/>
            <a:ext cx="4224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iOS/PC · Test rapide · Petite équipe · Pas d'installation possible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217920" y="-457200"/>
            <a:ext cx="4114800" cy="68580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 rot="900000">
            <a:off x="6858000" y="-457200"/>
            <a:ext cx="4114800" cy="6858000"/>
          </a:xfrm>
          <a:prstGeom prst="rect">
            <a:avLst/>
          </a:prstGeom>
          <a:solidFill>
            <a:srgbClr val="0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926080" cy="38404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VIDÉO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12 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&amp;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soumissions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32004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B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Voir les soumissions en temps réel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51129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B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Modifier ou supprimer une entrée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8221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B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Ajouter des médias à une soumission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B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Filtrer et rechercher les réponses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4439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B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Identifier et gérer les doublons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Abonnez-vous pour ne pas manquer la suite !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49194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· Commentaire · Partage — ça aide vraiment 🙌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1310</Words>
  <Application>Microsoft Office PowerPoint</Application>
  <PresentationFormat>Affichage à l'écran (16:9)</PresentationFormat>
  <Paragraphs>205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KoboToolbox – Module 7 : Collecte de données sur le terrain</dc:title>
  <dc:subject>PptxGenJS Presentation</dc:subject>
  <dc:creator>PptxGenJS</dc:creator>
  <cp:lastModifiedBy>Fabien Nacheley</cp:lastModifiedBy>
  <cp:revision>1</cp:revision>
  <dcterms:created xsi:type="dcterms:W3CDTF">2026-03-22T18:42:05Z</dcterms:created>
  <dcterms:modified xsi:type="dcterms:W3CDTF">2026-04-21T12:47:10Z</dcterms:modified>
</cp:coreProperties>
</file>