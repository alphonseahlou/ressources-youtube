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7A33D5-0DB1-4397-999F-51EA2CCF03E9}" v="2" dt="2026-03-29T20:51:47.4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5" d="100"/>
          <a:sy n="55" d="100"/>
        </p:scale>
        <p:origin x="53"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lou Alphonse Euphreme" userId="f12afe77-4db7-47e3-b604-bb0d456a5c02" providerId="ADAL" clId="{4890F534-C102-41F9-978A-E7DBDB1CFE02}"/>
    <pc:docChg chg="modSld">
      <pc:chgData name="Ahlou Alphonse Euphreme" userId="f12afe77-4db7-47e3-b604-bb0d456a5c02" providerId="ADAL" clId="{4890F534-C102-41F9-978A-E7DBDB1CFE02}" dt="2026-03-29T19:14:07.571" v="16" actId="20577"/>
      <pc:docMkLst>
        <pc:docMk/>
      </pc:docMkLst>
      <pc:sldChg chg="addSp modSp mod">
        <pc:chgData name="Ahlou Alphonse Euphreme" userId="f12afe77-4db7-47e3-b604-bb0d456a5c02" providerId="ADAL" clId="{4890F534-C102-41F9-978A-E7DBDB1CFE02}" dt="2026-03-29T18:28:12.133" v="4" actId="14100"/>
        <pc:sldMkLst>
          <pc:docMk/>
          <pc:sldMk cId="0" sldId="257"/>
        </pc:sldMkLst>
        <pc:picChg chg="add mod">
          <ac:chgData name="Ahlou Alphonse Euphreme" userId="f12afe77-4db7-47e3-b604-bb0d456a5c02" providerId="ADAL" clId="{4890F534-C102-41F9-978A-E7DBDB1CFE02}" dt="2026-03-29T18:28:12.133" v="4" actId="14100"/>
          <ac:picMkLst>
            <pc:docMk/>
            <pc:sldMk cId="0" sldId="257"/>
            <ac:picMk id="37" creationId="{031C26B2-8BC8-2C50-0ACF-83512942288F}"/>
          </ac:picMkLst>
        </pc:picChg>
      </pc:sldChg>
      <pc:sldChg chg="modAnim">
        <pc:chgData name="Ahlou Alphonse Euphreme" userId="f12afe77-4db7-47e3-b604-bb0d456a5c02" providerId="ADAL" clId="{4890F534-C102-41F9-978A-E7DBDB1CFE02}" dt="2026-03-29T18:56:33.145" v="5"/>
        <pc:sldMkLst>
          <pc:docMk/>
          <pc:sldMk cId="0" sldId="259"/>
        </pc:sldMkLst>
      </pc:sldChg>
      <pc:sldChg chg="modSp mod">
        <pc:chgData name="Ahlou Alphonse Euphreme" userId="f12afe77-4db7-47e3-b604-bb0d456a5c02" providerId="ADAL" clId="{4890F534-C102-41F9-978A-E7DBDB1CFE02}" dt="2026-03-29T19:14:07.571" v="16" actId="20577"/>
        <pc:sldMkLst>
          <pc:docMk/>
          <pc:sldMk cId="0" sldId="268"/>
        </pc:sldMkLst>
        <pc:spChg chg="mod">
          <ac:chgData name="Ahlou Alphonse Euphreme" userId="f12afe77-4db7-47e3-b604-bb0d456a5c02" providerId="ADAL" clId="{4890F534-C102-41F9-978A-E7DBDB1CFE02}" dt="2026-03-29T19:14:07.571" v="16" actId="20577"/>
          <ac:spMkLst>
            <pc:docMk/>
            <pc:sldMk cId="0" sldId="268"/>
            <ac:spMk id="27" creationId="{00000000-0000-0000-0000-000000000000}"/>
          </ac:spMkLst>
        </pc:spChg>
      </pc:sldChg>
    </pc:docChg>
  </pc:docChgLst>
  <pc:docChgLst>
    <pc:chgData name="Ahlou Alphonse Euphreme" userId="f12afe77-4db7-47e3-b604-bb0d456a5c02" providerId="ADAL" clId="{5735D98A-5E9D-45E5-9858-B2F8FC0FB54C}"/>
    <pc:docChg chg="undo custSel modSld">
      <pc:chgData name="Ahlou Alphonse Euphreme" userId="f12afe77-4db7-47e3-b604-bb0d456a5c02" providerId="ADAL" clId="{5735D98A-5E9D-45E5-9858-B2F8FC0FB54C}" dt="2026-03-29T20:51:47.473" v="18"/>
      <pc:docMkLst>
        <pc:docMk/>
      </pc:docMkLst>
      <pc:sldChg chg="modSp mod">
        <pc:chgData name="Ahlou Alphonse Euphreme" userId="f12afe77-4db7-47e3-b604-bb0d456a5c02" providerId="ADAL" clId="{5735D98A-5E9D-45E5-9858-B2F8FC0FB54C}" dt="2026-03-29T17:29:24.132" v="2" actId="1076"/>
        <pc:sldMkLst>
          <pc:docMk/>
          <pc:sldMk cId="0" sldId="257"/>
        </pc:sldMkLst>
        <pc:spChg chg="mod">
          <ac:chgData name="Ahlou Alphonse Euphreme" userId="f12afe77-4db7-47e3-b604-bb0d456a5c02" providerId="ADAL" clId="{5735D98A-5E9D-45E5-9858-B2F8FC0FB54C}" dt="2026-03-29T17:29:24.132" v="2" actId="1076"/>
          <ac:spMkLst>
            <pc:docMk/>
            <pc:sldMk cId="0" sldId="257"/>
            <ac:spMk id="2" creationId="{00000000-0000-0000-0000-000000000000}"/>
          </ac:spMkLst>
        </pc:spChg>
        <pc:spChg chg="mod">
          <ac:chgData name="Ahlou Alphonse Euphreme" userId="f12afe77-4db7-47e3-b604-bb0d456a5c02" providerId="ADAL" clId="{5735D98A-5E9D-45E5-9858-B2F8FC0FB54C}" dt="2026-03-29T17:29:22.727" v="1" actId="20577"/>
          <ac:spMkLst>
            <pc:docMk/>
            <pc:sldMk cId="0" sldId="257"/>
            <ac:spMk id="11" creationId="{00000000-0000-0000-0000-000000000000}"/>
          </ac:spMkLst>
        </pc:spChg>
      </pc:sldChg>
      <pc:sldChg chg="modSp mod">
        <pc:chgData name="Ahlou Alphonse Euphreme" userId="f12afe77-4db7-47e3-b604-bb0d456a5c02" providerId="ADAL" clId="{5735D98A-5E9D-45E5-9858-B2F8FC0FB54C}" dt="2026-03-29T17:30:14.857" v="16" actId="1036"/>
        <pc:sldMkLst>
          <pc:docMk/>
          <pc:sldMk cId="0" sldId="259"/>
        </pc:sldMkLst>
        <pc:spChg chg="mod">
          <ac:chgData name="Ahlou Alphonse Euphreme" userId="f12afe77-4db7-47e3-b604-bb0d456a5c02" providerId="ADAL" clId="{5735D98A-5E9D-45E5-9858-B2F8FC0FB54C}" dt="2026-03-29T17:30:09.017" v="4" actId="1076"/>
          <ac:spMkLst>
            <pc:docMk/>
            <pc:sldMk cId="0" sldId="259"/>
            <ac:spMk id="18" creationId="{00000000-0000-0000-0000-000000000000}"/>
          </ac:spMkLst>
        </pc:spChg>
        <pc:spChg chg="mod">
          <ac:chgData name="Ahlou Alphonse Euphreme" userId="f12afe77-4db7-47e3-b604-bb0d456a5c02" providerId="ADAL" clId="{5735D98A-5E9D-45E5-9858-B2F8FC0FB54C}" dt="2026-03-29T17:30:14.857" v="16" actId="1036"/>
          <ac:spMkLst>
            <pc:docMk/>
            <pc:sldMk cId="0" sldId="259"/>
            <ac:spMk id="21" creationId="{00000000-0000-0000-0000-000000000000}"/>
          </ac:spMkLst>
        </pc:spChg>
      </pc:sldChg>
      <pc:sldChg chg="modSp mod">
        <pc:chgData name="Ahlou Alphonse Euphreme" userId="f12afe77-4db7-47e3-b604-bb0d456a5c02" providerId="ADAL" clId="{5735D98A-5E9D-45E5-9858-B2F8FC0FB54C}" dt="2026-03-29T20:51:47.473" v="18"/>
        <pc:sldMkLst>
          <pc:docMk/>
          <pc:sldMk cId="0" sldId="269"/>
        </pc:sldMkLst>
        <pc:spChg chg="mod">
          <ac:chgData name="Ahlou Alphonse Euphreme" userId="f12afe77-4db7-47e3-b604-bb0d456a5c02" providerId="ADAL" clId="{5735D98A-5E9D-45E5-9858-B2F8FC0FB54C}" dt="2026-03-29T20:51:47.473" v="18"/>
          <ac:spMkLst>
            <pc:docMk/>
            <pc:sldMk cId="0" sldId="269"/>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781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5.png"/><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rot="1080000">
            <a:off x="6583680" y="-731520"/>
            <a:ext cx="3657600" cy="6858000"/>
          </a:xfrm>
          <a:prstGeom prst="rect">
            <a:avLst/>
          </a:prstGeom>
          <a:solidFill>
            <a:srgbClr val="112240"/>
          </a:solidFill>
          <a:ln/>
        </p:spPr>
        <p:txBody>
          <a:bodyPr/>
          <a:lstStyle/>
          <a:p>
            <a:endParaRPr lang="fr-FR"/>
          </a:p>
        </p:txBody>
      </p:sp>
      <p:sp>
        <p:nvSpPr>
          <p:cNvPr id="3" name="Shape 1"/>
          <p:cNvSpPr/>
          <p:nvPr/>
        </p:nvSpPr>
        <p:spPr>
          <a:xfrm rot="1080000">
            <a:off x="7315200" y="-731520"/>
            <a:ext cx="3657600" cy="6858000"/>
          </a:xfrm>
          <a:prstGeom prst="rect">
            <a:avLst/>
          </a:prstGeom>
          <a:solidFill>
            <a:srgbClr val="0C1E38"/>
          </a:solidFill>
          <a:ln/>
        </p:spPr>
        <p:txBody>
          <a:bodyPr/>
          <a:lstStyle/>
          <a:p>
            <a:endParaRPr lang="fr-FR"/>
          </a:p>
        </p:txBody>
      </p:sp>
      <p:sp>
        <p:nvSpPr>
          <p:cNvPr id="4" name="Shape 2"/>
          <p:cNvSpPr/>
          <p:nvPr/>
        </p:nvSpPr>
        <p:spPr>
          <a:xfrm>
            <a:off x="0" y="0"/>
            <a:ext cx="201168" cy="5143500"/>
          </a:xfrm>
          <a:prstGeom prst="rect">
            <a:avLst/>
          </a:prstGeom>
          <a:solidFill>
            <a:srgbClr val="C9A84C"/>
          </a:solidFill>
          <a:ln/>
        </p:spPr>
        <p:txBody>
          <a:bodyPr/>
          <a:lstStyle/>
          <a:p>
            <a:endParaRPr lang="fr-FR"/>
          </a:p>
        </p:txBody>
      </p:sp>
      <p:sp>
        <p:nvSpPr>
          <p:cNvPr id="5" name="Shape 3"/>
          <p:cNvSpPr/>
          <p:nvPr/>
        </p:nvSpPr>
        <p:spPr>
          <a:xfrm>
            <a:off x="475488" y="420624"/>
            <a:ext cx="2926080" cy="310896"/>
          </a:xfrm>
          <a:prstGeom prst="rect">
            <a:avLst/>
          </a:prstGeom>
          <a:solidFill>
            <a:srgbClr val="C9A84C"/>
          </a:solidFill>
          <a:ln/>
        </p:spPr>
        <p:txBody>
          <a:bodyPr/>
          <a:lstStyle/>
          <a:p>
            <a:endParaRPr lang="fr-FR"/>
          </a:p>
        </p:txBody>
      </p:sp>
      <p:sp>
        <p:nvSpPr>
          <p:cNvPr id="6" name="Text 4"/>
          <p:cNvSpPr/>
          <p:nvPr/>
        </p:nvSpPr>
        <p:spPr>
          <a:xfrm>
            <a:off x="475488" y="420624"/>
            <a:ext cx="2926080" cy="310896"/>
          </a:xfrm>
          <a:prstGeom prst="rect">
            <a:avLst/>
          </a:prstGeom>
          <a:noFill/>
          <a:ln/>
        </p:spPr>
        <p:txBody>
          <a:bodyPr wrap="square" lIns="0" tIns="0" rIns="0" bIns="0" rtlCol="0" anchor="ctr"/>
          <a:lstStyle/>
          <a:p>
            <a:pPr marL="0" indent="0" algn="ctr">
              <a:buNone/>
            </a:pPr>
            <a:r>
              <a:rPr lang="en-US" sz="900" b="1" kern="0" spc="200">
                <a:solidFill>
                  <a:srgbClr val="0A1628"/>
                </a:solidFill>
                <a:latin typeface="Calibri" pitchFamily="34" charset="0"/>
                <a:ea typeface="Calibri" pitchFamily="34" charset="-122"/>
                <a:cs typeface="Calibri" pitchFamily="34" charset="-120"/>
              </a:rPr>
              <a:t>SÉRIE COMPLÈTE  ·  12 MODULES  ·  18 VIDÉOS</a:t>
            </a:r>
            <a:endParaRPr lang="en-US" sz="900"/>
          </a:p>
        </p:txBody>
      </p:sp>
      <p:sp>
        <p:nvSpPr>
          <p:cNvPr id="7" name="Text 5"/>
          <p:cNvSpPr/>
          <p:nvPr/>
        </p:nvSpPr>
        <p:spPr>
          <a:xfrm>
            <a:off x="475488" y="822960"/>
            <a:ext cx="7315200" cy="822960"/>
          </a:xfrm>
          <a:prstGeom prst="rect">
            <a:avLst/>
          </a:prstGeom>
          <a:noFill/>
          <a:ln/>
        </p:spPr>
        <p:txBody>
          <a:bodyPr wrap="square" lIns="0" tIns="0" rIns="0" bIns="0" rtlCol="0" anchor="ctr"/>
          <a:lstStyle/>
          <a:p>
            <a:pPr marL="0" indent="0">
              <a:buNone/>
            </a:pPr>
            <a:r>
              <a:rPr lang="en-US" sz="5400" b="1">
                <a:solidFill>
                  <a:srgbClr val="FFFFFF"/>
                </a:solidFill>
                <a:latin typeface="Calibri" pitchFamily="34" charset="0"/>
                <a:ea typeface="Calibri" pitchFamily="34" charset="-122"/>
                <a:cs typeface="Calibri" pitchFamily="34" charset="-120"/>
              </a:rPr>
              <a:t>KoboToolbox</a:t>
            </a:r>
            <a:endParaRPr lang="en-US" sz="5400"/>
          </a:p>
        </p:txBody>
      </p:sp>
      <p:sp>
        <p:nvSpPr>
          <p:cNvPr id="8" name="Text 6"/>
          <p:cNvSpPr/>
          <p:nvPr/>
        </p:nvSpPr>
        <p:spPr>
          <a:xfrm>
            <a:off x="475488" y="1627632"/>
            <a:ext cx="6400800" cy="749808"/>
          </a:xfrm>
          <a:prstGeom prst="rect">
            <a:avLst/>
          </a:prstGeom>
          <a:noFill/>
          <a:ln/>
        </p:spPr>
        <p:txBody>
          <a:bodyPr wrap="square" lIns="0" tIns="0" rIns="0" bIns="0" rtlCol="0" anchor="ctr"/>
          <a:lstStyle/>
          <a:p>
            <a:pPr marL="0" indent="0">
              <a:buNone/>
            </a:pPr>
            <a:r>
              <a:rPr lang="en-US" sz="4800" b="1">
                <a:solidFill>
                  <a:srgbClr val="F0C060"/>
                </a:solidFill>
                <a:latin typeface="Calibri" pitchFamily="34" charset="0"/>
                <a:ea typeface="Calibri" pitchFamily="34" charset="-122"/>
                <a:cs typeface="Calibri" pitchFamily="34" charset="-120"/>
              </a:rPr>
              <a:t>de A à Z</a:t>
            </a:r>
            <a:endParaRPr lang="en-US" sz="4800"/>
          </a:p>
        </p:txBody>
      </p:sp>
      <p:sp>
        <p:nvSpPr>
          <p:cNvPr id="9" name="Text 7"/>
          <p:cNvSpPr/>
          <p:nvPr/>
        </p:nvSpPr>
        <p:spPr>
          <a:xfrm>
            <a:off x="475488" y="2487168"/>
            <a:ext cx="7315200" cy="365760"/>
          </a:xfrm>
          <a:prstGeom prst="rect">
            <a:avLst/>
          </a:prstGeom>
          <a:noFill/>
          <a:ln/>
        </p:spPr>
        <p:txBody>
          <a:bodyPr wrap="square" lIns="0" tIns="0" rIns="0" bIns="0" rtlCol="0" anchor="ctr"/>
          <a:lstStyle/>
          <a:p>
            <a:pPr marL="0" indent="0">
              <a:buNone/>
            </a:pPr>
            <a:r>
              <a:rPr lang="en-US" sz="1600" i="1">
                <a:solidFill>
                  <a:srgbClr val="AABBCC"/>
                </a:solidFill>
                <a:latin typeface="Calibri" pitchFamily="34" charset="0"/>
                <a:ea typeface="Calibri" pitchFamily="34" charset="-122"/>
                <a:cs typeface="Calibri" pitchFamily="34" charset="-120"/>
              </a:rPr>
              <a:t>La formation complète · Du débutant au professionnel</a:t>
            </a:r>
            <a:endParaRPr lang="en-US" sz="1600"/>
          </a:p>
        </p:txBody>
      </p:sp>
      <p:sp>
        <p:nvSpPr>
          <p:cNvPr id="10" name="Shape 8"/>
          <p:cNvSpPr/>
          <p:nvPr/>
        </p:nvSpPr>
        <p:spPr>
          <a:xfrm>
            <a:off x="475488" y="3127248"/>
            <a:ext cx="2194560" cy="137160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1" name="Shape 9"/>
          <p:cNvSpPr/>
          <p:nvPr/>
        </p:nvSpPr>
        <p:spPr>
          <a:xfrm>
            <a:off x="475488" y="3127248"/>
            <a:ext cx="2194560" cy="54864"/>
          </a:xfrm>
          <a:prstGeom prst="rect">
            <a:avLst/>
          </a:prstGeom>
          <a:solidFill>
            <a:srgbClr val="C9A84C"/>
          </a:solidFill>
          <a:ln/>
        </p:spPr>
        <p:txBody>
          <a:bodyPr/>
          <a:lstStyle/>
          <a:p>
            <a:endParaRPr lang="fr-FR"/>
          </a:p>
        </p:txBody>
      </p:sp>
      <p:pic>
        <p:nvPicPr>
          <p:cNvPr id="12" name="Image 0" descr="preencoded.png"/>
          <p:cNvPicPr>
            <a:picLocks noChangeAspect="1"/>
          </p:cNvPicPr>
          <p:nvPr/>
        </p:nvPicPr>
        <p:blipFill>
          <a:blip r:embed="rId3"/>
          <a:stretch>
            <a:fillRect/>
          </a:stretch>
        </p:blipFill>
        <p:spPr>
          <a:xfrm>
            <a:off x="566928" y="3236976"/>
            <a:ext cx="329184" cy="329184"/>
          </a:xfrm>
          <a:prstGeom prst="rect">
            <a:avLst/>
          </a:prstGeom>
        </p:spPr>
      </p:pic>
      <p:sp>
        <p:nvSpPr>
          <p:cNvPr id="13" name="Text 10"/>
          <p:cNvSpPr/>
          <p:nvPr/>
        </p:nvSpPr>
        <p:spPr>
          <a:xfrm>
            <a:off x="969264" y="3218688"/>
            <a:ext cx="1627632" cy="512064"/>
          </a:xfrm>
          <a:prstGeom prst="rect">
            <a:avLst/>
          </a:prstGeom>
          <a:noFill/>
          <a:ln/>
        </p:spPr>
        <p:txBody>
          <a:bodyPr wrap="square" lIns="0" tIns="0" rIns="0" bIns="0" rtlCol="0" anchor="ctr"/>
          <a:lstStyle/>
          <a:p>
            <a:pPr marL="0" indent="0">
              <a:lnSpc>
                <a:spcPct val="120000"/>
              </a:lnSpc>
              <a:buNone/>
            </a:pPr>
            <a:r>
              <a:rPr lang="en-US" sz="1400" b="1">
                <a:solidFill>
                  <a:srgbClr val="FFFFFF"/>
                </a:solidFill>
                <a:latin typeface="Calibri" pitchFamily="34" charset="0"/>
                <a:ea typeface="Calibri" pitchFamily="34" charset="-122"/>
                <a:cs typeface="Calibri" pitchFamily="34" charset="-120"/>
              </a:rPr>
              <a:t>100%</a:t>
            </a:r>
            <a:endParaRPr lang="en-US" sz="1400"/>
          </a:p>
          <a:p>
            <a:pPr marL="0" indent="0">
              <a:lnSpc>
                <a:spcPct val="120000"/>
              </a:lnSpc>
              <a:buNone/>
            </a:pPr>
            <a:r>
              <a:rPr lang="en-US" sz="1400" b="1">
                <a:solidFill>
                  <a:srgbClr val="FFFFFF"/>
                </a:solidFill>
                <a:latin typeface="Calibri" pitchFamily="34" charset="0"/>
                <a:ea typeface="Calibri" pitchFamily="34" charset="-122"/>
                <a:cs typeface="Calibri" pitchFamily="34" charset="-120"/>
              </a:rPr>
              <a:t>Gratuit</a:t>
            </a:r>
            <a:endParaRPr lang="en-US" sz="1400"/>
          </a:p>
        </p:txBody>
      </p:sp>
      <p:sp>
        <p:nvSpPr>
          <p:cNvPr id="14" name="Text 11"/>
          <p:cNvSpPr/>
          <p:nvPr/>
        </p:nvSpPr>
        <p:spPr>
          <a:xfrm>
            <a:off x="566928" y="3675888"/>
            <a:ext cx="2029968" cy="237744"/>
          </a:xfrm>
          <a:prstGeom prst="rect">
            <a:avLst/>
          </a:prstGeom>
          <a:noFill/>
          <a:ln/>
        </p:spPr>
        <p:txBody>
          <a:bodyPr wrap="square" lIns="0" tIns="0" rIns="0" bIns="0" rtlCol="0" anchor="ctr"/>
          <a:lstStyle/>
          <a:p>
            <a:pPr marL="0" indent="0" algn="ctr">
              <a:buNone/>
            </a:pPr>
            <a:r>
              <a:rPr lang="en-US" sz="950">
                <a:solidFill>
                  <a:srgbClr val="7090A8"/>
                </a:solidFill>
                <a:latin typeface="Calibri" pitchFamily="34" charset="0"/>
                <a:ea typeface="Calibri" pitchFamily="34" charset="-122"/>
                <a:cs typeface="Calibri" pitchFamily="34" charset="-120"/>
              </a:rPr>
              <a:t>Accessible à tous</a:t>
            </a:r>
            <a:endParaRPr lang="en-US" sz="950"/>
          </a:p>
        </p:txBody>
      </p:sp>
      <p:sp>
        <p:nvSpPr>
          <p:cNvPr id="15" name="Shape 12"/>
          <p:cNvSpPr/>
          <p:nvPr/>
        </p:nvSpPr>
        <p:spPr>
          <a:xfrm>
            <a:off x="2907792" y="3127248"/>
            <a:ext cx="2194560" cy="137160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6" name="Shape 13"/>
          <p:cNvSpPr/>
          <p:nvPr/>
        </p:nvSpPr>
        <p:spPr>
          <a:xfrm>
            <a:off x="2907792" y="3127248"/>
            <a:ext cx="2194560" cy="54864"/>
          </a:xfrm>
          <a:prstGeom prst="rect">
            <a:avLst/>
          </a:prstGeom>
          <a:solidFill>
            <a:srgbClr val="C9A84C"/>
          </a:solidFill>
          <a:ln/>
        </p:spPr>
        <p:txBody>
          <a:bodyPr/>
          <a:lstStyle/>
          <a:p>
            <a:endParaRPr lang="fr-FR"/>
          </a:p>
        </p:txBody>
      </p:sp>
      <p:pic>
        <p:nvPicPr>
          <p:cNvPr id="17" name="Image 1" descr="preencoded.png"/>
          <p:cNvPicPr>
            <a:picLocks noChangeAspect="1"/>
          </p:cNvPicPr>
          <p:nvPr/>
        </p:nvPicPr>
        <p:blipFill>
          <a:blip r:embed="rId4"/>
          <a:stretch>
            <a:fillRect/>
          </a:stretch>
        </p:blipFill>
        <p:spPr>
          <a:xfrm>
            <a:off x="2999232" y="3236976"/>
            <a:ext cx="329184" cy="329184"/>
          </a:xfrm>
          <a:prstGeom prst="rect">
            <a:avLst/>
          </a:prstGeom>
        </p:spPr>
      </p:pic>
      <p:sp>
        <p:nvSpPr>
          <p:cNvPr id="18" name="Text 14"/>
          <p:cNvSpPr/>
          <p:nvPr/>
        </p:nvSpPr>
        <p:spPr>
          <a:xfrm>
            <a:off x="3401568" y="3218688"/>
            <a:ext cx="1627632" cy="512064"/>
          </a:xfrm>
          <a:prstGeom prst="rect">
            <a:avLst/>
          </a:prstGeom>
          <a:noFill/>
          <a:ln/>
        </p:spPr>
        <p:txBody>
          <a:bodyPr wrap="square" lIns="0" tIns="0" rIns="0" bIns="0" rtlCol="0" anchor="ctr"/>
          <a:lstStyle/>
          <a:p>
            <a:pPr marL="0" indent="0">
              <a:lnSpc>
                <a:spcPct val="120000"/>
              </a:lnSpc>
              <a:buNone/>
            </a:pPr>
            <a:r>
              <a:rPr lang="en-US" sz="1400" b="1">
                <a:solidFill>
                  <a:srgbClr val="FFFFFF"/>
                </a:solidFill>
                <a:latin typeface="Calibri" pitchFamily="34" charset="0"/>
                <a:ea typeface="Calibri" pitchFamily="34" charset="-122"/>
                <a:cs typeface="Calibri" pitchFamily="34" charset="-120"/>
              </a:rPr>
              <a:t>ONG &amp;</a:t>
            </a:r>
            <a:endParaRPr lang="en-US" sz="1400"/>
          </a:p>
          <a:p>
            <a:pPr marL="0" indent="0">
              <a:lnSpc>
                <a:spcPct val="120000"/>
              </a:lnSpc>
              <a:buNone/>
            </a:pPr>
            <a:r>
              <a:rPr lang="en-US" sz="1400" b="1">
                <a:solidFill>
                  <a:srgbClr val="FFFFFF"/>
                </a:solidFill>
                <a:latin typeface="Calibri" pitchFamily="34" charset="0"/>
                <a:ea typeface="Calibri" pitchFamily="34" charset="-122"/>
                <a:cs typeface="Calibri" pitchFamily="34" charset="-120"/>
              </a:rPr>
              <a:t>Terrain</a:t>
            </a:r>
            <a:endParaRPr lang="en-US" sz="1400"/>
          </a:p>
        </p:txBody>
      </p:sp>
      <p:sp>
        <p:nvSpPr>
          <p:cNvPr id="19" name="Text 15"/>
          <p:cNvSpPr/>
          <p:nvPr/>
        </p:nvSpPr>
        <p:spPr>
          <a:xfrm>
            <a:off x="2999232" y="3675888"/>
            <a:ext cx="2029968" cy="237744"/>
          </a:xfrm>
          <a:prstGeom prst="rect">
            <a:avLst/>
          </a:prstGeom>
          <a:noFill/>
          <a:ln/>
        </p:spPr>
        <p:txBody>
          <a:bodyPr wrap="square" lIns="0" tIns="0" rIns="0" bIns="0" rtlCol="0" anchor="ctr"/>
          <a:lstStyle/>
          <a:p>
            <a:pPr marL="0" indent="0" algn="ctr">
              <a:buNone/>
            </a:pPr>
            <a:r>
              <a:rPr lang="en-US" sz="950">
                <a:solidFill>
                  <a:srgbClr val="7090A8"/>
                </a:solidFill>
                <a:latin typeface="Calibri" pitchFamily="34" charset="0"/>
                <a:ea typeface="Calibri" pitchFamily="34" charset="-122"/>
                <a:cs typeface="Calibri" pitchFamily="34" charset="-120"/>
              </a:rPr>
              <a:t>Contexte Afrique</a:t>
            </a:r>
            <a:endParaRPr lang="en-US" sz="950"/>
          </a:p>
        </p:txBody>
      </p:sp>
      <p:sp>
        <p:nvSpPr>
          <p:cNvPr id="20" name="Shape 16"/>
          <p:cNvSpPr/>
          <p:nvPr/>
        </p:nvSpPr>
        <p:spPr>
          <a:xfrm>
            <a:off x="5340096" y="3127248"/>
            <a:ext cx="2194560" cy="137160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21" name="Shape 17"/>
          <p:cNvSpPr/>
          <p:nvPr/>
        </p:nvSpPr>
        <p:spPr>
          <a:xfrm>
            <a:off x="5340096" y="3127248"/>
            <a:ext cx="2194560" cy="54864"/>
          </a:xfrm>
          <a:prstGeom prst="rect">
            <a:avLst/>
          </a:prstGeom>
          <a:solidFill>
            <a:srgbClr val="C9A84C"/>
          </a:solidFill>
          <a:ln/>
        </p:spPr>
        <p:txBody>
          <a:bodyPr/>
          <a:lstStyle/>
          <a:p>
            <a:endParaRPr lang="fr-FR"/>
          </a:p>
        </p:txBody>
      </p:sp>
      <p:pic>
        <p:nvPicPr>
          <p:cNvPr id="22" name="Image 2" descr="preencoded.png"/>
          <p:cNvPicPr>
            <a:picLocks noChangeAspect="1"/>
          </p:cNvPicPr>
          <p:nvPr/>
        </p:nvPicPr>
        <p:blipFill>
          <a:blip r:embed="rId5"/>
          <a:stretch>
            <a:fillRect/>
          </a:stretch>
        </p:blipFill>
        <p:spPr>
          <a:xfrm>
            <a:off x="5431536" y="3236976"/>
            <a:ext cx="329184" cy="329184"/>
          </a:xfrm>
          <a:prstGeom prst="rect">
            <a:avLst/>
          </a:prstGeom>
        </p:spPr>
      </p:pic>
      <p:sp>
        <p:nvSpPr>
          <p:cNvPr id="23" name="Text 18"/>
          <p:cNvSpPr/>
          <p:nvPr/>
        </p:nvSpPr>
        <p:spPr>
          <a:xfrm>
            <a:off x="5833872" y="3218688"/>
            <a:ext cx="1627632" cy="512064"/>
          </a:xfrm>
          <a:prstGeom prst="rect">
            <a:avLst/>
          </a:prstGeom>
          <a:noFill/>
          <a:ln/>
        </p:spPr>
        <p:txBody>
          <a:bodyPr wrap="square" lIns="0" tIns="0" rIns="0" bIns="0" rtlCol="0" anchor="ctr"/>
          <a:lstStyle/>
          <a:p>
            <a:pPr marL="0" indent="0">
              <a:lnSpc>
                <a:spcPct val="120000"/>
              </a:lnSpc>
              <a:buNone/>
            </a:pPr>
            <a:r>
              <a:rPr lang="en-US" sz="1400" b="1">
                <a:solidFill>
                  <a:srgbClr val="FFFFFF"/>
                </a:solidFill>
                <a:latin typeface="Calibri" pitchFamily="34" charset="0"/>
                <a:ea typeface="Calibri" pitchFamily="34" charset="-122"/>
                <a:cs typeface="Calibri" pitchFamily="34" charset="-120"/>
              </a:rPr>
              <a:t>A à Z</a:t>
            </a:r>
            <a:endParaRPr lang="en-US" sz="1400"/>
          </a:p>
        </p:txBody>
      </p:sp>
      <p:sp>
        <p:nvSpPr>
          <p:cNvPr id="24" name="Text 19"/>
          <p:cNvSpPr/>
          <p:nvPr/>
        </p:nvSpPr>
        <p:spPr>
          <a:xfrm>
            <a:off x="5431536" y="3675888"/>
            <a:ext cx="2029968" cy="237744"/>
          </a:xfrm>
          <a:prstGeom prst="rect">
            <a:avLst/>
          </a:prstGeom>
          <a:noFill/>
          <a:ln/>
        </p:spPr>
        <p:txBody>
          <a:bodyPr wrap="square" lIns="0" tIns="0" rIns="0" bIns="0" rtlCol="0" anchor="ctr"/>
          <a:lstStyle/>
          <a:p>
            <a:pPr marL="0" indent="0" algn="ctr">
              <a:buNone/>
            </a:pPr>
            <a:r>
              <a:rPr lang="en-US" sz="950">
                <a:solidFill>
                  <a:srgbClr val="7090A8"/>
                </a:solidFill>
                <a:latin typeface="Calibri" pitchFamily="34" charset="0"/>
                <a:ea typeface="Calibri" pitchFamily="34" charset="-122"/>
                <a:cs typeface="Calibri" pitchFamily="34" charset="-120"/>
              </a:rPr>
              <a:t>Débutant → Expert</a:t>
            </a:r>
            <a:endParaRPr lang="en-US" sz="950"/>
          </a:p>
        </p:txBody>
      </p:sp>
      <p:sp>
        <p:nvSpPr>
          <p:cNvPr id="25" name="Text 20"/>
          <p:cNvSpPr/>
          <p:nvPr/>
        </p:nvSpPr>
        <p:spPr>
          <a:xfrm>
            <a:off x="475488" y="4626864"/>
            <a:ext cx="7315200" cy="237744"/>
          </a:xfrm>
          <a:prstGeom prst="rect">
            <a:avLst/>
          </a:prstGeom>
          <a:noFill/>
          <a:ln/>
        </p:spPr>
        <p:txBody>
          <a:bodyPr wrap="square" lIns="0" tIns="0" rIns="0" bIns="0" rtlCol="0" anchor="ctr"/>
          <a:lstStyle/>
          <a:p>
            <a:pPr marL="0" indent="0">
              <a:buNone/>
            </a:pPr>
            <a:r>
              <a:rPr lang="en-US" sz="1050" b="1">
                <a:solidFill>
                  <a:srgbClr val="C9A84C"/>
                </a:solidFill>
                <a:latin typeface="Calibri" pitchFamily="34" charset="0"/>
                <a:ea typeface="Calibri" pitchFamily="34" charset="-122"/>
                <a:cs typeface="Calibri" pitchFamily="34" charset="-120"/>
              </a:rPr>
              <a:t>Présenté par  Alphonse Euphreme Ahlou</a:t>
            </a:r>
            <a:endParaRPr lang="en-US" sz="10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135466"/>
            <a:ext cx="4114800" cy="5143500"/>
          </a:xfrm>
          <a:prstGeom prst="rect">
            <a:avLst/>
          </a:prstGeom>
          <a:solidFill>
            <a:srgbClr val="112240"/>
          </a:solidFill>
          <a:ln/>
        </p:spPr>
        <p:txBody>
          <a:bodyPr/>
          <a:lstStyle/>
          <a:p>
            <a:endParaRPr lang="fr-FR"/>
          </a:p>
        </p:txBody>
      </p:sp>
      <p:sp>
        <p:nvSpPr>
          <p:cNvPr id="3" name="Shape 1"/>
          <p:cNvSpPr/>
          <p:nvPr/>
        </p:nvSpPr>
        <p:spPr>
          <a:xfrm>
            <a:off x="0" y="0"/>
            <a:ext cx="201168" cy="5143500"/>
          </a:xfrm>
          <a:prstGeom prst="rect">
            <a:avLst/>
          </a:prstGeom>
          <a:solidFill>
            <a:srgbClr val="C9A84C"/>
          </a:solidFill>
          <a:ln/>
        </p:spPr>
        <p:txBody>
          <a:bodyPr/>
          <a:lstStyle/>
          <a:p>
            <a:endParaRPr lang="fr-FR"/>
          </a:p>
        </p:txBody>
      </p:sp>
      <p:sp>
        <p:nvSpPr>
          <p:cNvPr id="4" name="Shape 2"/>
          <p:cNvSpPr/>
          <p:nvPr/>
        </p:nvSpPr>
        <p:spPr>
          <a:xfrm>
            <a:off x="1005840" y="640080"/>
            <a:ext cx="2103120" cy="2103120"/>
          </a:xfrm>
          <a:prstGeom prst="ellipse">
            <a:avLst/>
          </a:prstGeom>
          <a:solidFill>
            <a:srgbClr val="C9A84C"/>
          </a:solidFill>
          <a:ln/>
        </p:spPr>
        <p:txBody>
          <a:bodyPr/>
          <a:lstStyle/>
          <a:p>
            <a:endParaRPr lang="fr-FR"/>
          </a:p>
        </p:txBody>
      </p:sp>
      <p:sp>
        <p:nvSpPr>
          <p:cNvPr id="5" name="Shape 3"/>
          <p:cNvSpPr/>
          <p:nvPr/>
        </p:nvSpPr>
        <p:spPr>
          <a:xfrm>
            <a:off x="1097280" y="731520"/>
            <a:ext cx="1920240" cy="1920240"/>
          </a:xfrm>
          <a:prstGeom prst="ellipse">
            <a:avLst/>
          </a:prstGeom>
          <a:solidFill>
            <a:srgbClr val="0A1628"/>
          </a:solidFill>
          <a:ln/>
        </p:spPr>
        <p:txBody>
          <a:bodyPr/>
          <a:lstStyle/>
          <a:p>
            <a:endParaRPr lang="fr-FR"/>
          </a:p>
        </p:txBody>
      </p:sp>
      <p:sp>
        <p:nvSpPr>
          <p:cNvPr id="6" name="Shape 4"/>
          <p:cNvSpPr/>
          <p:nvPr/>
        </p:nvSpPr>
        <p:spPr>
          <a:xfrm>
            <a:off x="1170432" y="804672"/>
            <a:ext cx="1773936" cy="1773936"/>
          </a:xfrm>
          <a:prstGeom prst="ellipse">
            <a:avLst/>
          </a:prstGeom>
          <a:solidFill>
            <a:srgbClr val="1A3A5C"/>
          </a:solidFill>
          <a:ln/>
        </p:spPr>
        <p:txBody>
          <a:bodyPr/>
          <a:lstStyle/>
          <a:p>
            <a:endParaRPr lang="fr-FR"/>
          </a:p>
        </p:txBody>
      </p:sp>
      <p:sp>
        <p:nvSpPr>
          <p:cNvPr id="7" name="Text 5"/>
          <p:cNvSpPr/>
          <p:nvPr/>
        </p:nvSpPr>
        <p:spPr>
          <a:xfrm>
            <a:off x="1170432" y="804672"/>
            <a:ext cx="1773936" cy="1773936"/>
          </a:xfrm>
          <a:prstGeom prst="rect">
            <a:avLst/>
          </a:prstGeom>
          <a:noFill/>
          <a:ln/>
        </p:spPr>
        <p:txBody>
          <a:bodyPr wrap="square" lIns="0" tIns="0" rIns="0" bIns="0" rtlCol="0" anchor="ctr"/>
          <a:lstStyle/>
          <a:p>
            <a:pPr marL="0" indent="0" algn="ctr">
              <a:buNone/>
            </a:pPr>
            <a:r>
              <a:rPr lang="en-US" sz="4800" b="1">
                <a:solidFill>
                  <a:srgbClr val="F0C060"/>
                </a:solidFill>
                <a:latin typeface="Calibri" pitchFamily="34" charset="0"/>
                <a:ea typeface="Calibri" pitchFamily="34" charset="-122"/>
                <a:cs typeface="Calibri" pitchFamily="34" charset="-120"/>
              </a:rPr>
              <a:t>A E</a:t>
            </a:r>
            <a:endParaRPr lang="en-US" sz="4800"/>
          </a:p>
        </p:txBody>
      </p:sp>
      <p:sp>
        <p:nvSpPr>
          <p:cNvPr id="8" name="Text 6"/>
          <p:cNvSpPr/>
          <p:nvPr/>
        </p:nvSpPr>
        <p:spPr>
          <a:xfrm>
            <a:off x="256032" y="2907792"/>
            <a:ext cx="3621024" cy="402336"/>
          </a:xfrm>
          <a:prstGeom prst="rect">
            <a:avLst/>
          </a:prstGeom>
          <a:noFill/>
          <a:ln/>
        </p:spPr>
        <p:txBody>
          <a:bodyPr wrap="square" lIns="0" tIns="0" rIns="0" bIns="0" rtlCol="0" anchor="ctr"/>
          <a:lstStyle/>
          <a:p>
            <a:pPr marL="0" indent="0" algn="ctr">
              <a:buNone/>
            </a:pPr>
            <a:r>
              <a:rPr lang="en-US" sz="1700" b="1">
                <a:solidFill>
                  <a:srgbClr val="FFFFFF"/>
                </a:solidFill>
                <a:latin typeface="Calibri" pitchFamily="34" charset="0"/>
                <a:ea typeface="Calibri" pitchFamily="34" charset="-122"/>
                <a:cs typeface="Calibri" pitchFamily="34" charset="-120"/>
              </a:rPr>
              <a:t>Alphonse Euphreme Ahlou</a:t>
            </a:r>
            <a:endParaRPr lang="en-US" sz="1700"/>
          </a:p>
        </p:txBody>
      </p:sp>
      <p:sp>
        <p:nvSpPr>
          <p:cNvPr id="9" name="Shape 7"/>
          <p:cNvSpPr/>
          <p:nvPr/>
        </p:nvSpPr>
        <p:spPr>
          <a:xfrm>
            <a:off x="1097280" y="3346704"/>
            <a:ext cx="1920240" cy="36576"/>
          </a:xfrm>
          <a:prstGeom prst="rect">
            <a:avLst/>
          </a:prstGeom>
          <a:solidFill>
            <a:srgbClr val="C9A84C"/>
          </a:solidFill>
          <a:ln/>
        </p:spPr>
        <p:txBody>
          <a:bodyPr/>
          <a:lstStyle/>
          <a:p>
            <a:endParaRPr lang="fr-FR"/>
          </a:p>
        </p:txBody>
      </p:sp>
      <p:sp>
        <p:nvSpPr>
          <p:cNvPr id="10" name="Text 8"/>
          <p:cNvSpPr/>
          <p:nvPr/>
        </p:nvSpPr>
        <p:spPr>
          <a:xfrm>
            <a:off x="256032" y="3438144"/>
            <a:ext cx="3621024" cy="438912"/>
          </a:xfrm>
          <a:prstGeom prst="rect">
            <a:avLst/>
          </a:prstGeom>
          <a:noFill/>
          <a:ln/>
        </p:spPr>
        <p:txBody>
          <a:bodyPr wrap="square" lIns="0" tIns="0" rIns="0" bIns="0" rtlCol="0" anchor="ctr"/>
          <a:lstStyle/>
          <a:p>
            <a:pPr marL="0" indent="0" algn="ctr">
              <a:lnSpc>
                <a:spcPct val="130000"/>
              </a:lnSpc>
              <a:buNone/>
            </a:pPr>
            <a:r>
              <a:rPr lang="en-US" sz="1150">
                <a:solidFill>
                  <a:srgbClr val="F0C060"/>
                </a:solidFill>
                <a:latin typeface="Calibri" pitchFamily="34" charset="0"/>
                <a:ea typeface="Calibri" pitchFamily="34" charset="-122"/>
                <a:cs typeface="Calibri" pitchFamily="34" charset="-120"/>
              </a:rPr>
              <a:t>Agent de planification,</a:t>
            </a:r>
            <a:endParaRPr lang="en-US" sz="1150"/>
          </a:p>
          <a:p>
            <a:pPr marL="0" indent="0" algn="ctr">
              <a:lnSpc>
                <a:spcPct val="130000"/>
              </a:lnSpc>
              <a:buNone/>
            </a:pPr>
            <a:r>
              <a:rPr lang="en-US" sz="1150">
                <a:solidFill>
                  <a:srgbClr val="F0C060"/>
                </a:solidFill>
                <a:latin typeface="Calibri" pitchFamily="34" charset="0"/>
                <a:ea typeface="Calibri" pitchFamily="34" charset="-122"/>
                <a:cs typeface="Calibri" pitchFamily="34" charset="-120"/>
              </a:rPr>
              <a:t>de programmation et de recherche</a:t>
            </a:r>
            <a:endParaRPr lang="en-US" sz="1150"/>
          </a:p>
        </p:txBody>
      </p:sp>
      <p:sp>
        <p:nvSpPr>
          <p:cNvPr id="11" name="Text 9"/>
          <p:cNvSpPr/>
          <p:nvPr/>
        </p:nvSpPr>
        <p:spPr>
          <a:xfrm>
            <a:off x="256032" y="3931920"/>
            <a:ext cx="3621024" cy="256032"/>
          </a:xfrm>
          <a:prstGeom prst="rect">
            <a:avLst/>
          </a:prstGeom>
          <a:noFill/>
          <a:ln/>
        </p:spPr>
        <p:txBody>
          <a:bodyPr wrap="square" lIns="0" tIns="0" rIns="0" bIns="0" rtlCol="0" anchor="ctr"/>
          <a:lstStyle/>
          <a:p>
            <a:pPr marL="0" indent="0" algn="ctr">
              <a:buNone/>
            </a:pPr>
            <a:r>
              <a:rPr lang="en-US" sz="1200">
                <a:solidFill>
                  <a:srgbClr val="7090A8"/>
                </a:solidFill>
                <a:latin typeface="Calibri" pitchFamily="34" charset="0"/>
                <a:ea typeface="Calibri" pitchFamily="34" charset="-122"/>
                <a:cs typeface="Calibri" pitchFamily="34" charset="-120"/>
              </a:rPr>
              <a:t>Canada</a:t>
            </a:r>
            <a:endParaRPr lang="en-US" sz="1200"/>
          </a:p>
        </p:txBody>
      </p:sp>
      <p:sp>
        <p:nvSpPr>
          <p:cNvPr id="12" name="Text 10"/>
          <p:cNvSpPr/>
          <p:nvPr/>
        </p:nvSpPr>
        <p:spPr>
          <a:xfrm>
            <a:off x="4297680" y="329184"/>
            <a:ext cx="4663440" cy="402336"/>
          </a:xfrm>
          <a:prstGeom prst="rect">
            <a:avLst/>
          </a:prstGeom>
          <a:noFill/>
          <a:ln/>
        </p:spPr>
        <p:txBody>
          <a:bodyPr wrap="square" lIns="0" tIns="0" rIns="0" bIns="0" rtlCol="0" anchor="ctr"/>
          <a:lstStyle/>
          <a:p>
            <a:pPr marL="0" indent="0">
              <a:buNone/>
            </a:pPr>
            <a:r>
              <a:rPr lang="en-US" sz="2600" b="1">
                <a:solidFill>
                  <a:srgbClr val="F0C060"/>
                </a:solidFill>
                <a:latin typeface="Calibri" pitchFamily="34" charset="0"/>
                <a:ea typeface="Calibri" pitchFamily="34" charset="-122"/>
                <a:cs typeface="Calibri" pitchFamily="34" charset="-120"/>
              </a:rPr>
              <a:t>Qui suis-je ?</a:t>
            </a:r>
            <a:endParaRPr lang="en-US" sz="2600"/>
          </a:p>
        </p:txBody>
      </p:sp>
      <p:sp>
        <p:nvSpPr>
          <p:cNvPr id="13" name="Shape 11"/>
          <p:cNvSpPr/>
          <p:nvPr/>
        </p:nvSpPr>
        <p:spPr>
          <a:xfrm>
            <a:off x="4297680" y="877824"/>
            <a:ext cx="4663440" cy="877824"/>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14" name="Shape 12"/>
          <p:cNvSpPr/>
          <p:nvPr/>
        </p:nvSpPr>
        <p:spPr>
          <a:xfrm>
            <a:off x="4297680" y="877824"/>
            <a:ext cx="54864" cy="877824"/>
          </a:xfrm>
          <a:prstGeom prst="rect">
            <a:avLst/>
          </a:prstGeom>
          <a:solidFill>
            <a:srgbClr val="C9A84C"/>
          </a:solidFill>
          <a:ln/>
        </p:spPr>
        <p:txBody>
          <a:bodyPr/>
          <a:lstStyle/>
          <a:p>
            <a:endParaRPr lang="fr-FR"/>
          </a:p>
        </p:txBody>
      </p:sp>
      <p:pic>
        <p:nvPicPr>
          <p:cNvPr id="15" name="Image 0" descr="preencoded.png"/>
          <p:cNvPicPr>
            <a:picLocks noChangeAspect="1"/>
          </p:cNvPicPr>
          <p:nvPr/>
        </p:nvPicPr>
        <p:blipFill>
          <a:blip r:embed="rId3"/>
          <a:stretch>
            <a:fillRect/>
          </a:stretch>
        </p:blipFill>
        <p:spPr>
          <a:xfrm>
            <a:off x="4407408" y="1042416"/>
            <a:ext cx="292608" cy="292608"/>
          </a:xfrm>
          <a:prstGeom prst="rect">
            <a:avLst/>
          </a:prstGeom>
        </p:spPr>
      </p:pic>
      <p:sp>
        <p:nvSpPr>
          <p:cNvPr id="16" name="Text 13"/>
          <p:cNvSpPr/>
          <p:nvPr/>
        </p:nvSpPr>
        <p:spPr>
          <a:xfrm>
            <a:off x="4773168" y="969264"/>
            <a:ext cx="4096512" cy="237744"/>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Professionnel de la donnée</a:t>
            </a:r>
            <a:endParaRPr lang="en-US" sz="1200"/>
          </a:p>
        </p:txBody>
      </p:sp>
      <p:sp>
        <p:nvSpPr>
          <p:cNvPr id="17" name="Text 14"/>
          <p:cNvSpPr/>
          <p:nvPr/>
        </p:nvSpPr>
        <p:spPr>
          <a:xfrm>
            <a:off x="4773168" y="1225296"/>
            <a:ext cx="4096512" cy="475488"/>
          </a:xfrm>
          <a:prstGeom prst="rect">
            <a:avLst/>
          </a:prstGeom>
          <a:noFill/>
          <a:ln/>
        </p:spPr>
        <p:txBody>
          <a:bodyPr wrap="square" lIns="0" tIns="0" rIns="0" bIns="0" rtlCol="0" anchor="ctr"/>
          <a:lstStyle/>
          <a:p>
            <a:pPr marL="0" indent="0">
              <a:lnSpc>
                <a:spcPct val="130000"/>
              </a:lnSpc>
              <a:buNone/>
            </a:pPr>
            <a:r>
              <a:rPr lang="en-US" sz="950">
                <a:solidFill>
                  <a:srgbClr val="7090A8"/>
                </a:solidFill>
                <a:latin typeface="Calibri" pitchFamily="34" charset="0"/>
                <a:ea typeface="Calibri" pitchFamily="34" charset="-122"/>
                <a:cs typeface="Calibri" pitchFamily="34" charset="-120"/>
              </a:rPr>
              <a:t>Agent de planification, de programmation et de recherche au Canada · expertise en collecte et analyse de données terrain</a:t>
            </a:r>
            <a:endParaRPr lang="en-US" sz="950"/>
          </a:p>
        </p:txBody>
      </p:sp>
      <p:sp>
        <p:nvSpPr>
          <p:cNvPr id="18" name="Shape 15"/>
          <p:cNvSpPr/>
          <p:nvPr/>
        </p:nvSpPr>
        <p:spPr>
          <a:xfrm>
            <a:off x="4297680" y="1865376"/>
            <a:ext cx="4663440" cy="877824"/>
          </a:xfrm>
          <a:prstGeom prst="rect">
            <a:avLst/>
          </a:prstGeom>
          <a:solidFill>
            <a:srgbClr val="0E2240"/>
          </a:solidFill>
          <a:ln/>
          <a:effectLst>
            <a:outerShdw blurRad="101600" dist="38100" dir="8100000" algn="bl" rotWithShape="0">
              <a:srgbClr val="000000">
                <a:alpha val="18000"/>
              </a:srgbClr>
            </a:outerShdw>
          </a:effectLst>
        </p:spPr>
        <p:txBody>
          <a:bodyPr/>
          <a:lstStyle/>
          <a:p>
            <a:endParaRPr lang="fr-FR"/>
          </a:p>
        </p:txBody>
      </p:sp>
      <p:sp>
        <p:nvSpPr>
          <p:cNvPr id="19" name="Shape 16"/>
          <p:cNvSpPr/>
          <p:nvPr/>
        </p:nvSpPr>
        <p:spPr>
          <a:xfrm>
            <a:off x="4297680" y="1865376"/>
            <a:ext cx="54864" cy="877824"/>
          </a:xfrm>
          <a:prstGeom prst="rect">
            <a:avLst/>
          </a:prstGeom>
          <a:solidFill>
            <a:srgbClr val="1AA8C2"/>
          </a:solidFill>
          <a:ln/>
        </p:spPr>
        <p:txBody>
          <a:bodyPr/>
          <a:lstStyle/>
          <a:p>
            <a:endParaRPr lang="fr-FR"/>
          </a:p>
        </p:txBody>
      </p:sp>
      <p:pic>
        <p:nvPicPr>
          <p:cNvPr id="20" name="Image 1" descr="preencoded.png"/>
          <p:cNvPicPr>
            <a:picLocks noChangeAspect="1"/>
          </p:cNvPicPr>
          <p:nvPr/>
        </p:nvPicPr>
        <p:blipFill>
          <a:blip r:embed="rId4"/>
          <a:stretch>
            <a:fillRect/>
          </a:stretch>
        </p:blipFill>
        <p:spPr>
          <a:xfrm>
            <a:off x="4407408" y="2029968"/>
            <a:ext cx="292608" cy="292608"/>
          </a:xfrm>
          <a:prstGeom prst="rect">
            <a:avLst/>
          </a:prstGeom>
        </p:spPr>
      </p:pic>
      <p:sp>
        <p:nvSpPr>
          <p:cNvPr id="21" name="Text 17"/>
          <p:cNvSpPr/>
          <p:nvPr/>
        </p:nvSpPr>
        <p:spPr>
          <a:xfrm>
            <a:off x="4773168" y="1956816"/>
            <a:ext cx="4096512" cy="237744"/>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Formateur passionné</a:t>
            </a:r>
            <a:endParaRPr lang="en-US" sz="1200"/>
          </a:p>
        </p:txBody>
      </p:sp>
      <p:sp>
        <p:nvSpPr>
          <p:cNvPr id="22" name="Text 18"/>
          <p:cNvSpPr/>
          <p:nvPr/>
        </p:nvSpPr>
        <p:spPr>
          <a:xfrm>
            <a:off x="4773168" y="2212848"/>
            <a:ext cx="4096512" cy="475488"/>
          </a:xfrm>
          <a:prstGeom prst="rect">
            <a:avLst/>
          </a:prstGeom>
          <a:noFill/>
          <a:ln/>
        </p:spPr>
        <p:txBody>
          <a:bodyPr wrap="square" lIns="0" tIns="0" rIns="0" bIns="0" rtlCol="0" anchor="ctr"/>
          <a:lstStyle/>
          <a:p>
            <a:pPr marL="0" indent="0">
              <a:lnSpc>
                <a:spcPct val="130000"/>
              </a:lnSpc>
              <a:buNone/>
            </a:pPr>
            <a:r>
              <a:rPr lang="en-US" sz="950">
                <a:solidFill>
                  <a:srgbClr val="7090A8"/>
                </a:solidFill>
                <a:latin typeface="Calibri" pitchFamily="34" charset="0"/>
                <a:ea typeface="Calibri" pitchFamily="34" charset="-122"/>
                <a:cs typeface="Calibri" pitchFamily="34" charset="-120"/>
              </a:rPr>
              <a:t>Je rends les outils de collecte de données accessibles aux équipes ONG, aux chercheurs et aux professionnels du développement</a:t>
            </a:r>
            <a:endParaRPr lang="en-US" sz="950"/>
          </a:p>
        </p:txBody>
      </p:sp>
      <p:sp>
        <p:nvSpPr>
          <p:cNvPr id="23" name="Shape 19"/>
          <p:cNvSpPr/>
          <p:nvPr/>
        </p:nvSpPr>
        <p:spPr>
          <a:xfrm>
            <a:off x="4297680" y="2852928"/>
            <a:ext cx="4663440" cy="877824"/>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24" name="Shape 20"/>
          <p:cNvSpPr/>
          <p:nvPr/>
        </p:nvSpPr>
        <p:spPr>
          <a:xfrm>
            <a:off x="4297680" y="2852928"/>
            <a:ext cx="54864" cy="877824"/>
          </a:xfrm>
          <a:prstGeom prst="rect">
            <a:avLst/>
          </a:prstGeom>
          <a:solidFill>
            <a:srgbClr val="E74C3C"/>
          </a:solidFill>
          <a:ln/>
        </p:spPr>
        <p:txBody>
          <a:bodyPr/>
          <a:lstStyle/>
          <a:p>
            <a:endParaRPr lang="fr-FR"/>
          </a:p>
        </p:txBody>
      </p:sp>
      <p:pic>
        <p:nvPicPr>
          <p:cNvPr id="25" name="Image 2" descr="preencoded.png"/>
          <p:cNvPicPr>
            <a:picLocks noChangeAspect="1"/>
          </p:cNvPicPr>
          <p:nvPr/>
        </p:nvPicPr>
        <p:blipFill>
          <a:blip r:embed="rId5"/>
          <a:stretch>
            <a:fillRect/>
          </a:stretch>
        </p:blipFill>
        <p:spPr>
          <a:xfrm>
            <a:off x="4407408" y="3017520"/>
            <a:ext cx="292608" cy="292608"/>
          </a:xfrm>
          <a:prstGeom prst="rect">
            <a:avLst/>
          </a:prstGeom>
        </p:spPr>
      </p:pic>
      <p:sp>
        <p:nvSpPr>
          <p:cNvPr id="26" name="Text 21"/>
          <p:cNvSpPr/>
          <p:nvPr/>
        </p:nvSpPr>
        <p:spPr>
          <a:xfrm>
            <a:off x="4773168" y="2944368"/>
            <a:ext cx="4096512" cy="237744"/>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Engagement terrain</a:t>
            </a:r>
            <a:endParaRPr lang="en-US" sz="1200"/>
          </a:p>
        </p:txBody>
      </p:sp>
      <p:sp>
        <p:nvSpPr>
          <p:cNvPr id="27" name="Text 22"/>
          <p:cNvSpPr/>
          <p:nvPr/>
        </p:nvSpPr>
        <p:spPr>
          <a:xfrm>
            <a:off x="4773168" y="3200400"/>
            <a:ext cx="4096512" cy="475488"/>
          </a:xfrm>
          <a:prstGeom prst="rect">
            <a:avLst/>
          </a:prstGeom>
          <a:noFill/>
          <a:ln/>
        </p:spPr>
        <p:txBody>
          <a:bodyPr wrap="square" lIns="0" tIns="0" rIns="0" bIns="0" rtlCol="0" anchor="ctr"/>
          <a:lstStyle/>
          <a:p>
            <a:pPr marL="0" indent="0">
              <a:lnSpc>
                <a:spcPct val="130000"/>
              </a:lnSpc>
              <a:buNone/>
            </a:pPr>
            <a:r>
              <a:rPr lang="en-US" sz="950">
                <a:solidFill>
                  <a:srgbClr val="7090A8"/>
                </a:solidFill>
                <a:latin typeface="Calibri" pitchFamily="34" charset="0"/>
                <a:ea typeface="Calibri" pitchFamily="34" charset="-122"/>
                <a:cs typeface="Calibri" pitchFamily="34" charset="-120"/>
              </a:rPr>
              <a:t>Des années à accompagner des projets en Afrique et au Canada · Je connais les réalités du terrain sans réseau</a:t>
            </a:r>
            <a:endParaRPr lang="en-US" sz="950"/>
          </a:p>
        </p:txBody>
      </p:sp>
      <p:sp>
        <p:nvSpPr>
          <p:cNvPr id="28" name="Shape 23"/>
          <p:cNvSpPr/>
          <p:nvPr/>
        </p:nvSpPr>
        <p:spPr>
          <a:xfrm>
            <a:off x="4297680" y="3840480"/>
            <a:ext cx="4663440" cy="877824"/>
          </a:xfrm>
          <a:prstGeom prst="rect">
            <a:avLst/>
          </a:prstGeom>
          <a:solidFill>
            <a:srgbClr val="0E2240"/>
          </a:solidFill>
          <a:ln/>
          <a:effectLst>
            <a:outerShdw blurRad="101600" dist="38100" dir="8100000" algn="bl" rotWithShape="0">
              <a:srgbClr val="000000">
                <a:alpha val="18000"/>
              </a:srgbClr>
            </a:outerShdw>
          </a:effectLst>
        </p:spPr>
        <p:txBody>
          <a:bodyPr/>
          <a:lstStyle/>
          <a:p>
            <a:endParaRPr lang="fr-FR"/>
          </a:p>
        </p:txBody>
      </p:sp>
      <p:sp>
        <p:nvSpPr>
          <p:cNvPr id="29" name="Shape 24"/>
          <p:cNvSpPr/>
          <p:nvPr/>
        </p:nvSpPr>
        <p:spPr>
          <a:xfrm>
            <a:off x="4297680" y="3840480"/>
            <a:ext cx="54864" cy="877824"/>
          </a:xfrm>
          <a:prstGeom prst="rect">
            <a:avLst/>
          </a:prstGeom>
          <a:solidFill>
            <a:srgbClr val="28B463"/>
          </a:solidFill>
          <a:ln/>
        </p:spPr>
        <p:txBody>
          <a:bodyPr/>
          <a:lstStyle/>
          <a:p>
            <a:endParaRPr lang="fr-FR"/>
          </a:p>
        </p:txBody>
      </p:sp>
      <p:pic>
        <p:nvPicPr>
          <p:cNvPr id="30" name="Image 3" descr="preencoded.png"/>
          <p:cNvPicPr>
            <a:picLocks noChangeAspect="1"/>
          </p:cNvPicPr>
          <p:nvPr/>
        </p:nvPicPr>
        <p:blipFill>
          <a:blip r:embed="rId6"/>
          <a:stretch>
            <a:fillRect/>
          </a:stretch>
        </p:blipFill>
        <p:spPr>
          <a:xfrm>
            <a:off x="4407408" y="4005072"/>
            <a:ext cx="292608" cy="292608"/>
          </a:xfrm>
          <a:prstGeom prst="rect">
            <a:avLst/>
          </a:prstGeom>
        </p:spPr>
      </p:pic>
      <p:sp>
        <p:nvSpPr>
          <p:cNvPr id="31" name="Text 25"/>
          <p:cNvSpPr/>
          <p:nvPr/>
        </p:nvSpPr>
        <p:spPr>
          <a:xfrm>
            <a:off x="4773168" y="3931920"/>
            <a:ext cx="4096512" cy="237744"/>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Pourquoi cette série ?</a:t>
            </a:r>
            <a:endParaRPr lang="en-US" sz="1200"/>
          </a:p>
        </p:txBody>
      </p:sp>
      <p:sp>
        <p:nvSpPr>
          <p:cNvPr id="32" name="Text 26"/>
          <p:cNvSpPr/>
          <p:nvPr/>
        </p:nvSpPr>
        <p:spPr>
          <a:xfrm>
            <a:off x="4773168" y="4187952"/>
            <a:ext cx="4096512" cy="475488"/>
          </a:xfrm>
          <a:prstGeom prst="rect">
            <a:avLst/>
          </a:prstGeom>
          <a:noFill/>
          <a:ln/>
        </p:spPr>
        <p:txBody>
          <a:bodyPr wrap="square" lIns="0" tIns="0" rIns="0" bIns="0" rtlCol="0" anchor="ctr"/>
          <a:lstStyle/>
          <a:p>
            <a:pPr marL="0" indent="0">
              <a:lnSpc>
                <a:spcPct val="130000"/>
              </a:lnSpc>
              <a:buNone/>
            </a:pPr>
            <a:r>
              <a:rPr lang="en-US" sz="950">
                <a:solidFill>
                  <a:srgbClr val="7090A8"/>
                </a:solidFill>
                <a:latin typeface="Calibri" pitchFamily="34" charset="0"/>
                <a:ea typeface="Calibri" pitchFamily="34" charset="-122"/>
                <a:cs typeface="Calibri" pitchFamily="34" charset="-120"/>
              </a:rPr>
              <a:t>KoboToolbox est un outil puissant mais souvent sous-utilisé faute de formation complète en français — j'ai voulu changer ça</a:t>
            </a:r>
            <a:endParaRPr lang="en-US" sz="950"/>
          </a:p>
        </p:txBody>
      </p:sp>
      <p:sp>
        <p:nvSpPr>
          <p:cNvPr id="33" name="Shape 27"/>
          <p:cNvSpPr/>
          <p:nvPr/>
        </p:nvSpPr>
        <p:spPr>
          <a:xfrm>
            <a:off x="0" y="4892040"/>
            <a:ext cx="9144000" cy="251460"/>
          </a:xfrm>
          <a:prstGeom prst="rect">
            <a:avLst/>
          </a:prstGeom>
          <a:solidFill>
            <a:srgbClr val="0D1B35"/>
          </a:solidFill>
          <a:ln/>
        </p:spPr>
        <p:txBody>
          <a:bodyPr/>
          <a:lstStyle/>
          <a:p>
            <a:endParaRPr lang="fr-FR"/>
          </a:p>
        </p:txBody>
      </p:sp>
      <p:sp>
        <p:nvSpPr>
          <p:cNvPr id="34" name="Text 28"/>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35" name="Text 29"/>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2 / 16</a:t>
            </a:r>
            <a:endParaRPr lang="en-US" sz="900"/>
          </a:p>
        </p:txBody>
      </p:sp>
      <p:pic>
        <p:nvPicPr>
          <p:cNvPr id="37" name="Image 36">
            <a:extLst>
              <a:ext uri="{FF2B5EF4-FFF2-40B4-BE49-F238E27FC236}">
                <a16:creationId xmlns:a16="http://schemas.microsoft.com/office/drawing/2014/main" id="{031C26B2-8BC8-2C50-0ACF-83512942288F}"/>
              </a:ext>
            </a:extLst>
          </p:cNvPr>
          <p:cNvPicPr>
            <a:picLocks noChangeAspect="1"/>
          </p:cNvPicPr>
          <p:nvPr/>
        </p:nvPicPr>
        <p:blipFill>
          <a:blip r:embed="rId7"/>
          <a:stretch>
            <a:fillRect/>
          </a:stretch>
        </p:blipFill>
        <p:spPr>
          <a:xfrm>
            <a:off x="470418" y="324236"/>
            <a:ext cx="3482604" cy="25469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À qui s'adresse cette série ?</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Vous êtes probablement au bon endroit si vous vous reconnaissez ci-dessous</a:t>
            </a:r>
            <a:endParaRPr lang="en-US" sz="1200"/>
          </a:p>
        </p:txBody>
      </p:sp>
      <p:sp>
        <p:nvSpPr>
          <p:cNvPr id="6" name="Shape 4"/>
          <p:cNvSpPr/>
          <p:nvPr/>
        </p:nvSpPr>
        <p:spPr>
          <a:xfrm>
            <a:off x="274320" y="1188720"/>
            <a:ext cx="4297680" cy="1133856"/>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74320" y="1188720"/>
            <a:ext cx="73152" cy="1133856"/>
          </a:xfrm>
          <a:prstGeom prst="rect">
            <a:avLst/>
          </a:prstGeom>
          <a:solidFill>
            <a:srgbClr val="1E8449"/>
          </a:solidFill>
          <a:ln/>
        </p:spPr>
        <p:txBody>
          <a:bodyPr/>
          <a:lstStyle/>
          <a:p>
            <a:endParaRPr lang="fr-FR"/>
          </a:p>
        </p:txBody>
      </p:sp>
      <p:pic>
        <p:nvPicPr>
          <p:cNvPr id="8" name="Image 0" descr="preencoded.png"/>
          <p:cNvPicPr>
            <a:picLocks noChangeAspect="1"/>
          </p:cNvPicPr>
          <p:nvPr/>
        </p:nvPicPr>
        <p:blipFill>
          <a:blip r:embed="rId3"/>
          <a:stretch>
            <a:fillRect/>
          </a:stretch>
        </p:blipFill>
        <p:spPr>
          <a:xfrm>
            <a:off x="420624" y="1335024"/>
            <a:ext cx="329184" cy="329184"/>
          </a:xfrm>
          <a:prstGeom prst="rect">
            <a:avLst/>
          </a:prstGeom>
        </p:spPr>
      </p:pic>
      <p:sp>
        <p:nvSpPr>
          <p:cNvPr id="9" name="Text 6"/>
          <p:cNvSpPr/>
          <p:nvPr/>
        </p:nvSpPr>
        <p:spPr>
          <a:xfrm>
            <a:off x="841248" y="1280160"/>
            <a:ext cx="3657600" cy="256032"/>
          </a:xfrm>
          <a:prstGeom prst="rect">
            <a:avLst/>
          </a:prstGeom>
          <a:noFill/>
          <a:ln/>
        </p:spPr>
        <p:txBody>
          <a:bodyPr wrap="square" lIns="0" tIns="0" rIns="0" bIns="0" rtlCol="0" anchor="ctr"/>
          <a:lstStyle/>
          <a:p>
            <a:pPr marL="0" indent="0">
              <a:buNone/>
            </a:pPr>
            <a:r>
              <a:rPr lang="en-US" sz="1300" b="1">
                <a:solidFill>
                  <a:srgbClr val="1A2E3D"/>
                </a:solidFill>
                <a:latin typeface="Calibri" pitchFamily="34" charset="0"/>
                <a:ea typeface="Calibri" pitchFamily="34" charset="-122"/>
                <a:cs typeface="Calibri" pitchFamily="34" charset="-120"/>
              </a:rPr>
              <a:t>Équipes terrain ONG</a:t>
            </a:r>
            <a:endParaRPr lang="en-US" sz="1300"/>
          </a:p>
        </p:txBody>
      </p:sp>
      <p:sp>
        <p:nvSpPr>
          <p:cNvPr id="10" name="Text 7"/>
          <p:cNvSpPr/>
          <p:nvPr/>
        </p:nvSpPr>
        <p:spPr>
          <a:xfrm>
            <a:off x="420624" y="1682496"/>
            <a:ext cx="4059936" cy="402336"/>
          </a:xfrm>
          <a:prstGeom prst="rect">
            <a:avLst/>
          </a:prstGeom>
          <a:noFill/>
          <a:ln/>
        </p:spPr>
        <p:txBody>
          <a:bodyPr wrap="square" lIns="0" tIns="0" rIns="0" bIns="0" rtlCol="0" anchor="ctr"/>
          <a:lstStyle/>
          <a:p>
            <a:pPr marL="0" indent="0">
              <a:lnSpc>
                <a:spcPct val="125000"/>
              </a:lnSpc>
              <a:buNone/>
            </a:pPr>
            <a:r>
              <a:rPr lang="en-US" sz="950">
                <a:solidFill>
                  <a:srgbClr val="7090A8"/>
                </a:solidFill>
                <a:latin typeface="Calibri" pitchFamily="34" charset="0"/>
                <a:ea typeface="Calibri" pitchFamily="34" charset="-122"/>
                <a:cs typeface="Calibri" pitchFamily="34" charset="-120"/>
              </a:rPr>
              <a:t>Vous collectez des données sur le terrain mais utilisez encore des formulaires papier. KoboToolbox va changer votre façon de travailler.</a:t>
            </a:r>
            <a:endParaRPr lang="en-US" sz="950"/>
          </a:p>
        </p:txBody>
      </p:sp>
      <p:sp>
        <p:nvSpPr>
          <p:cNvPr id="11" name="Shape 8"/>
          <p:cNvSpPr/>
          <p:nvPr/>
        </p:nvSpPr>
        <p:spPr>
          <a:xfrm>
            <a:off x="420624" y="2157984"/>
            <a:ext cx="4059936" cy="128016"/>
          </a:xfrm>
          <a:prstGeom prst="rect">
            <a:avLst/>
          </a:prstGeom>
          <a:solidFill>
            <a:srgbClr val="1E8449"/>
          </a:solidFill>
          <a:ln/>
        </p:spPr>
        <p:txBody>
          <a:bodyPr/>
          <a:lstStyle/>
          <a:p>
            <a:endParaRPr lang="fr-FR"/>
          </a:p>
        </p:txBody>
      </p:sp>
      <p:sp>
        <p:nvSpPr>
          <p:cNvPr id="12" name="Text 9"/>
          <p:cNvSpPr/>
          <p:nvPr/>
        </p:nvSpPr>
        <p:spPr>
          <a:xfrm>
            <a:off x="457200" y="2176272"/>
            <a:ext cx="4005072" cy="91440"/>
          </a:xfrm>
          <a:prstGeom prst="rect">
            <a:avLst/>
          </a:prstGeom>
          <a:noFill/>
          <a:ln/>
        </p:spPr>
        <p:txBody>
          <a:bodyPr wrap="square" lIns="0" tIns="0" rIns="0" bIns="0" rtlCol="0" anchor="ctr"/>
          <a:lstStyle/>
          <a:p>
            <a:pPr marL="0" indent="0">
              <a:buNone/>
            </a:pPr>
            <a:r>
              <a:rPr lang="en-US" sz="800">
                <a:solidFill>
                  <a:srgbClr val="1E8449"/>
                </a:solidFill>
                <a:latin typeface="Calibri" pitchFamily="34" charset="0"/>
                <a:ea typeface="Calibri" pitchFamily="34" charset="-122"/>
                <a:cs typeface="Calibri" pitchFamily="34" charset="-120"/>
              </a:rPr>
              <a:t>→  Idéal pour démarrer de zéro</a:t>
            </a:r>
            <a:endParaRPr lang="en-US" sz="800"/>
          </a:p>
        </p:txBody>
      </p:sp>
      <p:sp>
        <p:nvSpPr>
          <p:cNvPr id="13" name="Shape 10"/>
          <p:cNvSpPr/>
          <p:nvPr/>
        </p:nvSpPr>
        <p:spPr>
          <a:xfrm>
            <a:off x="4736592" y="1188720"/>
            <a:ext cx="4297680" cy="1133856"/>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14" name="Shape 11"/>
          <p:cNvSpPr/>
          <p:nvPr/>
        </p:nvSpPr>
        <p:spPr>
          <a:xfrm>
            <a:off x="4736592" y="1188720"/>
            <a:ext cx="73152" cy="1133856"/>
          </a:xfrm>
          <a:prstGeom prst="rect">
            <a:avLst/>
          </a:prstGeom>
          <a:solidFill>
            <a:srgbClr val="1B2A6B"/>
          </a:solidFill>
          <a:ln/>
        </p:spPr>
        <p:txBody>
          <a:bodyPr/>
          <a:lstStyle/>
          <a:p>
            <a:endParaRPr lang="fr-FR"/>
          </a:p>
        </p:txBody>
      </p:sp>
      <p:pic>
        <p:nvPicPr>
          <p:cNvPr id="15" name="Image 1" descr="preencoded.png"/>
          <p:cNvPicPr>
            <a:picLocks noChangeAspect="1"/>
          </p:cNvPicPr>
          <p:nvPr/>
        </p:nvPicPr>
        <p:blipFill>
          <a:blip r:embed="rId4"/>
          <a:stretch>
            <a:fillRect/>
          </a:stretch>
        </p:blipFill>
        <p:spPr>
          <a:xfrm>
            <a:off x="4882896" y="1335024"/>
            <a:ext cx="329184" cy="329184"/>
          </a:xfrm>
          <a:prstGeom prst="rect">
            <a:avLst/>
          </a:prstGeom>
        </p:spPr>
      </p:pic>
      <p:sp>
        <p:nvSpPr>
          <p:cNvPr id="16" name="Text 12"/>
          <p:cNvSpPr/>
          <p:nvPr/>
        </p:nvSpPr>
        <p:spPr>
          <a:xfrm>
            <a:off x="5303520" y="1280160"/>
            <a:ext cx="3657600" cy="256032"/>
          </a:xfrm>
          <a:prstGeom prst="rect">
            <a:avLst/>
          </a:prstGeom>
          <a:noFill/>
          <a:ln/>
        </p:spPr>
        <p:txBody>
          <a:bodyPr wrap="square" lIns="0" tIns="0" rIns="0" bIns="0" rtlCol="0" anchor="ctr"/>
          <a:lstStyle/>
          <a:p>
            <a:pPr marL="0" indent="0">
              <a:buNone/>
            </a:pPr>
            <a:r>
              <a:rPr lang="en-US" sz="1300" b="1">
                <a:solidFill>
                  <a:srgbClr val="1A2E3D"/>
                </a:solidFill>
                <a:latin typeface="Calibri" pitchFamily="34" charset="0"/>
                <a:ea typeface="Calibri" pitchFamily="34" charset="-122"/>
                <a:cs typeface="Calibri" pitchFamily="34" charset="-120"/>
              </a:rPr>
              <a:t>Analystes et chercheurs</a:t>
            </a:r>
            <a:endParaRPr lang="en-US" sz="1300"/>
          </a:p>
        </p:txBody>
      </p:sp>
      <p:sp>
        <p:nvSpPr>
          <p:cNvPr id="17" name="Text 13"/>
          <p:cNvSpPr/>
          <p:nvPr/>
        </p:nvSpPr>
        <p:spPr>
          <a:xfrm>
            <a:off x="4882896" y="1682496"/>
            <a:ext cx="4059936" cy="402336"/>
          </a:xfrm>
          <a:prstGeom prst="rect">
            <a:avLst/>
          </a:prstGeom>
          <a:noFill/>
          <a:ln/>
        </p:spPr>
        <p:txBody>
          <a:bodyPr wrap="square" lIns="0" tIns="0" rIns="0" bIns="0" rtlCol="0" anchor="ctr"/>
          <a:lstStyle/>
          <a:p>
            <a:pPr marL="0" indent="0">
              <a:lnSpc>
                <a:spcPct val="125000"/>
              </a:lnSpc>
              <a:buNone/>
            </a:pPr>
            <a:r>
              <a:rPr lang="en-US" sz="950">
                <a:solidFill>
                  <a:srgbClr val="7090A8"/>
                </a:solidFill>
                <a:latin typeface="Calibri" pitchFamily="34" charset="0"/>
                <a:ea typeface="Calibri" pitchFamily="34" charset="-122"/>
                <a:cs typeface="Calibri" pitchFamily="34" charset="-120"/>
              </a:rPr>
              <a:t>Vous recevez des données mais souhaitez mieux maîtriser leur collecte. Comprendre Kobo améliorera vos études.</a:t>
            </a:r>
            <a:endParaRPr lang="en-US" sz="950"/>
          </a:p>
        </p:txBody>
      </p:sp>
      <p:sp>
        <p:nvSpPr>
          <p:cNvPr id="18" name="Shape 14"/>
          <p:cNvSpPr/>
          <p:nvPr/>
        </p:nvSpPr>
        <p:spPr>
          <a:xfrm>
            <a:off x="4882896" y="2157984"/>
            <a:ext cx="4059936" cy="128016"/>
          </a:xfrm>
          <a:prstGeom prst="rect">
            <a:avLst/>
          </a:prstGeom>
          <a:solidFill>
            <a:srgbClr val="1B2A6B"/>
          </a:solidFill>
          <a:ln/>
        </p:spPr>
        <p:txBody>
          <a:bodyPr/>
          <a:lstStyle/>
          <a:p>
            <a:endParaRPr lang="fr-FR"/>
          </a:p>
        </p:txBody>
      </p:sp>
      <p:sp>
        <p:nvSpPr>
          <p:cNvPr id="19" name="Text 15"/>
          <p:cNvSpPr/>
          <p:nvPr/>
        </p:nvSpPr>
        <p:spPr>
          <a:xfrm>
            <a:off x="4919472" y="2176272"/>
            <a:ext cx="4005072" cy="91440"/>
          </a:xfrm>
          <a:prstGeom prst="rect">
            <a:avLst/>
          </a:prstGeom>
          <a:noFill/>
          <a:ln/>
        </p:spPr>
        <p:txBody>
          <a:bodyPr wrap="square" lIns="0" tIns="0" rIns="0" bIns="0" rtlCol="0" anchor="ctr"/>
          <a:lstStyle/>
          <a:p>
            <a:pPr marL="0" indent="0">
              <a:buNone/>
            </a:pPr>
            <a:r>
              <a:rPr lang="en-US" sz="800">
                <a:solidFill>
                  <a:srgbClr val="1B2A6B"/>
                </a:solidFill>
                <a:latin typeface="Calibri" pitchFamily="34" charset="0"/>
                <a:ea typeface="Calibri" pitchFamily="34" charset="-122"/>
                <a:cs typeface="Calibri" pitchFamily="34" charset="-120"/>
              </a:rPr>
              <a:t>→  Modules 8, 9 et 10 particulièrement</a:t>
            </a:r>
            <a:endParaRPr lang="en-US" sz="800"/>
          </a:p>
        </p:txBody>
      </p:sp>
      <p:sp>
        <p:nvSpPr>
          <p:cNvPr id="20" name="Shape 16"/>
          <p:cNvSpPr/>
          <p:nvPr/>
        </p:nvSpPr>
        <p:spPr>
          <a:xfrm>
            <a:off x="274320" y="2414016"/>
            <a:ext cx="4297680" cy="1133856"/>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7"/>
          <p:cNvSpPr/>
          <p:nvPr/>
        </p:nvSpPr>
        <p:spPr>
          <a:xfrm>
            <a:off x="274320" y="2414016"/>
            <a:ext cx="73152" cy="1133856"/>
          </a:xfrm>
          <a:prstGeom prst="rect">
            <a:avLst/>
          </a:prstGeom>
          <a:solidFill>
            <a:srgbClr val="1A3A8F"/>
          </a:solidFill>
          <a:ln/>
        </p:spPr>
        <p:txBody>
          <a:bodyPr/>
          <a:lstStyle/>
          <a:p>
            <a:endParaRPr lang="fr-FR"/>
          </a:p>
        </p:txBody>
      </p:sp>
      <p:pic>
        <p:nvPicPr>
          <p:cNvPr id="22" name="Image 2" descr="preencoded.png"/>
          <p:cNvPicPr>
            <a:picLocks noChangeAspect="1"/>
          </p:cNvPicPr>
          <p:nvPr/>
        </p:nvPicPr>
        <p:blipFill>
          <a:blip r:embed="rId5"/>
          <a:stretch>
            <a:fillRect/>
          </a:stretch>
        </p:blipFill>
        <p:spPr>
          <a:xfrm>
            <a:off x="420624" y="2560320"/>
            <a:ext cx="329184" cy="329184"/>
          </a:xfrm>
          <a:prstGeom prst="rect">
            <a:avLst/>
          </a:prstGeom>
        </p:spPr>
      </p:pic>
      <p:sp>
        <p:nvSpPr>
          <p:cNvPr id="23" name="Text 18"/>
          <p:cNvSpPr/>
          <p:nvPr/>
        </p:nvSpPr>
        <p:spPr>
          <a:xfrm>
            <a:off x="841248" y="2505456"/>
            <a:ext cx="3657600" cy="256032"/>
          </a:xfrm>
          <a:prstGeom prst="rect">
            <a:avLst/>
          </a:prstGeom>
          <a:noFill/>
          <a:ln/>
        </p:spPr>
        <p:txBody>
          <a:bodyPr wrap="square" lIns="0" tIns="0" rIns="0" bIns="0" rtlCol="0" anchor="ctr"/>
          <a:lstStyle/>
          <a:p>
            <a:pPr marL="0" indent="0">
              <a:buNone/>
            </a:pPr>
            <a:r>
              <a:rPr lang="en-US" sz="1300" b="1">
                <a:solidFill>
                  <a:srgbClr val="1A2E3D"/>
                </a:solidFill>
                <a:latin typeface="Calibri" pitchFamily="34" charset="0"/>
                <a:ea typeface="Calibri" pitchFamily="34" charset="-122"/>
                <a:cs typeface="Calibri" pitchFamily="34" charset="-120"/>
              </a:rPr>
              <a:t>Responsables de projet</a:t>
            </a:r>
            <a:endParaRPr lang="en-US" sz="1300"/>
          </a:p>
        </p:txBody>
      </p:sp>
      <p:sp>
        <p:nvSpPr>
          <p:cNvPr id="24" name="Text 19"/>
          <p:cNvSpPr/>
          <p:nvPr/>
        </p:nvSpPr>
        <p:spPr>
          <a:xfrm>
            <a:off x="420624" y="2907792"/>
            <a:ext cx="4059936" cy="402336"/>
          </a:xfrm>
          <a:prstGeom prst="rect">
            <a:avLst/>
          </a:prstGeom>
          <a:noFill/>
          <a:ln/>
        </p:spPr>
        <p:txBody>
          <a:bodyPr wrap="square" lIns="0" tIns="0" rIns="0" bIns="0" rtlCol="0" anchor="ctr"/>
          <a:lstStyle/>
          <a:p>
            <a:pPr marL="0" indent="0">
              <a:lnSpc>
                <a:spcPct val="125000"/>
              </a:lnSpc>
              <a:buNone/>
            </a:pPr>
            <a:r>
              <a:rPr lang="en-US" sz="950">
                <a:solidFill>
                  <a:srgbClr val="7090A8"/>
                </a:solidFill>
                <a:latin typeface="Calibri" pitchFamily="34" charset="0"/>
                <a:ea typeface="Calibri" pitchFamily="34" charset="-122"/>
                <a:cs typeface="Calibri" pitchFamily="34" charset="-120"/>
              </a:rPr>
              <a:t>Vous supervisez des enquêtes terrain. Cette série vous donnera les outils pour configurer et monitorer vos collectes.</a:t>
            </a:r>
            <a:endParaRPr lang="en-US" sz="950"/>
          </a:p>
        </p:txBody>
      </p:sp>
      <p:sp>
        <p:nvSpPr>
          <p:cNvPr id="25" name="Shape 20"/>
          <p:cNvSpPr/>
          <p:nvPr/>
        </p:nvSpPr>
        <p:spPr>
          <a:xfrm>
            <a:off x="420624" y="3383280"/>
            <a:ext cx="4059936" cy="128016"/>
          </a:xfrm>
          <a:prstGeom prst="rect">
            <a:avLst/>
          </a:prstGeom>
          <a:solidFill>
            <a:srgbClr val="1A3A8F"/>
          </a:solidFill>
          <a:ln/>
        </p:spPr>
        <p:txBody>
          <a:bodyPr/>
          <a:lstStyle/>
          <a:p>
            <a:endParaRPr lang="fr-FR"/>
          </a:p>
        </p:txBody>
      </p:sp>
      <p:sp>
        <p:nvSpPr>
          <p:cNvPr id="26" name="Text 21"/>
          <p:cNvSpPr/>
          <p:nvPr/>
        </p:nvSpPr>
        <p:spPr>
          <a:xfrm>
            <a:off x="457200" y="3401568"/>
            <a:ext cx="4005072" cy="91440"/>
          </a:xfrm>
          <a:prstGeom prst="rect">
            <a:avLst/>
          </a:prstGeom>
          <a:noFill/>
          <a:ln/>
        </p:spPr>
        <p:txBody>
          <a:bodyPr wrap="square" lIns="0" tIns="0" rIns="0" bIns="0" rtlCol="0" anchor="ctr"/>
          <a:lstStyle/>
          <a:p>
            <a:pPr marL="0" indent="0">
              <a:buNone/>
            </a:pPr>
            <a:r>
              <a:rPr lang="en-US" sz="800">
                <a:solidFill>
                  <a:srgbClr val="1A3A8F"/>
                </a:solidFill>
                <a:latin typeface="Calibri" pitchFamily="34" charset="0"/>
                <a:ea typeface="Calibri" pitchFamily="34" charset="-122"/>
                <a:cs typeface="Calibri" pitchFamily="34" charset="-120"/>
              </a:rPr>
              <a:t>→  Modules 6, 8 et 11 en priorité</a:t>
            </a:r>
            <a:endParaRPr lang="en-US" sz="800"/>
          </a:p>
        </p:txBody>
      </p:sp>
      <p:sp>
        <p:nvSpPr>
          <p:cNvPr id="27" name="Shape 22"/>
          <p:cNvSpPr/>
          <p:nvPr/>
        </p:nvSpPr>
        <p:spPr>
          <a:xfrm>
            <a:off x="4736592" y="2414016"/>
            <a:ext cx="4297680" cy="1133856"/>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8" name="Shape 23"/>
          <p:cNvSpPr/>
          <p:nvPr/>
        </p:nvSpPr>
        <p:spPr>
          <a:xfrm>
            <a:off x="4736592" y="2414016"/>
            <a:ext cx="73152" cy="1133856"/>
          </a:xfrm>
          <a:prstGeom prst="rect">
            <a:avLst/>
          </a:prstGeom>
          <a:solidFill>
            <a:srgbClr val="0B6E4F"/>
          </a:solidFill>
          <a:ln/>
        </p:spPr>
        <p:txBody>
          <a:bodyPr/>
          <a:lstStyle/>
          <a:p>
            <a:endParaRPr lang="fr-FR"/>
          </a:p>
        </p:txBody>
      </p:sp>
      <p:pic>
        <p:nvPicPr>
          <p:cNvPr id="29" name="Image 3" descr="preencoded.png"/>
          <p:cNvPicPr>
            <a:picLocks noChangeAspect="1"/>
          </p:cNvPicPr>
          <p:nvPr/>
        </p:nvPicPr>
        <p:blipFill>
          <a:blip r:embed="rId6"/>
          <a:stretch>
            <a:fillRect/>
          </a:stretch>
        </p:blipFill>
        <p:spPr>
          <a:xfrm>
            <a:off x="4882896" y="2560320"/>
            <a:ext cx="329184" cy="329184"/>
          </a:xfrm>
          <a:prstGeom prst="rect">
            <a:avLst/>
          </a:prstGeom>
        </p:spPr>
      </p:pic>
      <p:sp>
        <p:nvSpPr>
          <p:cNvPr id="30" name="Text 24"/>
          <p:cNvSpPr/>
          <p:nvPr/>
        </p:nvSpPr>
        <p:spPr>
          <a:xfrm>
            <a:off x="5303520" y="2505456"/>
            <a:ext cx="3657600" cy="256032"/>
          </a:xfrm>
          <a:prstGeom prst="rect">
            <a:avLst/>
          </a:prstGeom>
          <a:noFill/>
          <a:ln/>
        </p:spPr>
        <p:txBody>
          <a:bodyPr wrap="square" lIns="0" tIns="0" rIns="0" bIns="0" rtlCol="0" anchor="ctr"/>
          <a:lstStyle/>
          <a:p>
            <a:pPr marL="0" indent="0">
              <a:buNone/>
            </a:pPr>
            <a:r>
              <a:rPr lang="en-US" sz="1300" b="1">
                <a:solidFill>
                  <a:srgbClr val="1A2E3D"/>
                </a:solidFill>
                <a:latin typeface="Calibri" pitchFamily="34" charset="0"/>
                <a:ea typeface="Calibri" pitchFamily="34" charset="-122"/>
                <a:cs typeface="Calibri" pitchFamily="34" charset="-120"/>
              </a:rPr>
              <a:t>Développeurs &amp; intégrateurs</a:t>
            </a:r>
            <a:endParaRPr lang="en-US" sz="1300"/>
          </a:p>
        </p:txBody>
      </p:sp>
      <p:sp>
        <p:nvSpPr>
          <p:cNvPr id="31" name="Text 25"/>
          <p:cNvSpPr/>
          <p:nvPr/>
        </p:nvSpPr>
        <p:spPr>
          <a:xfrm>
            <a:off x="4882896" y="2907792"/>
            <a:ext cx="4059936" cy="402336"/>
          </a:xfrm>
          <a:prstGeom prst="rect">
            <a:avLst/>
          </a:prstGeom>
          <a:noFill/>
          <a:ln/>
        </p:spPr>
        <p:txBody>
          <a:bodyPr wrap="square" lIns="0" tIns="0" rIns="0" bIns="0" rtlCol="0" anchor="ctr"/>
          <a:lstStyle/>
          <a:p>
            <a:pPr marL="0" indent="0">
              <a:lnSpc>
                <a:spcPct val="125000"/>
              </a:lnSpc>
              <a:buNone/>
            </a:pPr>
            <a:r>
              <a:rPr lang="en-US" sz="950">
                <a:solidFill>
                  <a:srgbClr val="7090A8"/>
                </a:solidFill>
                <a:latin typeface="Calibri" pitchFamily="34" charset="0"/>
                <a:ea typeface="Calibri" pitchFamily="34" charset="-122"/>
                <a:cs typeface="Calibri" pitchFamily="34" charset="-120"/>
              </a:rPr>
              <a:t>Vous voulez connecter KoboToolbox à vos systèmes (Power BI, Google Sheets, API). Le Module 10 est fait pour vous.</a:t>
            </a:r>
            <a:endParaRPr lang="en-US" sz="950"/>
          </a:p>
        </p:txBody>
      </p:sp>
      <p:sp>
        <p:nvSpPr>
          <p:cNvPr id="32" name="Shape 26"/>
          <p:cNvSpPr/>
          <p:nvPr/>
        </p:nvSpPr>
        <p:spPr>
          <a:xfrm>
            <a:off x="4882896" y="3383280"/>
            <a:ext cx="4059936" cy="128016"/>
          </a:xfrm>
          <a:prstGeom prst="rect">
            <a:avLst/>
          </a:prstGeom>
          <a:solidFill>
            <a:srgbClr val="0B6E4F"/>
          </a:solidFill>
          <a:ln/>
        </p:spPr>
        <p:txBody>
          <a:bodyPr/>
          <a:lstStyle/>
          <a:p>
            <a:endParaRPr lang="fr-FR"/>
          </a:p>
        </p:txBody>
      </p:sp>
      <p:sp>
        <p:nvSpPr>
          <p:cNvPr id="33" name="Text 27"/>
          <p:cNvSpPr/>
          <p:nvPr/>
        </p:nvSpPr>
        <p:spPr>
          <a:xfrm>
            <a:off x="4919472" y="3401568"/>
            <a:ext cx="4005072" cy="91440"/>
          </a:xfrm>
          <a:prstGeom prst="rect">
            <a:avLst/>
          </a:prstGeom>
          <a:noFill/>
          <a:ln/>
        </p:spPr>
        <p:txBody>
          <a:bodyPr wrap="square" lIns="0" tIns="0" rIns="0" bIns="0" rtlCol="0" anchor="ctr"/>
          <a:lstStyle/>
          <a:p>
            <a:pPr marL="0" indent="0">
              <a:buNone/>
            </a:pPr>
            <a:r>
              <a:rPr lang="en-US" sz="800">
                <a:solidFill>
                  <a:srgbClr val="0B6E4F"/>
                </a:solidFill>
                <a:latin typeface="Calibri" pitchFamily="34" charset="0"/>
                <a:ea typeface="Calibri" pitchFamily="34" charset="-122"/>
                <a:cs typeface="Calibri" pitchFamily="34" charset="-120"/>
              </a:rPr>
              <a:t>→  Module 10 — API &amp; intégrations</a:t>
            </a:r>
            <a:endParaRPr lang="en-US" sz="800"/>
          </a:p>
        </p:txBody>
      </p:sp>
      <p:sp>
        <p:nvSpPr>
          <p:cNvPr id="34" name="Shape 28"/>
          <p:cNvSpPr/>
          <p:nvPr/>
        </p:nvSpPr>
        <p:spPr>
          <a:xfrm>
            <a:off x="274320" y="3639312"/>
            <a:ext cx="4297680" cy="1133856"/>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29"/>
          <p:cNvSpPr/>
          <p:nvPr/>
        </p:nvSpPr>
        <p:spPr>
          <a:xfrm>
            <a:off x="274320" y="3639312"/>
            <a:ext cx="73152" cy="1133856"/>
          </a:xfrm>
          <a:prstGeom prst="rect">
            <a:avLst/>
          </a:prstGeom>
          <a:solidFill>
            <a:srgbClr val="7D3C98"/>
          </a:solidFill>
          <a:ln/>
        </p:spPr>
        <p:txBody>
          <a:bodyPr/>
          <a:lstStyle/>
          <a:p>
            <a:endParaRPr lang="fr-FR"/>
          </a:p>
        </p:txBody>
      </p:sp>
      <p:pic>
        <p:nvPicPr>
          <p:cNvPr id="36" name="Image 4" descr="preencoded.png"/>
          <p:cNvPicPr>
            <a:picLocks noChangeAspect="1"/>
          </p:cNvPicPr>
          <p:nvPr/>
        </p:nvPicPr>
        <p:blipFill>
          <a:blip r:embed="rId7"/>
          <a:stretch>
            <a:fillRect/>
          </a:stretch>
        </p:blipFill>
        <p:spPr>
          <a:xfrm>
            <a:off x="420624" y="3785616"/>
            <a:ext cx="329184" cy="329184"/>
          </a:xfrm>
          <a:prstGeom prst="rect">
            <a:avLst/>
          </a:prstGeom>
        </p:spPr>
      </p:pic>
      <p:sp>
        <p:nvSpPr>
          <p:cNvPr id="37" name="Text 30"/>
          <p:cNvSpPr/>
          <p:nvPr/>
        </p:nvSpPr>
        <p:spPr>
          <a:xfrm>
            <a:off x="841248" y="3730752"/>
            <a:ext cx="3657600" cy="256032"/>
          </a:xfrm>
          <a:prstGeom prst="rect">
            <a:avLst/>
          </a:prstGeom>
          <a:noFill/>
          <a:ln/>
        </p:spPr>
        <p:txBody>
          <a:bodyPr wrap="square" lIns="0" tIns="0" rIns="0" bIns="0" rtlCol="0" anchor="ctr"/>
          <a:lstStyle/>
          <a:p>
            <a:pPr marL="0" indent="0">
              <a:buNone/>
            </a:pPr>
            <a:r>
              <a:rPr lang="en-US" sz="1300" b="1">
                <a:solidFill>
                  <a:srgbClr val="1A2E3D"/>
                </a:solidFill>
                <a:latin typeface="Calibri" pitchFamily="34" charset="0"/>
                <a:ea typeface="Calibri" pitchFamily="34" charset="-122"/>
                <a:cs typeface="Calibri" pitchFamily="34" charset="-120"/>
              </a:rPr>
              <a:t>Étudiants en sciences sociales</a:t>
            </a:r>
            <a:endParaRPr lang="en-US" sz="1300"/>
          </a:p>
        </p:txBody>
      </p:sp>
      <p:sp>
        <p:nvSpPr>
          <p:cNvPr id="38" name="Text 31"/>
          <p:cNvSpPr/>
          <p:nvPr/>
        </p:nvSpPr>
        <p:spPr>
          <a:xfrm>
            <a:off x="420624" y="4133088"/>
            <a:ext cx="4059936" cy="402336"/>
          </a:xfrm>
          <a:prstGeom prst="rect">
            <a:avLst/>
          </a:prstGeom>
          <a:noFill/>
          <a:ln/>
        </p:spPr>
        <p:txBody>
          <a:bodyPr wrap="square" lIns="0" tIns="0" rIns="0" bIns="0" rtlCol="0" anchor="ctr"/>
          <a:lstStyle/>
          <a:p>
            <a:pPr marL="0" indent="0">
              <a:lnSpc>
                <a:spcPct val="125000"/>
              </a:lnSpc>
              <a:buNone/>
            </a:pPr>
            <a:r>
              <a:rPr lang="en-US" sz="950">
                <a:solidFill>
                  <a:srgbClr val="7090A8"/>
                </a:solidFill>
                <a:latin typeface="Calibri" pitchFamily="34" charset="0"/>
                <a:ea typeface="Calibri" pitchFamily="34" charset="-122"/>
                <a:cs typeface="Calibri" pitchFamily="34" charset="-120"/>
              </a:rPr>
              <a:t>Master, doctorat, mémoire de recherche… KoboToolbox est l'outil de référence pour la collecte de données.</a:t>
            </a:r>
            <a:endParaRPr lang="en-US" sz="950"/>
          </a:p>
        </p:txBody>
      </p:sp>
      <p:sp>
        <p:nvSpPr>
          <p:cNvPr id="39" name="Shape 32"/>
          <p:cNvSpPr/>
          <p:nvPr/>
        </p:nvSpPr>
        <p:spPr>
          <a:xfrm>
            <a:off x="420624" y="4608576"/>
            <a:ext cx="4059936" cy="128016"/>
          </a:xfrm>
          <a:prstGeom prst="rect">
            <a:avLst/>
          </a:prstGeom>
          <a:solidFill>
            <a:srgbClr val="7D3C98"/>
          </a:solidFill>
          <a:ln/>
        </p:spPr>
        <p:txBody>
          <a:bodyPr/>
          <a:lstStyle/>
          <a:p>
            <a:endParaRPr lang="fr-FR"/>
          </a:p>
        </p:txBody>
      </p:sp>
      <p:sp>
        <p:nvSpPr>
          <p:cNvPr id="40" name="Text 33"/>
          <p:cNvSpPr/>
          <p:nvPr/>
        </p:nvSpPr>
        <p:spPr>
          <a:xfrm>
            <a:off x="457200" y="4626864"/>
            <a:ext cx="4005072" cy="91440"/>
          </a:xfrm>
          <a:prstGeom prst="rect">
            <a:avLst/>
          </a:prstGeom>
          <a:noFill/>
          <a:ln/>
        </p:spPr>
        <p:txBody>
          <a:bodyPr wrap="square" lIns="0" tIns="0" rIns="0" bIns="0" rtlCol="0" anchor="ctr"/>
          <a:lstStyle/>
          <a:p>
            <a:pPr marL="0" indent="0">
              <a:buNone/>
            </a:pPr>
            <a:r>
              <a:rPr lang="en-US" sz="800">
                <a:solidFill>
                  <a:srgbClr val="7D3C98"/>
                </a:solidFill>
                <a:latin typeface="Calibri" pitchFamily="34" charset="0"/>
                <a:ea typeface="Calibri" pitchFamily="34" charset="-122"/>
                <a:cs typeface="Calibri" pitchFamily="34" charset="-120"/>
              </a:rPr>
              <a:t>→  Modules 1 à 9 — parcours complet</a:t>
            </a:r>
            <a:endParaRPr lang="en-US" sz="800"/>
          </a:p>
        </p:txBody>
      </p:sp>
      <p:sp>
        <p:nvSpPr>
          <p:cNvPr id="41" name="Shape 34"/>
          <p:cNvSpPr/>
          <p:nvPr/>
        </p:nvSpPr>
        <p:spPr>
          <a:xfrm>
            <a:off x="4736592" y="3639312"/>
            <a:ext cx="4297680" cy="1133856"/>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42" name="Shape 35"/>
          <p:cNvSpPr/>
          <p:nvPr/>
        </p:nvSpPr>
        <p:spPr>
          <a:xfrm>
            <a:off x="4736592" y="3639312"/>
            <a:ext cx="73152" cy="1133856"/>
          </a:xfrm>
          <a:prstGeom prst="rect">
            <a:avLst/>
          </a:prstGeom>
          <a:solidFill>
            <a:srgbClr val="7D6608"/>
          </a:solidFill>
          <a:ln/>
        </p:spPr>
        <p:txBody>
          <a:bodyPr/>
          <a:lstStyle/>
          <a:p>
            <a:endParaRPr lang="fr-FR"/>
          </a:p>
        </p:txBody>
      </p:sp>
      <p:pic>
        <p:nvPicPr>
          <p:cNvPr id="43" name="Image 5" descr="preencoded.png"/>
          <p:cNvPicPr>
            <a:picLocks noChangeAspect="1"/>
          </p:cNvPicPr>
          <p:nvPr/>
        </p:nvPicPr>
        <p:blipFill>
          <a:blip r:embed="rId8"/>
          <a:stretch>
            <a:fillRect/>
          </a:stretch>
        </p:blipFill>
        <p:spPr>
          <a:xfrm>
            <a:off x="4882896" y="3785616"/>
            <a:ext cx="329184" cy="329184"/>
          </a:xfrm>
          <a:prstGeom prst="rect">
            <a:avLst/>
          </a:prstGeom>
        </p:spPr>
      </p:pic>
      <p:sp>
        <p:nvSpPr>
          <p:cNvPr id="44" name="Text 36"/>
          <p:cNvSpPr/>
          <p:nvPr/>
        </p:nvSpPr>
        <p:spPr>
          <a:xfrm>
            <a:off x="5303520" y="3730752"/>
            <a:ext cx="3657600" cy="256032"/>
          </a:xfrm>
          <a:prstGeom prst="rect">
            <a:avLst/>
          </a:prstGeom>
          <a:noFill/>
          <a:ln/>
        </p:spPr>
        <p:txBody>
          <a:bodyPr wrap="square" lIns="0" tIns="0" rIns="0" bIns="0" rtlCol="0" anchor="ctr"/>
          <a:lstStyle/>
          <a:p>
            <a:pPr marL="0" indent="0">
              <a:buNone/>
            </a:pPr>
            <a:r>
              <a:rPr lang="en-US" sz="1300" b="1">
                <a:solidFill>
                  <a:srgbClr val="1A2E3D"/>
                </a:solidFill>
                <a:latin typeface="Calibri" pitchFamily="34" charset="0"/>
                <a:ea typeface="Calibri" pitchFamily="34" charset="-122"/>
                <a:cs typeface="Calibri" pitchFamily="34" charset="-120"/>
              </a:rPr>
              <a:t>Nouveaux humanitaires</a:t>
            </a:r>
            <a:endParaRPr lang="en-US" sz="1300"/>
          </a:p>
        </p:txBody>
      </p:sp>
      <p:sp>
        <p:nvSpPr>
          <p:cNvPr id="45" name="Text 37"/>
          <p:cNvSpPr/>
          <p:nvPr/>
        </p:nvSpPr>
        <p:spPr>
          <a:xfrm>
            <a:off x="4882896" y="4133088"/>
            <a:ext cx="4059936" cy="402336"/>
          </a:xfrm>
          <a:prstGeom prst="rect">
            <a:avLst/>
          </a:prstGeom>
          <a:noFill/>
          <a:ln/>
        </p:spPr>
        <p:txBody>
          <a:bodyPr wrap="square" lIns="0" tIns="0" rIns="0" bIns="0" rtlCol="0" anchor="ctr"/>
          <a:lstStyle/>
          <a:p>
            <a:pPr marL="0" indent="0">
              <a:lnSpc>
                <a:spcPct val="125000"/>
              </a:lnSpc>
              <a:buNone/>
            </a:pPr>
            <a:r>
              <a:rPr lang="en-US" sz="950">
                <a:solidFill>
                  <a:srgbClr val="7090A8"/>
                </a:solidFill>
                <a:latin typeface="Calibri" pitchFamily="34" charset="0"/>
                <a:ea typeface="Calibri" pitchFamily="34" charset="-122"/>
                <a:cs typeface="Calibri" pitchFamily="34" charset="-120"/>
              </a:rPr>
              <a:t>Vous démarrez une carrière humanitaire. KoboToolbox est utilisé par l'ONU, MSF, Croix-Rouge — apprenez-le maintenant.</a:t>
            </a:r>
            <a:endParaRPr lang="en-US" sz="950"/>
          </a:p>
        </p:txBody>
      </p:sp>
      <p:sp>
        <p:nvSpPr>
          <p:cNvPr id="46" name="Shape 38"/>
          <p:cNvSpPr/>
          <p:nvPr/>
        </p:nvSpPr>
        <p:spPr>
          <a:xfrm>
            <a:off x="4882896" y="4608576"/>
            <a:ext cx="4059936" cy="128016"/>
          </a:xfrm>
          <a:prstGeom prst="rect">
            <a:avLst/>
          </a:prstGeom>
          <a:solidFill>
            <a:srgbClr val="7D6608"/>
          </a:solidFill>
          <a:ln/>
        </p:spPr>
        <p:txBody>
          <a:bodyPr/>
          <a:lstStyle/>
          <a:p>
            <a:endParaRPr lang="fr-FR"/>
          </a:p>
        </p:txBody>
      </p:sp>
      <p:sp>
        <p:nvSpPr>
          <p:cNvPr id="47" name="Text 39"/>
          <p:cNvSpPr/>
          <p:nvPr/>
        </p:nvSpPr>
        <p:spPr>
          <a:xfrm>
            <a:off x="4919472" y="4626864"/>
            <a:ext cx="4005072" cy="91440"/>
          </a:xfrm>
          <a:prstGeom prst="rect">
            <a:avLst/>
          </a:prstGeom>
          <a:noFill/>
          <a:ln/>
        </p:spPr>
        <p:txBody>
          <a:bodyPr wrap="square" lIns="0" tIns="0" rIns="0" bIns="0" rtlCol="0" anchor="ctr"/>
          <a:lstStyle/>
          <a:p>
            <a:pPr marL="0" indent="0">
              <a:buNone/>
            </a:pPr>
            <a:r>
              <a:rPr lang="en-US" sz="800">
                <a:solidFill>
                  <a:srgbClr val="7D6608"/>
                </a:solidFill>
                <a:latin typeface="Calibri" pitchFamily="34" charset="0"/>
                <a:ea typeface="Calibri" pitchFamily="34" charset="-122"/>
                <a:cs typeface="Calibri" pitchFamily="34" charset="-120"/>
              </a:rPr>
              <a:t>→  Toute la série dans l'ordre</a:t>
            </a:r>
            <a:endParaRPr lang="en-US" sz="800"/>
          </a:p>
        </p:txBody>
      </p:sp>
      <p:sp>
        <p:nvSpPr>
          <p:cNvPr id="48" name="Shape 40"/>
          <p:cNvSpPr/>
          <p:nvPr/>
        </p:nvSpPr>
        <p:spPr>
          <a:xfrm>
            <a:off x="0" y="4892040"/>
            <a:ext cx="9144000" cy="251460"/>
          </a:xfrm>
          <a:prstGeom prst="rect">
            <a:avLst/>
          </a:prstGeom>
          <a:solidFill>
            <a:srgbClr val="0D1B35"/>
          </a:solidFill>
          <a:ln/>
        </p:spPr>
        <p:txBody>
          <a:bodyPr/>
          <a:lstStyle/>
          <a:p>
            <a:endParaRPr lang="fr-FR"/>
          </a:p>
        </p:txBody>
      </p:sp>
      <p:sp>
        <p:nvSpPr>
          <p:cNvPr id="49" name="Text 41"/>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0" name="Text 42"/>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3 / 16</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D1B35"/>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Pourquoi KoboToolbox ?</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L'outil de collecte de données de référence pour les organisations humanitaires et de recherche</a:t>
            </a:r>
            <a:endParaRPr lang="en-US" sz="1200"/>
          </a:p>
        </p:txBody>
      </p:sp>
      <p:sp>
        <p:nvSpPr>
          <p:cNvPr id="6" name="Shape 4"/>
          <p:cNvSpPr/>
          <p:nvPr/>
        </p:nvSpPr>
        <p:spPr>
          <a:xfrm>
            <a:off x="365760" y="1188720"/>
            <a:ext cx="2011680" cy="146304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365760" y="1188720"/>
            <a:ext cx="2011680" cy="73152"/>
          </a:xfrm>
          <a:prstGeom prst="rect">
            <a:avLst/>
          </a:prstGeom>
          <a:solidFill>
            <a:srgbClr val="C9A84C"/>
          </a:solidFill>
          <a:ln/>
        </p:spPr>
        <p:txBody>
          <a:bodyPr/>
          <a:lstStyle/>
          <a:p>
            <a:endParaRPr lang="fr-FR"/>
          </a:p>
        </p:txBody>
      </p:sp>
      <p:sp>
        <p:nvSpPr>
          <p:cNvPr id="8" name="Text 6"/>
          <p:cNvSpPr/>
          <p:nvPr/>
        </p:nvSpPr>
        <p:spPr>
          <a:xfrm>
            <a:off x="365760" y="1316736"/>
            <a:ext cx="2011680" cy="621792"/>
          </a:xfrm>
          <a:prstGeom prst="rect">
            <a:avLst/>
          </a:prstGeom>
          <a:noFill/>
          <a:ln/>
        </p:spPr>
        <p:txBody>
          <a:bodyPr wrap="square" lIns="0" tIns="0" rIns="0" bIns="0" rtlCol="0" anchor="ctr"/>
          <a:lstStyle/>
          <a:p>
            <a:pPr marL="0" indent="0" algn="ctr">
              <a:lnSpc>
                <a:spcPct val="110000"/>
              </a:lnSpc>
              <a:buNone/>
            </a:pPr>
            <a:r>
              <a:rPr lang="en-US" sz="2600" b="1">
                <a:solidFill>
                  <a:srgbClr val="C9A84C"/>
                </a:solidFill>
                <a:latin typeface="Calibri" pitchFamily="34" charset="0"/>
                <a:ea typeface="Calibri" pitchFamily="34" charset="-122"/>
                <a:cs typeface="Calibri" pitchFamily="34" charset="-120"/>
              </a:rPr>
              <a:t>14 000+</a:t>
            </a:r>
            <a:endParaRPr lang="en-US" sz="2600"/>
          </a:p>
        </p:txBody>
      </p:sp>
      <p:sp>
        <p:nvSpPr>
          <p:cNvPr id="9" name="Text 7"/>
          <p:cNvSpPr/>
          <p:nvPr/>
        </p:nvSpPr>
        <p:spPr>
          <a:xfrm>
            <a:off x="365760" y="1920240"/>
            <a:ext cx="2011680" cy="438912"/>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organisations</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utilisatrices</a:t>
            </a:r>
            <a:endParaRPr lang="en-US" sz="1000"/>
          </a:p>
        </p:txBody>
      </p:sp>
      <p:sp>
        <p:nvSpPr>
          <p:cNvPr id="10" name="Shape 8"/>
          <p:cNvSpPr/>
          <p:nvPr/>
        </p:nvSpPr>
        <p:spPr>
          <a:xfrm>
            <a:off x="2542032" y="1188720"/>
            <a:ext cx="2011680" cy="146304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1" name="Shape 9"/>
          <p:cNvSpPr/>
          <p:nvPr/>
        </p:nvSpPr>
        <p:spPr>
          <a:xfrm>
            <a:off x="2542032" y="1188720"/>
            <a:ext cx="2011680" cy="73152"/>
          </a:xfrm>
          <a:prstGeom prst="rect">
            <a:avLst/>
          </a:prstGeom>
          <a:solidFill>
            <a:srgbClr val="1AA8C2"/>
          </a:solidFill>
          <a:ln/>
        </p:spPr>
        <p:txBody>
          <a:bodyPr/>
          <a:lstStyle/>
          <a:p>
            <a:endParaRPr lang="fr-FR"/>
          </a:p>
        </p:txBody>
      </p:sp>
      <p:sp>
        <p:nvSpPr>
          <p:cNvPr id="12" name="Text 10"/>
          <p:cNvSpPr/>
          <p:nvPr/>
        </p:nvSpPr>
        <p:spPr>
          <a:xfrm>
            <a:off x="2542032" y="1316736"/>
            <a:ext cx="2011680" cy="621792"/>
          </a:xfrm>
          <a:prstGeom prst="rect">
            <a:avLst/>
          </a:prstGeom>
          <a:noFill/>
          <a:ln/>
        </p:spPr>
        <p:txBody>
          <a:bodyPr wrap="square" lIns="0" tIns="0" rIns="0" bIns="0" rtlCol="0" anchor="ctr"/>
          <a:lstStyle/>
          <a:p>
            <a:pPr marL="0" indent="0" algn="ctr">
              <a:lnSpc>
                <a:spcPct val="110000"/>
              </a:lnSpc>
              <a:buNone/>
            </a:pPr>
            <a:r>
              <a:rPr lang="en-US" sz="2600" b="1">
                <a:solidFill>
                  <a:srgbClr val="1AA8C2"/>
                </a:solidFill>
                <a:latin typeface="Calibri" pitchFamily="34" charset="0"/>
                <a:ea typeface="Calibri" pitchFamily="34" charset="-122"/>
                <a:cs typeface="Calibri" pitchFamily="34" charset="-120"/>
              </a:rPr>
              <a:t>11 M+</a:t>
            </a:r>
            <a:endParaRPr lang="en-US" sz="2600"/>
          </a:p>
        </p:txBody>
      </p:sp>
      <p:sp>
        <p:nvSpPr>
          <p:cNvPr id="13" name="Text 11"/>
          <p:cNvSpPr/>
          <p:nvPr/>
        </p:nvSpPr>
        <p:spPr>
          <a:xfrm>
            <a:off x="2542032" y="1920240"/>
            <a:ext cx="2011680" cy="438912"/>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formulaires</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créés</a:t>
            </a:r>
            <a:endParaRPr lang="en-US" sz="1000"/>
          </a:p>
        </p:txBody>
      </p:sp>
      <p:sp>
        <p:nvSpPr>
          <p:cNvPr id="14" name="Shape 12"/>
          <p:cNvSpPr/>
          <p:nvPr/>
        </p:nvSpPr>
        <p:spPr>
          <a:xfrm>
            <a:off x="4718304" y="1188720"/>
            <a:ext cx="2011680" cy="146304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5" name="Shape 13"/>
          <p:cNvSpPr/>
          <p:nvPr/>
        </p:nvSpPr>
        <p:spPr>
          <a:xfrm>
            <a:off x="4718304" y="1188720"/>
            <a:ext cx="2011680" cy="73152"/>
          </a:xfrm>
          <a:prstGeom prst="rect">
            <a:avLst/>
          </a:prstGeom>
          <a:solidFill>
            <a:srgbClr val="7D3C98"/>
          </a:solidFill>
          <a:ln/>
        </p:spPr>
        <p:txBody>
          <a:bodyPr/>
          <a:lstStyle/>
          <a:p>
            <a:endParaRPr lang="fr-FR"/>
          </a:p>
        </p:txBody>
      </p:sp>
      <p:sp>
        <p:nvSpPr>
          <p:cNvPr id="16" name="Text 14"/>
          <p:cNvSpPr/>
          <p:nvPr/>
        </p:nvSpPr>
        <p:spPr>
          <a:xfrm>
            <a:off x="4718304" y="1316736"/>
            <a:ext cx="2011680" cy="621792"/>
          </a:xfrm>
          <a:prstGeom prst="rect">
            <a:avLst/>
          </a:prstGeom>
          <a:noFill/>
          <a:ln/>
        </p:spPr>
        <p:txBody>
          <a:bodyPr wrap="square" lIns="0" tIns="0" rIns="0" bIns="0" rtlCol="0" anchor="ctr"/>
          <a:lstStyle/>
          <a:p>
            <a:pPr marL="0" indent="0" algn="ctr">
              <a:lnSpc>
                <a:spcPct val="110000"/>
              </a:lnSpc>
              <a:buNone/>
            </a:pPr>
            <a:r>
              <a:rPr lang="en-US" sz="2600" b="1">
                <a:solidFill>
                  <a:srgbClr val="7D3C98"/>
                </a:solidFill>
                <a:latin typeface="Calibri" pitchFamily="34" charset="0"/>
                <a:ea typeface="Calibri" pitchFamily="34" charset="-122"/>
                <a:cs typeface="Calibri" pitchFamily="34" charset="-120"/>
              </a:rPr>
              <a:t>2011</a:t>
            </a:r>
            <a:endParaRPr lang="en-US" sz="2600"/>
          </a:p>
        </p:txBody>
      </p:sp>
      <p:sp>
        <p:nvSpPr>
          <p:cNvPr id="17" name="Text 15"/>
          <p:cNvSpPr/>
          <p:nvPr/>
        </p:nvSpPr>
        <p:spPr>
          <a:xfrm>
            <a:off x="4718304" y="1920240"/>
            <a:ext cx="2011680" cy="438912"/>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Fondé par</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Harvard Humanitarian</a:t>
            </a:r>
            <a:endParaRPr lang="en-US" sz="1000"/>
          </a:p>
        </p:txBody>
      </p:sp>
      <p:sp>
        <p:nvSpPr>
          <p:cNvPr id="18" name="Shape 16"/>
          <p:cNvSpPr/>
          <p:nvPr/>
        </p:nvSpPr>
        <p:spPr>
          <a:xfrm>
            <a:off x="6894576" y="1188720"/>
            <a:ext cx="2011680" cy="146304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9" name="Shape 17"/>
          <p:cNvSpPr/>
          <p:nvPr/>
        </p:nvSpPr>
        <p:spPr>
          <a:xfrm>
            <a:off x="6894576" y="1188720"/>
            <a:ext cx="2011680" cy="73152"/>
          </a:xfrm>
          <a:prstGeom prst="rect">
            <a:avLst/>
          </a:prstGeom>
          <a:solidFill>
            <a:srgbClr val="28B463"/>
          </a:solidFill>
          <a:ln/>
        </p:spPr>
        <p:txBody>
          <a:bodyPr/>
          <a:lstStyle/>
          <a:p>
            <a:endParaRPr lang="fr-FR"/>
          </a:p>
        </p:txBody>
      </p:sp>
      <p:sp>
        <p:nvSpPr>
          <p:cNvPr id="20" name="Text 18"/>
          <p:cNvSpPr/>
          <p:nvPr/>
        </p:nvSpPr>
        <p:spPr>
          <a:xfrm>
            <a:off x="6894576" y="1316736"/>
            <a:ext cx="2011680" cy="621792"/>
          </a:xfrm>
          <a:prstGeom prst="rect">
            <a:avLst/>
          </a:prstGeom>
          <a:noFill/>
          <a:ln/>
        </p:spPr>
        <p:txBody>
          <a:bodyPr wrap="square" lIns="0" tIns="0" rIns="0" bIns="0" rtlCol="0" anchor="ctr"/>
          <a:lstStyle/>
          <a:p>
            <a:pPr marL="0" indent="0" algn="ctr">
              <a:lnSpc>
                <a:spcPct val="110000"/>
              </a:lnSpc>
              <a:buNone/>
            </a:pPr>
            <a:r>
              <a:rPr lang="en-US" sz="2600" b="1">
                <a:solidFill>
                  <a:srgbClr val="28B463"/>
                </a:solidFill>
                <a:latin typeface="Calibri" pitchFamily="34" charset="0"/>
                <a:ea typeface="Calibri" pitchFamily="34" charset="-122"/>
                <a:cs typeface="Calibri" pitchFamily="34" charset="-120"/>
              </a:rPr>
              <a:t>100%</a:t>
            </a:r>
            <a:endParaRPr lang="en-US" sz="2600"/>
          </a:p>
          <a:p>
            <a:pPr marL="0" indent="0" algn="ctr">
              <a:lnSpc>
                <a:spcPct val="110000"/>
              </a:lnSpc>
              <a:buNone/>
            </a:pPr>
            <a:r>
              <a:rPr lang="en-US" sz="2600" b="1">
                <a:solidFill>
                  <a:srgbClr val="28B463"/>
                </a:solidFill>
                <a:latin typeface="Calibri" pitchFamily="34" charset="0"/>
                <a:ea typeface="Calibri" pitchFamily="34" charset="-122"/>
                <a:cs typeface="Calibri" pitchFamily="34" charset="-120"/>
              </a:rPr>
              <a:t>gratuit</a:t>
            </a:r>
            <a:endParaRPr lang="en-US" sz="2600"/>
          </a:p>
        </p:txBody>
      </p:sp>
      <p:sp>
        <p:nvSpPr>
          <p:cNvPr id="21" name="Text 19"/>
          <p:cNvSpPr/>
          <p:nvPr/>
        </p:nvSpPr>
        <p:spPr>
          <a:xfrm>
            <a:off x="6894576" y="2001516"/>
            <a:ext cx="2011680" cy="438912"/>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Pour la grande</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majorité</a:t>
            </a:r>
            <a:endParaRPr lang="en-US" sz="1000"/>
          </a:p>
        </p:txBody>
      </p:sp>
      <p:sp>
        <p:nvSpPr>
          <p:cNvPr id="22" name="Shape 20"/>
          <p:cNvSpPr/>
          <p:nvPr/>
        </p:nvSpPr>
        <p:spPr>
          <a:xfrm>
            <a:off x="365760" y="2779776"/>
            <a:ext cx="2011680" cy="1938528"/>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23" name="Shape 21"/>
          <p:cNvSpPr/>
          <p:nvPr/>
        </p:nvSpPr>
        <p:spPr>
          <a:xfrm>
            <a:off x="365760" y="2779776"/>
            <a:ext cx="54864" cy="1938528"/>
          </a:xfrm>
          <a:prstGeom prst="rect">
            <a:avLst/>
          </a:prstGeom>
          <a:solidFill>
            <a:srgbClr val="1B2A6B"/>
          </a:solidFill>
          <a:ln/>
        </p:spPr>
        <p:txBody>
          <a:bodyPr/>
          <a:lstStyle/>
          <a:p>
            <a:endParaRPr lang="fr-FR"/>
          </a:p>
        </p:txBody>
      </p:sp>
      <p:pic>
        <p:nvPicPr>
          <p:cNvPr id="24" name="Image 0" descr="preencoded.png"/>
          <p:cNvPicPr>
            <a:picLocks noChangeAspect="1"/>
          </p:cNvPicPr>
          <p:nvPr/>
        </p:nvPicPr>
        <p:blipFill>
          <a:blip r:embed="rId3"/>
          <a:stretch>
            <a:fillRect/>
          </a:stretch>
        </p:blipFill>
        <p:spPr>
          <a:xfrm>
            <a:off x="493776" y="2944368"/>
            <a:ext cx="347472" cy="347472"/>
          </a:xfrm>
          <a:prstGeom prst="rect">
            <a:avLst/>
          </a:prstGeom>
        </p:spPr>
      </p:pic>
      <p:sp>
        <p:nvSpPr>
          <p:cNvPr id="25" name="Text 22"/>
          <p:cNvSpPr/>
          <p:nvPr/>
        </p:nvSpPr>
        <p:spPr>
          <a:xfrm>
            <a:off x="493776" y="3346704"/>
            <a:ext cx="1792224" cy="274320"/>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pitchFamily="34" charset="0"/>
                <a:ea typeface="Calibri" pitchFamily="34" charset="-122"/>
                <a:cs typeface="Calibri" pitchFamily="34" charset="-120"/>
              </a:rPr>
              <a:t>Fonctionne hors ligne</a:t>
            </a:r>
            <a:endParaRPr lang="en-US" sz="1100"/>
          </a:p>
        </p:txBody>
      </p:sp>
      <p:sp>
        <p:nvSpPr>
          <p:cNvPr id="26" name="Text 23"/>
          <p:cNvSpPr/>
          <p:nvPr/>
        </p:nvSpPr>
        <p:spPr>
          <a:xfrm>
            <a:off x="493776" y="3657600"/>
            <a:ext cx="1792224" cy="694944"/>
          </a:xfrm>
          <a:prstGeom prst="rect">
            <a:avLst/>
          </a:prstGeom>
          <a:noFill/>
          <a:ln/>
        </p:spPr>
        <p:txBody>
          <a:bodyPr wrap="square" lIns="0" tIns="0" rIns="0" bIns="0" rtlCol="0" anchor="ctr"/>
          <a:lstStyle/>
          <a:p>
            <a:pPr marL="0" indent="0">
              <a:lnSpc>
                <a:spcPct val="130000"/>
              </a:lnSpc>
              <a:buNone/>
            </a:pPr>
            <a:r>
              <a:rPr lang="en-US" sz="850">
                <a:solidFill>
                  <a:srgbClr val="7090A8"/>
                </a:solidFill>
                <a:latin typeface="Calibri" pitchFamily="34" charset="0"/>
                <a:ea typeface="Calibri" pitchFamily="34" charset="-122"/>
                <a:cs typeface="Calibri" pitchFamily="34" charset="-120"/>
              </a:rPr>
              <a:t>KoboCollect sur Android collecte sans internet et synchronise dès la connexion. Indispensable pour le terrain remote.</a:t>
            </a:r>
            <a:endParaRPr lang="en-US" sz="850"/>
          </a:p>
        </p:txBody>
      </p:sp>
      <p:sp>
        <p:nvSpPr>
          <p:cNvPr id="27" name="Shape 24"/>
          <p:cNvSpPr/>
          <p:nvPr/>
        </p:nvSpPr>
        <p:spPr>
          <a:xfrm>
            <a:off x="2542032" y="2779776"/>
            <a:ext cx="2011680" cy="1938528"/>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28" name="Shape 25"/>
          <p:cNvSpPr/>
          <p:nvPr/>
        </p:nvSpPr>
        <p:spPr>
          <a:xfrm>
            <a:off x="2542032" y="2779776"/>
            <a:ext cx="54864" cy="1938528"/>
          </a:xfrm>
          <a:prstGeom prst="rect">
            <a:avLst/>
          </a:prstGeom>
          <a:solidFill>
            <a:srgbClr val="1E8449"/>
          </a:solidFill>
          <a:ln/>
        </p:spPr>
        <p:txBody>
          <a:bodyPr/>
          <a:lstStyle/>
          <a:p>
            <a:endParaRPr lang="fr-FR"/>
          </a:p>
        </p:txBody>
      </p:sp>
      <p:pic>
        <p:nvPicPr>
          <p:cNvPr id="29" name="Image 1" descr="preencoded.png"/>
          <p:cNvPicPr>
            <a:picLocks noChangeAspect="1"/>
          </p:cNvPicPr>
          <p:nvPr/>
        </p:nvPicPr>
        <p:blipFill>
          <a:blip r:embed="rId4"/>
          <a:stretch>
            <a:fillRect/>
          </a:stretch>
        </p:blipFill>
        <p:spPr>
          <a:xfrm>
            <a:off x="2670048" y="2944368"/>
            <a:ext cx="347472" cy="347472"/>
          </a:xfrm>
          <a:prstGeom prst="rect">
            <a:avLst/>
          </a:prstGeom>
        </p:spPr>
      </p:pic>
      <p:sp>
        <p:nvSpPr>
          <p:cNvPr id="30" name="Text 26"/>
          <p:cNvSpPr/>
          <p:nvPr/>
        </p:nvSpPr>
        <p:spPr>
          <a:xfrm>
            <a:off x="2670048" y="3346704"/>
            <a:ext cx="1792224" cy="274320"/>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pitchFamily="34" charset="0"/>
                <a:ea typeface="Calibri" pitchFamily="34" charset="-122"/>
                <a:cs typeface="Calibri" pitchFamily="34" charset="-120"/>
              </a:rPr>
              <a:t>Android + Navigateur</a:t>
            </a:r>
            <a:endParaRPr lang="en-US" sz="1100"/>
          </a:p>
        </p:txBody>
      </p:sp>
      <p:sp>
        <p:nvSpPr>
          <p:cNvPr id="31" name="Text 27"/>
          <p:cNvSpPr/>
          <p:nvPr/>
        </p:nvSpPr>
        <p:spPr>
          <a:xfrm>
            <a:off x="2670048" y="3657600"/>
            <a:ext cx="1792224" cy="694944"/>
          </a:xfrm>
          <a:prstGeom prst="rect">
            <a:avLst/>
          </a:prstGeom>
          <a:noFill/>
          <a:ln/>
        </p:spPr>
        <p:txBody>
          <a:bodyPr wrap="square" lIns="0" tIns="0" rIns="0" bIns="0" rtlCol="0" anchor="ctr"/>
          <a:lstStyle/>
          <a:p>
            <a:pPr marL="0" indent="0">
              <a:lnSpc>
                <a:spcPct val="130000"/>
              </a:lnSpc>
              <a:buNone/>
            </a:pPr>
            <a:r>
              <a:rPr lang="en-US" sz="850">
                <a:solidFill>
                  <a:srgbClr val="7090A8"/>
                </a:solidFill>
                <a:latin typeface="Calibri" pitchFamily="34" charset="0"/>
                <a:ea typeface="Calibri" pitchFamily="34" charset="-122"/>
                <a:cs typeface="Calibri" pitchFamily="34" charset="-120"/>
              </a:rPr>
              <a:t>Tout appareil — tablette, téléphone, PC — collect via KoboCollect ou Enketo dans le navigateur.</a:t>
            </a:r>
            <a:endParaRPr lang="en-US" sz="850"/>
          </a:p>
        </p:txBody>
      </p:sp>
      <p:sp>
        <p:nvSpPr>
          <p:cNvPr id="32" name="Shape 28"/>
          <p:cNvSpPr/>
          <p:nvPr/>
        </p:nvSpPr>
        <p:spPr>
          <a:xfrm>
            <a:off x="4718304" y="2779776"/>
            <a:ext cx="2011680" cy="1938528"/>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33" name="Shape 29"/>
          <p:cNvSpPr/>
          <p:nvPr/>
        </p:nvSpPr>
        <p:spPr>
          <a:xfrm>
            <a:off x="4718304" y="2779776"/>
            <a:ext cx="54864" cy="1938528"/>
          </a:xfrm>
          <a:prstGeom prst="rect">
            <a:avLst/>
          </a:prstGeom>
          <a:solidFill>
            <a:srgbClr val="1B2A6B"/>
          </a:solidFill>
          <a:ln/>
        </p:spPr>
        <p:txBody>
          <a:bodyPr/>
          <a:lstStyle/>
          <a:p>
            <a:endParaRPr lang="fr-FR"/>
          </a:p>
        </p:txBody>
      </p:sp>
      <p:pic>
        <p:nvPicPr>
          <p:cNvPr id="34" name="Image 2" descr="preencoded.png"/>
          <p:cNvPicPr>
            <a:picLocks noChangeAspect="1"/>
          </p:cNvPicPr>
          <p:nvPr/>
        </p:nvPicPr>
        <p:blipFill>
          <a:blip r:embed="rId5"/>
          <a:stretch>
            <a:fillRect/>
          </a:stretch>
        </p:blipFill>
        <p:spPr>
          <a:xfrm>
            <a:off x="4846320" y="2944368"/>
            <a:ext cx="347472" cy="347472"/>
          </a:xfrm>
          <a:prstGeom prst="rect">
            <a:avLst/>
          </a:prstGeom>
        </p:spPr>
      </p:pic>
      <p:sp>
        <p:nvSpPr>
          <p:cNvPr id="35" name="Text 30"/>
          <p:cNvSpPr/>
          <p:nvPr/>
        </p:nvSpPr>
        <p:spPr>
          <a:xfrm>
            <a:off x="4846320" y="3346704"/>
            <a:ext cx="1792224" cy="274320"/>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pitchFamily="34" charset="0"/>
                <a:ea typeface="Calibri" pitchFamily="34" charset="-122"/>
                <a:cs typeface="Calibri" pitchFamily="34" charset="-120"/>
              </a:rPr>
              <a:t>Analyse intégrée</a:t>
            </a:r>
            <a:endParaRPr lang="en-US" sz="1100"/>
          </a:p>
        </p:txBody>
      </p:sp>
      <p:sp>
        <p:nvSpPr>
          <p:cNvPr id="36" name="Text 31"/>
          <p:cNvSpPr/>
          <p:nvPr/>
        </p:nvSpPr>
        <p:spPr>
          <a:xfrm>
            <a:off x="4846320" y="3657600"/>
            <a:ext cx="1792224" cy="694944"/>
          </a:xfrm>
          <a:prstGeom prst="rect">
            <a:avLst/>
          </a:prstGeom>
          <a:noFill/>
          <a:ln/>
        </p:spPr>
        <p:txBody>
          <a:bodyPr wrap="square" lIns="0" tIns="0" rIns="0" bIns="0" rtlCol="0" anchor="ctr"/>
          <a:lstStyle/>
          <a:p>
            <a:pPr marL="0" indent="0">
              <a:lnSpc>
                <a:spcPct val="130000"/>
              </a:lnSpc>
              <a:buNone/>
            </a:pPr>
            <a:r>
              <a:rPr lang="en-US" sz="850">
                <a:solidFill>
                  <a:srgbClr val="7090A8"/>
                </a:solidFill>
                <a:latin typeface="Calibri" pitchFamily="34" charset="0"/>
                <a:ea typeface="Calibri" pitchFamily="34" charset="-122"/>
                <a:cs typeface="Calibri" pitchFamily="34" charset="-120"/>
              </a:rPr>
              <a:t>Rapports automatiques, cartes GPS, exports XLS/CSV/GeoJSON — tout au même endroit, sans logiciel externe.</a:t>
            </a:r>
            <a:endParaRPr lang="en-US" sz="850"/>
          </a:p>
        </p:txBody>
      </p:sp>
      <p:sp>
        <p:nvSpPr>
          <p:cNvPr id="37" name="Shape 32"/>
          <p:cNvSpPr/>
          <p:nvPr/>
        </p:nvSpPr>
        <p:spPr>
          <a:xfrm>
            <a:off x="6894576" y="2779776"/>
            <a:ext cx="2011680" cy="1938528"/>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38" name="Shape 33"/>
          <p:cNvSpPr/>
          <p:nvPr/>
        </p:nvSpPr>
        <p:spPr>
          <a:xfrm>
            <a:off x="6894576" y="2779776"/>
            <a:ext cx="54864" cy="1938528"/>
          </a:xfrm>
          <a:prstGeom prst="rect">
            <a:avLst/>
          </a:prstGeom>
          <a:solidFill>
            <a:srgbClr val="0B6E4F"/>
          </a:solidFill>
          <a:ln/>
        </p:spPr>
        <p:txBody>
          <a:bodyPr/>
          <a:lstStyle/>
          <a:p>
            <a:endParaRPr lang="fr-FR"/>
          </a:p>
        </p:txBody>
      </p:sp>
      <p:pic>
        <p:nvPicPr>
          <p:cNvPr id="39" name="Image 3" descr="preencoded.png"/>
          <p:cNvPicPr>
            <a:picLocks noChangeAspect="1"/>
          </p:cNvPicPr>
          <p:nvPr/>
        </p:nvPicPr>
        <p:blipFill>
          <a:blip r:embed="rId6"/>
          <a:stretch>
            <a:fillRect/>
          </a:stretch>
        </p:blipFill>
        <p:spPr>
          <a:xfrm>
            <a:off x="7022592" y="2944368"/>
            <a:ext cx="347472" cy="347472"/>
          </a:xfrm>
          <a:prstGeom prst="rect">
            <a:avLst/>
          </a:prstGeom>
        </p:spPr>
      </p:pic>
      <p:sp>
        <p:nvSpPr>
          <p:cNvPr id="40" name="Text 34"/>
          <p:cNvSpPr/>
          <p:nvPr/>
        </p:nvSpPr>
        <p:spPr>
          <a:xfrm>
            <a:off x="7022592" y="3346704"/>
            <a:ext cx="1792224" cy="274320"/>
          </a:xfrm>
          <a:prstGeom prst="rect">
            <a:avLst/>
          </a:prstGeom>
          <a:noFill/>
          <a:ln/>
        </p:spPr>
        <p:txBody>
          <a:bodyPr wrap="square" lIns="0" tIns="0" rIns="0" bIns="0" rtlCol="0" anchor="ctr"/>
          <a:lstStyle/>
          <a:p>
            <a:pPr marL="0" indent="0">
              <a:lnSpc>
                <a:spcPct val="120000"/>
              </a:lnSpc>
              <a:buNone/>
            </a:pPr>
            <a:r>
              <a:rPr lang="en-US" sz="1100" b="1">
                <a:solidFill>
                  <a:srgbClr val="FFFFFF"/>
                </a:solidFill>
                <a:latin typeface="Calibri" pitchFamily="34" charset="0"/>
                <a:ea typeface="Calibri" pitchFamily="34" charset="-122"/>
                <a:cs typeface="Calibri" pitchFamily="34" charset="-120"/>
              </a:rPr>
              <a:t>API &amp; intégrations</a:t>
            </a:r>
            <a:endParaRPr lang="en-US" sz="1100"/>
          </a:p>
        </p:txBody>
      </p:sp>
      <p:sp>
        <p:nvSpPr>
          <p:cNvPr id="41" name="Text 35"/>
          <p:cNvSpPr/>
          <p:nvPr/>
        </p:nvSpPr>
        <p:spPr>
          <a:xfrm>
            <a:off x="7022592" y="3657600"/>
            <a:ext cx="1792224" cy="694944"/>
          </a:xfrm>
          <a:prstGeom prst="rect">
            <a:avLst/>
          </a:prstGeom>
          <a:noFill/>
          <a:ln/>
        </p:spPr>
        <p:txBody>
          <a:bodyPr wrap="square" lIns="0" tIns="0" rIns="0" bIns="0" rtlCol="0" anchor="ctr"/>
          <a:lstStyle/>
          <a:p>
            <a:pPr marL="0" indent="0">
              <a:lnSpc>
                <a:spcPct val="130000"/>
              </a:lnSpc>
              <a:buNone/>
            </a:pPr>
            <a:r>
              <a:rPr lang="en-US" sz="850">
                <a:solidFill>
                  <a:srgbClr val="7090A8"/>
                </a:solidFill>
                <a:latin typeface="Calibri" pitchFamily="34" charset="0"/>
                <a:ea typeface="Calibri" pitchFamily="34" charset="-122"/>
                <a:cs typeface="Calibri" pitchFamily="34" charset="-120"/>
              </a:rPr>
              <a:t>Power BI, Google Sheets, webhooks, REST API — connectez Kobo à vos systèmes existants.</a:t>
            </a:r>
            <a:endParaRPr lang="en-US" sz="850"/>
          </a:p>
        </p:txBody>
      </p:sp>
      <p:sp>
        <p:nvSpPr>
          <p:cNvPr id="42" name="Shape 36"/>
          <p:cNvSpPr/>
          <p:nvPr/>
        </p:nvSpPr>
        <p:spPr>
          <a:xfrm>
            <a:off x="0" y="4892040"/>
            <a:ext cx="9144000" cy="251460"/>
          </a:xfrm>
          <a:prstGeom prst="rect">
            <a:avLst/>
          </a:prstGeom>
          <a:solidFill>
            <a:srgbClr val="0D1B35"/>
          </a:solidFill>
          <a:ln/>
        </p:spPr>
        <p:txBody>
          <a:bodyPr/>
          <a:lstStyle/>
          <a:p>
            <a:endParaRPr lang="fr-FR"/>
          </a:p>
        </p:txBody>
      </p:sp>
      <p:sp>
        <p:nvSpPr>
          <p:cNvPr id="43" name="Text 37"/>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44" name="Text 38"/>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4 / 16</a:t>
            </a:r>
            <a:endParaRPr lang="en-US" sz="9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ppt_x"/>
                                          </p:val>
                                        </p:tav>
                                        <p:tav tm="100000">
                                          <p:val>
                                            <p:strVal val="#ppt_x"/>
                                          </p:val>
                                        </p:tav>
                                      </p:tavLst>
                                    </p:anim>
                                    <p:anim calcmode="lin" valueType="num">
                                      <p:cBhvr additive="base">
                                        <p:cTn id="12" dur="500" fill="hold"/>
                                        <p:tgtEl>
                                          <p:spTgt spid="2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ppt_x"/>
                                          </p:val>
                                        </p:tav>
                                        <p:tav tm="100000">
                                          <p:val>
                                            <p:strVal val="#ppt_x"/>
                                          </p:val>
                                        </p:tav>
                                      </p:tavLst>
                                    </p:anim>
                                    <p:anim calcmode="lin" valueType="num">
                                      <p:cBhvr additive="base">
                                        <p:cTn id="16" dur="500" fill="hold"/>
                                        <p:tgtEl>
                                          <p:spTgt spid="26"/>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fill="hold"/>
                                        <p:tgtEl>
                                          <p:spTgt spid="30"/>
                                        </p:tgtEl>
                                        <p:attrNameLst>
                                          <p:attrName>ppt_x</p:attrName>
                                        </p:attrNameLst>
                                      </p:cBhvr>
                                      <p:tavLst>
                                        <p:tav tm="0">
                                          <p:val>
                                            <p:strVal val="#ppt_x"/>
                                          </p:val>
                                        </p:tav>
                                        <p:tav tm="100000">
                                          <p:val>
                                            <p:strVal val="#ppt_x"/>
                                          </p:val>
                                        </p:tav>
                                      </p:tavLst>
                                    </p:anim>
                                    <p:anim calcmode="lin" valueType="num">
                                      <p:cBhvr additive="base">
                                        <p:cTn id="24" dur="500" fill="hold"/>
                                        <p:tgtEl>
                                          <p:spTgt spid="3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anim calcmode="lin" valueType="num">
                                      <p:cBhvr additive="base">
                                        <p:cTn id="27" dur="500" fill="hold"/>
                                        <p:tgtEl>
                                          <p:spTgt spid="31"/>
                                        </p:tgtEl>
                                        <p:attrNameLst>
                                          <p:attrName>ppt_x</p:attrName>
                                        </p:attrNameLst>
                                      </p:cBhvr>
                                      <p:tavLst>
                                        <p:tav tm="0">
                                          <p:val>
                                            <p:strVal val="#ppt_x"/>
                                          </p:val>
                                        </p:tav>
                                        <p:tav tm="100000">
                                          <p:val>
                                            <p:strVal val="#ppt_x"/>
                                          </p:val>
                                        </p:tav>
                                      </p:tavLst>
                                    </p:anim>
                                    <p:anim calcmode="lin" valueType="num">
                                      <p:cBhvr additive="base">
                                        <p:cTn id="28" dur="500" fill="hold"/>
                                        <p:tgtEl>
                                          <p:spTgt spid="31"/>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anim calcmode="lin" valueType="num">
                                      <p:cBhvr additive="base">
                                        <p:cTn id="35" dur="500" fill="hold"/>
                                        <p:tgtEl>
                                          <p:spTgt spid="35"/>
                                        </p:tgtEl>
                                        <p:attrNameLst>
                                          <p:attrName>ppt_x</p:attrName>
                                        </p:attrNameLst>
                                      </p:cBhvr>
                                      <p:tavLst>
                                        <p:tav tm="0">
                                          <p:val>
                                            <p:strVal val="#ppt_x"/>
                                          </p:val>
                                        </p:tav>
                                        <p:tav tm="100000">
                                          <p:val>
                                            <p:strVal val="#ppt_x"/>
                                          </p:val>
                                        </p:tav>
                                      </p:tavLst>
                                    </p:anim>
                                    <p:anim calcmode="lin" valueType="num">
                                      <p:cBhvr additive="base">
                                        <p:cTn id="36" dur="500" fill="hold"/>
                                        <p:tgtEl>
                                          <p:spTgt spid="3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 calcmode="lin" valueType="num">
                                      <p:cBhvr additive="base">
                                        <p:cTn id="39" dur="500" fill="hold"/>
                                        <p:tgtEl>
                                          <p:spTgt spid="36"/>
                                        </p:tgtEl>
                                        <p:attrNameLst>
                                          <p:attrName>ppt_x</p:attrName>
                                        </p:attrNameLst>
                                      </p:cBhvr>
                                      <p:tavLst>
                                        <p:tav tm="0">
                                          <p:val>
                                            <p:strVal val="#ppt_x"/>
                                          </p:val>
                                        </p:tav>
                                        <p:tav tm="100000">
                                          <p:val>
                                            <p:strVal val="#ppt_x"/>
                                          </p:val>
                                        </p:tav>
                                      </p:tavLst>
                                    </p:anim>
                                    <p:anim calcmode="lin" valueType="num">
                                      <p:cBhvr additive="base">
                                        <p:cTn id="40" dur="500" fill="hold"/>
                                        <p:tgtEl>
                                          <p:spTgt spid="3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500" fill="hold"/>
                                        <p:tgtEl>
                                          <p:spTgt spid="39"/>
                                        </p:tgtEl>
                                        <p:attrNameLst>
                                          <p:attrName>ppt_x</p:attrName>
                                        </p:attrNameLst>
                                      </p:cBhvr>
                                      <p:tavLst>
                                        <p:tav tm="0">
                                          <p:val>
                                            <p:strVal val="#ppt_x"/>
                                          </p:val>
                                        </p:tav>
                                        <p:tav tm="100000">
                                          <p:val>
                                            <p:strVal val="#ppt_x"/>
                                          </p:val>
                                        </p:tav>
                                      </p:tavLst>
                                    </p:anim>
                                    <p:anim calcmode="lin" valueType="num">
                                      <p:cBhvr additive="base">
                                        <p:cTn id="44" dur="50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additive="base">
                                        <p:cTn id="47" dur="500" fill="hold"/>
                                        <p:tgtEl>
                                          <p:spTgt spid="40"/>
                                        </p:tgtEl>
                                        <p:attrNameLst>
                                          <p:attrName>ppt_x</p:attrName>
                                        </p:attrNameLst>
                                      </p:cBhvr>
                                      <p:tavLst>
                                        <p:tav tm="0">
                                          <p:val>
                                            <p:strVal val="#ppt_x"/>
                                          </p:val>
                                        </p:tav>
                                        <p:tav tm="100000">
                                          <p:val>
                                            <p:strVal val="#ppt_x"/>
                                          </p:val>
                                        </p:tav>
                                      </p:tavLst>
                                    </p:anim>
                                    <p:anim calcmode="lin" valueType="num">
                                      <p:cBhvr additive="base">
                                        <p:cTn id="48" dur="500" fill="hold"/>
                                        <p:tgtEl>
                                          <p:spTgt spid="4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41"/>
                                        </p:tgtEl>
                                        <p:attrNameLst>
                                          <p:attrName>style.visibility</p:attrName>
                                        </p:attrNameLst>
                                      </p:cBhvr>
                                      <p:to>
                                        <p:strVal val="visible"/>
                                      </p:to>
                                    </p:set>
                                    <p:anim calcmode="lin" valueType="num">
                                      <p:cBhvr additive="base">
                                        <p:cTn id="51" dur="500" fill="hold"/>
                                        <p:tgtEl>
                                          <p:spTgt spid="41"/>
                                        </p:tgtEl>
                                        <p:attrNameLst>
                                          <p:attrName>ppt_x</p:attrName>
                                        </p:attrNameLst>
                                      </p:cBhvr>
                                      <p:tavLst>
                                        <p:tav tm="0">
                                          <p:val>
                                            <p:strVal val="#ppt_x"/>
                                          </p:val>
                                        </p:tav>
                                        <p:tav tm="100000">
                                          <p:val>
                                            <p:strVal val="#ppt_x"/>
                                          </p:val>
                                        </p:tav>
                                      </p:tavLst>
                                    </p:anim>
                                    <p:anim calcmode="lin" valueType="num">
                                      <p:cBhvr additive="base">
                                        <p:cTn id="5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P spid="30" grpId="0" animBg="1"/>
      <p:bldP spid="31" grpId="0" animBg="1"/>
      <p:bldP spid="35" grpId="0" animBg="1"/>
      <p:bldP spid="36" grpId="0" animBg="1"/>
      <p:bldP spid="40" grpId="0" animBg="1"/>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Plan de la série — 12 modules · 18 vidéos</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De la création du formulaire à l'analyse des données — un parcours complet et progressif</a:t>
            </a:r>
            <a:endParaRPr lang="en-US" sz="1200"/>
          </a:p>
        </p:txBody>
      </p:sp>
      <p:sp>
        <p:nvSpPr>
          <p:cNvPr id="6" name="Shape 4"/>
          <p:cNvSpPr/>
          <p:nvPr/>
        </p:nvSpPr>
        <p:spPr>
          <a:xfrm>
            <a:off x="256032" y="1188720"/>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56032" y="1188720"/>
            <a:ext cx="73152" cy="1115568"/>
          </a:xfrm>
          <a:prstGeom prst="rect">
            <a:avLst/>
          </a:prstGeom>
          <a:solidFill>
            <a:srgbClr val="02C39A"/>
          </a:solidFill>
          <a:ln/>
        </p:spPr>
        <p:txBody>
          <a:bodyPr/>
          <a:lstStyle/>
          <a:p>
            <a:endParaRPr lang="fr-FR"/>
          </a:p>
        </p:txBody>
      </p:sp>
      <p:sp>
        <p:nvSpPr>
          <p:cNvPr id="8" name="Shape 6"/>
          <p:cNvSpPr/>
          <p:nvPr/>
        </p:nvSpPr>
        <p:spPr>
          <a:xfrm>
            <a:off x="256032" y="1188720"/>
            <a:ext cx="2029968" cy="329184"/>
          </a:xfrm>
          <a:prstGeom prst="rect">
            <a:avLst/>
          </a:prstGeom>
          <a:solidFill>
            <a:srgbClr val="02C39A"/>
          </a:solidFill>
          <a:ln/>
        </p:spPr>
        <p:txBody>
          <a:bodyPr/>
          <a:lstStyle/>
          <a:p>
            <a:endParaRPr lang="fr-FR"/>
          </a:p>
        </p:txBody>
      </p:sp>
      <p:sp>
        <p:nvSpPr>
          <p:cNvPr id="9" name="Text 7"/>
          <p:cNvSpPr/>
          <p:nvPr/>
        </p:nvSpPr>
        <p:spPr>
          <a:xfrm>
            <a:off x="384048" y="1225296"/>
            <a:ext cx="475488" cy="256032"/>
          </a:xfrm>
          <a:prstGeom prst="rect">
            <a:avLst/>
          </a:prstGeom>
          <a:noFill/>
          <a:ln/>
        </p:spPr>
        <p:txBody>
          <a:bodyPr wrap="square" lIns="0" tIns="0" rIns="0" bIns="0" rtlCol="0" anchor="ctr"/>
          <a:lstStyle/>
          <a:p>
            <a:pPr marL="0" indent="0">
              <a:buNone/>
            </a:pPr>
            <a:r>
              <a:rPr lang="en-US" sz="1000" b="1">
                <a:solidFill>
                  <a:srgbClr val="02C39A"/>
                </a:solidFill>
                <a:latin typeface="Calibri" pitchFamily="34" charset="0"/>
                <a:ea typeface="Calibri" pitchFamily="34" charset="-122"/>
                <a:cs typeface="Calibri" pitchFamily="34" charset="-120"/>
              </a:rPr>
              <a:t>M1</a:t>
            </a:r>
            <a:endParaRPr lang="en-US" sz="1000"/>
          </a:p>
        </p:txBody>
      </p:sp>
      <p:sp>
        <p:nvSpPr>
          <p:cNvPr id="10" name="Text 8"/>
          <p:cNvSpPr/>
          <p:nvPr/>
        </p:nvSpPr>
        <p:spPr>
          <a:xfrm>
            <a:off x="914400" y="1225296"/>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a:t>
            </a:r>
            <a:endParaRPr lang="en-US" sz="900"/>
          </a:p>
        </p:txBody>
      </p:sp>
      <p:sp>
        <p:nvSpPr>
          <p:cNvPr id="11" name="Text 9"/>
          <p:cNvSpPr/>
          <p:nvPr/>
        </p:nvSpPr>
        <p:spPr>
          <a:xfrm>
            <a:off x="384048" y="1572768"/>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Intro &amp; Compte</a:t>
            </a:r>
            <a:endParaRPr lang="en-US" sz="1100"/>
          </a:p>
        </p:txBody>
      </p:sp>
      <p:sp>
        <p:nvSpPr>
          <p:cNvPr id="12" name="Text 10"/>
          <p:cNvSpPr/>
          <p:nvPr/>
        </p:nvSpPr>
        <p:spPr>
          <a:xfrm>
            <a:off x="384048" y="2029968"/>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~15 min</a:t>
            </a:r>
            <a:endParaRPr lang="en-US" sz="900"/>
          </a:p>
        </p:txBody>
      </p:sp>
      <p:sp>
        <p:nvSpPr>
          <p:cNvPr id="13" name="Shape 11"/>
          <p:cNvSpPr/>
          <p:nvPr/>
        </p:nvSpPr>
        <p:spPr>
          <a:xfrm>
            <a:off x="2432304" y="1188720"/>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14" name="Shape 12"/>
          <p:cNvSpPr/>
          <p:nvPr/>
        </p:nvSpPr>
        <p:spPr>
          <a:xfrm>
            <a:off x="2432304" y="1188720"/>
            <a:ext cx="73152" cy="1115568"/>
          </a:xfrm>
          <a:prstGeom prst="rect">
            <a:avLst/>
          </a:prstGeom>
          <a:solidFill>
            <a:srgbClr val="E67E22"/>
          </a:solidFill>
          <a:ln/>
        </p:spPr>
        <p:txBody>
          <a:bodyPr/>
          <a:lstStyle/>
          <a:p>
            <a:endParaRPr lang="fr-FR"/>
          </a:p>
        </p:txBody>
      </p:sp>
      <p:sp>
        <p:nvSpPr>
          <p:cNvPr id="15" name="Shape 13"/>
          <p:cNvSpPr/>
          <p:nvPr/>
        </p:nvSpPr>
        <p:spPr>
          <a:xfrm>
            <a:off x="2432304" y="1188720"/>
            <a:ext cx="2029968" cy="329184"/>
          </a:xfrm>
          <a:prstGeom prst="rect">
            <a:avLst/>
          </a:prstGeom>
          <a:solidFill>
            <a:srgbClr val="E67E22"/>
          </a:solidFill>
          <a:ln/>
        </p:spPr>
        <p:txBody>
          <a:bodyPr/>
          <a:lstStyle/>
          <a:p>
            <a:endParaRPr lang="fr-FR"/>
          </a:p>
        </p:txBody>
      </p:sp>
      <p:sp>
        <p:nvSpPr>
          <p:cNvPr id="16" name="Text 14"/>
          <p:cNvSpPr/>
          <p:nvPr/>
        </p:nvSpPr>
        <p:spPr>
          <a:xfrm>
            <a:off x="2560320" y="1225296"/>
            <a:ext cx="475488" cy="256032"/>
          </a:xfrm>
          <a:prstGeom prst="rect">
            <a:avLst/>
          </a:prstGeom>
          <a:noFill/>
          <a:ln/>
        </p:spPr>
        <p:txBody>
          <a:bodyPr wrap="square" lIns="0" tIns="0" rIns="0" bIns="0" rtlCol="0" anchor="ctr"/>
          <a:lstStyle/>
          <a:p>
            <a:pPr marL="0" indent="0">
              <a:buNone/>
            </a:pPr>
            <a:r>
              <a:rPr lang="en-US" sz="1000" b="1">
                <a:solidFill>
                  <a:srgbClr val="E67E22"/>
                </a:solidFill>
                <a:latin typeface="Calibri" pitchFamily="34" charset="0"/>
                <a:ea typeface="Calibri" pitchFamily="34" charset="-122"/>
                <a:cs typeface="Calibri" pitchFamily="34" charset="-120"/>
              </a:rPr>
              <a:t>M2</a:t>
            </a:r>
            <a:endParaRPr lang="en-US" sz="1000"/>
          </a:p>
        </p:txBody>
      </p:sp>
      <p:sp>
        <p:nvSpPr>
          <p:cNvPr id="17" name="Text 15"/>
          <p:cNvSpPr/>
          <p:nvPr/>
        </p:nvSpPr>
        <p:spPr>
          <a:xfrm>
            <a:off x="3090672" y="1225296"/>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Vid.2</a:t>
            </a:r>
            <a:endParaRPr lang="en-US" sz="900"/>
          </a:p>
        </p:txBody>
      </p:sp>
      <p:sp>
        <p:nvSpPr>
          <p:cNvPr id="18" name="Text 16"/>
          <p:cNvSpPr/>
          <p:nvPr/>
        </p:nvSpPr>
        <p:spPr>
          <a:xfrm>
            <a:off x="2560320" y="1572768"/>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Interface &amp; Nav.</a:t>
            </a:r>
            <a:endParaRPr lang="en-US" sz="1100"/>
          </a:p>
        </p:txBody>
      </p:sp>
      <p:sp>
        <p:nvSpPr>
          <p:cNvPr id="19" name="Text 17"/>
          <p:cNvSpPr/>
          <p:nvPr/>
        </p:nvSpPr>
        <p:spPr>
          <a:xfrm>
            <a:off x="2560320" y="2029968"/>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~12 min</a:t>
            </a:r>
            <a:endParaRPr lang="en-US" sz="900"/>
          </a:p>
        </p:txBody>
      </p:sp>
      <p:sp>
        <p:nvSpPr>
          <p:cNvPr id="20" name="Shape 18"/>
          <p:cNvSpPr/>
          <p:nvPr/>
        </p:nvSpPr>
        <p:spPr>
          <a:xfrm>
            <a:off x="4608576" y="1188720"/>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9"/>
          <p:cNvSpPr/>
          <p:nvPr/>
        </p:nvSpPr>
        <p:spPr>
          <a:xfrm>
            <a:off x="4608576" y="1188720"/>
            <a:ext cx="73152" cy="1115568"/>
          </a:xfrm>
          <a:prstGeom prst="rect">
            <a:avLst/>
          </a:prstGeom>
          <a:solidFill>
            <a:srgbClr val="0B6E4F"/>
          </a:solidFill>
          <a:ln/>
        </p:spPr>
        <p:txBody>
          <a:bodyPr/>
          <a:lstStyle/>
          <a:p>
            <a:endParaRPr lang="fr-FR"/>
          </a:p>
        </p:txBody>
      </p:sp>
      <p:sp>
        <p:nvSpPr>
          <p:cNvPr id="22" name="Shape 20"/>
          <p:cNvSpPr/>
          <p:nvPr/>
        </p:nvSpPr>
        <p:spPr>
          <a:xfrm>
            <a:off x="4608576" y="1188720"/>
            <a:ext cx="2029968" cy="329184"/>
          </a:xfrm>
          <a:prstGeom prst="rect">
            <a:avLst/>
          </a:prstGeom>
          <a:solidFill>
            <a:srgbClr val="0B6E4F"/>
          </a:solidFill>
          <a:ln/>
        </p:spPr>
        <p:txBody>
          <a:bodyPr/>
          <a:lstStyle/>
          <a:p>
            <a:endParaRPr lang="fr-FR"/>
          </a:p>
        </p:txBody>
      </p:sp>
      <p:sp>
        <p:nvSpPr>
          <p:cNvPr id="23" name="Text 21"/>
          <p:cNvSpPr/>
          <p:nvPr/>
        </p:nvSpPr>
        <p:spPr>
          <a:xfrm>
            <a:off x="4736592" y="1225296"/>
            <a:ext cx="475488" cy="256032"/>
          </a:xfrm>
          <a:prstGeom prst="rect">
            <a:avLst/>
          </a:prstGeom>
          <a:noFill/>
          <a:ln/>
        </p:spPr>
        <p:txBody>
          <a:bodyPr wrap="square" lIns="0" tIns="0" rIns="0" bIns="0" rtlCol="0" anchor="ctr"/>
          <a:lstStyle/>
          <a:p>
            <a:pPr marL="0" indent="0">
              <a:buNone/>
            </a:pPr>
            <a:r>
              <a:rPr lang="en-US" sz="1000" b="1">
                <a:solidFill>
                  <a:srgbClr val="0B6E4F"/>
                </a:solidFill>
                <a:latin typeface="Calibri" pitchFamily="34" charset="0"/>
                <a:ea typeface="Calibri" pitchFamily="34" charset="-122"/>
                <a:cs typeface="Calibri" pitchFamily="34" charset="-120"/>
              </a:rPr>
              <a:t>M3</a:t>
            </a:r>
            <a:endParaRPr lang="en-US" sz="1000"/>
          </a:p>
        </p:txBody>
      </p:sp>
      <p:sp>
        <p:nvSpPr>
          <p:cNvPr id="24" name="Text 22"/>
          <p:cNvSpPr/>
          <p:nvPr/>
        </p:nvSpPr>
        <p:spPr>
          <a:xfrm>
            <a:off x="5266944" y="1225296"/>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Vid.3–4</a:t>
            </a:r>
            <a:endParaRPr lang="en-US" sz="900"/>
          </a:p>
        </p:txBody>
      </p:sp>
      <p:sp>
        <p:nvSpPr>
          <p:cNvPr id="25" name="Text 23"/>
          <p:cNvSpPr/>
          <p:nvPr/>
        </p:nvSpPr>
        <p:spPr>
          <a:xfrm>
            <a:off x="4736592" y="1572768"/>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1er formulaire</a:t>
            </a:r>
            <a:endParaRPr lang="en-US" sz="1100"/>
          </a:p>
        </p:txBody>
      </p:sp>
      <p:sp>
        <p:nvSpPr>
          <p:cNvPr id="26" name="Text 24"/>
          <p:cNvSpPr/>
          <p:nvPr/>
        </p:nvSpPr>
        <p:spPr>
          <a:xfrm>
            <a:off x="4736592" y="2029968"/>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~35 min</a:t>
            </a:r>
            <a:endParaRPr lang="en-US" sz="900"/>
          </a:p>
        </p:txBody>
      </p:sp>
      <p:sp>
        <p:nvSpPr>
          <p:cNvPr id="27" name="Shape 25"/>
          <p:cNvSpPr/>
          <p:nvPr/>
        </p:nvSpPr>
        <p:spPr>
          <a:xfrm>
            <a:off x="6784848" y="1188720"/>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8" name="Shape 26"/>
          <p:cNvSpPr/>
          <p:nvPr/>
        </p:nvSpPr>
        <p:spPr>
          <a:xfrm>
            <a:off x="6784848" y="1188720"/>
            <a:ext cx="73152" cy="1115568"/>
          </a:xfrm>
          <a:prstGeom prst="rect">
            <a:avLst/>
          </a:prstGeom>
          <a:solidFill>
            <a:srgbClr val="7D3C98"/>
          </a:solidFill>
          <a:ln/>
        </p:spPr>
        <p:txBody>
          <a:bodyPr/>
          <a:lstStyle/>
          <a:p>
            <a:endParaRPr lang="fr-FR"/>
          </a:p>
        </p:txBody>
      </p:sp>
      <p:sp>
        <p:nvSpPr>
          <p:cNvPr id="29" name="Shape 27"/>
          <p:cNvSpPr/>
          <p:nvPr/>
        </p:nvSpPr>
        <p:spPr>
          <a:xfrm>
            <a:off x="6784848" y="1188720"/>
            <a:ext cx="2029968" cy="329184"/>
          </a:xfrm>
          <a:prstGeom prst="rect">
            <a:avLst/>
          </a:prstGeom>
          <a:solidFill>
            <a:srgbClr val="7D3C98"/>
          </a:solidFill>
          <a:ln/>
        </p:spPr>
        <p:txBody>
          <a:bodyPr/>
          <a:lstStyle/>
          <a:p>
            <a:endParaRPr lang="fr-FR"/>
          </a:p>
        </p:txBody>
      </p:sp>
      <p:sp>
        <p:nvSpPr>
          <p:cNvPr id="30" name="Text 28"/>
          <p:cNvSpPr/>
          <p:nvPr/>
        </p:nvSpPr>
        <p:spPr>
          <a:xfrm>
            <a:off x="6912864" y="1225296"/>
            <a:ext cx="475488" cy="256032"/>
          </a:xfrm>
          <a:prstGeom prst="rect">
            <a:avLst/>
          </a:prstGeom>
          <a:noFill/>
          <a:ln/>
        </p:spPr>
        <p:txBody>
          <a:bodyPr wrap="square" lIns="0" tIns="0" rIns="0" bIns="0" rtlCol="0" anchor="ctr"/>
          <a:lstStyle/>
          <a:p>
            <a:pPr marL="0" indent="0">
              <a:buNone/>
            </a:pPr>
            <a:r>
              <a:rPr lang="en-US" sz="1000" b="1">
                <a:solidFill>
                  <a:srgbClr val="7D3C98"/>
                </a:solidFill>
                <a:latin typeface="Calibri" pitchFamily="34" charset="0"/>
                <a:ea typeface="Calibri" pitchFamily="34" charset="-122"/>
                <a:cs typeface="Calibri" pitchFamily="34" charset="-120"/>
              </a:rPr>
              <a:t>M4</a:t>
            </a:r>
            <a:endParaRPr lang="en-US" sz="1000"/>
          </a:p>
        </p:txBody>
      </p:sp>
      <p:sp>
        <p:nvSpPr>
          <p:cNvPr id="31" name="Text 29"/>
          <p:cNvSpPr/>
          <p:nvPr/>
        </p:nvSpPr>
        <p:spPr>
          <a:xfrm>
            <a:off x="7443216" y="1225296"/>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Vid.5–6</a:t>
            </a:r>
            <a:endParaRPr lang="en-US" sz="900"/>
          </a:p>
        </p:txBody>
      </p:sp>
      <p:sp>
        <p:nvSpPr>
          <p:cNvPr id="32" name="Text 30"/>
          <p:cNvSpPr/>
          <p:nvPr/>
        </p:nvSpPr>
        <p:spPr>
          <a:xfrm>
            <a:off x="6912864" y="1572768"/>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Questions avancées</a:t>
            </a:r>
            <a:endParaRPr lang="en-US" sz="1100"/>
          </a:p>
        </p:txBody>
      </p:sp>
      <p:sp>
        <p:nvSpPr>
          <p:cNvPr id="33" name="Text 31"/>
          <p:cNvSpPr/>
          <p:nvPr/>
        </p:nvSpPr>
        <p:spPr>
          <a:xfrm>
            <a:off x="6912864" y="2029968"/>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~40 min</a:t>
            </a:r>
            <a:endParaRPr lang="en-US" sz="900"/>
          </a:p>
        </p:txBody>
      </p:sp>
      <p:sp>
        <p:nvSpPr>
          <p:cNvPr id="34" name="Shape 32"/>
          <p:cNvSpPr/>
          <p:nvPr/>
        </p:nvSpPr>
        <p:spPr>
          <a:xfrm>
            <a:off x="256032" y="2395728"/>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33"/>
          <p:cNvSpPr/>
          <p:nvPr/>
        </p:nvSpPr>
        <p:spPr>
          <a:xfrm>
            <a:off x="256032" y="2395728"/>
            <a:ext cx="73152" cy="1115568"/>
          </a:xfrm>
          <a:prstGeom prst="rect">
            <a:avLst/>
          </a:prstGeom>
          <a:solidFill>
            <a:srgbClr val="BA4A00"/>
          </a:solidFill>
          <a:ln/>
        </p:spPr>
        <p:txBody>
          <a:bodyPr/>
          <a:lstStyle/>
          <a:p>
            <a:endParaRPr lang="fr-FR"/>
          </a:p>
        </p:txBody>
      </p:sp>
      <p:sp>
        <p:nvSpPr>
          <p:cNvPr id="36" name="Shape 34"/>
          <p:cNvSpPr/>
          <p:nvPr/>
        </p:nvSpPr>
        <p:spPr>
          <a:xfrm>
            <a:off x="256032" y="2395728"/>
            <a:ext cx="2029968" cy="329184"/>
          </a:xfrm>
          <a:prstGeom prst="rect">
            <a:avLst/>
          </a:prstGeom>
          <a:solidFill>
            <a:srgbClr val="BA4A00"/>
          </a:solidFill>
          <a:ln/>
        </p:spPr>
        <p:txBody>
          <a:bodyPr/>
          <a:lstStyle/>
          <a:p>
            <a:endParaRPr lang="fr-FR"/>
          </a:p>
        </p:txBody>
      </p:sp>
      <p:sp>
        <p:nvSpPr>
          <p:cNvPr id="37" name="Text 35"/>
          <p:cNvSpPr/>
          <p:nvPr/>
        </p:nvSpPr>
        <p:spPr>
          <a:xfrm>
            <a:off x="384048" y="2432304"/>
            <a:ext cx="475488" cy="256032"/>
          </a:xfrm>
          <a:prstGeom prst="rect">
            <a:avLst/>
          </a:prstGeom>
          <a:noFill/>
          <a:ln/>
        </p:spPr>
        <p:txBody>
          <a:bodyPr wrap="square" lIns="0" tIns="0" rIns="0" bIns="0" rtlCol="0" anchor="ctr"/>
          <a:lstStyle/>
          <a:p>
            <a:pPr marL="0" indent="0">
              <a:buNone/>
            </a:pPr>
            <a:r>
              <a:rPr lang="en-US" sz="1000" b="1">
                <a:solidFill>
                  <a:srgbClr val="BA4A00"/>
                </a:solidFill>
                <a:latin typeface="Calibri" pitchFamily="34" charset="0"/>
                <a:ea typeface="Calibri" pitchFamily="34" charset="-122"/>
                <a:cs typeface="Calibri" pitchFamily="34" charset="-120"/>
              </a:rPr>
              <a:t>M5</a:t>
            </a:r>
            <a:endParaRPr lang="en-US" sz="1000"/>
          </a:p>
        </p:txBody>
      </p:sp>
      <p:sp>
        <p:nvSpPr>
          <p:cNvPr id="38" name="Text 36"/>
          <p:cNvSpPr/>
          <p:nvPr/>
        </p:nvSpPr>
        <p:spPr>
          <a:xfrm>
            <a:off x="914400" y="2432304"/>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Vid.7–8</a:t>
            </a:r>
            <a:endParaRPr lang="en-US" sz="900"/>
          </a:p>
        </p:txBody>
      </p:sp>
      <p:sp>
        <p:nvSpPr>
          <p:cNvPr id="39" name="Text 37"/>
          <p:cNvSpPr/>
          <p:nvPr/>
        </p:nvSpPr>
        <p:spPr>
          <a:xfrm>
            <a:off x="384048" y="2779776"/>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Logique XPath</a:t>
            </a:r>
            <a:endParaRPr lang="en-US" sz="1100"/>
          </a:p>
        </p:txBody>
      </p:sp>
      <p:sp>
        <p:nvSpPr>
          <p:cNvPr id="40" name="Text 38"/>
          <p:cNvSpPr/>
          <p:nvPr/>
        </p:nvSpPr>
        <p:spPr>
          <a:xfrm>
            <a:off x="384048" y="3236976"/>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~45 min</a:t>
            </a:r>
            <a:endParaRPr lang="en-US" sz="900"/>
          </a:p>
        </p:txBody>
      </p:sp>
      <p:sp>
        <p:nvSpPr>
          <p:cNvPr id="41" name="Shape 39"/>
          <p:cNvSpPr/>
          <p:nvPr/>
        </p:nvSpPr>
        <p:spPr>
          <a:xfrm>
            <a:off x="2432304" y="2395728"/>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42" name="Shape 40"/>
          <p:cNvSpPr/>
          <p:nvPr/>
        </p:nvSpPr>
        <p:spPr>
          <a:xfrm>
            <a:off x="2432304" y="2395728"/>
            <a:ext cx="73152" cy="1115568"/>
          </a:xfrm>
          <a:prstGeom prst="rect">
            <a:avLst/>
          </a:prstGeom>
          <a:solidFill>
            <a:srgbClr val="2E86C1"/>
          </a:solidFill>
          <a:ln/>
        </p:spPr>
        <p:txBody>
          <a:bodyPr/>
          <a:lstStyle/>
          <a:p>
            <a:endParaRPr lang="fr-FR"/>
          </a:p>
        </p:txBody>
      </p:sp>
      <p:sp>
        <p:nvSpPr>
          <p:cNvPr id="43" name="Shape 41"/>
          <p:cNvSpPr/>
          <p:nvPr/>
        </p:nvSpPr>
        <p:spPr>
          <a:xfrm>
            <a:off x="2432304" y="2395728"/>
            <a:ext cx="2029968" cy="329184"/>
          </a:xfrm>
          <a:prstGeom prst="rect">
            <a:avLst/>
          </a:prstGeom>
          <a:solidFill>
            <a:srgbClr val="2E86C1"/>
          </a:solidFill>
          <a:ln/>
        </p:spPr>
        <p:txBody>
          <a:bodyPr/>
          <a:lstStyle/>
          <a:p>
            <a:endParaRPr lang="fr-FR"/>
          </a:p>
        </p:txBody>
      </p:sp>
      <p:sp>
        <p:nvSpPr>
          <p:cNvPr id="44" name="Text 42"/>
          <p:cNvSpPr/>
          <p:nvPr/>
        </p:nvSpPr>
        <p:spPr>
          <a:xfrm>
            <a:off x="2560320" y="2432304"/>
            <a:ext cx="475488" cy="256032"/>
          </a:xfrm>
          <a:prstGeom prst="rect">
            <a:avLst/>
          </a:prstGeom>
          <a:noFill/>
          <a:ln/>
        </p:spPr>
        <p:txBody>
          <a:bodyPr wrap="square" lIns="0" tIns="0" rIns="0" bIns="0" rtlCol="0" anchor="ctr"/>
          <a:lstStyle/>
          <a:p>
            <a:pPr marL="0" indent="0">
              <a:buNone/>
            </a:pPr>
            <a:r>
              <a:rPr lang="en-US" sz="1000" b="1">
                <a:solidFill>
                  <a:srgbClr val="2E86C1"/>
                </a:solidFill>
                <a:latin typeface="Calibri" pitchFamily="34" charset="0"/>
                <a:ea typeface="Calibri" pitchFamily="34" charset="-122"/>
                <a:cs typeface="Calibri" pitchFamily="34" charset="-120"/>
              </a:rPr>
              <a:t>M6</a:t>
            </a:r>
            <a:endParaRPr lang="en-US" sz="1000"/>
          </a:p>
        </p:txBody>
      </p:sp>
      <p:sp>
        <p:nvSpPr>
          <p:cNvPr id="45" name="Text 43"/>
          <p:cNvSpPr/>
          <p:nvPr/>
        </p:nvSpPr>
        <p:spPr>
          <a:xfrm>
            <a:off x="3090672" y="2432304"/>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Vid.9</a:t>
            </a:r>
            <a:endParaRPr lang="en-US" sz="900"/>
          </a:p>
        </p:txBody>
      </p:sp>
      <p:sp>
        <p:nvSpPr>
          <p:cNvPr id="46" name="Text 44"/>
          <p:cNvSpPr/>
          <p:nvPr/>
        </p:nvSpPr>
        <p:spPr>
          <a:xfrm>
            <a:off x="2560320" y="2779776"/>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Déploiement</a:t>
            </a:r>
            <a:endParaRPr lang="en-US" sz="1100"/>
          </a:p>
        </p:txBody>
      </p:sp>
      <p:sp>
        <p:nvSpPr>
          <p:cNvPr id="47" name="Text 45"/>
          <p:cNvSpPr/>
          <p:nvPr/>
        </p:nvSpPr>
        <p:spPr>
          <a:xfrm>
            <a:off x="2560320" y="3236976"/>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~18 min</a:t>
            </a:r>
            <a:endParaRPr lang="en-US" sz="900"/>
          </a:p>
        </p:txBody>
      </p:sp>
      <p:sp>
        <p:nvSpPr>
          <p:cNvPr id="48" name="Shape 46"/>
          <p:cNvSpPr/>
          <p:nvPr/>
        </p:nvSpPr>
        <p:spPr>
          <a:xfrm>
            <a:off x="4608576" y="2395728"/>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49" name="Shape 47"/>
          <p:cNvSpPr/>
          <p:nvPr/>
        </p:nvSpPr>
        <p:spPr>
          <a:xfrm>
            <a:off x="4608576" y="2395728"/>
            <a:ext cx="73152" cy="1115568"/>
          </a:xfrm>
          <a:prstGeom prst="rect">
            <a:avLst/>
          </a:prstGeom>
          <a:solidFill>
            <a:srgbClr val="1E8449"/>
          </a:solidFill>
          <a:ln/>
        </p:spPr>
        <p:txBody>
          <a:bodyPr/>
          <a:lstStyle/>
          <a:p>
            <a:endParaRPr lang="fr-FR"/>
          </a:p>
        </p:txBody>
      </p:sp>
      <p:sp>
        <p:nvSpPr>
          <p:cNvPr id="50" name="Shape 48"/>
          <p:cNvSpPr/>
          <p:nvPr/>
        </p:nvSpPr>
        <p:spPr>
          <a:xfrm>
            <a:off x="4608576" y="2395728"/>
            <a:ext cx="2029968" cy="329184"/>
          </a:xfrm>
          <a:prstGeom prst="rect">
            <a:avLst/>
          </a:prstGeom>
          <a:solidFill>
            <a:srgbClr val="1E8449"/>
          </a:solidFill>
          <a:ln/>
        </p:spPr>
        <p:txBody>
          <a:bodyPr/>
          <a:lstStyle/>
          <a:p>
            <a:endParaRPr lang="fr-FR"/>
          </a:p>
        </p:txBody>
      </p:sp>
      <p:sp>
        <p:nvSpPr>
          <p:cNvPr id="51" name="Text 49"/>
          <p:cNvSpPr/>
          <p:nvPr/>
        </p:nvSpPr>
        <p:spPr>
          <a:xfrm>
            <a:off x="4736592" y="2432304"/>
            <a:ext cx="475488" cy="256032"/>
          </a:xfrm>
          <a:prstGeom prst="rect">
            <a:avLst/>
          </a:prstGeom>
          <a:noFill/>
          <a:ln/>
        </p:spPr>
        <p:txBody>
          <a:bodyPr wrap="square" lIns="0" tIns="0" rIns="0" bIns="0" rtlCol="0" anchor="ctr"/>
          <a:lstStyle/>
          <a:p>
            <a:pPr marL="0" indent="0">
              <a:buNone/>
            </a:pPr>
            <a:r>
              <a:rPr lang="en-US" sz="1000" b="1">
                <a:solidFill>
                  <a:srgbClr val="1E8449"/>
                </a:solidFill>
                <a:latin typeface="Calibri" pitchFamily="34" charset="0"/>
                <a:ea typeface="Calibri" pitchFamily="34" charset="-122"/>
                <a:cs typeface="Calibri" pitchFamily="34" charset="-120"/>
              </a:rPr>
              <a:t>M7</a:t>
            </a:r>
            <a:endParaRPr lang="en-US" sz="1000"/>
          </a:p>
        </p:txBody>
      </p:sp>
      <p:sp>
        <p:nvSpPr>
          <p:cNvPr id="52" name="Text 50"/>
          <p:cNvSpPr/>
          <p:nvPr/>
        </p:nvSpPr>
        <p:spPr>
          <a:xfrm>
            <a:off x="5266944" y="2432304"/>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Vid.10–11</a:t>
            </a:r>
            <a:endParaRPr lang="en-US" sz="900"/>
          </a:p>
        </p:txBody>
      </p:sp>
      <p:sp>
        <p:nvSpPr>
          <p:cNvPr id="53" name="Text 51"/>
          <p:cNvSpPr/>
          <p:nvPr/>
        </p:nvSpPr>
        <p:spPr>
          <a:xfrm>
            <a:off x="4736592" y="2779776"/>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Collecte terrain</a:t>
            </a:r>
            <a:endParaRPr lang="en-US" sz="1100"/>
          </a:p>
        </p:txBody>
      </p:sp>
      <p:sp>
        <p:nvSpPr>
          <p:cNvPr id="54" name="Text 52"/>
          <p:cNvSpPr/>
          <p:nvPr/>
        </p:nvSpPr>
        <p:spPr>
          <a:xfrm>
            <a:off x="4736592" y="3236976"/>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~40 min</a:t>
            </a:r>
            <a:endParaRPr lang="en-US" sz="900"/>
          </a:p>
        </p:txBody>
      </p:sp>
      <p:sp>
        <p:nvSpPr>
          <p:cNvPr id="55" name="Shape 53"/>
          <p:cNvSpPr/>
          <p:nvPr/>
        </p:nvSpPr>
        <p:spPr>
          <a:xfrm>
            <a:off x="6784848" y="2395728"/>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56" name="Shape 54"/>
          <p:cNvSpPr/>
          <p:nvPr/>
        </p:nvSpPr>
        <p:spPr>
          <a:xfrm>
            <a:off x="6784848" y="2395728"/>
            <a:ext cx="73152" cy="1115568"/>
          </a:xfrm>
          <a:prstGeom prst="rect">
            <a:avLst/>
          </a:prstGeom>
          <a:solidFill>
            <a:srgbClr val="922B21"/>
          </a:solidFill>
          <a:ln/>
        </p:spPr>
        <p:txBody>
          <a:bodyPr/>
          <a:lstStyle/>
          <a:p>
            <a:endParaRPr lang="fr-FR"/>
          </a:p>
        </p:txBody>
      </p:sp>
      <p:sp>
        <p:nvSpPr>
          <p:cNvPr id="57" name="Shape 55"/>
          <p:cNvSpPr/>
          <p:nvPr/>
        </p:nvSpPr>
        <p:spPr>
          <a:xfrm>
            <a:off x="6784848" y="2395728"/>
            <a:ext cx="2029968" cy="329184"/>
          </a:xfrm>
          <a:prstGeom prst="rect">
            <a:avLst/>
          </a:prstGeom>
          <a:solidFill>
            <a:srgbClr val="922B21"/>
          </a:solidFill>
          <a:ln/>
        </p:spPr>
        <p:txBody>
          <a:bodyPr/>
          <a:lstStyle/>
          <a:p>
            <a:endParaRPr lang="fr-FR"/>
          </a:p>
        </p:txBody>
      </p:sp>
      <p:sp>
        <p:nvSpPr>
          <p:cNvPr id="58" name="Text 56"/>
          <p:cNvSpPr/>
          <p:nvPr/>
        </p:nvSpPr>
        <p:spPr>
          <a:xfrm>
            <a:off x="6912864" y="2432304"/>
            <a:ext cx="475488" cy="256032"/>
          </a:xfrm>
          <a:prstGeom prst="rect">
            <a:avLst/>
          </a:prstGeom>
          <a:noFill/>
          <a:ln/>
        </p:spPr>
        <p:txBody>
          <a:bodyPr wrap="square" lIns="0" tIns="0" rIns="0" bIns="0" rtlCol="0" anchor="ctr"/>
          <a:lstStyle/>
          <a:p>
            <a:pPr marL="0" indent="0">
              <a:buNone/>
            </a:pPr>
            <a:r>
              <a:rPr lang="en-US" sz="1000" b="1">
                <a:solidFill>
                  <a:srgbClr val="922B21"/>
                </a:solidFill>
                <a:latin typeface="Calibri" pitchFamily="34" charset="0"/>
                <a:ea typeface="Calibri" pitchFamily="34" charset="-122"/>
                <a:cs typeface="Calibri" pitchFamily="34" charset="-120"/>
              </a:rPr>
              <a:t>M8</a:t>
            </a:r>
            <a:endParaRPr lang="en-US" sz="1000"/>
          </a:p>
        </p:txBody>
      </p:sp>
      <p:sp>
        <p:nvSpPr>
          <p:cNvPr id="59" name="Text 57"/>
          <p:cNvSpPr/>
          <p:nvPr/>
        </p:nvSpPr>
        <p:spPr>
          <a:xfrm>
            <a:off x="7443216" y="2432304"/>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Vid.12</a:t>
            </a:r>
            <a:endParaRPr lang="en-US" sz="900"/>
          </a:p>
        </p:txBody>
      </p:sp>
      <p:sp>
        <p:nvSpPr>
          <p:cNvPr id="60" name="Text 58"/>
          <p:cNvSpPr/>
          <p:nvPr/>
        </p:nvSpPr>
        <p:spPr>
          <a:xfrm>
            <a:off x="6912864" y="2779776"/>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Gestion données</a:t>
            </a:r>
            <a:endParaRPr lang="en-US" sz="1100"/>
          </a:p>
        </p:txBody>
      </p:sp>
      <p:sp>
        <p:nvSpPr>
          <p:cNvPr id="61" name="Text 59"/>
          <p:cNvSpPr/>
          <p:nvPr/>
        </p:nvSpPr>
        <p:spPr>
          <a:xfrm>
            <a:off x="6912864" y="3236976"/>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~20 min</a:t>
            </a:r>
            <a:endParaRPr lang="en-US" sz="900"/>
          </a:p>
        </p:txBody>
      </p:sp>
      <p:sp>
        <p:nvSpPr>
          <p:cNvPr id="62" name="Shape 60"/>
          <p:cNvSpPr/>
          <p:nvPr/>
        </p:nvSpPr>
        <p:spPr>
          <a:xfrm>
            <a:off x="256032" y="3602736"/>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63" name="Shape 61"/>
          <p:cNvSpPr/>
          <p:nvPr/>
        </p:nvSpPr>
        <p:spPr>
          <a:xfrm>
            <a:off x="256032" y="3602736"/>
            <a:ext cx="73152" cy="1115568"/>
          </a:xfrm>
          <a:prstGeom prst="rect">
            <a:avLst/>
          </a:prstGeom>
          <a:solidFill>
            <a:srgbClr val="1B2A6B"/>
          </a:solidFill>
          <a:ln/>
        </p:spPr>
        <p:txBody>
          <a:bodyPr/>
          <a:lstStyle/>
          <a:p>
            <a:endParaRPr lang="fr-FR"/>
          </a:p>
        </p:txBody>
      </p:sp>
      <p:sp>
        <p:nvSpPr>
          <p:cNvPr id="64" name="Shape 62"/>
          <p:cNvSpPr/>
          <p:nvPr/>
        </p:nvSpPr>
        <p:spPr>
          <a:xfrm>
            <a:off x="256032" y="3602736"/>
            <a:ext cx="2029968" cy="329184"/>
          </a:xfrm>
          <a:prstGeom prst="rect">
            <a:avLst/>
          </a:prstGeom>
          <a:solidFill>
            <a:srgbClr val="1B2A6B"/>
          </a:solidFill>
          <a:ln/>
        </p:spPr>
        <p:txBody>
          <a:bodyPr/>
          <a:lstStyle/>
          <a:p>
            <a:endParaRPr lang="fr-FR"/>
          </a:p>
        </p:txBody>
      </p:sp>
      <p:sp>
        <p:nvSpPr>
          <p:cNvPr id="65" name="Text 63"/>
          <p:cNvSpPr/>
          <p:nvPr/>
        </p:nvSpPr>
        <p:spPr>
          <a:xfrm>
            <a:off x="384048" y="3639312"/>
            <a:ext cx="475488" cy="256032"/>
          </a:xfrm>
          <a:prstGeom prst="rect">
            <a:avLst/>
          </a:prstGeom>
          <a:noFill/>
          <a:ln/>
        </p:spPr>
        <p:txBody>
          <a:bodyPr wrap="square" lIns="0" tIns="0" rIns="0" bIns="0" rtlCol="0" anchor="ctr"/>
          <a:lstStyle/>
          <a:p>
            <a:pPr marL="0" indent="0">
              <a:buNone/>
            </a:pPr>
            <a:r>
              <a:rPr lang="en-US" sz="1000" b="1">
                <a:solidFill>
                  <a:srgbClr val="1B2A6B"/>
                </a:solidFill>
                <a:latin typeface="Calibri" pitchFamily="34" charset="0"/>
                <a:ea typeface="Calibri" pitchFamily="34" charset="-122"/>
                <a:cs typeface="Calibri" pitchFamily="34" charset="-120"/>
              </a:rPr>
              <a:t>M9</a:t>
            </a:r>
            <a:endParaRPr lang="en-US" sz="1000"/>
          </a:p>
        </p:txBody>
      </p:sp>
      <p:sp>
        <p:nvSpPr>
          <p:cNvPr id="66" name="Text 64"/>
          <p:cNvSpPr/>
          <p:nvPr/>
        </p:nvSpPr>
        <p:spPr>
          <a:xfrm>
            <a:off x="914400" y="3639312"/>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Vid.13–14</a:t>
            </a:r>
            <a:endParaRPr lang="en-US" sz="900"/>
          </a:p>
        </p:txBody>
      </p:sp>
      <p:sp>
        <p:nvSpPr>
          <p:cNvPr id="67" name="Text 65"/>
          <p:cNvSpPr/>
          <p:nvPr/>
        </p:nvSpPr>
        <p:spPr>
          <a:xfrm>
            <a:off x="384048" y="3986784"/>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Analyse &amp; Visu.</a:t>
            </a:r>
            <a:endParaRPr lang="en-US" sz="1100"/>
          </a:p>
        </p:txBody>
      </p:sp>
      <p:sp>
        <p:nvSpPr>
          <p:cNvPr id="68" name="Text 66"/>
          <p:cNvSpPr/>
          <p:nvPr/>
        </p:nvSpPr>
        <p:spPr>
          <a:xfrm>
            <a:off x="384048" y="4443984"/>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~45 min</a:t>
            </a:r>
            <a:endParaRPr lang="en-US" sz="900"/>
          </a:p>
        </p:txBody>
      </p:sp>
      <p:sp>
        <p:nvSpPr>
          <p:cNvPr id="69" name="Shape 67"/>
          <p:cNvSpPr/>
          <p:nvPr/>
        </p:nvSpPr>
        <p:spPr>
          <a:xfrm>
            <a:off x="2432304" y="3602736"/>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0" name="Shape 68"/>
          <p:cNvSpPr/>
          <p:nvPr/>
        </p:nvSpPr>
        <p:spPr>
          <a:xfrm>
            <a:off x="2432304" y="3602736"/>
            <a:ext cx="73152" cy="1115568"/>
          </a:xfrm>
          <a:prstGeom prst="rect">
            <a:avLst/>
          </a:prstGeom>
          <a:solidFill>
            <a:srgbClr val="0B6E4F"/>
          </a:solidFill>
          <a:ln/>
        </p:spPr>
        <p:txBody>
          <a:bodyPr/>
          <a:lstStyle/>
          <a:p>
            <a:endParaRPr lang="fr-FR"/>
          </a:p>
        </p:txBody>
      </p:sp>
      <p:sp>
        <p:nvSpPr>
          <p:cNvPr id="71" name="Shape 69"/>
          <p:cNvSpPr/>
          <p:nvPr/>
        </p:nvSpPr>
        <p:spPr>
          <a:xfrm>
            <a:off x="2432304" y="3602736"/>
            <a:ext cx="2029968" cy="329184"/>
          </a:xfrm>
          <a:prstGeom prst="rect">
            <a:avLst/>
          </a:prstGeom>
          <a:solidFill>
            <a:srgbClr val="0B6E4F"/>
          </a:solidFill>
          <a:ln/>
        </p:spPr>
        <p:txBody>
          <a:bodyPr/>
          <a:lstStyle/>
          <a:p>
            <a:endParaRPr lang="fr-FR"/>
          </a:p>
        </p:txBody>
      </p:sp>
      <p:sp>
        <p:nvSpPr>
          <p:cNvPr id="72" name="Text 70"/>
          <p:cNvSpPr/>
          <p:nvPr/>
        </p:nvSpPr>
        <p:spPr>
          <a:xfrm>
            <a:off x="2560320" y="3639312"/>
            <a:ext cx="475488" cy="256032"/>
          </a:xfrm>
          <a:prstGeom prst="rect">
            <a:avLst/>
          </a:prstGeom>
          <a:noFill/>
          <a:ln/>
        </p:spPr>
        <p:txBody>
          <a:bodyPr wrap="square" lIns="0" tIns="0" rIns="0" bIns="0" rtlCol="0" anchor="ctr"/>
          <a:lstStyle/>
          <a:p>
            <a:pPr marL="0" indent="0">
              <a:buNone/>
            </a:pPr>
            <a:r>
              <a:rPr lang="en-US" sz="1000" b="1">
                <a:solidFill>
                  <a:srgbClr val="0B6E4F"/>
                </a:solidFill>
                <a:latin typeface="Calibri" pitchFamily="34" charset="0"/>
                <a:ea typeface="Calibri" pitchFamily="34" charset="-122"/>
                <a:cs typeface="Calibri" pitchFamily="34" charset="-120"/>
              </a:rPr>
              <a:t>M10</a:t>
            </a:r>
            <a:endParaRPr lang="en-US" sz="1000"/>
          </a:p>
        </p:txBody>
      </p:sp>
      <p:sp>
        <p:nvSpPr>
          <p:cNvPr id="73" name="Text 71"/>
          <p:cNvSpPr/>
          <p:nvPr/>
        </p:nvSpPr>
        <p:spPr>
          <a:xfrm>
            <a:off x="3090672" y="3639312"/>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Vid.15</a:t>
            </a:r>
            <a:endParaRPr lang="en-US" sz="900"/>
          </a:p>
        </p:txBody>
      </p:sp>
      <p:sp>
        <p:nvSpPr>
          <p:cNvPr id="74" name="Text 72"/>
          <p:cNvSpPr/>
          <p:nvPr/>
        </p:nvSpPr>
        <p:spPr>
          <a:xfrm>
            <a:off x="2560320" y="3986784"/>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Export &amp; API</a:t>
            </a:r>
            <a:endParaRPr lang="en-US" sz="1100"/>
          </a:p>
        </p:txBody>
      </p:sp>
      <p:sp>
        <p:nvSpPr>
          <p:cNvPr id="75" name="Text 73"/>
          <p:cNvSpPr/>
          <p:nvPr/>
        </p:nvSpPr>
        <p:spPr>
          <a:xfrm>
            <a:off x="2560320" y="4443984"/>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~25 min</a:t>
            </a:r>
            <a:endParaRPr lang="en-US" sz="900"/>
          </a:p>
        </p:txBody>
      </p:sp>
      <p:sp>
        <p:nvSpPr>
          <p:cNvPr id="76" name="Shape 74"/>
          <p:cNvSpPr/>
          <p:nvPr/>
        </p:nvSpPr>
        <p:spPr>
          <a:xfrm>
            <a:off x="4608576" y="3602736"/>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7" name="Shape 75"/>
          <p:cNvSpPr/>
          <p:nvPr/>
        </p:nvSpPr>
        <p:spPr>
          <a:xfrm>
            <a:off x="4608576" y="3602736"/>
            <a:ext cx="73152" cy="1115568"/>
          </a:xfrm>
          <a:prstGeom prst="rect">
            <a:avLst/>
          </a:prstGeom>
          <a:solidFill>
            <a:srgbClr val="1A3A8F"/>
          </a:solidFill>
          <a:ln/>
        </p:spPr>
        <p:txBody>
          <a:bodyPr/>
          <a:lstStyle/>
          <a:p>
            <a:endParaRPr lang="fr-FR"/>
          </a:p>
        </p:txBody>
      </p:sp>
      <p:sp>
        <p:nvSpPr>
          <p:cNvPr id="78" name="Shape 76"/>
          <p:cNvSpPr/>
          <p:nvPr/>
        </p:nvSpPr>
        <p:spPr>
          <a:xfrm>
            <a:off x="4608576" y="3602736"/>
            <a:ext cx="2029968" cy="329184"/>
          </a:xfrm>
          <a:prstGeom prst="rect">
            <a:avLst/>
          </a:prstGeom>
          <a:solidFill>
            <a:srgbClr val="1A3A8F"/>
          </a:solidFill>
          <a:ln/>
        </p:spPr>
        <p:txBody>
          <a:bodyPr/>
          <a:lstStyle/>
          <a:p>
            <a:endParaRPr lang="fr-FR"/>
          </a:p>
        </p:txBody>
      </p:sp>
      <p:sp>
        <p:nvSpPr>
          <p:cNvPr id="79" name="Text 77"/>
          <p:cNvSpPr/>
          <p:nvPr/>
        </p:nvSpPr>
        <p:spPr>
          <a:xfrm>
            <a:off x="4736592" y="3639312"/>
            <a:ext cx="475488" cy="256032"/>
          </a:xfrm>
          <a:prstGeom prst="rect">
            <a:avLst/>
          </a:prstGeom>
          <a:noFill/>
          <a:ln/>
        </p:spPr>
        <p:txBody>
          <a:bodyPr wrap="square" lIns="0" tIns="0" rIns="0" bIns="0" rtlCol="0" anchor="ctr"/>
          <a:lstStyle/>
          <a:p>
            <a:pPr marL="0" indent="0">
              <a:buNone/>
            </a:pPr>
            <a:r>
              <a:rPr lang="en-US" sz="1000" b="1">
                <a:solidFill>
                  <a:srgbClr val="1A3A8F"/>
                </a:solidFill>
                <a:latin typeface="Calibri" pitchFamily="34" charset="0"/>
                <a:ea typeface="Calibri" pitchFamily="34" charset="-122"/>
                <a:cs typeface="Calibri" pitchFamily="34" charset="-120"/>
              </a:rPr>
              <a:t>M11</a:t>
            </a:r>
            <a:endParaRPr lang="en-US" sz="1000"/>
          </a:p>
        </p:txBody>
      </p:sp>
      <p:sp>
        <p:nvSpPr>
          <p:cNvPr id="80" name="Text 78"/>
          <p:cNvSpPr/>
          <p:nvPr/>
        </p:nvSpPr>
        <p:spPr>
          <a:xfrm>
            <a:off x="5266944" y="3639312"/>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Vid.16</a:t>
            </a:r>
            <a:endParaRPr lang="en-US" sz="900"/>
          </a:p>
        </p:txBody>
      </p:sp>
      <p:sp>
        <p:nvSpPr>
          <p:cNvPr id="81" name="Text 79"/>
          <p:cNvSpPr/>
          <p:nvPr/>
        </p:nvSpPr>
        <p:spPr>
          <a:xfrm>
            <a:off x="4736592" y="3986784"/>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Équipes &amp; Accès</a:t>
            </a:r>
            <a:endParaRPr lang="en-US" sz="1100"/>
          </a:p>
        </p:txBody>
      </p:sp>
      <p:sp>
        <p:nvSpPr>
          <p:cNvPr id="82" name="Text 80"/>
          <p:cNvSpPr/>
          <p:nvPr/>
        </p:nvSpPr>
        <p:spPr>
          <a:xfrm>
            <a:off x="4736592" y="4443984"/>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~20 min</a:t>
            </a:r>
            <a:endParaRPr lang="en-US" sz="900"/>
          </a:p>
        </p:txBody>
      </p:sp>
      <p:sp>
        <p:nvSpPr>
          <p:cNvPr id="83" name="Shape 81"/>
          <p:cNvSpPr/>
          <p:nvPr/>
        </p:nvSpPr>
        <p:spPr>
          <a:xfrm>
            <a:off x="6784848" y="3602736"/>
            <a:ext cx="2029968" cy="1115568"/>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84" name="Shape 82"/>
          <p:cNvSpPr/>
          <p:nvPr/>
        </p:nvSpPr>
        <p:spPr>
          <a:xfrm>
            <a:off x="6784848" y="3602736"/>
            <a:ext cx="73152" cy="1115568"/>
          </a:xfrm>
          <a:prstGeom prst="rect">
            <a:avLst/>
          </a:prstGeom>
          <a:solidFill>
            <a:srgbClr val="7D6608"/>
          </a:solidFill>
          <a:ln/>
        </p:spPr>
        <p:txBody>
          <a:bodyPr/>
          <a:lstStyle/>
          <a:p>
            <a:endParaRPr lang="fr-FR"/>
          </a:p>
        </p:txBody>
      </p:sp>
      <p:sp>
        <p:nvSpPr>
          <p:cNvPr id="85" name="Shape 83"/>
          <p:cNvSpPr/>
          <p:nvPr/>
        </p:nvSpPr>
        <p:spPr>
          <a:xfrm>
            <a:off x="6784848" y="3602736"/>
            <a:ext cx="2029968" cy="329184"/>
          </a:xfrm>
          <a:prstGeom prst="rect">
            <a:avLst/>
          </a:prstGeom>
          <a:solidFill>
            <a:srgbClr val="7D6608"/>
          </a:solidFill>
          <a:ln/>
        </p:spPr>
        <p:txBody>
          <a:bodyPr/>
          <a:lstStyle/>
          <a:p>
            <a:endParaRPr lang="fr-FR"/>
          </a:p>
        </p:txBody>
      </p:sp>
      <p:sp>
        <p:nvSpPr>
          <p:cNvPr id="86" name="Text 84"/>
          <p:cNvSpPr/>
          <p:nvPr/>
        </p:nvSpPr>
        <p:spPr>
          <a:xfrm>
            <a:off x="6912864" y="3639312"/>
            <a:ext cx="475488" cy="256032"/>
          </a:xfrm>
          <a:prstGeom prst="rect">
            <a:avLst/>
          </a:prstGeom>
          <a:noFill/>
          <a:ln/>
        </p:spPr>
        <p:txBody>
          <a:bodyPr wrap="square" lIns="0" tIns="0" rIns="0" bIns="0" rtlCol="0" anchor="ctr"/>
          <a:lstStyle/>
          <a:p>
            <a:pPr marL="0" indent="0">
              <a:buNone/>
            </a:pPr>
            <a:r>
              <a:rPr lang="en-US" sz="1000" b="1">
                <a:solidFill>
                  <a:srgbClr val="7D6608"/>
                </a:solidFill>
                <a:latin typeface="Calibri" pitchFamily="34" charset="0"/>
                <a:ea typeface="Calibri" pitchFamily="34" charset="-122"/>
                <a:cs typeface="Calibri" pitchFamily="34" charset="-120"/>
              </a:rPr>
              <a:t>M12</a:t>
            </a:r>
            <a:endParaRPr lang="en-US" sz="1000"/>
          </a:p>
        </p:txBody>
      </p:sp>
      <p:sp>
        <p:nvSpPr>
          <p:cNvPr id="87" name="Text 85"/>
          <p:cNvSpPr/>
          <p:nvPr/>
        </p:nvSpPr>
        <p:spPr>
          <a:xfrm>
            <a:off x="7443216" y="3639312"/>
            <a:ext cx="1298448" cy="256032"/>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Vid.17–18</a:t>
            </a:r>
            <a:endParaRPr lang="en-US" sz="900"/>
          </a:p>
        </p:txBody>
      </p:sp>
      <p:sp>
        <p:nvSpPr>
          <p:cNvPr id="88" name="Text 86"/>
          <p:cNvSpPr/>
          <p:nvPr/>
        </p:nvSpPr>
        <p:spPr>
          <a:xfrm>
            <a:off x="6912864" y="3986784"/>
            <a:ext cx="1792224" cy="292608"/>
          </a:xfrm>
          <a:prstGeom prst="rect">
            <a:avLst/>
          </a:prstGeom>
          <a:noFill/>
          <a:ln/>
        </p:spPr>
        <p:txBody>
          <a:bodyPr wrap="square" lIns="0" tIns="0" rIns="0" bIns="0" rtlCol="0" anchor="ctr"/>
          <a:lstStyle/>
          <a:p>
            <a:pPr marL="0" indent="0">
              <a:lnSpc>
                <a:spcPct val="120000"/>
              </a:lnSpc>
              <a:buNone/>
            </a:pPr>
            <a:r>
              <a:rPr lang="en-US" sz="1100" b="1">
                <a:solidFill>
                  <a:srgbClr val="1A2E3D"/>
                </a:solidFill>
                <a:latin typeface="Calibri" pitchFamily="34" charset="0"/>
                <a:ea typeface="Calibri" pitchFamily="34" charset="-122"/>
                <a:cs typeface="Calibri" pitchFamily="34" charset="-120"/>
              </a:rPr>
              <a:t>Cas pratiques ⭐</a:t>
            </a:r>
            <a:endParaRPr lang="en-US" sz="1100"/>
          </a:p>
        </p:txBody>
      </p:sp>
      <p:sp>
        <p:nvSpPr>
          <p:cNvPr id="89" name="Text 87"/>
          <p:cNvSpPr/>
          <p:nvPr/>
        </p:nvSpPr>
        <p:spPr>
          <a:xfrm>
            <a:off x="6912864" y="4443984"/>
            <a:ext cx="1792224"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~50 min</a:t>
            </a:r>
            <a:endParaRPr lang="en-US" sz="900"/>
          </a:p>
        </p:txBody>
      </p:sp>
      <p:sp>
        <p:nvSpPr>
          <p:cNvPr id="90" name="Shape 88"/>
          <p:cNvSpPr/>
          <p:nvPr/>
        </p:nvSpPr>
        <p:spPr>
          <a:xfrm>
            <a:off x="0" y="4892040"/>
            <a:ext cx="9144000" cy="251460"/>
          </a:xfrm>
          <a:prstGeom prst="rect">
            <a:avLst/>
          </a:prstGeom>
          <a:solidFill>
            <a:srgbClr val="0D1B35"/>
          </a:solidFill>
          <a:ln/>
        </p:spPr>
        <p:txBody>
          <a:bodyPr/>
          <a:lstStyle/>
          <a:p>
            <a:endParaRPr lang="fr-FR"/>
          </a:p>
        </p:txBody>
      </p:sp>
      <p:sp>
        <p:nvSpPr>
          <p:cNvPr id="91" name="Text 89"/>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92" name="Text 90"/>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5 / 16</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Partie 1 — Les fondations (M1 à M3)</a:t>
            </a:r>
            <a:endParaRPr lang="en-US" sz="26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Premiers pas — De la création de compte à votre premier formulaire déployé</a:t>
            </a:r>
            <a:endParaRPr lang="en-US" sz="1200"/>
          </a:p>
        </p:txBody>
      </p:sp>
      <p:sp>
        <p:nvSpPr>
          <p:cNvPr id="6" name="Shape 4"/>
          <p:cNvSpPr/>
          <p:nvPr/>
        </p:nvSpPr>
        <p:spPr>
          <a:xfrm>
            <a:off x="256032"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56032" y="1188720"/>
            <a:ext cx="2798064" cy="420624"/>
          </a:xfrm>
          <a:prstGeom prst="rect">
            <a:avLst/>
          </a:prstGeom>
          <a:solidFill>
            <a:srgbClr val="02C39A"/>
          </a:solidFill>
          <a:ln/>
        </p:spPr>
        <p:txBody>
          <a:bodyPr/>
          <a:lstStyle/>
          <a:p>
            <a:endParaRPr lang="fr-FR"/>
          </a:p>
        </p:txBody>
      </p:sp>
      <p:sp>
        <p:nvSpPr>
          <p:cNvPr id="8" name="Shape 6"/>
          <p:cNvSpPr/>
          <p:nvPr/>
        </p:nvSpPr>
        <p:spPr>
          <a:xfrm>
            <a:off x="365760" y="1042416"/>
            <a:ext cx="402336" cy="402336"/>
          </a:xfrm>
          <a:prstGeom prst="ellipse">
            <a:avLst/>
          </a:prstGeom>
          <a:solidFill>
            <a:srgbClr val="02C39A"/>
          </a:solidFill>
          <a:ln/>
        </p:spPr>
        <p:txBody>
          <a:bodyPr/>
          <a:lstStyle/>
          <a:p>
            <a:endParaRPr lang="fr-FR"/>
          </a:p>
        </p:txBody>
      </p:sp>
      <p:sp>
        <p:nvSpPr>
          <p:cNvPr id="9" name="Text 7"/>
          <p:cNvSpPr/>
          <p:nvPr/>
        </p:nvSpPr>
        <p:spPr>
          <a:xfrm>
            <a:off x="365760"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M1</a:t>
            </a:r>
            <a:endParaRPr lang="en-US" sz="1300"/>
          </a:p>
        </p:txBody>
      </p:sp>
      <p:sp>
        <p:nvSpPr>
          <p:cNvPr id="10" name="Text 8"/>
          <p:cNvSpPr/>
          <p:nvPr/>
        </p:nvSpPr>
        <p:spPr>
          <a:xfrm>
            <a:off x="384048"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Introduction &amp; Création de compte</a:t>
            </a:r>
            <a:endParaRPr lang="en-US" sz="1200"/>
          </a:p>
        </p:txBody>
      </p:sp>
      <p:sp>
        <p:nvSpPr>
          <p:cNvPr id="11" name="Text 9"/>
          <p:cNvSpPr/>
          <p:nvPr/>
        </p:nvSpPr>
        <p:spPr>
          <a:xfrm>
            <a:off x="384048" y="1664208"/>
            <a:ext cx="2542032" cy="219456"/>
          </a:xfrm>
          <a:prstGeom prst="rect">
            <a:avLst/>
          </a:prstGeom>
          <a:noFill/>
          <a:ln/>
        </p:spPr>
        <p:txBody>
          <a:bodyPr wrap="square" lIns="0" tIns="0" rIns="0" bIns="0" rtlCol="0" anchor="ctr"/>
          <a:lstStyle/>
          <a:p>
            <a:pPr marL="0" indent="0">
              <a:buNone/>
            </a:pPr>
            <a:r>
              <a:rPr lang="en-US" sz="950" b="1">
                <a:solidFill>
                  <a:srgbClr val="02C39A"/>
                </a:solidFill>
                <a:latin typeface="Calibri" pitchFamily="34" charset="0"/>
                <a:ea typeface="Calibri" pitchFamily="34" charset="-122"/>
                <a:cs typeface="Calibri" pitchFamily="34" charset="-120"/>
              </a:rPr>
              <a:t>Vidéo 1 · ~15 min</a:t>
            </a:r>
            <a:endParaRPr lang="en-US" sz="950"/>
          </a:p>
        </p:txBody>
      </p:sp>
      <p:pic>
        <p:nvPicPr>
          <p:cNvPr id="12" name="Image 0" descr="preencoded.png"/>
          <p:cNvPicPr>
            <a:picLocks noChangeAspect="1"/>
          </p:cNvPicPr>
          <p:nvPr/>
        </p:nvPicPr>
        <p:blipFill>
          <a:blip r:embed="rId3"/>
          <a:stretch>
            <a:fillRect/>
          </a:stretch>
        </p:blipFill>
        <p:spPr>
          <a:xfrm>
            <a:off x="384048" y="1956816"/>
            <a:ext cx="182880" cy="182880"/>
          </a:xfrm>
          <a:prstGeom prst="rect">
            <a:avLst/>
          </a:prstGeom>
        </p:spPr>
      </p:pic>
      <p:sp>
        <p:nvSpPr>
          <p:cNvPr id="13" name="Text 10"/>
          <p:cNvSpPr/>
          <p:nvPr/>
        </p:nvSpPr>
        <p:spPr>
          <a:xfrm>
            <a:off x="621792"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Qu'est-ce que KoboToolbox ?</a:t>
            </a:r>
            <a:endParaRPr lang="en-US" sz="950"/>
          </a:p>
        </p:txBody>
      </p:sp>
      <p:pic>
        <p:nvPicPr>
          <p:cNvPr id="14" name="Image 1" descr="preencoded.png"/>
          <p:cNvPicPr>
            <a:picLocks noChangeAspect="1"/>
          </p:cNvPicPr>
          <p:nvPr/>
        </p:nvPicPr>
        <p:blipFill>
          <a:blip r:embed="rId3"/>
          <a:stretch>
            <a:fillRect/>
          </a:stretch>
        </p:blipFill>
        <p:spPr>
          <a:xfrm>
            <a:off x="384048" y="2340864"/>
            <a:ext cx="182880" cy="182880"/>
          </a:xfrm>
          <a:prstGeom prst="rect">
            <a:avLst/>
          </a:prstGeom>
        </p:spPr>
      </p:pic>
      <p:sp>
        <p:nvSpPr>
          <p:cNvPr id="15" name="Text 11"/>
          <p:cNvSpPr/>
          <p:nvPr/>
        </p:nvSpPr>
        <p:spPr>
          <a:xfrm>
            <a:off x="621792"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Créer un compte gratuit (kf.kobotoolbox.org)</a:t>
            </a:r>
            <a:endParaRPr lang="en-US" sz="950"/>
          </a:p>
        </p:txBody>
      </p:sp>
      <p:pic>
        <p:nvPicPr>
          <p:cNvPr id="16" name="Image 2" descr="preencoded.png"/>
          <p:cNvPicPr>
            <a:picLocks noChangeAspect="1"/>
          </p:cNvPicPr>
          <p:nvPr/>
        </p:nvPicPr>
        <p:blipFill>
          <a:blip r:embed="rId3"/>
          <a:stretch>
            <a:fillRect/>
          </a:stretch>
        </p:blipFill>
        <p:spPr>
          <a:xfrm>
            <a:off x="384048" y="2724912"/>
            <a:ext cx="182880" cy="182880"/>
          </a:xfrm>
          <a:prstGeom prst="rect">
            <a:avLst/>
          </a:prstGeom>
        </p:spPr>
      </p:pic>
      <p:sp>
        <p:nvSpPr>
          <p:cNvPr id="17" name="Text 12"/>
          <p:cNvSpPr/>
          <p:nvPr/>
        </p:nvSpPr>
        <p:spPr>
          <a:xfrm>
            <a:off x="621792"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Premiers réglages et interface</a:t>
            </a:r>
            <a:endParaRPr lang="en-US" sz="950"/>
          </a:p>
        </p:txBody>
      </p:sp>
      <p:pic>
        <p:nvPicPr>
          <p:cNvPr id="18" name="Image 3" descr="preencoded.png"/>
          <p:cNvPicPr>
            <a:picLocks noChangeAspect="1"/>
          </p:cNvPicPr>
          <p:nvPr/>
        </p:nvPicPr>
        <p:blipFill>
          <a:blip r:embed="rId3"/>
          <a:stretch>
            <a:fillRect/>
          </a:stretch>
        </p:blipFill>
        <p:spPr>
          <a:xfrm>
            <a:off x="384048" y="3108960"/>
            <a:ext cx="182880" cy="182880"/>
          </a:xfrm>
          <a:prstGeom prst="rect">
            <a:avLst/>
          </a:prstGeom>
        </p:spPr>
      </p:pic>
      <p:sp>
        <p:nvSpPr>
          <p:cNvPr id="19" name="Text 13"/>
          <p:cNvSpPr/>
          <p:nvPr/>
        </p:nvSpPr>
        <p:spPr>
          <a:xfrm>
            <a:off x="621792"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Humanitaire vs Usage général</a:t>
            </a:r>
            <a:endParaRPr lang="en-US" sz="950"/>
          </a:p>
        </p:txBody>
      </p:sp>
      <p:sp>
        <p:nvSpPr>
          <p:cNvPr id="20" name="Shape 14"/>
          <p:cNvSpPr/>
          <p:nvPr/>
        </p:nvSpPr>
        <p:spPr>
          <a:xfrm>
            <a:off x="3200400"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5"/>
          <p:cNvSpPr/>
          <p:nvPr/>
        </p:nvSpPr>
        <p:spPr>
          <a:xfrm>
            <a:off x="3200400" y="1188720"/>
            <a:ext cx="2798064" cy="420624"/>
          </a:xfrm>
          <a:prstGeom prst="rect">
            <a:avLst/>
          </a:prstGeom>
          <a:solidFill>
            <a:srgbClr val="E67E22"/>
          </a:solidFill>
          <a:ln/>
        </p:spPr>
        <p:txBody>
          <a:bodyPr/>
          <a:lstStyle/>
          <a:p>
            <a:endParaRPr lang="fr-FR"/>
          </a:p>
        </p:txBody>
      </p:sp>
      <p:sp>
        <p:nvSpPr>
          <p:cNvPr id="22" name="Shape 16"/>
          <p:cNvSpPr/>
          <p:nvPr/>
        </p:nvSpPr>
        <p:spPr>
          <a:xfrm>
            <a:off x="3310128" y="1042416"/>
            <a:ext cx="402336" cy="402336"/>
          </a:xfrm>
          <a:prstGeom prst="ellipse">
            <a:avLst/>
          </a:prstGeom>
          <a:solidFill>
            <a:srgbClr val="E67E22"/>
          </a:solidFill>
          <a:ln/>
        </p:spPr>
        <p:txBody>
          <a:bodyPr/>
          <a:lstStyle/>
          <a:p>
            <a:endParaRPr lang="fr-FR"/>
          </a:p>
        </p:txBody>
      </p:sp>
      <p:sp>
        <p:nvSpPr>
          <p:cNvPr id="23" name="Text 17"/>
          <p:cNvSpPr/>
          <p:nvPr/>
        </p:nvSpPr>
        <p:spPr>
          <a:xfrm>
            <a:off x="3310128"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M2</a:t>
            </a:r>
            <a:endParaRPr lang="en-US" sz="1300"/>
          </a:p>
        </p:txBody>
      </p:sp>
      <p:sp>
        <p:nvSpPr>
          <p:cNvPr id="24" name="Text 18"/>
          <p:cNvSpPr/>
          <p:nvPr/>
        </p:nvSpPr>
        <p:spPr>
          <a:xfrm>
            <a:off x="3328416"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Interface &amp; Navigation</a:t>
            </a:r>
            <a:endParaRPr lang="en-US" sz="1200"/>
          </a:p>
        </p:txBody>
      </p:sp>
      <p:sp>
        <p:nvSpPr>
          <p:cNvPr id="25" name="Text 19"/>
          <p:cNvSpPr/>
          <p:nvPr/>
        </p:nvSpPr>
        <p:spPr>
          <a:xfrm>
            <a:off x="3328416" y="1664208"/>
            <a:ext cx="2542032" cy="219456"/>
          </a:xfrm>
          <a:prstGeom prst="rect">
            <a:avLst/>
          </a:prstGeom>
          <a:noFill/>
          <a:ln/>
        </p:spPr>
        <p:txBody>
          <a:bodyPr wrap="square" lIns="0" tIns="0" rIns="0" bIns="0" rtlCol="0" anchor="ctr"/>
          <a:lstStyle/>
          <a:p>
            <a:pPr marL="0" indent="0">
              <a:buNone/>
            </a:pPr>
            <a:r>
              <a:rPr lang="en-US" sz="950" b="1">
                <a:solidFill>
                  <a:srgbClr val="E67E22"/>
                </a:solidFill>
                <a:latin typeface="Calibri" pitchFamily="34" charset="0"/>
                <a:ea typeface="Calibri" pitchFamily="34" charset="-122"/>
                <a:cs typeface="Calibri" pitchFamily="34" charset="-120"/>
              </a:rPr>
              <a:t>Vidéo 2 · ~12 min</a:t>
            </a:r>
            <a:endParaRPr lang="en-US" sz="950"/>
          </a:p>
        </p:txBody>
      </p:sp>
      <p:pic>
        <p:nvPicPr>
          <p:cNvPr id="26" name="Image 4" descr="preencoded.png"/>
          <p:cNvPicPr>
            <a:picLocks noChangeAspect="1"/>
          </p:cNvPicPr>
          <p:nvPr/>
        </p:nvPicPr>
        <p:blipFill>
          <a:blip r:embed="rId3"/>
          <a:stretch>
            <a:fillRect/>
          </a:stretch>
        </p:blipFill>
        <p:spPr>
          <a:xfrm>
            <a:off x="3328416" y="1956816"/>
            <a:ext cx="182880" cy="182880"/>
          </a:xfrm>
          <a:prstGeom prst="rect">
            <a:avLst/>
          </a:prstGeom>
        </p:spPr>
      </p:pic>
      <p:sp>
        <p:nvSpPr>
          <p:cNvPr id="27" name="Text 20"/>
          <p:cNvSpPr/>
          <p:nvPr/>
        </p:nvSpPr>
        <p:spPr>
          <a:xfrm>
            <a:off x="3566160"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Découvrir le Formbuilder</a:t>
            </a:r>
            <a:endParaRPr lang="en-US" sz="950"/>
          </a:p>
        </p:txBody>
      </p:sp>
      <p:pic>
        <p:nvPicPr>
          <p:cNvPr id="28" name="Image 5" descr="preencoded.png"/>
          <p:cNvPicPr>
            <a:picLocks noChangeAspect="1"/>
          </p:cNvPicPr>
          <p:nvPr/>
        </p:nvPicPr>
        <p:blipFill>
          <a:blip r:embed="rId3"/>
          <a:stretch>
            <a:fillRect/>
          </a:stretch>
        </p:blipFill>
        <p:spPr>
          <a:xfrm>
            <a:off x="3328416" y="2340864"/>
            <a:ext cx="182880" cy="182880"/>
          </a:xfrm>
          <a:prstGeom prst="rect">
            <a:avLst/>
          </a:prstGeom>
        </p:spPr>
      </p:pic>
      <p:sp>
        <p:nvSpPr>
          <p:cNvPr id="29" name="Text 21"/>
          <p:cNvSpPr/>
          <p:nvPr/>
        </p:nvSpPr>
        <p:spPr>
          <a:xfrm>
            <a:off x="3566160"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Comprendre le format XLSForm</a:t>
            </a:r>
            <a:endParaRPr lang="en-US" sz="950"/>
          </a:p>
        </p:txBody>
      </p:sp>
      <p:pic>
        <p:nvPicPr>
          <p:cNvPr id="30" name="Image 6" descr="preencoded.png"/>
          <p:cNvPicPr>
            <a:picLocks noChangeAspect="1"/>
          </p:cNvPicPr>
          <p:nvPr/>
        </p:nvPicPr>
        <p:blipFill>
          <a:blip r:embed="rId3"/>
          <a:stretch>
            <a:fillRect/>
          </a:stretch>
        </p:blipFill>
        <p:spPr>
          <a:xfrm>
            <a:off x="3328416" y="2724912"/>
            <a:ext cx="182880" cy="182880"/>
          </a:xfrm>
          <a:prstGeom prst="rect">
            <a:avLst/>
          </a:prstGeom>
        </p:spPr>
      </p:pic>
      <p:sp>
        <p:nvSpPr>
          <p:cNvPr id="31" name="Text 22"/>
          <p:cNvSpPr/>
          <p:nvPr/>
        </p:nvSpPr>
        <p:spPr>
          <a:xfrm>
            <a:off x="3566160"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La bibliothèque de questions</a:t>
            </a:r>
            <a:endParaRPr lang="en-US" sz="950"/>
          </a:p>
        </p:txBody>
      </p:sp>
      <p:pic>
        <p:nvPicPr>
          <p:cNvPr id="32" name="Image 7" descr="preencoded.png"/>
          <p:cNvPicPr>
            <a:picLocks noChangeAspect="1"/>
          </p:cNvPicPr>
          <p:nvPr/>
        </p:nvPicPr>
        <p:blipFill>
          <a:blip r:embed="rId3"/>
          <a:stretch>
            <a:fillRect/>
          </a:stretch>
        </p:blipFill>
        <p:spPr>
          <a:xfrm>
            <a:off x="3328416" y="3108960"/>
            <a:ext cx="182880" cy="182880"/>
          </a:xfrm>
          <a:prstGeom prst="rect">
            <a:avLst/>
          </a:prstGeom>
        </p:spPr>
      </p:pic>
      <p:sp>
        <p:nvSpPr>
          <p:cNvPr id="33" name="Text 23"/>
          <p:cNvSpPr/>
          <p:nvPr/>
        </p:nvSpPr>
        <p:spPr>
          <a:xfrm>
            <a:off x="3566160"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Importer et exporter un formulaire</a:t>
            </a:r>
            <a:endParaRPr lang="en-US" sz="950"/>
          </a:p>
        </p:txBody>
      </p:sp>
      <p:sp>
        <p:nvSpPr>
          <p:cNvPr id="34" name="Shape 24"/>
          <p:cNvSpPr/>
          <p:nvPr/>
        </p:nvSpPr>
        <p:spPr>
          <a:xfrm>
            <a:off x="6144768"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25"/>
          <p:cNvSpPr/>
          <p:nvPr/>
        </p:nvSpPr>
        <p:spPr>
          <a:xfrm>
            <a:off x="6144768" y="1188720"/>
            <a:ext cx="2798064" cy="420624"/>
          </a:xfrm>
          <a:prstGeom prst="rect">
            <a:avLst/>
          </a:prstGeom>
          <a:solidFill>
            <a:srgbClr val="0B6E4F"/>
          </a:solidFill>
          <a:ln/>
        </p:spPr>
        <p:txBody>
          <a:bodyPr/>
          <a:lstStyle/>
          <a:p>
            <a:endParaRPr lang="fr-FR"/>
          </a:p>
        </p:txBody>
      </p:sp>
      <p:sp>
        <p:nvSpPr>
          <p:cNvPr id="36" name="Shape 26"/>
          <p:cNvSpPr/>
          <p:nvPr/>
        </p:nvSpPr>
        <p:spPr>
          <a:xfrm>
            <a:off x="6254496" y="1042416"/>
            <a:ext cx="402336" cy="402336"/>
          </a:xfrm>
          <a:prstGeom prst="ellipse">
            <a:avLst/>
          </a:prstGeom>
          <a:solidFill>
            <a:srgbClr val="0B6E4F"/>
          </a:solidFill>
          <a:ln/>
        </p:spPr>
        <p:txBody>
          <a:bodyPr/>
          <a:lstStyle/>
          <a:p>
            <a:endParaRPr lang="fr-FR"/>
          </a:p>
        </p:txBody>
      </p:sp>
      <p:sp>
        <p:nvSpPr>
          <p:cNvPr id="37" name="Text 27"/>
          <p:cNvSpPr/>
          <p:nvPr/>
        </p:nvSpPr>
        <p:spPr>
          <a:xfrm>
            <a:off x="6254496"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M3</a:t>
            </a:r>
            <a:endParaRPr lang="en-US" sz="1300"/>
          </a:p>
        </p:txBody>
      </p:sp>
      <p:sp>
        <p:nvSpPr>
          <p:cNvPr id="38" name="Text 28"/>
          <p:cNvSpPr/>
          <p:nvPr/>
        </p:nvSpPr>
        <p:spPr>
          <a:xfrm>
            <a:off x="6272784"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Créer son premier formulaire</a:t>
            </a:r>
            <a:endParaRPr lang="en-US" sz="1200"/>
          </a:p>
        </p:txBody>
      </p:sp>
      <p:sp>
        <p:nvSpPr>
          <p:cNvPr id="39" name="Text 29"/>
          <p:cNvSpPr/>
          <p:nvPr/>
        </p:nvSpPr>
        <p:spPr>
          <a:xfrm>
            <a:off x="6272784" y="1664208"/>
            <a:ext cx="2542032" cy="219456"/>
          </a:xfrm>
          <a:prstGeom prst="rect">
            <a:avLst/>
          </a:prstGeom>
          <a:noFill/>
          <a:ln/>
        </p:spPr>
        <p:txBody>
          <a:bodyPr wrap="square" lIns="0" tIns="0" rIns="0" bIns="0" rtlCol="0" anchor="ctr"/>
          <a:lstStyle/>
          <a:p>
            <a:pPr marL="0" indent="0">
              <a:buNone/>
            </a:pPr>
            <a:r>
              <a:rPr lang="en-US" sz="950" b="1">
                <a:solidFill>
                  <a:srgbClr val="0B6E4F"/>
                </a:solidFill>
                <a:latin typeface="Calibri" pitchFamily="34" charset="0"/>
                <a:ea typeface="Calibri" pitchFamily="34" charset="-122"/>
                <a:cs typeface="Calibri" pitchFamily="34" charset="-120"/>
              </a:rPr>
              <a:t>Vidéos 3–4 · ~35 min</a:t>
            </a:r>
            <a:endParaRPr lang="en-US" sz="950"/>
          </a:p>
        </p:txBody>
      </p:sp>
      <p:pic>
        <p:nvPicPr>
          <p:cNvPr id="40" name="Image 8" descr="preencoded.png"/>
          <p:cNvPicPr>
            <a:picLocks noChangeAspect="1"/>
          </p:cNvPicPr>
          <p:nvPr/>
        </p:nvPicPr>
        <p:blipFill>
          <a:blip r:embed="rId3"/>
          <a:stretch>
            <a:fillRect/>
          </a:stretch>
        </p:blipFill>
        <p:spPr>
          <a:xfrm>
            <a:off x="6272784" y="1956816"/>
            <a:ext cx="182880" cy="182880"/>
          </a:xfrm>
          <a:prstGeom prst="rect">
            <a:avLst/>
          </a:prstGeom>
        </p:spPr>
      </p:pic>
      <p:sp>
        <p:nvSpPr>
          <p:cNvPr id="41" name="Text 30"/>
          <p:cNvSpPr/>
          <p:nvPr/>
        </p:nvSpPr>
        <p:spPr>
          <a:xfrm>
            <a:off x="6510528"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Les types : text, integer, date, select…</a:t>
            </a:r>
            <a:endParaRPr lang="en-US" sz="950"/>
          </a:p>
        </p:txBody>
      </p:sp>
      <p:pic>
        <p:nvPicPr>
          <p:cNvPr id="42" name="Image 9" descr="preencoded.png"/>
          <p:cNvPicPr>
            <a:picLocks noChangeAspect="1"/>
          </p:cNvPicPr>
          <p:nvPr/>
        </p:nvPicPr>
        <p:blipFill>
          <a:blip r:embed="rId3"/>
          <a:stretch>
            <a:fillRect/>
          </a:stretch>
        </p:blipFill>
        <p:spPr>
          <a:xfrm>
            <a:off x="6272784" y="2340864"/>
            <a:ext cx="182880" cy="182880"/>
          </a:xfrm>
          <a:prstGeom prst="rect">
            <a:avLst/>
          </a:prstGeom>
        </p:spPr>
      </p:pic>
      <p:sp>
        <p:nvSpPr>
          <p:cNvPr id="43" name="Text 31"/>
          <p:cNvSpPr/>
          <p:nvPr/>
        </p:nvSpPr>
        <p:spPr>
          <a:xfrm>
            <a:off x="6510528"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Créer des sections et des groupes</a:t>
            </a:r>
            <a:endParaRPr lang="en-US" sz="950"/>
          </a:p>
        </p:txBody>
      </p:sp>
      <p:pic>
        <p:nvPicPr>
          <p:cNvPr id="44" name="Image 10" descr="preencoded.png"/>
          <p:cNvPicPr>
            <a:picLocks noChangeAspect="1"/>
          </p:cNvPicPr>
          <p:nvPr/>
        </p:nvPicPr>
        <p:blipFill>
          <a:blip r:embed="rId3"/>
          <a:stretch>
            <a:fillRect/>
          </a:stretch>
        </p:blipFill>
        <p:spPr>
          <a:xfrm>
            <a:off x="6272784" y="2724912"/>
            <a:ext cx="182880" cy="182880"/>
          </a:xfrm>
          <a:prstGeom prst="rect">
            <a:avLst/>
          </a:prstGeom>
        </p:spPr>
      </p:pic>
      <p:sp>
        <p:nvSpPr>
          <p:cNvPr id="45" name="Text 32"/>
          <p:cNvSpPr/>
          <p:nvPr/>
        </p:nvSpPr>
        <p:spPr>
          <a:xfrm>
            <a:off x="6510528"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Exercice sur le formulaire ONG RACINES</a:t>
            </a:r>
            <a:endParaRPr lang="en-US" sz="950"/>
          </a:p>
        </p:txBody>
      </p:sp>
      <p:pic>
        <p:nvPicPr>
          <p:cNvPr id="46" name="Image 11" descr="preencoded.png"/>
          <p:cNvPicPr>
            <a:picLocks noChangeAspect="1"/>
          </p:cNvPicPr>
          <p:nvPr/>
        </p:nvPicPr>
        <p:blipFill>
          <a:blip r:embed="rId3"/>
          <a:stretch>
            <a:fillRect/>
          </a:stretch>
        </p:blipFill>
        <p:spPr>
          <a:xfrm>
            <a:off x="6272784" y="3108960"/>
            <a:ext cx="182880" cy="182880"/>
          </a:xfrm>
          <a:prstGeom prst="rect">
            <a:avLst/>
          </a:prstGeom>
        </p:spPr>
      </p:pic>
      <p:sp>
        <p:nvSpPr>
          <p:cNvPr id="47" name="Text 33"/>
          <p:cNvSpPr/>
          <p:nvPr/>
        </p:nvSpPr>
        <p:spPr>
          <a:xfrm>
            <a:off x="6510528"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Paramètres avancés du formulaire</a:t>
            </a:r>
            <a:endParaRPr lang="en-US" sz="950"/>
          </a:p>
        </p:txBody>
      </p:sp>
      <p:sp>
        <p:nvSpPr>
          <p:cNvPr id="48" name="Shape 34"/>
          <p:cNvSpPr/>
          <p:nvPr/>
        </p:nvSpPr>
        <p:spPr>
          <a:xfrm>
            <a:off x="0" y="4892040"/>
            <a:ext cx="9144000" cy="251460"/>
          </a:xfrm>
          <a:prstGeom prst="rect">
            <a:avLst/>
          </a:prstGeom>
          <a:solidFill>
            <a:srgbClr val="0D1B35"/>
          </a:solidFill>
          <a:ln/>
        </p:spPr>
        <p:txBody>
          <a:bodyPr/>
          <a:lstStyle/>
          <a:p>
            <a:endParaRPr lang="fr-FR"/>
          </a:p>
        </p:txBody>
      </p:sp>
      <p:sp>
        <p:nvSpPr>
          <p:cNvPr id="49" name="Text 35"/>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0" name="Text 36"/>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6 / 16</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Partie 2 — Maîtrise avancée (M4 à M6)</a:t>
            </a:r>
            <a:endParaRPr lang="en-US" sz="26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Questions complexes, logique XPath et déploiement professionnel</a:t>
            </a:r>
            <a:endParaRPr lang="en-US" sz="1200"/>
          </a:p>
        </p:txBody>
      </p:sp>
      <p:sp>
        <p:nvSpPr>
          <p:cNvPr id="6" name="Shape 4"/>
          <p:cNvSpPr/>
          <p:nvPr/>
        </p:nvSpPr>
        <p:spPr>
          <a:xfrm>
            <a:off x="256032"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56032" y="1188720"/>
            <a:ext cx="2798064" cy="420624"/>
          </a:xfrm>
          <a:prstGeom prst="rect">
            <a:avLst/>
          </a:prstGeom>
          <a:solidFill>
            <a:srgbClr val="7D3C98"/>
          </a:solidFill>
          <a:ln/>
        </p:spPr>
        <p:txBody>
          <a:bodyPr/>
          <a:lstStyle/>
          <a:p>
            <a:endParaRPr lang="fr-FR"/>
          </a:p>
        </p:txBody>
      </p:sp>
      <p:sp>
        <p:nvSpPr>
          <p:cNvPr id="8" name="Shape 6"/>
          <p:cNvSpPr/>
          <p:nvPr/>
        </p:nvSpPr>
        <p:spPr>
          <a:xfrm>
            <a:off x="365760" y="1042416"/>
            <a:ext cx="402336" cy="402336"/>
          </a:xfrm>
          <a:prstGeom prst="ellipse">
            <a:avLst/>
          </a:prstGeom>
          <a:solidFill>
            <a:srgbClr val="7D3C98"/>
          </a:solidFill>
          <a:ln/>
        </p:spPr>
        <p:txBody>
          <a:bodyPr/>
          <a:lstStyle/>
          <a:p>
            <a:endParaRPr lang="fr-FR"/>
          </a:p>
        </p:txBody>
      </p:sp>
      <p:sp>
        <p:nvSpPr>
          <p:cNvPr id="9" name="Text 7"/>
          <p:cNvSpPr/>
          <p:nvPr/>
        </p:nvSpPr>
        <p:spPr>
          <a:xfrm>
            <a:off x="365760"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M4</a:t>
            </a:r>
            <a:endParaRPr lang="en-US" sz="1300"/>
          </a:p>
        </p:txBody>
      </p:sp>
      <p:sp>
        <p:nvSpPr>
          <p:cNvPr id="10" name="Text 8"/>
          <p:cNvSpPr/>
          <p:nvPr/>
        </p:nvSpPr>
        <p:spPr>
          <a:xfrm>
            <a:off x="384048"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Types de questions avancés</a:t>
            </a:r>
            <a:endParaRPr lang="en-US" sz="1200"/>
          </a:p>
        </p:txBody>
      </p:sp>
      <p:sp>
        <p:nvSpPr>
          <p:cNvPr id="11" name="Text 9"/>
          <p:cNvSpPr/>
          <p:nvPr/>
        </p:nvSpPr>
        <p:spPr>
          <a:xfrm>
            <a:off x="384048" y="1664208"/>
            <a:ext cx="2542032" cy="219456"/>
          </a:xfrm>
          <a:prstGeom prst="rect">
            <a:avLst/>
          </a:prstGeom>
          <a:noFill/>
          <a:ln/>
        </p:spPr>
        <p:txBody>
          <a:bodyPr wrap="square" lIns="0" tIns="0" rIns="0" bIns="0" rtlCol="0" anchor="ctr"/>
          <a:lstStyle/>
          <a:p>
            <a:pPr marL="0" indent="0">
              <a:buNone/>
            </a:pPr>
            <a:r>
              <a:rPr lang="en-US" sz="950" b="1">
                <a:solidFill>
                  <a:srgbClr val="7D3C98"/>
                </a:solidFill>
                <a:latin typeface="Calibri" pitchFamily="34" charset="0"/>
                <a:ea typeface="Calibri" pitchFamily="34" charset="-122"/>
                <a:cs typeface="Calibri" pitchFamily="34" charset="-120"/>
              </a:rPr>
              <a:t>Vidéos 5–6 · ~40 min</a:t>
            </a:r>
            <a:endParaRPr lang="en-US" sz="950"/>
          </a:p>
        </p:txBody>
      </p:sp>
      <p:pic>
        <p:nvPicPr>
          <p:cNvPr id="12" name="Image 0" descr="preencoded.png"/>
          <p:cNvPicPr>
            <a:picLocks noChangeAspect="1"/>
          </p:cNvPicPr>
          <p:nvPr/>
        </p:nvPicPr>
        <p:blipFill>
          <a:blip r:embed="rId3"/>
          <a:stretch>
            <a:fillRect/>
          </a:stretch>
        </p:blipFill>
        <p:spPr>
          <a:xfrm>
            <a:off x="384048" y="1956816"/>
            <a:ext cx="182880" cy="182880"/>
          </a:xfrm>
          <a:prstGeom prst="rect">
            <a:avLst/>
          </a:prstGeom>
        </p:spPr>
      </p:pic>
      <p:sp>
        <p:nvSpPr>
          <p:cNvPr id="13" name="Text 10"/>
          <p:cNvSpPr/>
          <p:nvPr/>
        </p:nvSpPr>
        <p:spPr>
          <a:xfrm>
            <a:off x="621792"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GPS geopoint, photo, audio, vidéo</a:t>
            </a:r>
            <a:endParaRPr lang="en-US" sz="950"/>
          </a:p>
        </p:txBody>
      </p:sp>
      <p:pic>
        <p:nvPicPr>
          <p:cNvPr id="14" name="Image 1" descr="preencoded.png"/>
          <p:cNvPicPr>
            <a:picLocks noChangeAspect="1"/>
          </p:cNvPicPr>
          <p:nvPr/>
        </p:nvPicPr>
        <p:blipFill>
          <a:blip r:embed="rId3"/>
          <a:stretch>
            <a:fillRect/>
          </a:stretch>
        </p:blipFill>
        <p:spPr>
          <a:xfrm>
            <a:off x="384048" y="2340864"/>
            <a:ext cx="182880" cy="182880"/>
          </a:xfrm>
          <a:prstGeom prst="rect">
            <a:avLst/>
          </a:prstGeom>
        </p:spPr>
      </p:pic>
      <p:sp>
        <p:nvSpPr>
          <p:cNvPr id="15" name="Text 11"/>
          <p:cNvSpPr/>
          <p:nvPr/>
        </p:nvSpPr>
        <p:spPr>
          <a:xfrm>
            <a:off x="621792"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Signature et scan QR/barcode</a:t>
            </a:r>
            <a:endParaRPr lang="en-US" sz="950"/>
          </a:p>
        </p:txBody>
      </p:sp>
      <p:pic>
        <p:nvPicPr>
          <p:cNvPr id="16" name="Image 2" descr="preencoded.png"/>
          <p:cNvPicPr>
            <a:picLocks noChangeAspect="1"/>
          </p:cNvPicPr>
          <p:nvPr/>
        </p:nvPicPr>
        <p:blipFill>
          <a:blip r:embed="rId3"/>
          <a:stretch>
            <a:fillRect/>
          </a:stretch>
        </p:blipFill>
        <p:spPr>
          <a:xfrm>
            <a:off x="384048" y="2724912"/>
            <a:ext cx="182880" cy="182880"/>
          </a:xfrm>
          <a:prstGeom prst="rect">
            <a:avLst/>
          </a:prstGeom>
        </p:spPr>
      </p:pic>
      <p:sp>
        <p:nvSpPr>
          <p:cNvPr id="17" name="Text 12"/>
          <p:cNvSpPr/>
          <p:nvPr/>
        </p:nvSpPr>
        <p:spPr>
          <a:xfrm>
            <a:off x="621792"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Matrices (likert, grilles)</a:t>
            </a:r>
            <a:endParaRPr lang="en-US" sz="950"/>
          </a:p>
        </p:txBody>
      </p:sp>
      <p:pic>
        <p:nvPicPr>
          <p:cNvPr id="18" name="Image 3" descr="preencoded.png"/>
          <p:cNvPicPr>
            <a:picLocks noChangeAspect="1"/>
          </p:cNvPicPr>
          <p:nvPr/>
        </p:nvPicPr>
        <p:blipFill>
          <a:blip r:embed="rId3"/>
          <a:stretch>
            <a:fillRect/>
          </a:stretch>
        </p:blipFill>
        <p:spPr>
          <a:xfrm>
            <a:off x="384048" y="3108960"/>
            <a:ext cx="182880" cy="182880"/>
          </a:xfrm>
          <a:prstGeom prst="rect">
            <a:avLst/>
          </a:prstGeom>
        </p:spPr>
      </p:pic>
      <p:sp>
        <p:nvSpPr>
          <p:cNvPr id="19" name="Text 13"/>
          <p:cNvSpPr/>
          <p:nvPr/>
        </p:nvSpPr>
        <p:spPr>
          <a:xfrm>
            <a:off x="621792"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Calculs XPath : IMC, âge, concat…</a:t>
            </a:r>
            <a:endParaRPr lang="en-US" sz="950"/>
          </a:p>
        </p:txBody>
      </p:sp>
      <p:sp>
        <p:nvSpPr>
          <p:cNvPr id="20" name="Shape 14"/>
          <p:cNvSpPr/>
          <p:nvPr/>
        </p:nvSpPr>
        <p:spPr>
          <a:xfrm>
            <a:off x="3200400"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5"/>
          <p:cNvSpPr/>
          <p:nvPr/>
        </p:nvSpPr>
        <p:spPr>
          <a:xfrm>
            <a:off x="3200400" y="1188720"/>
            <a:ext cx="2798064" cy="420624"/>
          </a:xfrm>
          <a:prstGeom prst="rect">
            <a:avLst/>
          </a:prstGeom>
          <a:solidFill>
            <a:srgbClr val="BA4A00"/>
          </a:solidFill>
          <a:ln/>
        </p:spPr>
        <p:txBody>
          <a:bodyPr/>
          <a:lstStyle/>
          <a:p>
            <a:endParaRPr lang="fr-FR"/>
          </a:p>
        </p:txBody>
      </p:sp>
      <p:sp>
        <p:nvSpPr>
          <p:cNvPr id="22" name="Shape 16"/>
          <p:cNvSpPr/>
          <p:nvPr/>
        </p:nvSpPr>
        <p:spPr>
          <a:xfrm>
            <a:off x="3310128" y="1042416"/>
            <a:ext cx="402336" cy="402336"/>
          </a:xfrm>
          <a:prstGeom prst="ellipse">
            <a:avLst/>
          </a:prstGeom>
          <a:solidFill>
            <a:srgbClr val="BA4A00"/>
          </a:solidFill>
          <a:ln/>
        </p:spPr>
        <p:txBody>
          <a:bodyPr/>
          <a:lstStyle/>
          <a:p>
            <a:endParaRPr lang="fr-FR"/>
          </a:p>
        </p:txBody>
      </p:sp>
      <p:sp>
        <p:nvSpPr>
          <p:cNvPr id="23" name="Text 17"/>
          <p:cNvSpPr/>
          <p:nvPr/>
        </p:nvSpPr>
        <p:spPr>
          <a:xfrm>
            <a:off x="3310128"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M5</a:t>
            </a:r>
            <a:endParaRPr lang="en-US" sz="1300"/>
          </a:p>
        </p:txBody>
      </p:sp>
      <p:sp>
        <p:nvSpPr>
          <p:cNvPr id="24" name="Text 18"/>
          <p:cNvSpPr/>
          <p:nvPr/>
        </p:nvSpPr>
        <p:spPr>
          <a:xfrm>
            <a:off x="3328416"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Logique &amp; sauts conditionnels</a:t>
            </a:r>
            <a:endParaRPr lang="en-US" sz="1200"/>
          </a:p>
        </p:txBody>
      </p:sp>
      <p:sp>
        <p:nvSpPr>
          <p:cNvPr id="25" name="Text 19"/>
          <p:cNvSpPr/>
          <p:nvPr/>
        </p:nvSpPr>
        <p:spPr>
          <a:xfrm>
            <a:off x="3328416" y="1664208"/>
            <a:ext cx="2542032" cy="219456"/>
          </a:xfrm>
          <a:prstGeom prst="rect">
            <a:avLst/>
          </a:prstGeom>
          <a:noFill/>
          <a:ln/>
        </p:spPr>
        <p:txBody>
          <a:bodyPr wrap="square" lIns="0" tIns="0" rIns="0" bIns="0" rtlCol="0" anchor="ctr"/>
          <a:lstStyle/>
          <a:p>
            <a:pPr marL="0" indent="0">
              <a:buNone/>
            </a:pPr>
            <a:r>
              <a:rPr lang="en-US" sz="950" b="1">
                <a:solidFill>
                  <a:srgbClr val="BA4A00"/>
                </a:solidFill>
                <a:latin typeface="Calibri" pitchFamily="34" charset="0"/>
                <a:ea typeface="Calibri" pitchFamily="34" charset="-122"/>
                <a:cs typeface="Calibri" pitchFamily="34" charset="-120"/>
              </a:rPr>
              <a:t>Vidéos 7–8 · ~45 min</a:t>
            </a:r>
            <a:endParaRPr lang="en-US" sz="950"/>
          </a:p>
        </p:txBody>
      </p:sp>
      <p:pic>
        <p:nvPicPr>
          <p:cNvPr id="26" name="Image 4" descr="preencoded.png"/>
          <p:cNvPicPr>
            <a:picLocks noChangeAspect="1"/>
          </p:cNvPicPr>
          <p:nvPr/>
        </p:nvPicPr>
        <p:blipFill>
          <a:blip r:embed="rId3"/>
          <a:stretch>
            <a:fillRect/>
          </a:stretch>
        </p:blipFill>
        <p:spPr>
          <a:xfrm>
            <a:off x="3328416" y="1956816"/>
            <a:ext cx="182880" cy="182880"/>
          </a:xfrm>
          <a:prstGeom prst="rect">
            <a:avLst/>
          </a:prstGeom>
        </p:spPr>
      </p:pic>
      <p:sp>
        <p:nvSpPr>
          <p:cNvPr id="27" name="Text 20"/>
          <p:cNvSpPr/>
          <p:nvPr/>
        </p:nvSpPr>
        <p:spPr>
          <a:xfrm>
            <a:off x="3566160"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Skip logic — l'interface graphique</a:t>
            </a:r>
            <a:endParaRPr lang="en-US" sz="950"/>
          </a:p>
        </p:txBody>
      </p:sp>
      <p:pic>
        <p:nvPicPr>
          <p:cNvPr id="28" name="Image 5" descr="preencoded.png"/>
          <p:cNvPicPr>
            <a:picLocks noChangeAspect="1"/>
          </p:cNvPicPr>
          <p:nvPr/>
        </p:nvPicPr>
        <p:blipFill>
          <a:blip r:embed="rId3"/>
          <a:stretch>
            <a:fillRect/>
          </a:stretch>
        </p:blipFill>
        <p:spPr>
          <a:xfrm>
            <a:off x="3328416" y="2340864"/>
            <a:ext cx="182880" cy="182880"/>
          </a:xfrm>
          <a:prstGeom prst="rect">
            <a:avLst/>
          </a:prstGeom>
        </p:spPr>
      </p:pic>
      <p:sp>
        <p:nvSpPr>
          <p:cNvPr id="29" name="Text 21"/>
          <p:cNvSpPr/>
          <p:nvPr/>
        </p:nvSpPr>
        <p:spPr>
          <a:xfrm>
            <a:off x="3566160"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Relevant conditions XPath</a:t>
            </a:r>
            <a:endParaRPr lang="en-US" sz="950"/>
          </a:p>
        </p:txBody>
      </p:sp>
      <p:pic>
        <p:nvPicPr>
          <p:cNvPr id="30" name="Image 6" descr="preencoded.png"/>
          <p:cNvPicPr>
            <a:picLocks noChangeAspect="1"/>
          </p:cNvPicPr>
          <p:nvPr/>
        </p:nvPicPr>
        <p:blipFill>
          <a:blip r:embed="rId3"/>
          <a:stretch>
            <a:fillRect/>
          </a:stretch>
        </p:blipFill>
        <p:spPr>
          <a:xfrm>
            <a:off x="3328416" y="2724912"/>
            <a:ext cx="182880" cy="182880"/>
          </a:xfrm>
          <a:prstGeom prst="rect">
            <a:avLst/>
          </a:prstGeom>
        </p:spPr>
      </p:pic>
      <p:sp>
        <p:nvSpPr>
          <p:cNvPr id="31" name="Text 22"/>
          <p:cNvSpPr/>
          <p:nvPr/>
        </p:nvSpPr>
        <p:spPr>
          <a:xfrm>
            <a:off x="3566160"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Constraint — valider les saisies</a:t>
            </a:r>
            <a:endParaRPr lang="en-US" sz="950"/>
          </a:p>
        </p:txBody>
      </p:sp>
      <p:pic>
        <p:nvPicPr>
          <p:cNvPr id="32" name="Image 7" descr="preencoded.png"/>
          <p:cNvPicPr>
            <a:picLocks noChangeAspect="1"/>
          </p:cNvPicPr>
          <p:nvPr/>
        </p:nvPicPr>
        <p:blipFill>
          <a:blip r:embed="rId3"/>
          <a:stretch>
            <a:fillRect/>
          </a:stretch>
        </p:blipFill>
        <p:spPr>
          <a:xfrm>
            <a:off x="3328416" y="3108960"/>
            <a:ext cx="182880" cy="182880"/>
          </a:xfrm>
          <a:prstGeom prst="rect">
            <a:avLst/>
          </a:prstGeom>
        </p:spPr>
      </p:pic>
      <p:sp>
        <p:nvSpPr>
          <p:cNvPr id="33" name="Text 23"/>
          <p:cNvSpPr/>
          <p:nvPr/>
        </p:nvSpPr>
        <p:spPr>
          <a:xfrm>
            <a:off x="3566160"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Default · Cascading selects</a:t>
            </a:r>
            <a:endParaRPr lang="en-US" sz="950"/>
          </a:p>
        </p:txBody>
      </p:sp>
      <p:sp>
        <p:nvSpPr>
          <p:cNvPr id="34" name="Shape 24"/>
          <p:cNvSpPr/>
          <p:nvPr/>
        </p:nvSpPr>
        <p:spPr>
          <a:xfrm>
            <a:off x="6144768"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25"/>
          <p:cNvSpPr/>
          <p:nvPr/>
        </p:nvSpPr>
        <p:spPr>
          <a:xfrm>
            <a:off x="6144768" y="1188720"/>
            <a:ext cx="2798064" cy="420624"/>
          </a:xfrm>
          <a:prstGeom prst="rect">
            <a:avLst/>
          </a:prstGeom>
          <a:solidFill>
            <a:srgbClr val="2E86C1"/>
          </a:solidFill>
          <a:ln/>
        </p:spPr>
        <p:txBody>
          <a:bodyPr/>
          <a:lstStyle/>
          <a:p>
            <a:endParaRPr lang="fr-FR"/>
          </a:p>
        </p:txBody>
      </p:sp>
      <p:sp>
        <p:nvSpPr>
          <p:cNvPr id="36" name="Shape 26"/>
          <p:cNvSpPr/>
          <p:nvPr/>
        </p:nvSpPr>
        <p:spPr>
          <a:xfrm>
            <a:off x="6254496" y="1042416"/>
            <a:ext cx="402336" cy="402336"/>
          </a:xfrm>
          <a:prstGeom prst="ellipse">
            <a:avLst/>
          </a:prstGeom>
          <a:solidFill>
            <a:srgbClr val="2E86C1"/>
          </a:solidFill>
          <a:ln/>
        </p:spPr>
        <p:txBody>
          <a:bodyPr/>
          <a:lstStyle/>
          <a:p>
            <a:endParaRPr lang="fr-FR"/>
          </a:p>
        </p:txBody>
      </p:sp>
      <p:sp>
        <p:nvSpPr>
          <p:cNvPr id="37" name="Text 27"/>
          <p:cNvSpPr/>
          <p:nvPr/>
        </p:nvSpPr>
        <p:spPr>
          <a:xfrm>
            <a:off x="6254496"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M6</a:t>
            </a:r>
            <a:endParaRPr lang="en-US" sz="1300"/>
          </a:p>
        </p:txBody>
      </p:sp>
      <p:sp>
        <p:nvSpPr>
          <p:cNvPr id="38" name="Text 28"/>
          <p:cNvSpPr/>
          <p:nvPr/>
        </p:nvSpPr>
        <p:spPr>
          <a:xfrm>
            <a:off x="6272784"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Déploiement du formulaire</a:t>
            </a:r>
            <a:endParaRPr lang="en-US" sz="1200"/>
          </a:p>
        </p:txBody>
      </p:sp>
      <p:sp>
        <p:nvSpPr>
          <p:cNvPr id="39" name="Text 29"/>
          <p:cNvSpPr/>
          <p:nvPr/>
        </p:nvSpPr>
        <p:spPr>
          <a:xfrm>
            <a:off x="6272784" y="1664208"/>
            <a:ext cx="2542032" cy="219456"/>
          </a:xfrm>
          <a:prstGeom prst="rect">
            <a:avLst/>
          </a:prstGeom>
          <a:noFill/>
          <a:ln/>
        </p:spPr>
        <p:txBody>
          <a:bodyPr wrap="square" lIns="0" tIns="0" rIns="0" bIns="0" rtlCol="0" anchor="ctr"/>
          <a:lstStyle/>
          <a:p>
            <a:pPr marL="0" indent="0">
              <a:buNone/>
            </a:pPr>
            <a:r>
              <a:rPr lang="en-US" sz="950" b="1">
                <a:solidFill>
                  <a:srgbClr val="2E86C1"/>
                </a:solidFill>
                <a:latin typeface="Calibri" pitchFamily="34" charset="0"/>
                <a:ea typeface="Calibri" pitchFamily="34" charset="-122"/>
                <a:cs typeface="Calibri" pitchFamily="34" charset="-120"/>
              </a:rPr>
              <a:t>Vidéo 9 · ~18 min</a:t>
            </a:r>
            <a:endParaRPr lang="en-US" sz="950"/>
          </a:p>
        </p:txBody>
      </p:sp>
      <p:pic>
        <p:nvPicPr>
          <p:cNvPr id="40" name="Image 8" descr="preencoded.png"/>
          <p:cNvPicPr>
            <a:picLocks noChangeAspect="1"/>
          </p:cNvPicPr>
          <p:nvPr/>
        </p:nvPicPr>
        <p:blipFill>
          <a:blip r:embed="rId3"/>
          <a:stretch>
            <a:fillRect/>
          </a:stretch>
        </p:blipFill>
        <p:spPr>
          <a:xfrm>
            <a:off x="6272784" y="1956816"/>
            <a:ext cx="182880" cy="182880"/>
          </a:xfrm>
          <a:prstGeom prst="rect">
            <a:avLst/>
          </a:prstGeom>
        </p:spPr>
      </p:pic>
      <p:sp>
        <p:nvSpPr>
          <p:cNvPr id="41" name="Text 30"/>
          <p:cNvSpPr/>
          <p:nvPr/>
        </p:nvSpPr>
        <p:spPr>
          <a:xfrm>
            <a:off x="6510528"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Les 5 états d'un formulaire</a:t>
            </a:r>
            <a:endParaRPr lang="en-US" sz="950"/>
          </a:p>
        </p:txBody>
      </p:sp>
      <p:pic>
        <p:nvPicPr>
          <p:cNvPr id="42" name="Image 9" descr="preencoded.png"/>
          <p:cNvPicPr>
            <a:picLocks noChangeAspect="1"/>
          </p:cNvPicPr>
          <p:nvPr/>
        </p:nvPicPr>
        <p:blipFill>
          <a:blip r:embed="rId3"/>
          <a:stretch>
            <a:fillRect/>
          </a:stretch>
        </p:blipFill>
        <p:spPr>
          <a:xfrm>
            <a:off x="6272784" y="2340864"/>
            <a:ext cx="182880" cy="182880"/>
          </a:xfrm>
          <a:prstGeom prst="rect">
            <a:avLst/>
          </a:prstGeom>
        </p:spPr>
      </p:pic>
      <p:sp>
        <p:nvSpPr>
          <p:cNvPr id="43" name="Text 31"/>
          <p:cNvSpPr/>
          <p:nvPr/>
        </p:nvSpPr>
        <p:spPr>
          <a:xfrm>
            <a:off x="6510528"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Déployer et gérer les versions</a:t>
            </a:r>
            <a:endParaRPr lang="en-US" sz="950"/>
          </a:p>
        </p:txBody>
      </p:sp>
      <p:pic>
        <p:nvPicPr>
          <p:cNvPr id="44" name="Image 10" descr="preencoded.png"/>
          <p:cNvPicPr>
            <a:picLocks noChangeAspect="1"/>
          </p:cNvPicPr>
          <p:nvPr/>
        </p:nvPicPr>
        <p:blipFill>
          <a:blip r:embed="rId3"/>
          <a:stretch>
            <a:fillRect/>
          </a:stretch>
        </p:blipFill>
        <p:spPr>
          <a:xfrm>
            <a:off x="6272784" y="2724912"/>
            <a:ext cx="182880" cy="182880"/>
          </a:xfrm>
          <a:prstGeom prst="rect">
            <a:avLst/>
          </a:prstGeom>
        </p:spPr>
      </p:pic>
      <p:sp>
        <p:nvSpPr>
          <p:cNvPr id="45" name="Text 32"/>
          <p:cNvSpPr/>
          <p:nvPr/>
        </p:nvSpPr>
        <p:spPr>
          <a:xfrm>
            <a:off x="6510528"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Partager via lien URL et QR code</a:t>
            </a:r>
            <a:endParaRPr lang="en-US" sz="950"/>
          </a:p>
        </p:txBody>
      </p:sp>
      <p:pic>
        <p:nvPicPr>
          <p:cNvPr id="46" name="Image 11" descr="preencoded.png"/>
          <p:cNvPicPr>
            <a:picLocks noChangeAspect="1"/>
          </p:cNvPicPr>
          <p:nvPr/>
        </p:nvPicPr>
        <p:blipFill>
          <a:blip r:embed="rId3"/>
          <a:stretch>
            <a:fillRect/>
          </a:stretch>
        </p:blipFill>
        <p:spPr>
          <a:xfrm>
            <a:off x="6272784" y="3108960"/>
            <a:ext cx="182880" cy="182880"/>
          </a:xfrm>
          <a:prstGeom prst="rect">
            <a:avLst/>
          </a:prstGeom>
        </p:spPr>
      </p:pic>
      <p:sp>
        <p:nvSpPr>
          <p:cNvPr id="47" name="Text 33"/>
          <p:cNvSpPr/>
          <p:nvPr/>
        </p:nvSpPr>
        <p:spPr>
          <a:xfrm>
            <a:off x="6510528"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Activer et désactiver la collecte</a:t>
            </a:r>
            <a:endParaRPr lang="en-US" sz="950"/>
          </a:p>
        </p:txBody>
      </p:sp>
      <p:sp>
        <p:nvSpPr>
          <p:cNvPr id="48" name="Shape 34"/>
          <p:cNvSpPr/>
          <p:nvPr/>
        </p:nvSpPr>
        <p:spPr>
          <a:xfrm>
            <a:off x="0" y="4892040"/>
            <a:ext cx="9144000" cy="251460"/>
          </a:xfrm>
          <a:prstGeom prst="rect">
            <a:avLst/>
          </a:prstGeom>
          <a:solidFill>
            <a:srgbClr val="0D1B35"/>
          </a:solidFill>
          <a:ln/>
        </p:spPr>
        <p:txBody>
          <a:bodyPr/>
          <a:lstStyle/>
          <a:p>
            <a:endParaRPr lang="fr-FR"/>
          </a:p>
        </p:txBody>
      </p:sp>
      <p:sp>
        <p:nvSpPr>
          <p:cNvPr id="49" name="Text 35"/>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0" name="Text 36"/>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7 / 16</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Partie 3 — Terrain &amp; Analyse (M7 à M9)</a:t>
            </a:r>
            <a:endParaRPr lang="en-US" sz="26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Collecter sur le terrain, gérer les données et produire des rapports professionnels</a:t>
            </a:r>
            <a:endParaRPr lang="en-US" sz="1200"/>
          </a:p>
        </p:txBody>
      </p:sp>
      <p:sp>
        <p:nvSpPr>
          <p:cNvPr id="6" name="Shape 4"/>
          <p:cNvSpPr/>
          <p:nvPr/>
        </p:nvSpPr>
        <p:spPr>
          <a:xfrm>
            <a:off x="256032"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56032" y="1188720"/>
            <a:ext cx="2798064" cy="420624"/>
          </a:xfrm>
          <a:prstGeom prst="rect">
            <a:avLst/>
          </a:prstGeom>
          <a:solidFill>
            <a:srgbClr val="1E8449"/>
          </a:solidFill>
          <a:ln/>
        </p:spPr>
        <p:txBody>
          <a:bodyPr/>
          <a:lstStyle/>
          <a:p>
            <a:endParaRPr lang="fr-FR"/>
          </a:p>
        </p:txBody>
      </p:sp>
      <p:sp>
        <p:nvSpPr>
          <p:cNvPr id="8" name="Shape 6"/>
          <p:cNvSpPr/>
          <p:nvPr/>
        </p:nvSpPr>
        <p:spPr>
          <a:xfrm>
            <a:off x="365760" y="1042416"/>
            <a:ext cx="402336" cy="402336"/>
          </a:xfrm>
          <a:prstGeom prst="ellipse">
            <a:avLst/>
          </a:prstGeom>
          <a:solidFill>
            <a:srgbClr val="1E8449"/>
          </a:solidFill>
          <a:ln/>
        </p:spPr>
        <p:txBody>
          <a:bodyPr/>
          <a:lstStyle/>
          <a:p>
            <a:endParaRPr lang="fr-FR"/>
          </a:p>
        </p:txBody>
      </p:sp>
      <p:sp>
        <p:nvSpPr>
          <p:cNvPr id="9" name="Text 7"/>
          <p:cNvSpPr/>
          <p:nvPr/>
        </p:nvSpPr>
        <p:spPr>
          <a:xfrm>
            <a:off x="365760"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M7</a:t>
            </a:r>
            <a:endParaRPr lang="en-US" sz="1300"/>
          </a:p>
        </p:txBody>
      </p:sp>
      <p:sp>
        <p:nvSpPr>
          <p:cNvPr id="10" name="Text 8"/>
          <p:cNvSpPr/>
          <p:nvPr/>
        </p:nvSpPr>
        <p:spPr>
          <a:xfrm>
            <a:off x="384048"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Collecte de données terrain</a:t>
            </a:r>
            <a:endParaRPr lang="en-US" sz="1200"/>
          </a:p>
        </p:txBody>
      </p:sp>
      <p:sp>
        <p:nvSpPr>
          <p:cNvPr id="11" name="Text 9"/>
          <p:cNvSpPr/>
          <p:nvPr/>
        </p:nvSpPr>
        <p:spPr>
          <a:xfrm>
            <a:off x="384048" y="1664208"/>
            <a:ext cx="2542032" cy="219456"/>
          </a:xfrm>
          <a:prstGeom prst="rect">
            <a:avLst/>
          </a:prstGeom>
          <a:noFill/>
          <a:ln/>
        </p:spPr>
        <p:txBody>
          <a:bodyPr wrap="square" lIns="0" tIns="0" rIns="0" bIns="0" rtlCol="0" anchor="ctr"/>
          <a:lstStyle/>
          <a:p>
            <a:pPr marL="0" indent="0">
              <a:buNone/>
            </a:pPr>
            <a:r>
              <a:rPr lang="en-US" sz="950" b="1">
                <a:solidFill>
                  <a:srgbClr val="1E8449"/>
                </a:solidFill>
                <a:latin typeface="Calibri" pitchFamily="34" charset="0"/>
                <a:ea typeface="Calibri" pitchFamily="34" charset="-122"/>
                <a:cs typeface="Calibri" pitchFamily="34" charset="-120"/>
              </a:rPr>
              <a:t>Vidéos 10–11 · ~40 min</a:t>
            </a:r>
            <a:endParaRPr lang="en-US" sz="950"/>
          </a:p>
        </p:txBody>
      </p:sp>
      <p:pic>
        <p:nvPicPr>
          <p:cNvPr id="12" name="Image 0" descr="preencoded.png"/>
          <p:cNvPicPr>
            <a:picLocks noChangeAspect="1"/>
          </p:cNvPicPr>
          <p:nvPr/>
        </p:nvPicPr>
        <p:blipFill>
          <a:blip r:embed="rId3"/>
          <a:stretch>
            <a:fillRect/>
          </a:stretch>
        </p:blipFill>
        <p:spPr>
          <a:xfrm>
            <a:off x="384048" y="1956816"/>
            <a:ext cx="182880" cy="182880"/>
          </a:xfrm>
          <a:prstGeom prst="rect">
            <a:avLst/>
          </a:prstGeom>
        </p:spPr>
      </p:pic>
      <p:sp>
        <p:nvSpPr>
          <p:cNvPr id="13" name="Text 10"/>
          <p:cNvSpPr/>
          <p:nvPr/>
        </p:nvSpPr>
        <p:spPr>
          <a:xfrm>
            <a:off x="621792"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KoboCollect sur Android — installation</a:t>
            </a:r>
            <a:endParaRPr lang="en-US" sz="950"/>
          </a:p>
        </p:txBody>
      </p:sp>
      <p:pic>
        <p:nvPicPr>
          <p:cNvPr id="14" name="Image 1" descr="preencoded.png"/>
          <p:cNvPicPr>
            <a:picLocks noChangeAspect="1"/>
          </p:cNvPicPr>
          <p:nvPr/>
        </p:nvPicPr>
        <p:blipFill>
          <a:blip r:embed="rId3"/>
          <a:stretch>
            <a:fillRect/>
          </a:stretch>
        </p:blipFill>
        <p:spPr>
          <a:xfrm>
            <a:off x="384048" y="2340864"/>
            <a:ext cx="182880" cy="182880"/>
          </a:xfrm>
          <a:prstGeom prst="rect">
            <a:avLst/>
          </a:prstGeom>
        </p:spPr>
      </p:pic>
      <p:sp>
        <p:nvSpPr>
          <p:cNvPr id="15" name="Text 11"/>
          <p:cNvSpPr/>
          <p:nvPr/>
        </p:nvSpPr>
        <p:spPr>
          <a:xfrm>
            <a:off x="621792"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Collecte hors ligne et synchronisation</a:t>
            </a:r>
            <a:endParaRPr lang="en-US" sz="950"/>
          </a:p>
        </p:txBody>
      </p:sp>
      <p:pic>
        <p:nvPicPr>
          <p:cNvPr id="16" name="Image 2" descr="preencoded.png"/>
          <p:cNvPicPr>
            <a:picLocks noChangeAspect="1"/>
          </p:cNvPicPr>
          <p:nvPr/>
        </p:nvPicPr>
        <p:blipFill>
          <a:blip r:embed="rId3"/>
          <a:stretch>
            <a:fillRect/>
          </a:stretch>
        </p:blipFill>
        <p:spPr>
          <a:xfrm>
            <a:off x="384048" y="2724912"/>
            <a:ext cx="182880" cy="182880"/>
          </a:xfrm>
          <a:prstGeom prst="rect">
            <a:avLst/>
          </a:prstGeom>
        </p:spPr>
      </p:pic>
      <p:sp>
        <p:nvSpPr>
          <p:cNvPr id="17" name="Text 12"/>
          <p:cNvSpPr/>
          <p:nvPr/>
        </p:nvSpPr>
        <p:spPr>
          <a:xfrm>
            <a:off x="621792"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Enketo dans le navigateur web</a:t>
            </a:r>
            <a:endParaRPr lang="en-US" sz="950"/>
          </a:p>
        </p:txBody>
      </p:sp>
      <p:pic>
        <p:nvPicPr>
          <p:cNvPr id="18" name="Image 3" descr="preencoded.png"/>
          <p:cNvPicPr>
            <a:picLocks noChangeAspect="1"/>
          </p:cNvPicPr>
          <p:nvPr/>
        </p:nvPicPr>
        <p:blipFill>
          <a:blip r:embed="rId3"/>
          <a:stretch>
            <a:fillRect/>
          </a:stretch>
        </p:blipFill>
        <p:spPr>
          <a:xfrm>
            <a:off x="384048" y="3108960"/>
            <a:ext cx="182880" cy="182880"/>
          </a:xfrm>
          <a:prstGeom prst="rect">
            <a:avLst/>
          </a:prstGeom>
        </p:spPr>
      </p:pic>
      <p:sp>
        <p:nvSpPr>
          <p:cNvPr id="19" name="Text 13"/>
          <p:cNvSpPr/>
          <p:nvPr/>
        </p:nvSpPr>
        <p:spPr>
          <a:xfrm>
            <a:off x="621792"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Mode multi-langue · Gestion des brouillons</a:t>
            </a:r>
            <a:endParaRPr lang="en-US" sz="950"/>
          </a:p>
        </p:txBody>
      </p:sp>
      <p:sp>
        <p:nvSpPr>
          <p:cNvPr id="20" name="Shape 14"/>
          <p:cNvSpPr/>
          <p:nvPr/>
        </p:nvSpPr>
        <p:spPr>
          <a:xfrm>
            <a:off x="3200400"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5"/>
          <p:cNvSpPr/>
          <p:nvPr/>
        </p:nvSpPr>
        <p:spPr>
          <a:xfrm>
            <a:off x="3200400" y="1188720"/>
            <a:ext cx="2798064" cy="420624"/>
          </a:xfrm>
          <a:prstGeom prst="rect">
            <a:avLst/>
          </a:prstGeom>
          <a:solidFill>
            <a:srgbClr val="922B21"/>
          </a:solidFill>
          <a:ln/>
        </p:spPr>
        <p:txBody>
          <a:bodyPr/>
          <a:lstStyle/>
          <a:p>
            <a:endParaRPr lang="fr-FR"/>
          </a:p>
        </p:txBody>
      </p:sp>
      <p:sp>
        <p:nvSpPr>
          <p:cNvPr id="22" name="Shape 16"/>
          <p:cNvSpPr/>
          <p:nvPr/>
        </p:nvSpPr>
        <p:spPr>
          <a:xfrm>
            <a:off x="3310128" y="1042416"/>
            <a:ext cx="402336" cy="402336"/>
          </a:xfrm>
          <a:prstGeom prst="ellipse">
            <a:avLst/>
          </a:prstGeom>
          <a:solidFill>
            <a:srgbClr val="922B21"/>
          </a:solidFill>
          <a:ln/>
        </p:spPr>
        <p:txBody>
          <a:bodyPr/>
          <a:lstStyle/>
          <a:p>
            <a:endParaRPr lang="fr-FR"/>
          </a:p>
        </p:txBody>
      </p:sp>
      <p:sp>
        <p:nvSpPr>
          <p:cNvPr id="23" name="Text 17"/>
          <p:cNvSpPr/>
          <p:nvPr/>
        </p:nvSpPr>
        <p:spPr>
          <a:xfrm>
            <a:off x="3310128"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M8</a:t>
            </a:r>
            <a:endParaRPr lang="en-US" sz="1300"/>
          </a:p>
        </p:txBody>
      </p:sp>
      <p:sp>
        <p:nvSpPr>
          <p:cNvPr id="24" name="Text 18"/>
          <p:cNvSpPr/>
          <p:nvPr/>
        </p:nvSpPr>
        <p:spPr>
          <a:xfrm>
            <a:off x="3328416"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Gestion &amp; suivi des soumissions</a:t>
            </a:r>
            <a:endParaRPr lang="en-US" sz="1200"/>
          </a:p>
        </p:txBody>
      </p:sp>
      <p:sp>
        <p:nvSpPr>
          <p:cNvPr id="25" name="Text 19"/>
          <p:cNvSpPr/>
          <p:nvPr/>
        </p:nvSpPr>
        <p:spPr>
          <a:xfrm>
            <a:off x="3328416" y="1664208"/>
            <a:ext cx="2542032" cy="219456"/>
          </a:xfrm>
          <a:prstGeom prst="rect">
            <a:avLst/>
          </a:prstGeom>
          <a:noFill/>
          <a:ln/>
        </p:spPr>
        <p:txBody>
          <a:bodyPr wrap="square" lIns="0" tIns="0" rIns="0" bIns="0" rtlCol="0" anchor="ctr"/>
          <a:lstStyle/>
          <a:p>
            <a:pPr marL="0" indent="0">
              <a:buNone/>
            </a:pPr>
            <a:r>
              <a:rPr lang="en-US" sz="950" b="1">
                <a:solidFill>
                  <a:srgbClr val="922B21"/>
                </a:solidFill>
                <a:latin typeface="Calibri" pitchFamily="34" charset="0"/>
                <a:ea typeface="Calibri" pitchFamily="34" charset="-122"/>
                <a:cs typeface="Calibri" pitchFamily="34" charset="-120"/>
              </a:rPr>
              <a:t>Vidéo 12 · ~20 min</a:t>
            </a:r>
            <a:endParaRPr lang="en-US" sz="950"/>
          </a:p>
        </p:txBody>
      </p:sp>
      <p:pic>
        <p:nvPicPr>
          <p:cNvPr id="26" name="Image 4" descr="preencoded.png"/>
          <p:cNvPicPr>
            <a:picLocks noChangeAspect="1"/>
          </p:cNvPicPr>
          <p:nvPr/>
        </p:nvPicPr>
        <p:blipFill>
          <a:blip r:embed="rId3"/>
          <a:stretch>
            <a:fillRect/>
          </a:stretch>
        </p:blipFill>
        <p:spPr>
          <a:xfrm>
            <a:off x="3328416" y="1956816"/>
            <a:ext cx="182880" cy="182880"/>
          </a:xfrm>
          <a:prstGeom prst="rect">
            <a:avLst/>
          </a:prstGeom>
        </p:spPr>
      </p:pic>
      <p:sp>
        <p:nvSpPr>
          <p:cNvPr id="27" name="Text 20"/>
          <p:cNvSpPr/>
          <p:nvPr/>
        </p:nvSpPr>
        <p:spPr>
          <a:xfrm>
            <a:off x="3566160"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Tableau onglet Data — naviguer, filtrer</a:t>
            </a:r>
            <a:endParaRPr lang="en-US" sz="950"/>
          </a:p>
        </p:txBody>
      </p:sp>
      <p:pic>
        <p:nvPicPr>
          <p:cNvPr id="28" name="Image 5" descr="preencoded.png"/>
          <p:cNvPicPr>
            <a:picLocks noChangeAspect="1"/>
          </p:cNvPicPr>
          <p:nvPr/>
        </p:nvPicPr>
        <p:blipFill>
          <a:blip r:embed="rId3"/>
          <a:stretch>
            <a:fillRect/>
          </a:stretch>
        </p:blipFill>
        <p:spPr>
          <a:xfrm>
            <a:off x="3328416" y="2340864"/>
            <a:ext cx="182880" cy="182880"/>
          </a:xfrm>
          <a:prstGeom prst="rect">
            <a:avLst/>
          </a:prstGeom>
        </p:spPr>
      </p:pic>
      <p:sp>
        <p:nvSpPr>
          <p:cNvPr id="29" name="Text 21"/>
          <p:cNvSpPr/>
          <p:nvPr/>
        </p:nvSpPr>
        <p:spPr>
          <a:xfrm>
            <a:off x="3566160"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Modifier une soumission après envoi</a:t>
            </a:r>
            <a:endParaRPr lang="en-US" sz="950"/>
          </a:p>
        </p:txBody>
      </p:sp>
      <p:pic>
        <p:nvPicPr>
          <p:cNvPr id="30" name="Image 6" descr="preencoded.png"/>
          <p:cNvPicPr>
            <a:picLocks noChangeAspect="1"/>
          </p:cNvPicPr>
          <p:nvPr/>
        </p:nvPicPr>
        <p:blipFill>
          <a:blip r:embed="rId3"/>
          <a:stretch>
            <a:fillRect/>
          </a:stretch>
        </p:blipFill>
        <p:spPr>
          <a:xfrm>
            <a:off x="3328416" y="2724912"/>
            <a:ext cx="182880" cy="182880"/>
          </a:xfrm>
          <a:prstGeom prst="rect">
            <a:avLst/>
          </a:prstGeom>
        </p:spPr>
      </p:pic>
      <p:sp>
        <p:nvSpPr>
          <p:cNvPr id="31" name="Text 22"/>
          <p:cNvSpPr/>
          <p:nvPr/>
        </p:nvSpPr>
        <p:spPr>
          <a:xfrm>
            <a:off x="3566160"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Consulter les médias (photos, signatures)</a:t>
            </a:r>
            <a:endParaRPr lang="en-US" sz="950"/>
          </a:p>
        </p:txBody>
      </p:sp>
      <p:pic>
        <p:nvPicPr>
          <p:cNvPr id="32" name="Image 7" descr="preencoded.png"/>
          <p:cNvPicPr>
            <a:picLocks noChangeAspect="1"/>
          </p:cNvPicPr>
          <p:nvPr/>
        </p:nvPicPr>
        <p:blipFill>
          <a:blip r:embed="rId3"/>
          <a:stretch>
            <a:fillRect/>
          </a:stretch>
        </p:blipFill>
        <p:spPr>
          <a:xfrm>
            <a:off x="3328416" y="3108960"/>
            <a:ext cx="182880" cy="182880"/>
          </a:xfrm>
          <a:prstGeom prst="rect">
            <a:avLst/>
          </a:prstGeom>
        </p:spPr>
      </p:pic>
      <p:sp>
        <p:nvSpPr>
          <p:cNvPr id="33" name="Text 23"/>
          <p:cNvSpPr/>
          <p:nvPr/>
        </p:nvSpPr>
        <p:spPr>
          <a:xfrm>
            <a:off x="3566160"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Identifier et gérer les doublons</a:t>
            </a:r>
            <a:endParaRPr lang="en-US" sz="950"/>
          </a:p>
        </p:txBody>
      </p:sp>
      <p:sp>
        <p:nvSpPr>
          <p:cNvPr id="34" name="Shape 24"/>
          <p:cNvSpPr/>
          <p:nvPr/>
        </p:nvSpPr>
        <p:spPr>
          <a:xfrm>
            <a:off x="6144768"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25"/>
          <p:cNvSpPr/>
          <p:nvPr/>
        </p:nvSpPr>
        <p:spPr>
          <a:xfrm>
            <a:off x="6144768" y="1188720"/>
            <a:ext cx="2798064" cy="420624"/>
          </a:xfrm>
          <a:prstGeom prst="rect">
            <a:avLst/>
          </a:prstGeom>
          <a:solidFill>
            <a:srgbClr val="1B2A6B"/>
          </a:solidFill>
          <a:ln/>
        </p:spPr>
        <p:txBody>
          <a:bodyPr/>
          <a:lstStyle/>
          <a:p>
            <a:endParaRPr lang="fr-FR"/>
          </a:p>
        </p:txBody>
      </p:sp>
      <p:sp>
        <p:nvSpPr>
          <p:cNvPr id="36" name="Shape 26"/>
          <p:cNvSpPr/>
          <p:nvPr/>
        </p:nvSpPr>
        <p:spPr>
          <a:xfrm>
            <a:off x="6254496" y="1042416"/>
            <a:ext cx="402336" cy="402336"/>
          </a:xfrm>
          <a:prstGeom prst="ellipse">
            <a:avLst/>
          </a:prstGeom>
          <a:solidFill>
            <a:srgbClr val="1B2A6B"/>
          </a:solidFill>
          <a:ln/>
        </p:spPr>
        <p:txBody>
          <a:bodyPr/>
          <a:lstStyle/>
          <a:p>
            <a:endParaRPr lang="fr-FR"/>
          </a:p>
        </p:txBody>
      </p:sp>
      <p:sp>
        <p:nvSpPr>
          <p:cNvPr id="37" name="Text 27"/>
          <p:cNvSpPr/>
          <p:nvPr/>
        </p:nvSpPr>
        <p:spPr>
          <a:xfrm>
            <a:off x="6254496" y="1042416"/>
            <a:ext cx="402336" cy="402336"/>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M9</a:t>
            </a:r>
            <a:endParaRPr lang="en-US" sz="1300"/>
          </a:p>
        </p:txBody>
      </p:sp>
      <p:sp>
        <p:nvSpPr>
          <p:cNvPr id="38" name="Text 28"/>
          <p:cNvSpPr/>
          <p:nvPr/>
        </p:nvSpPr>
        <p:spPr>
          <a:xfrm>
            <a:off x="6272784" y="1243584"/>
            <a:ext cx="2542032" cy="310896"/>
          </a:xfrm>
          <a:prstGeom prst="rect">
            <a:avLst/>
          </a:prstGeom>
          <a:noFill/>
          <a:ln/>
        </p:spPr>
        <p:txBody>
          <a:bodyPr wrap="square" lIns="0" tIns="0" rIns="0" bIns="0" rtlCol="0" anchor="ctr"/>
          <a:lstStyle/>
          <a:p>
            <a:pPr marL="0" indent="0">
              <a:lnSpc>
                <a:spcPct val="110000"/>
              </a:lnSpc>
              <a:buNone/>
            </a:pPr>
            <a:r>
              <a:rPr lang="en-US" sz="1200" b="1">
                <a:solidFill>
                  <a:srgbClr val="FFFFFF"/>
                </a:solidFill>
                <a:latin typeface="Calibri" pitchFamily="34" charset="0"/>
                <a:ea typeface="Calibri" pitchFamily="34" charset="-122"/>
                <a:cs typeface="Calibri" pitchFamily="34" charset="-120"/>
              </a:rPr>
              <a:t>Analyse &amp; visualisation</a:t>
            </a:r>
            <a:endParaRPr lang="en-US" sz="1200"/>
          </a:p>
        </p:txBody>
      </p:sp>
      <p:sp>
        <p:nvSpPr>
          <p:cNvPr id="39" name="Text 29"/>
          <p:cNvSpPr/>
          <p:nvPr/>
        </p:nvSpPr>
        <p:spPr>
          <a:xfrm>
            <a:off x="6272784" y="1664208"/>
            <a:ext cx="2542032" cy="219456"/>
          </a:xfrm>
          <a:prstGeom prst="rect">
            <a:avLst/>
          </a:prstGeom>
          <a:noFill/>
          <a:ln/>
        </p:spPr>
        <p:txBody>
          <a:bodyPr wrap="square" lIns="0" tIns="0" rIns="0" bIns="0" rtlCol="0" anchor="ctr"/>
          <a:lstStyle/>
          <a:p>
            <a:pPr marL="0" indent="0">
              <a:buNone/>
            </a:pPr>
            <a:r>
              <a:rPr lang="en-US" sz="950" b="1">
                <a:solidFill>
                  <a:srgbClr val="1B2A6B"/>
                </a:solidFill>
                <a:latin typeface="Calibri" pitchFamily="34" charset="0"/>
                <a:ea typeface="Calibri" pitchFamily="34" charset="-122"/>
                <a:cs typeface="Calibri" pitchFamily="34" charset="-120"/>
              </a:rPr>
              <a:t>Vidéos 13–14 · ~45 min</a:t>
            </a:r>
            <a:endParaRPr lang="en-US" sz="950"/>
          </a:p>
        </p:txBody>
      </p:sp>
      <p:pic>
        <p:nvPicPr>
          <p:cNvPr id="40" name="Image 8" descr="preencoded.png"/>
          <p:cNvPicPr>
            <a:picLocks noChangeAspect="1"/>
          </p:cNvPicPr>
          <p:nvPr/>
        </p:nvPicPr>
        <p:blipFill>
          <a:blip r:embed="rId3"/>
          <a:stretch>
            <a:fillRect/>
          </a:stretch>
        </p:blipFill>
        <p:spPr>
          <a:xfrm>
            <a:off x="6272784" y="1956816"/>
            <a:ext cx="182880" cy="182880"/>
          </a:xfrm>
          <a:prstGeom prst="rect">
            <a:avLst/>
          </a:prstGeom>
        </p:spPr>
      </p:pic>
      <p:sp>
        <p:nvSpPr>
          <p:cNvPr id="41" name="Text 30"/>
          <p:cNvSpPr/>
          <p:nvPr/>
        </p:nvSpPr>
        <p:spPr>
          <a:xfrm>
            <a:off x="6510528"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Rapports automatiques par question</a:t>
            </a:r>
            <a:endParaRPr lang="en-US" sz="950"/>
          </a:p>
        </p:txBody>
      </p:sp>
      <p:pic>
        <p:nvPicPr>
          <p:cNvPr id="42" name="Image 9" descr="preencoded.png"/>
          <p:cNvPicPr>
            <a:picLocks noChangeAspect="1"/>
          </p:cNvPicPr>
          <p:nvPr/>
        </p:nvPicPr>
        <p:blipFill>
          <a:blip r:embed="rId3"/>
          <a:stretch>
            <a:fillRect/>
          </a:stretch>
        </p:blipFill>
        <p:spPr>
          <a:xfrm>
            <a:off x="6272784" y="2340864"/>
            <a:ext cx="182880" cy="182880"/>
          </a:xfrm>
          <a:prstGeom prst="rect">
            <a:avLst/>
          </a:prstGeom>
        </p:spPr>
      </p:pic>
      <p:sp>
        <p:nvSpPr>
          <p:cNvPr id="43" name="Text 31"/>
          <p:cNvSpPr/>
          <p:nvPr/>
        </p:nvSpPr>
        <p:spPr>
          <a:xfrm>
            <a:off x="6510528"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Vue carte GPS des soumissions</a:t>
            </a:r>
            <a:endParaRPr lang="en-US" sz="950"/>
          </a:p>
        </p:txBody>
      </p:sp>
      <p:pic>
        <p:nvPicPr>
          <p:cNvPr id="44" name="Image 10" descr="preencoded.png"/>
          <p:cNvPicPr>
            <a:picLocks noChangeAspect="1"/>
          </p:cNvPicPr>
          <p:nvPr/>
        </p:nvPicPr>
        <p:blipFill>
          <a:blip r:embed="rId3"/>
          <a:stretch>
            <a:fillRect/>
          </a:stretch>
        </p:blipFill>
        <p:spPr>
          <a:xfrm>
            <a:off x="6272784" y="2724912"/>
            <a:ext cx="182880" cy="182880"/>
          </a:xfrm>
          <a:prstGeom prst="rect">
            <a:avLst/>
          </a:prstGeom>
        </p:spPr>
      </p:pic>
      <p:sp>
        <p:nvSpPr>
          <p:cNvPr id="45" name="Text 32"/>
          <p:cNvSpPr/>
          <p:nvPr/>
        </p:nvSpPr>
        <p:spPr>
          <a:xfrm>
            <a:off x="6510528"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Personnaliser et filtrer les rapports</a:t>
            </a:r>
            <a:endParaRPr lang="en-US" sz="950"/>
          </a:p>
        </p:txBody>
      </p:sp>
      <p:pic>
        <p:nvPicPr>
          <p:cNvPr id="46" name="Image 11" descr="preencoded.png"/>
          <p:cNvPicPr>
            <a:picLocks noChangeAspect="1"/>
          </p:cNvPicPr>
          <p:nvPr/>
        </p:nvPicPr>
        <p:blipFill>
          <a:blip r:embed="rId3"/>
          <a:stretch>
            <a:fillRect/>
          </a:stretch>
        </p:blipFill>
        <p:spPr>
          <a:xfrm>
            <a:off x="6272784" y="3108960"/>
            <a:ext cx="182880" cy="182880"/>
          </a:xfrm>
          <a:prstGeom prst="rect">
            <a:avLst/>
          </a:prstGeom>
        </p:spPr>
      </p:pic>
      <p:sp>
        <p:nvSpPr>
          <p:cNvPr id="47" name="Text 33"/>
          <p:cNvSpPr/>
          <p:nvPr/>
        </p:nvSpPr>
        <p:spPr>
          <a:xfrm>
            <a:off x="6510528"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Partager un rapport public (sans compte)</a:t>
            </a:r>
            <a:endParaRPr lang="en-US" sz="950"/>
          </a:p>
        </p:txBody>
      </p:sp>
      <p:sp>
        <p:nvSpPr>
          <p:cNvPr id="48" name="Shape 34"/>
          <p:cNvSpPr/>
          <p:nvPr/>
        </p:nvSpPr>
        <p:spPr>
          <a:xfrm>
            <a:off x="0" y="4892040"/>
            <a:ext cx="9144000" cy="251460"/>
          </a:xfrm>
          <a:prstGeom prst="rect">
            <a:avLst/>
          </a:prstGeom>
          <a:solidFill>
            <a:srgbClr val="0D1B35"/>
          </a:solidFill>
          <a:ln/>
        </p:spPr>
        <p:txBody>
          <a:bodyPr/>
          <a:lstStyle/>
          <a:p>
            <a:endParaRPr lang="fr-FR"/>
          </a:p>
        </p:txBody>
      </p:sp>
      <p:sp>
        <p:nvSpPr>
          <p:cNvPr id="49" name="Text 35"/>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0" name="Text 36"/>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8 / 16</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Partie 4 — Expertise &amp; Projets réels (M10 à M12)</a:t>
            </a:r>
            <a:endParaRPr lang="en-US" sz="26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Intégrations avancées, gestion d'équipes et deux projets complets de A à Z</a:t>
            </a:r>
            <a:endParaRPr lang="en-US" sz="1200"/>
          </a:p>
        </p:txBody>
      </p:sp>
      <p:sp>
        <p:nvSpPr>
          <p:cNvPr id="6" name="Shape 4"/>
          <p:cNvSpPr/>
          <p:nvPr/>
        </p:nvSpPr>
        <p:spPr>
          <a:xfrm>
            <a:off x="256032"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56032" y="1188720"/>
            <a:ext cx="2798064" cy="420624"/>
          </a:xfrm>
          <a:prstGeom prst="rect">
            <a:avLst/>
          </a:prstGeom>
          <a:solidFill>
            <a:srgbClr val="0B6E4F"/>
          </a:solidFill>
          <a:ln/>
        </p:spPr>
        <p:txBody>
          <a:bodyPr/>
          <a:lstStyle/>
          <a:p>
            <a:endParaRPr lang="fr-FR"/>
          </a:p>
        </p:txBody>
      </p:sp>
      <p:sp>
        <p:nvSpPr>
          <p:cNvPr id="8" name="Shape 6"/>
          <p:cNvSpPr/>
          <p:nvPr/>
        </p:nvSpPr>
        <p:spPr>
          <a:xfrm>
            <a:off x="365760" y="1042416"/>
            <a:ext cx="402336" cy="402336"/>
          </a:xfrm>
          <a:prstGeom prst="ellipse">
            <a:avLst/>
          </a:prstGeom>
          <a:solidFill>
            <a:srgbClr val="0B6E4F"/>
          </a:solidFill>
          <a:ln/>
        </p:spPr>
        <p:txBody>
          <a:bodyPr/>
          <a:lstStyle/>
          <a:p>
            <a:endParaRPr lang="fr-FR"/>
          </a:p>
        </p:txBody>
      </p:sp>
      <p:sp>
        <p:nvSpPr>
          <p:cNvPr id="9" name="Text 7"/>
          <p:cNvSpPr/>
          <p:nvPr/>
        </p:nvSpPr>
        <p:spPr>
          <a:xfrm>
            <a:off x="365760" y="1042416"/>
            <a:ext cx="402336" cy="402336"/>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M10</a:t>
            </a:r>
            <a:endParaRPr lang="en-US" sz="1200"/>
          </a:p>
        </p:txBody>
      </p:sp>
      <p:sp>
        <p:nvSpPr>
          <p:cNvPr id="10" name="Text 8"/>
          <p:cNvSpPr/>
          <p:nvPr/>
        </p:nvSpPr>
        <p:spPr>
          <a:xfrm>
            <a:off x="384048" y="1243584"/>
            <a:ext cx="2542032" cy="310896"/>
          </a:xfrm>
          <a:prstGeom prst="rect">
            <a:avLst/>
          </a:prstGeom>
          <a:noFill/>
          <a:ln/>
        </p:spPr>
        <p:txBody>
          <a:bodyPr wrap="square" lIns="0" tIns="0" rIns="0" bIns="0" rtlCol="0" anchor="ctr"/>
          <a:lstStyle/>
          <a:p>
            <a:pPr marL="0" indent="0">
              <a:lnSpc>
                <a:spcPct val="110000"/>
              </a:lnSpc>
              <a:buNone/>
            </a:pPr>
            <a:r>
              <a:rPr lang="en-US" sz="1150" b="1">
                <a:solidFill>
                  <a:srgbClr val="FFFFFF"/>
                </a:solidFill>
                <a:latin typeface="Calibri" pitchFamily="34" charset="0"/>
                <a:ea typeface="Calibri" pitchFamily="34" charset="-122"/>
                <a:cs typeface="Calibri" pitchFamily="34" charset="-120"/>
              </a:rPr>
              <a:t>Export &amp; Intégrations</a:t>
            </a:r>
            <a:endParaRPr lang="en-US" sz="1150"/>
          </a:p>
        </p:txBody>
      </p:sp>
      <p:sp>
        <p:nvSpPr>
          <p:cNvPr id="11" name="Text 9"/>
          <p:cNvSpPr/>
          <p:nvPr/>
        </p:nvSpPr>
        <p:spPr>
          <a:xfrm>
            <a:off x="384048" y="1664208"/>
            <a:ext cx="2542032" cy="219456"/>
          </a:xfrm>
          <a:prstGeom prst="rect">
            <a:avLst/>
          </a:prstGeom>
          <a:noFill/>
          <a:ln/>
        </p:spPr>
        <p:txBody>
          <a:bodyPr wrap="square" lIns="0" tIns="0" rIns="0" bIns="0" rtlCol="0" anchor="ctr"/>
          <a:lstStyle/>
          <a:p>
            <a:pPr marL="0" indent="0">
              <a:buNone/>
            </a:pPr>
            <a:r>
              <a:rPr lang="en-US" sz="950" b="1">
                <a:solidFill>
                  <a:srgbClr val="0B6E4F"/>
                </a:solidFill>
                <a:latin typeface="Calibri" pitchFamily="34" charset="0"/>
                <a:ea typeface="Calibri" pitchFamily="34" charset="-122"/>
                <a:cs typeface="Calibri" pitchFamily="34" charset="-120"/>
              </a:rPr>
              <a:t>Vidéo 15 · ~25 min</a:t>
            </a:r>
            <a:endParaRPr lang="en-US" sz="950"/>
          </a:p>
        </p:txBody>
      </p:sp>
      <p:pic>
        <p:nvPicPr>
          <p:cNvPr id="12" name="Image 0" descr="preencoded.png"/>
          <p:cNvPicPr>
            <a:picLocks noChangeAspect="1"/>
          </p:cNvPicPr>
          <p:nvPr/>
        </p:nvPicPr>
        <p:blipFill>
          <a:blip r:embed="rId3"/>
          <a:stretch>
            <a:fillRect/>
          </a:stretch>
        </p:blipFill>
        <p:spPr>
          <a:xfrm>
            <a:off x="384048" y="1956816"/>
            <a:ext cx="182880" cy="182880"/>
          </a:xfrm>
          <a:prstGeom prst="rect">
            <a:avLst/>
          </a:prstGeom>
        </p:spPr>
      </p:pic>
      <p:sp>
        <p:nvSpPr>
          <p:cNvPr id="13" name="Text 10"/>
          <p:cNvSpPr/>
          <p:nvPr/>
        </p:nvSpPr>
        <p:spPr>
          <a:xfrm>
            <a:off x="621792"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Export XLS, CSV, KML, GeoJSON</a:t>
            </a:r>
            <a:endParaRPr lang="en-US" sz="950"/>
          </a:p>
        </p:txBody>
      </p:sp>
      <p:pic>
        <p:nvPicPr>
          <p:cNvPr id="14" name="Image 1" descr="preencoded.png"/>
          <p:cNvPicPr>
            <a:picLocks noChangeAspect="1"/>
          </p:cNvPicPr>
          <p:nvPr/>
        </p:nvPicPr>
        <p:blipFill>
          <a:blip r:embed="rId3"/>
          <a:stretch>
            <a:fillRect/>
          </a:stretch>
        </p:blipFill>
        <p:spPr>
          <a:xfrm>
            <a:off x="384048" y="2340864"/>
            <a:ext cx="182880" cy="182880"/>
          </a:xfrm>
          <a:prstGeom prst="rect">
            <a:avLst/>
          </a:prstGeom>
        </p:spPr>
      </p:pic>
      <p:sp>
        <p:nvSpPr>
          <p:cNvPr id="15" name="Text 11"/>
          <p:cNvSpPr/>
          <p:nvPr/>
        </p:nvSpPr>
        <p:spPr>
          <a:xfrm>
            <a:off x="621792"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API REST avec token d'authentification</a:t>
            </a:r>
            <a:endParaRPr lang="en-US" sz="950"/>
          </a:p>
        </p:txBody>
      </p:sp>
      <p:pic>
        <p:nvPicPr>
          <p:cNvPr id="16" name="Image 2" descr="preencoded.png"/>
          <p:cNvPicPr>
            <a:picLocks noChangeAspect="1"/>
          </p:cNvPicPr>
          <p:nvPr/>
        </p:nvPicPr>
        <p:blipFill>
          <a:blip r:embed="rId3"/>
          <a:stretch>
            <a:fillRect/>
          </a:stretch>
        </p:blipFill>
        <p:spPr>
          <a:xfrm>
            <a:off x="384048" y="2724912"/>
            <a:ext cx="182880" cy="182880"/>
          </a:xfrm>
          <a:prstGeom prst="rect">
            <a:avLst/>
          </a:prstGeom>
        </p:spPr>
      </p:pic>
      <p:sp>
        <p:nvSpPr>
          <p:cNvPr id="17" name="Text 12"/>
          <p:cNvSpPr/>
          <p:nvPr/>
        </p:nvSpPr>
        <p:spPr>
          <a:xfrm>
            <a:off x="621792"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Connecter à Power BI et Google Sheets</a:t>
            </a:r>
            <a:endParaRPr lang="en-US" sz="950"/>
          </a:p>
        </p:txBody>
      </p:sp>
      <p:pic>
        <p:nvPicPr>
          <p:cNvPr id="18" name="Image 3" descr="preencoded.png"/>
          <p:cNvPicPr>
            <a:picLocks noChangeAspect="1"/>
          </p:cNvPicPr>
          <p:nvPr/>
        </p:nvPicPr>
        <p:blipFill>
          <a:blip r:embed="rId3"/>
          <a:stretch>
            <a:fillRect/>
          </a:stretch>
        </p:blipFill>
        <p:spPr>
          <a:xfrm>
            <a:off x="384048" y="3108960"/>
            <a:ext cx="182880" cy="182880"/>
          </a:xfrm>
          <a:prstGeom prst="rect">
            <a:avLst/>
          </a:prstGeom>
        </p:spPr>
      </p:pic>
      <p:sp>
        <p:nvSpPr>
          <p:cNvPr id="19" name="Text 13"/>
          <p:cNvSpPr/>
          <p:nvPr/>
        </p:nvSpPr>
        <p:spPr>
          <a:xfrm>
            <a:off x="621792"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Webhooks — notifications automatiques</a:t>
            </a:r>
            <a:endParaRPr lang="en-US" sz="950"/>
          </a:p>
        </p:txBody>
      </p:sp>
      <p:sp>
        <p:nvSpPr>
          <p:cNvPr id="20" name="Shape 14"/>
          <p:cNvSpPr/>
          <p:nvPr/>
        </p:nvSpPr>
        <p:spPr>
          <a:xfrm>
            <a:off x="3200400"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5"/>
          <p:cNvSpPr/>
          <p:nvPr/>
        </p:nvSpPr>
        <p:spPr>
          <a:xfrm>
            <a:off x="3200400" y="1188720"/>
            <a:ext cx="2798064" cy="420624"/>
          </a:xfrm>
          <a:prstGeom prst="rect">
            <a:avLst/>
          </a:prstGeom>
          <a:solidFill>
            <a:srgbClr val="1A3A8F"/>
          </a:solidFill>
          <a:ln/>
        </p:spPr>
        <p:txBody>
          <a:bodyPr/>
          <a:lstStyle/>
          <a:p>
            <a:endParaRPr lang="fr-FR"/>
          </a:p>
        </p:txBody>
      </p:sp>
      <p:sp>
        <p:nvSpPr>
          <p:cNvPr id="22" name="Shape 16"/>
          <p:cNvSpPr/>
          <p:nvPr/>
        </p:nvSpPr>
        <p:spPr>
          <a:xfrm>
            <a:off x="3310128" y="1042416"/>
            <a:ext cx="402336" cy="402336"/>
          </a:xfrm>
          <a:prstGeom prst="ellipse">
            <a:avLst/>
          </a:prstGeom>
          <a:solidFill>
            <a:srgbClr val="1A3A8F"/>
          </a:solidFill>
          <a:ln/>
        </p:spPr>
        <p:txBody>
          <a:bodyPr/>
          <a:lstStyle/>
          <a:p>
            <a:endParaRPr lang="fr-FR"/>
          </a:p>
        </p:txBody>
      </p:sp>
      <p:sp>
        <p:nvSpPr>
          <p:cNvPr id="23" name="Text 17"/>
          <p:cNvSpPr/>
          <p:nvPr/>
        </p:nvSpPr>
        <p:spPr>
          <a:xfrm>
            <a:off x="3310128" y="1042416"/>
            <a:ext cx="402336" cy="402336"/>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M11</a:t>
            </a:r>
            <a:endParaRPr lang="en-US" sz="1200"/>
          </a:p>
        </p:txBody>
      </p:sp>
      <p:sp>
        <p:nvSpPr>
          <p:cNvPr id="24" name="Text 18"/>
          <p:cNvSpPr/>
          <p:nvPr/>
        </p:nvSpPr>
        <p:spPr>
          <a:xfrm>
            <a:off x="3328416" y="1243584"/>
            <a:ext cx="2542032" cy="310896"/>
          </a:xfrm>
          <a:prstGeom prst="rect">
            <a:avLst/>
          </a:prstGeom>
          <a:noFill/>
          <a:ln/>
        </p:spPr>
        <p:txBody>
          <a:bodyPr wrap="square" lIns="0" tIns="0" rIns="0" bIns="0" rtlCol="0" anchor="ctr"/>
          <a:lstStyle/>
          <a:p>
            <a:pPr marL="0" indent="0">
              <a:lnSpc>
                <a:spcPct val="110000"/>
              </a:lnSpc>
              <a:buNone/>
            </a:pPr>
            <a:r>
              <a:rPr lang="en-US" sz="1150" b="1">
                <a:solidFill>
                  <a:srgbClr val="FFFFFF"/>
                </a:solidFill>
                <a:latin typeface="Calibri" pitchFamily="34" charset="0"/>
                <a:ea typeface="Calibri" pitchFamily="34" charset="-122"/>
                <a:cs typeface="Calibri" pitchFamily="34" charset="-120"/>
              </a:rPr>
              <a:t>Utilisateurs &amp; Équipes</a:t>
            </a:r>
            <a:endParaRPr lang="en-US" sz="1150"/>
          </a:p>
        </p:txBody>
      </p:sp>
      <p:sp>
        <p:nvSpPr>
          <p:cNvPr id="25" name="Text 19"/>
          <p:cNvSpPr/>
          <p:nvPr/>
        </p:nvSpPr>
        <p:spPr>
          <a:xfrm>
            <a:off x="3328416" y="1664208"/>
            <a:ext cx="2542032" cy="219456"/>
          </a:xfrm>
          <a:prstGeom prst="rect">
            <a:avLst/>
          </a:prstGeom>
          <a:noFill/>
          <a:ln/>
        </p:spPr>
        <p:txBody>
          <a:bodyPr wrap="square" lIns="0" tIns="0" rIns="0" bIns="0" rtlCol="0" anchor="ctr"/>
          <a:lstStyle/>
          <a:p>
            <a:pPr marL="0" indent="0">
              <a:buNone/>
            </a:pPr>
            <a:r>
              <a:rPr lang="en-US" sz="950" b="1">
                <a:solidFill>
                  <a:srgbClr val="1A3A8F"/>
                </a:solidFill>
                <a:latin typeface="Calibri" pitchFamily="34" charset="0"/>
                <a:ea typeface="Calibri" pitchFamily="34" charset="-122"/>
                <a:cs typeface="Calibri" pitchFamily="34" charset="-120"/>
              </a:rPr>
              <a:t>Vidéo 16 · ~20 min</a:t>
            </a:r>
            <a:endParaRPr lang="en-US" sz="950"/>
          </a:p>
        </p:txBody>
      </p:sp>
      <p:pic>
        <p:nvPicPr>
          <p:cNvPr id="26" name="Image 4" descr="preencoded.png"/>
          <p:cNvPicPr>
            <a:picLocks noChangeAspect="1"/>
          </p:cNvPicPr>
          <p:nvPr/>
        </p:nvPicPr>
        <p:blipFill>
          <a:blip r:embed="rId3"/>
          <a:stretch>
            <a:fillRect/>
          </a:stretch>
        </p:blipFill>
        <p:spPr>
          <a:xfrm>
            <a:off x="3328416" y="1956816"/>
            <a:ext cx="182880" cy="182880"/>
          </a:xfrm>
          <a:prstGeom prst="rect">
            <a:avLst/>
          </a:prstGeom>
        </p:spPr>
      </p:pic>
      <p:sp>
        <p:nvSpPr>
          <p:cNvPr id="27" name="Text 20"/>
          <p:cNvSpPr/>
          <p:nvPr/>
        </p:nvSpPr>
        <p:spPr>
          <a:xfrm>
            <a:off x="3566160"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Les 4 rôles : Owner, Admin, Éditeur, Lecteur</a:t>
            </a:r>
            <a:endParaRPr lang="en-US" sz="950"/>
          </a:p>
        </p:txBody>
      </p:sp>
      <p:pic>
        <p:nvPicPr>
          <p:cNvPr id="28" name="Image 5" descr="preencoded.png"/>
          <p:cNvPicPr>
            <a:picLocks noChangeAspect="1"/>
          </p:cNvPicPr>
          <p:nvPr/>
        </p:nvPicPr>
        <p:blipFill>
          <a:blip r:embed="rId3"/>
          <a:stretch>
            <a:fillRect/>
          </a:stretch>
        </p:blipFill>
        <p:spPr>
          <a:xfrm>
            <a:off x="3328416" y="2340864"/>
            <a:ext cx="182880" cy="182880"/>
          </a:xfrm>
          <a:prstGeom prst="rect">
            <a:avLst/>
          </a:prstGeom>
        </p:spPr>
      </p:pic>
      <p:sp>
        <p:nvSpPr>
          <p:cNvPr id="29" name="Text 21"/>
          <p:cNvSpPr/>
          <p:nvPr/>
        </p:nvSpPr>
        <p:spPr>
          <a:xfrm>
            <a:off x="3566160"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Inviter et gérer les collaborateurs</a:t>
            </a:r>
            <a:endParaRPr lang="en-US" sz="950"/>
          </a:p>
        </p:txBody>
      </p:sp>
      <p:pic>
        <p:nvPicPr>
          <p:cNvPr id="30" name="Image 6" descr="preencoded.png"/>
          <p:cNvPicPr>
            <a:picLocks noChangeAspect="1"/>
          </p:cNvPicPr>
          <p:nvPr/>
        </p:nvPicPr>
        <p:blipFill>
          <a:blip r:embed="rId3"/>
          <a:stretch>
            <a:fillRect/>
          </a:stretch>
        </p:blipFill>
        <p:spPr>
          <a:xfrm>
            <a:off x="3328416" y="2724912"/>
            <a:ext cx="182880" cy="182880"/>
          </a:xfrm>
          <a:prstGeom prst="rect">
            <a:avLst/>
          </a:prstGeom>
        </p:spPr>
      </p:pic>
      <p:sp>
        <p:nvSpPr>
          <p:cNvPr id="31" name="Text 22"/>
          <p:cNvSpPr/>
          <p:nvPr/>
        </p:nvSpPr>
        <p:spPr>
          <a:xfrm>
            <a:off x="3566160"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Organisations et équipes</a:t>
            </a:r>
            <a:endParaRPr lang="en-US" sz="950"/>
          </a:p>
        </p:txBody>
      </p:sp>
      <p:pic>
        <p:nvPicPr>
          <p:cNvPr id="32" name="Image 7" descr="preencoded.png"/>
          <p:cNvPicPr>
            <a:picLocks noChangeAspect="1"/>
          </p:cNvPicPr>
          <p:nvPr/>
        </p:nvPicPr>
        <p:blipFill>
          <a:blip r:embed="rId3"/>
          <a:stretch>
            <a:fillRect/>
          </a:stretch>
        </p:blipFill>
        <p:spPr>
          <a:xfrm>
            <a:off x="3328416" y="3108960"/>
            <a:ext cx="182880" cy="182880"/>
          </a:xfrm>
          <a:prstGeom prst="rect">
            <a:avLst/>
          </a:prstGeom>
        </p:spPr>
      </p:pic>
      <p:sp>
        <p:nvSpPr>
          <p:cNvPr id="33" name="Text 23"/>
          <p:cNvSpPr/>
          <p:nvPr/>
        </p:nvSpPr>
        <p:spPr>
          <a:xfrm>
            <a:off x="3566160"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Bonnes pratiques de sécurité</a:t>
            </a:r>
            <a:endParaRPr lang="en-US" sz="950"/>
          </a:p>
        </p:txBody>
      </p:sp>
      <p:sp>
        <p:nvSpPr>
          <p:cNvPr id="34" name="Shape 24"/>
          <p:cNvSpPr/>
          <p:nvPr/>
        </p:nvSpPr>
        <p:spPr>
          <a:xfrm>
            <a:off x="6144768" y="1188720"/>
            <a:ext cx="2798064" cy="3566160"/>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25"/>
          <p:cNvSpPr/>
          <p:nvPr/>
        </p:nvSpPr>
        <p:spPr>
          <a:xfrm>
            <a:off x="6144768" y="1188720"/>
            <a:ext cx="2798064" cy="420624"/>
          </a:xfrm>
          <a:prstGeom prst="rect">
            <a:avLst/>
          </a:prstGeom>
          <a:solidFill>
            <a:srgbClr val="7D6608"/>
          </a:solidFill>
          <a:ln/>
        </p:spPr>
        <p:txBody>
          <a:bodyPr/>
          <a:lstStyle/>
          <a:p>
            <a:endParaRPr lang="fr-FR"/>
          </a:p>
        </p:txBody>
      </p:sp>
      <p:sp>
        <p:nvSpPr>
          <p:cNvPr id="36" name="Shape 26"/>
          <p:cNvSpPr/>
          <p:nvPr/>
        </p:nvSpPr>
        <p:spPr>
          <a:xfrm>
            <a:off x="6254496" y="1042416"/>
            <a:ext cx="402336" cy="402336"/>
          </a:xfrm>
          <a:prstGeom prst="ellipse">
            <a:avLst/>
          </a:prstGeom>
          <a:solidFill>
            <a:srgbClr val="7D6608"/>
          </a:solidFill>
          <a:ln/>
        </p:spPr>
        <p:txBody>
          <a:bodyPr/>
          <a:lstStyle/>
          <a:p>
            <a:endParaRPr lang="fr-FR"/>
          </a:p>
        </p:txBody>
      </p:sp>
      <p:sp>
        <p:nvSpPr>
          <p:cNvPr id="37" name="Text 27"/>
          <p:cNvSpPr/>
          <p:nvPr/>
        </p:nvSpPr>
        <p:spPr>
          <a:xfrm>
            <a:off x="6254496" y="1042416"/>
            <a:ext cx="402336" cy="402336"/>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M12</a:t>
            </a:r>
            <a:endParaRPr lang="en-US" sz="1200"/>
          </a:p>
        </p:txBody>
      </p:sp>
      <p:sp>
        <p:nvSpPr>
          <p:cNvPr id="38" name="Text 28"/>
          <p:cNvSpPr/>
          <p:nvPr/>
        </p:nvSpPr>
        <p:spPr>
          <a:xfrm>
            <a:off x="6272784" y="1243584"/>
            <a:ext cx="2542032" cy="310896"/>
          </a:xfrm>
          <a:prstGeom prst="rect">
            <a:avLst/>
          </a:prstGeom>
          <a:noFill/>
          <a:ln/>
        </p:spPr>
        <p:txBody>
          <a:bodyPr wrap="square" lIns="0" tIns="0" rIns="0" bIns="0" rtlCol="0" anchor="ctr"/>
          <a:lstStyle/>
          <a:p>
            <a:pPr marL="0" indent="0">
              <a:lnSpc>
                <a:spcPct val="110000"/>
              </a:lnSpc>
              <a:buNone/>
            </a:pPr>
            <a:r>
              <a:rPr lang="en-US" sz="1150" b="1">
                <a:solidFill>
                  <a:srgbClr val="FFFFFF"/>
                </a:solidFill>
                <a:latin typeface="Calibri" pitchFamily="34" charset="0"/>
                <a:ea typeface="Calibri" pitchFamily="34" charset="-122"/>
                <a:cs typeface="Calibri" pitchFamily="34" charset="-120"/>
              </a:rPr>
              <a:t>Cas pratiques &amp; Projets réels ⭐</a:t>
            </a:r>
            <a:endParaRPr lang="en-US" sz="1150"/>
          </a:p>
        </p:txBody>
      </p:sp>
      <p:sp>
        <p:nvSpPr>
          <p:cNvPr id="39" name="Text 29"/>
          <p:cNvSpPr/>
          <p:nvPr/>
        </p:nvSpPr>
        <p:spPr>
          <a:xfrm>
            <a:off x="6272784" y="1664208"/>
            <a:ext cx="2542032" cy="219456"/>
          </a:xfrm>
          <a:prstGeom prst="rect">
            <a:avLst/>
          </a:prstGeom>
          <a:noFill/>
          <a:ln/>
        </p:spPr>
        <p:txBody>
          <a:bodyPr wrap="square" lIns="0" tIns="0" rIns="0" bIns="0" rtlCol="0" anchor="ctr"/>
          <a:lstStyle/>
          <a:p>
            <a:pPr marL="0" indent="0">
              <a:buNone/>
            </a:pPr>
            <a:r>
              <a:rPr lang="en-US" sz="950" b="1">
                <a:solidFill>
                  <a:srgbClr val="7D6608"/>
                </a:solidFill>
                <a:latin typeface="Calibri" pitchFamily="34" charset="0"/>
                <a:ea typeface="Calibri" pitchFamily="34" charset="-122"/>
                <a:cs typeface="Calibri" pitchFamily="34" charset="-120"/>
              </a:rPr>
              <a:t>Vidéos 17–18 · ~50 min</a:t>
            </a:r>
            <a:endParaRPr lang="en-US" sz="950"/>
          </a:p>
        </p:txBody>
      </p:sp>
      <p:pic>
        <p:nvPicPr>
          <p:cNvPr id="40" name="Image 8" descr="preencoded.png"/>
          <p:cNvPicPr>
            <a:picLocks noChangeAspect="1"/>
          </p:cNvPicPr>
          <p:nvPr/>
        </p:nvPicPr>
        <p:blipFill>
          <a:blip r:embed="rId3"/>
          <a:stretch>
            <a:fillRect/>
          </a:stretch>
        </p:blipFill>
        <p:spPr>
          <a:xfrm>
            <a:off x="6272784" y="1956816"/>
            <a:ext cx="182880" cy="182880"/>
          </a:xfrm>
          <a:prstGeom prst="rect">
            <a:avLst/>
          </a:prstGeom>
        </p:spPr>
      </p:pic>
      <p:sp>
        <p:nvSpPr>
          <p:cNvPr id="41" name="Text 30"/>
          <p:cNvSpPr/>
          <p:nvPr/>
        </p:nvSpPr>
        <p:spPr>
          <a:xfrm>
            <a:off x="6510528" y="1938528"/>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Enquête nutrition complète de A à Z</a:t>
            </a:r>
            <a:endParaRPr lang="en-US" sz="950"/>
          </a:p>
        </p:txBody>
      </p:sp>
      <p:pic>
        <p:nvPicPr>
          <p:cNvPr id="42" name="Image 9" descr="preencoded.png"/>
          <p:cNvPicPr>
            <a:picLocks noChangeAspect="1"/>
          </p:cNvPicPr>
          <p:nvPr/>
        </p:nvPicPr>
        <p:blipFill>
          <a:blip r:embed="rId3"/>
          <a:stretch>
            <a:fillRect/>
          </a:stretch>
        </p:blipFill>
        <p:spPr>
          <a:xfrm>
            <a:off x="6272784" y="2340864"/>
            <a:ext cx="182880" cy="182880"/>
          </a:xfrm>
          <a:prstGeom prst="rect">
            <a:avLst/>
          </a:prstGeom>
        </p:spPr>
      </p:pic>
      <p:sp>
        <p:nvSpPr>
          <p:cNvPr id="43" name="Text 31"/>
          <p:cNvSpPr/>
          <p:nvPr/>
        </p:nvSpPr>
        <p:spPr>
          <a:xfrm>
            <a:off x="6510528" y="2322576"/>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Formulaire suivi bénéficiaires</a:t>
            </a:r>
            <a:endParaRPr lang="en-US" sz="950"/>
          </a:p>
        </p:txBody>
      </p:sp>
      <p:pic>
        <p:nvPicPr>
          <p:cNvPr id="44" name="Image 10" descr="preencoded.png"/>
          <p:cNvPicPr>
            <a:picLocks noChangeAspect="1"/>
          </p:cNvPicPr>
          <p:nvPr/>
        </p:nvPicPr>
        <p:blipFill>
          <a:blip r:embed="rId3"/>
          <a:stretch>
            <a:fillRect/>
          </a:stretch>
        </p:blipFill>
        <p:spPr>
          <a:xfrm>
            <a:off x="6272784" y="2724912"/>
            <a:ext cx="182880" cy="182880"/>
          </a:xfrm>
          <a:prstGeom prst="rect">
            <a:avLst/>
          </a:prstGeom>
        </p:spPr>
      </p:pic>
      <p:sp>
        <p:nvSpPr>
          <p:cNvPr id="45" name="Text 32"/>
          <p:cNvSpPr/>
          <p:nvPr/>
        </p:nvSpPr>
        <p:spPr>
          <a:xfrm>
            <a:off x="6510528" y="2706624"/>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Top 20 erreurs à ne jamais commettre</a:t>
            </a:r>
            <a:endParaRPr lang="en-US" sz="950"/>
          </a:p>
        </p:txBody>
      </p:sp>
      <p:pic>
        <p:nvPicPr>
          <p:cNvPr id="46" name="Image 11" descr="preencoded.png"/>
          <p:cNvPicPr>
            <a:picLocks noChangeAspect="1"/>
          </p:cNvPicPr>
          <p:nvPr/>
        </p:nvPicPr>
        <p:blipFill>
          <a:blip r:embed="rId3"/>
          <a:stretch>
            <a:fillRect/>
          </a:stretch>
        </p:blipFill>
        <p:spPr>
          <a:xfrm>
            <a:off x="6272784" y="3108960"/>
            <a:ext cx="182880" cy="182880"/>
          </a:xfrm>
          <a:prstGeom prst="rect">
            <a:avLst/>
          </a:prstGeom>
        </p:spPr>
      </p:pic>
      <p:sp>
        <p:nvSpPr>
          <p:cNvPr id="47" name="Text 33"/>
          <p:cNvSpPr/>
          <p:nvPr/>
        </p:nvSpPr>
        <p:spPr>
          <a:xfrm>
            <a:off x="6510528" y="3090672"/>
            <a:ext cx="2340864" cy="347472"/>
          </a:xfrm>
          <a:prstGeom prst="rect">
            <a:avLst/>
          </a:prstGeom>
          <a:noFill/>
          <a:ln/>
        </p:spPr>
        <p:txBody>
          <a:bodyPr wrap="square" lIns="0" tIns="0" rIns="0" bIns="0" rtlCol="0" anchor="ctr"/>
          <a:lstStyle/>
          <a:p>
            <a:pPr marL="0" indent="0">
              <a:lnSpc>
                <a:spcPct val="120000"/>
              </a:lnSpc>
              <a:buNone/>
            </a:pPr>
            <a:r>
              <a:rPr lang="en-US" sz="950">
                <a:solidFill>
                  <a:srgbClr val="1A2E3D"/>
                </a:solidFill>
                <a:latin typeface="Calibri" pitchFamily="34" charset="0"/>
                <a:ea typeface="Calibri" pitchFamily="34" charset="-122"/>
                <a:cs typeface="Calibri" pitchFamily="34" charset="-120"/>
              </a:rPr>
              <a:t>Checklist qualité · Ressources</a:t>
            </a:r>
            <a:endParaRPr lang="en-US" sz="950"/>
          </a:p>
        </p:txBody>
      </p:sp>
      <p:sp>
        <p:nvSpPr>
          <p:cNvPr id="48" name="Shape 34"/>
          <p:cNvSpPr/>
          <p:nvPr/>
        </p:nvSpPr>
        <p:spPr>
          <a:xfrm>
            <a:off x="0" y="4892040"/>
            <a:ext cx="9144000" cy="251460"/>
          </a:xfrm>
          <a:prstGeom prst="rect">
            <a:avLst/>
          </a:prstGeom>
          <a:solidFill>
            <a:srgbClr val="0D1B35"/>
          </a:solidFill>
          <a:ln/>
        </p:spPr>
        <p:txBody>
          <a:bodyPr/>
          <a:lstStyle/>
          <a:p>
            <a:endParaRPr lang="fr-FR"/>
          </a:p>
        </p:txBody>
      </p:sp>
      <p:sp>
        <p:nvSpPr>
          <p:cNvPr id="49" name="Text 35"/>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0" name="Text 36"/>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9 / 16</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D1B35"/>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À la fin de cette série, vous saurez...</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Des compétences immédiatement applicables sur le terrain et dans vos projets</a:t>
            </a:r>
            <a:endParaRPr lang="en-US" sz="1200"/>
          </a:p>
        </p:txBody>
      </p:sp>
      <p:sp>
        <p:nvSpPr>
          <p:cNvPr id="6" name="Shape 4"/>
          <p:cNvSpPr/>
          <p:nvPr/>
        </p:nvSpPr>
        <p:spPr>
          <a:xfrm>
            <a:off x="329184" y="1243584"/>
            <a:ext cx="4206240" cy="109728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329184" y="1243584"/>
            <a:ext cx="54864" cy="1097280"/>
          </a:xfrm>
          <a:prstGeom prst="rect">
            <a:avLst/>
          </a:prstGeom>
          <a:solidFill>
            <a:srgbClr val="28B463"/>
          </a:solidFill>
          <a:ln/>
        </p:spPr>
        <p:txBody>
          <a:bodyPr/>
          <a:lstStyle/>
          <a:p>
            <a:endParaRPr lang="fr-FR"/>
          </a:p>
        </p:txBody>
      </p:sp>
      <p:pic>
        <p:nvPicPr>
          <p:cNvPr id="8" name="Image 0" descr="preencoded.png"/>
          <p:cNvPicPr>
            <a:picLocks noChangeAspect="1"/>
          </p:cNvPicPr>
          <p:nvPr/>
        </p:nvPicPr>
        <p:blipFill>
          <a:blip r:embed="rId3"/>
          <a:stretch>
            <a:fillRect/>
          </a:stretch>
        </p:blipFill>
        <p:spPr>
          <a:xfrm>
            <a:off x="475488" y="1389888"/>
            <a:ext cx="365760" cy="365760"/>
          </a:xfrm>
          <a:prstGeom prst="rect">
            <a:avLst/>
          </a:prstGeom>
        </p:spPr>
      </p:pic>
      <p:sp>
        <p:nvSpPr>
          <p:cNvPr id="9" name="Text 6"/>
          <p:cNvSpPr/>
          <p:nvPr/>
        </p:nvSpPr>
        <p:spPr>
          <a:xfrm>
            <a:off x="950976" y="1335024"/>
            <a:ext cx="3493008"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Créer des formulaires complexes</a:t>
            </a:r>
            <a:endParaRPr lang="en-US" sz="1300"/>
          </a:p>
        </p:txBody>
      </p:sp>
      <p:sp>
        <p:nvSpPr>
          <p:cNvPr id="10" name="Text 7"/>
          <p:cNvSpPr/>
          <p:nvPr/>
        </p:nvSpPr>
        <p:spPr>
          <a:xfrm>
            <a:off x="475488" y="1828800"/>
            <a:ext cx="3913632" cy="457200"/>
          </a:xfrm>
          <a:prstGeom prst="rect">
            <a:avLst/>
          </a:prstGeom>
          <a:noFill/>
          <a:ln/>
        </p:spPr>
        <p:txBody>
          <a:bodyPr wrap="square" lIns="0" tIns="0" rIns="0" bIns="0" rtlCol="0" anchor="ctr"/>
          <a:lstStyle/>
          <a:p>
            <a:pPr marL="0" indent="0">
              <a:lnSpc>
                <a:spcPct val="130000"/>
              </a:lnSpc>
              <a:buNone/>
            </a:pPr>
            <a:r>
              <a:rPr lang="en-US" sz="1000">
                <a:solidFill>
                  <a:srgbClr val="7090A8"/>
                </a:solidFill>
                <a:latin typeface="Calibri" pitchFamily="34" charset="0"/>
                <a:ea typeface="Calibri" pitchFamily="34" charset="-122"/>
                <a:cs typeface="Calibri" pitchFamily="34" charset="-120"/>
              </a:rPr>
              <a:t>Toutes questions, logique XPath, calculs automatiques, contraintes — sans écrire une ligne de code</a:t>
            </a:r>
            <a:endParaRPr lang="en-US" sz="1000"/>
          </a:p>
        </p:txBody>
      </p:sp>
      <p:sp>
        <p:nvSpPr>
          <p:cNvPr id="11" name="Shape 8"/>
          <p:cNvSpPr/>
          <p:nvPr/>
        </p:nvSpPr>
        <p:spPr>
          <a:xfrm>
            <a:off x="4754880" y="1243584"/>
            <a:ext cx="4206240" cy="109728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2" name="Shape 9"/>
          <p:cNvSpPr/>
          <p:nvPr/>
        </p:nvSpPr>
        <p:spPr>
          <a:xfrm>
            <a:off x="4754880" y="1243584"/>
            <a:ext cx="54864" cy="1097280"/>
          </a:xfrm>
          <a:prstGeom prst="rect">
            <a:avLst/>
          </a:prstGeom>
          <a:solidFill>
            <a:srgbClr val="28B463"/>
          </a:solidFill>
          <a:ln/>
        </p:spPr>
        <p:txBody>
          <a:bodyPr/>
          <a:lstStyle/>
          <a:p>
            <a:endParaRPr lang="fr-FR"/>
          </a:p>
        </p:txBody>
      </p:sp>
      <p:pic>
        <p:nvPicPr>
          <p:cNvPr id="13" name="Image 1" descr="preencoded.png"/>
          <p:cNvPicPr>
            <a:picLocks noChangeAspect="1"/>
          </p:cNvPicPr>
          <p:nvPr/>
        </p:nvPicPr>
        <p:blipFill>
          <a:blip r:embed="rId3"/>
          <a:stretch>
            <a:fillRect/>
          </a:stretch>
        </p:blipFill>
        <p:spPr>
          <a:xfrm>
            <a:off x="4901184" y="1389888"/>
            <a:ext cx="365760" cy="365760"/>
          </a:xfrm>
          <a:prstGeom prst="rect">
            <a:avLst/>
          </a:prstGeom>
        </p:spPr>
      </p:pic>
      <p:sp>
        <p:nvSpPr>
          <p:cNvPr id="14" name="Text 10"/>
          <p:cNvSpPr/>
          <p:nvPr/>
        </p:nvSpPr>
        <p:spPr>
          <a:xfrm>
            <a:off x="5376672" y="1335024"/>
            <a:ext cx="3493008"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Collecter sans connexion internet</a:t>
            </a:r>
            <a:endParaRPr lang="en-US" sz="1300"/>
          </a:p>
        </p:txBody>
      </p:sp>
      <p:sp>
        <p:nvSpPr>
          <p:cNvPr id="15" name="Text 11"/>
          <p:cNvSpPr/>
          <p:nvPr/>
        </p:nvSpPr>
        <p:spPr>
          <a:xfrm>
            <a:off x="4901184" y="1828800"/>
            <a:ext cx="3913632" cy="457200"/>
          </a:xfrm>
          <a:prstGeom prst="rect">
            <a:avLst/>
          </a:prstGeom>
          <a:noFill/>
          <a:ln/>
        </p:spPr>
        <p:txBody>
          <a:bodyPr wrap="square" lIns="0" tIns="0" rIns="0" bIns="0" rtlCol="0" anchor="ctr"/>
          <a:lstStyle/>
          <a:p>
            <a:pPr marL="0" indent="0">
              <a:lnSpc>
                <a:spcPct val="130000"/>
              </a:lnSpc>
              <a:buNone/>
            </a:pPr>
            <a:r>
              <a:rPr lang="en-US" sz="1000">
                <a:solidFill>
                  <a:srgbClr val="7090A8"/>
                </a:solidFill>
                <a:latin typeface="Calibri" pitchFamily="34" charset="0"/>
                <a:ea typeface="Calibri" pitchFamily="34" charset="-122"/>
                <a:cs typeface="Calibri" pitchFamily="34" charset="-120"/>
              </a:rPr>
              <a:t>KoboCollect sur Android, Enketo offline — vos données sont en sécurité même en zone blanche</a:t>
            </a:r>
            <a:endParaRPr lang="en-US" sz="1000"/>
          </a:p>
        </p:txBody>
      </p:sp>
      <p:sp>
        <p:nvSpPr>
          <p:cNvPr id="16" name="Shape 12"/>
          <p:cNvSpPr/>
          <p:nvPr/>
        </p:nvSpPr>
        <p:spPr>
          <a:xfrm>
            <a:off x="329184" y="2450592"/>
            <a:ext cx="4206240" cy="109728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7" name="Shape 13"/>
          <p:cNvSpPr/>
          <p:nvPr/>
        </p:nvSpPr>
        <p:spPr>
          <a:xfrm>
            <a:off x="329184" y="2450592"/>
            <a:ext cx="54864" cy="1097280"/>
          </a:xfrm>
          <a:prstGeom prst="rect">
            <a:avLst/>
          </a:prstGeom>
          <a:solidFill>
            <a:srgbClr val="28B463"/>
          </a:solidFill>
          <a:ln/>
        </p:spPr>
        <p:txBody>
          <a:bodyPr/>
          <a:lstStyle/>
          <a:p>
            <a:endParaRPr lang="fr-FR"/>
          </a:p>
        </p:txBody>
      </p:sp>
      <p:pic>
        <p:nvPicPr>
          <p:cNvPr id="18" name="Image 2" descr="preencoded.png"/>
          <p:cNvPicPr>
            <a:picLocks noChangeAspect="1"/>
          </p:cNvPicPr>
          <p:nvPr/>
        </p:nvPicPr>
        <p:blipFill>
          <a:blip r:embed="rId3"/>
          <a:stretch>
            <a:fillRect/>
          </a:stretch>
        </p:blipFill>
        <p:spPr>
          <a:xfrm>
            <a:off x="475488" y="2596896"/>
            <a:ext cx="365760" cy="365760"/>
          </a:xfrm>
          <a:prstGeom prst="rect">
            <a:avLst/>
          </a:prstGeom>
        </p:spPr>
      </p:pic>
      <p:sp>
        <p:nvSpPr>
          <p:cNvPr id="19" name="Text 14"/>
          <p:cNvSpPr/>
          <p:nvPr/>
        </p:nvSpPr>
        <p:spPr>
          <a:xfrm>
            <a:off x="950976" y="2542032"/>
            <a:ext cx="3493008"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Analyser et visualiser</a:t>
            </a:r>
            <a:endParaRPr lang="en-US" sz="1300"/>
          </a:p>
        </p:txBody>
      </p:sp>
      <p:sp>
        <p:nvSpPr>
          <p:cNvPr id="20" name="Text 15"/>
          <p:cNvSpPr/>
          <p:nvPr/>
        </p:nvSpPr>
        <p:spPr>
          <a:xfrm>
            <a:off x="475488" y="3035808"/>
            <a:ext cx="3913632" cy="457200"/>
          </a:xfrm>
          <a:prstGeom prst="rect">
            <a:avLst/>
          </a:prstGeom>
          <a:noFill/>
          <a:ln/>
        </p:spPr>
        <p:txBody>
          <a:bodyPr wrap="square" lIns="0" tIns="0" rIns="0" bIns="0" rtlCol="0" anchor="ctr"/>
          <a:lstStyle/>
          <a:p>
            <a:pPr marL="0" indent="0">
              <a:lnSpc>
                <a:spcPct val="130000"/>
              </a:lnSpc>
              <a:buNone/>
            </a:pPr>
            <a:r>
              <a:rPr lang="en-US" sz="1000">
                <a:solidFill>
                  <a:srgbClr val="7090A8"/>
                </a:solidFill>
                <a:latin typeface="Calibri" pitchFamily="34" charset="0"/>
                <a:ea typeface="Calibri" pitchFamily="34" charset="-122"/>
                <a:cs typeface="Calibri" pitchFamily="34" charset="-120"/>
              </a:rPr>
              <a:t>Rapports automatiques, cartes GPS, graphiques — partagez vos résultats en un lien public</a:t>
            </a:r>
            <a:endParaRPr lang="en-US" sz="1000"/>
          </a:p>
        </p:txBody>
      </p:sp>
      <p:sp>
        <p:nvSpPr>
          <p:cNvPr id="21" name="Shape 16"/>
          <p:cNvSpPr/>
          <p:nvPr/>
        </p:nvSpPr>
        <p:spPr>
          <a:xfrm>
            <a:off x="4754880" y="2450592"/>
            <a:ext cx="4206240" cy="109728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22" name="Shape 17"/>
          <p:cNvSpPr/>
          <p:nvPr/>
        </p:nvSpPr>
        <p:spPr>
          <a:xfrm>
            <a:off x="4754880" y="2450592"/>
            <a:ext cx="54864" cy="1097280"/>
          </a:xfrm>
          <a:prstGeom prst="rect">
            <a:avLst/>
          </a:prstGeom>
          <a:solidFill>
            <a:srgbClr val="28B463"/>
          </a:solidFill>
          <a:ln/>
        </p:spPr>
        <p:txBody>
          <a:bodyPr/>
          <a:lstStyle/>
          <a:p>
            <a:endParaRPr lang="fr-FR"/>
          </a:p>
        </p:txBody>
      </p:sp>
      <p:pic>
        <p:nvPicPr>
          <p:cNvPr id="23" name="Image 3" descr="preencoded.png"/>
          <p:cNvPicPr>
            <a:picLocks noChangeAspect="1"/>
          </p:cNvPicPr>
          <p:nvPr/>
        </p:nvPicPr>
        <p:blipFill>
          <a:blip r:embed="rId3"/>
          <a:stretch>
            <a:fillRect/>
          </a:stretch>
        </p:blipFill>
        <p:spPr>
          <a:xfrm>
            <a:off x="4901184" y="2596896"/>
            <a:ext cx="365760" cy="365760"/>
          </a:xfrm>
          <a:prstGeom prst="rect">
            <a:avLst/>
          </a:prstGeom>
        </p:spPr>
      </p:pic>
      <p:sp>
        <p:nvSpPr>
          <p:cNvPr id="24" name="Text 18"/>
          <p:cNvSpPr/>
          <p:nvPr/>
        </p:nvSpPr>
        <p:spPr>
          <a:xfrm>
            <a:off x="5376672" y="2542032"/>
            <a:ext cx="3493008"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Connecter à vos outils</a:t>
            </a:r>
            <a:endParaRPr lang="en-US" sz="1300"/>
          </a:p>
        </p:txBody>
      </p:sp>
      <p:sp>
        <p:nvSpPr>
          <p:cNvPr id="25" name="Text 19"/>
          <p:cNvSpPr/>
          <p:nvPr/>
        </p:nvSpPr>
        <p:spPr>
          <a:xfrm>
            <a:off x="4901184" y="3035808"/>
            <a:ext cx="3913632" cy="457200"/>
          </a:xfrm>
          <a:prstGeom prst="rect">
            <a:avLst/>
          </a:prstGeom>
          <a:noFill/>
          <a:ln/>
        </p:spPr>
        <p:txBody>
          <a:bodyPr wrap="square" lIns="0" tIns="0" rIns="0" bIns="0" rtlCol="0" anchor="ctr"/>
          <a:lstStyle/>
          <a:p>
            <a:pPr marL="0" indent="0">
              <a:lnSpc>
                <a:spcPct val="130000"/>
              </a:lnSpc>
              <a:buNone/>
            </a:pPr>
            <a:r>
              <a:rPr lang="en-US" sz="1000">
                <a:solidFill>
                  <a:srgbClr val="7090A8"/>
                </a:solidFill>
                <a:latin typeface="Calibri" pitchFamily="34" charset="0"/>
                <a:ea typeface="Calibri" pitchFamily="34" charset="-122"/>
                <a:cs typeface="Calibri" pitchFamily="34" charset="-120"/>
              </a:rPr>
              <a:t>Power BI, Google Sheets, API REST — automatisez vos pipelines de données</a:t>
            </a:r>
            <a:endParaRPr lang="en-US" sz="1000"/>
          </a:p>
        </p:txBody>
      </p:sp>
      <p:sp>
        <p:nvSpPr>
          <p:cNvPr id="26" name="Shape 20"/>
          <p:cNvSpPr/>
          <p:nvPr/>
        </p:nvSpPr>
        <p:spPr>
          <a:xfrm>
            <a:off x="329184" y="3657600"/>
            <a:ext cx="4206240" cy="109728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27" name="Shape 21"/>
          <p:cNvSpPr/>
          <p:nvPr/>
        </p:nvSpPr>
        <p:spPr>
          <a:xfrm>
            <a:off x="329184" y="3657600"/>
            <a:ext cx="54864" cy="1097280"/>
          </a:xfrm>
          <a:prstGeom prst="rect">
            <a:avLst/>
          </a:prstGeom>
          <a:solidFill>
            <a:srgbClr val="28B463"/>
          </a:solidFill>
          <a:ln/>
        </p:spPr>
        <p:txBody>
          <a:bodyPr/>
          <a:lstStyle/>
          <a:p>
            <a:endParaRPr lang="fr-FR"/>
          </a:p>
        </p:txBody>
      </p:sp>
      <p:pic>
        <p:nvPicPr>
          <p:cNvPr id="28" name="Image 4" descr="preencoded.png"/>
          <p:cNvPicPr>
            <a:picLocks noChangeAspect="1"/>
          </p:cNvPicPr>
          <p:nvPr/>
        </p:nvPicPr>
        <p:blipFill>
          <a:blip r:embed="rId3"/>
          <a:stretch>
            <a:fillRect/>
          </a:stretch>
        </p:blipFill>
        <p:spPr>
          <a:xfrm>
            <a:off x="475488" y="3803904"/>
            <a:ext cx="365760" cy="365760"/>
          </a:xfrm>
          <a:prstGeom prst="rect">
            <a:avLst/>
          </a:prstGeom>
        </p:spPr>
      </p:pic>
      <p:sp>
        <p:nvSpPr>
          <p:cNvPr id="29" name="Text 22"/>
          <p:cNvSpPr/>
          <p:nvPr/>
        </p:nvSpPr>
        <p:spPr>
          <a:xfrm>
            <a:off x="950976" y="3749040"/>
            <a:ext cx="3493008"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Gérer une équipe terrain</a:t>
            </a:r>
            <a:endParaRPr lang="en-US" sz="1300"/>
          </a:p>
        </p:txBody>
      </p:sp>
      <p:sp>
        <p:nvSpPr>
          <p:cNvPr id="30" name="Text 23"/>
          <p:cNvSpPr/>
          <p:nvPr/>
        </p:nvSpPr>
        <p:spPr>
          <a:xfrm>
            <a:off x="475488" y="4242816"/>
            <a:ext cx="3913632" cy="457200"/>
          </a:xfrm>
          <a:prstGeom prst="rect">
            <a:avLst/>
          </a:prstGeom>
          <a:noFill/>
          <a:ln/>
        </p:spPr>
        <p:txBody>
          <a:bodyPr wrap="square" lIns="0" tIns="0" rIns="0" bIns="0" rtlCol="0" anchor="ctr"/>
          <a:lstStyle/>
          <a:p>
            <a:pPr marL="0" indent="0">
              <a:lnSpc>
                <a:spcPct val="130000"/>
              </a:lnSpc>
              <a:buNone/>
            </a:pPr>
            <a:r>
              <a:rPr lang="en-US" sz="1000">
                <a:solidFill>
                  <a:srgbClr val="7090A8"/>
                </a:solidFill>
                <a:latin typeface="Calibri" pitchFamily="34" charset="0"/>
                <a:ea typeface="Calibri" pitchFamily="34" charset="-122"/>
                <a:cs typeface="Calibri" pitchFamily="34" charset="-120"/>
              </a:rPr>
              <a:t>Rôles, permissions, organisations — contrôlez qui voit et fait quoi sur vos projets</a:t>
            </a:r>
            <a:endParaRPr lang="en-US" sz="1000"/>
          </a:p>
        </p:txBody>
      </p:sp>
      <p:sp>
        <p:nvSpPr>
          <p:cNvPr id="31" name="Shape 24"/>
          <p:cNvSpPr/>
          <p:nvPr/>
        </p:nvSpPr>
        <p:spPr>
          <a:xfrm>
            <a:off x="4754880" y="3657600"/>
            <a:ext cx="4206240" cy="1097280"/>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32" name="Shape 25"/>
          <p:cNvSpPr/>
          <p:nvPr/>
        </p:nvSpPr>
        <p:spPr>
          <a:xfrm>
            <a:off x="4754880" y="3657600"/>
            <a:ext cx="54864" cy="1097280"/>
          </a:xfrm>
          <a:prstGeom prst="rect">
            <a:avLst/>
          </a:prstGeom>
          <a:solidFill>
            <a:srgbClr val="28B463"/>
          </a:solidFill>
          <a:ln/>
        </p:spPr>
        <p:txBody>
          <a:bodyPr/>
          <a:lstStyle/>
          <a:p>
            <a:endParaRPr lang="fr-FR"/>
          </a:p>
        </p:txBody>
      </p:sp>
      <p:pic>
        <p:nvPicPr>
          <p:cNvPr id="33" name="Image 5" descr="preencoded.png"/>
          <p:cNvPicPr>
            <a:picLocks noChangeAspect="1"/>
          </p:cNvPicPr>
          <p:nvPr/>
        </p:nvPicPr>
        <p:blipFill>
          <a:blip r:embed="rId3"/>
          <a:stretch>
            <a:fillRect/>
          </a:stretch>
        </p:blipFill>
        <p:spPr>
          <a:xfrm>
            <a:off x="4901184" y="3803904"/>
            <a:ext cx="365760" cy="365760"/>
          </a:xfrm>
          <a:prstGeom prst="rect">
            <a:avLst/>
          </a:prstGeom>
        </p:spPr>
      </p:pic>
      <p:sp>
        <p:nvSpPr>
          <p:cNvPr id="34" name="Text 26"/>
          <p:cNvSpPr/>
          <p:nvPr/>
        </p:nvSpPr>
        <p:spPr>
          <a:xfrm>
            <a:off x="5376672" y="3749040"/>
            <a:ext cx="3493008"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Suivre les meilleures pratiques</a:t>
            </a:r>
            <a:endParaRPr lang="en-US" sz="1300"/>
          </a:p>
        </p:txBody>
      </p:sp>
      <p:sp>
        <p:nvSpPr>
          <p:cNvPr id="35" name="Text 27"/>
          <p:cNvSpPr/>
          <p:nvPr/>
        </p:nvSpPr>
        <p:spPr>
          <a:xfrm>
            <a:off x="4901184" y="4242816"/>
            <a:ext cx="3913632" cy="457200"/>
          </a:xfrm>
          <a:prstGeom prst="rect">
            <a:avLst/>
          </a:prstGeom>
          <a:noFill/>
          <a:ln/>
        </p:spPr>
        <p:txBody>
          <a:bodyPr wrap="square" lIns="0" tIns="0" rIns="0" bIns="0" rtlCol="0" anchor="ctr"/>
          <a:lstStyle/>
          <a:p>
            <a:pPr marL="0" indent="0">
              <a:lnSpc>
                <a:spcPct val="130000"/>
              </a:lnSpc>
              <a:buNone/>
            </a:pPr>
            <a:r>
              <a:rPr lang="en-US" sz="1000">
                <a:solidFill>
                  <a:srgbClr val="7090A8"/>
                </a:solidFill>
                <a:latin typeface="Calibri" pitchFamily="34" charset="0"/>
                <a:ea typeface="Calibri" pitchFamily="34" charset="-122"/>
                <a:cs typeface="Calibri" pitchFamily="34" charset="-120"/>
              </a:rPr>
              <a:t>Top 20 erreurs évitées, checklist qualité — travaillez comme un professionnel</a:t>
            </a:r>
            <a:endParaRPr lang="en-US" sz="1000"/>
          </a:p>
        </p:txBody>
      </p:sp>
      <p:sp>
        <p:nvSpPr>
          <p:cNvPr id="36" name="Shape 28"/>
          <p:cNvSpPr/>
          <p:nvPr/>
        </p:nvSpPr>
        <p:spPr>
          <a:xfrm>
            <a:off x="0" y="4892040"/>
            <a:ext cx="9144000" cy="251460"/>
          </a:xfrm>
          <a:prstGeom prst="rect">
            <a:avLst/>
          </a:prstGeom>
          <a:solidFill>
            <a:srgbClr val="0D1B35"/>
          </a:solidFill>
          <a:ln/>
        </p:spPr>
        <p:txBody>
          <a:bodyPr/>
          <a:lstStyle/>
          <a:p>
            <a:endParaRPr lang="fr-FR"/>
          </a:p>
        </p:txBody>
      </p:sp>
      <p:sp>
        <p:nvSpPr>
          <p:cNvPr id="37" name="Text 29"/>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38" name="Text 30"/>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10 / 16</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Prérequis &amp; Format des vidéos</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Ce dont vous avez besoin pour commencer — Pas de compétences techniques requises</a:t>
            </a:r>
            <a:endParaRPr lang="en-US" sz="1200"/>
          </a:p>
        </p:txBody>
      </p:sp>
      <p:sp>
        <p:nvSpPr>
          <p:cNvPr id="6" name="Shape 4"/>
          <p:cNvSpPr/>
          <p:nvPr/>
        </p:nvSpPr>
        <p:spPr>
          <a:xfrm>
            <a:off x="274320" y="1188720"/>
            <a:ext cx="4169664" cy="3621024"/>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74320" y="1188720"/>
            <a:ext cx="73152" cy="3621024"/>
          </a:xfrm>
          <a:prstGeom prst="rect">
            <a:avLst/>
          </a:prstGeom>
          <a:solidFill>
            <a:srgbClr val="28B463"/>
          </a:solidFill>
          <a:ln/>
        </p:spPr>
        <p:txBody>
          <a:bodyPr/>
          <a:lstStyle/>
          <a:p>
            <a:endParaRPr lang="fr-FR"/>
          </a:p>
        </p:txBody>
      </p:sp>
      <p:sp>
        <p:nvSpPr>
          <p:cNvPr id="8" name="Text 6"/>
          <p:cNvSpPr/>
          <p:nvPr/>
        </p:nvSpPr>
        <p:spPr>
          <a:xfrm>
            <a:off x="420624" y="1261872"/>
            <a:ext cx="3931920" cy="292608"/>
          </a:xfrm>
          <a:prstGeom prst="rect">
            <a:avLst/>
          </a:prstGeom>
          <a:noFill/>
          <a:ln/>
        </p:spPr>
        <p:txBody>
          <a:bodyPr wrap="square" lIns="0" tIns="0" rIns="0" bIns="0" rtlCol="0" anchor="ctr"/>
          <a:lstStyle/>
          <a:p>
            <a:pPr marL="0" indent="0">
              <a:buNone/>
            </a:pPr>
            <a:r>
              <a:rPr lang="en-US" sz="1400" b="1">
                <a:solidFill>
                  <a:srgbClr val="28B463"/>
                </a:solidFill>
                <a:latin typeface="Calibri" pitchFamily="34" charset="0"/>
                <a:ea typeface="Calibri" pitchFamily="34" charset="-122"/>
                <a:cs typeface="Calibri" pitchFamily="34" charset="-120"/>
              </a:rPr>
              <a:t>✓  Ce qu'il vous faut</a:t>
            </a:r>
            <a:endParaRPr lang="en-US" sz="1400"/>
          </a:p>
        </p:txBody>
      </p:sp>
      <p:pic>
        <p:nvPicPr>
          <p:cNvPr id="9" name="Image 0" descr="preencoded.png"/>
          <p:cNvPicPr>
            <a:picLocks noChangeAspect="1"/>
          </p:cNvPicPr>
          <p:nvPr/>
        </p:nvPicPr>
        <p:blipFill>
          <a:blip r:embed="rId3"/>
          <a:stretch>
            <a:fillRect/>
          </a:stretch>
        </p:blipFill>
        <p:spPr>
          <a:xfrm>
            <a:off x="420624" y="1664208"/>
            <a:ext cx="201168" cy="201168"/>
          </a:xfrm>
          <a:prstGeom prst="rect">
            <a:avLst/>
          </a:prstGeom>
        </p:spPr>
      </p:pic>
      <p:sp>
        <p:nvSpPr>
          <p:cNvPr id="10" name="Text 7"/>
          <p:cNvSpPr/>
          <p:nvPr/>
        </p:nvSpPr>
        <p:spPr>
          <a:xfrm>
            <a:off x="676656" y="1645920"/>
            <a:ext cx="3639312"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Un ordinateur ou tablette</a:t>
            </a:r>
            <a:endParaRPr lang="en-US" sz="1100"/>
          </a:p>
        </p:txBody>
      </p:sp>
      <p:sp>
        <p:nvSpPr>
          <p:cNvPr id="11" name="Text 8"/>
          <p:cNvSpPr/>
          <p:nvPr/>
        </p:nvSpPr>
        <p:spPr>
          <a:xfrm>
            <a:off x="676656" y="1847088"/>
            <a:ext cx="3639312"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Windows, Mac, Linux ou iPad — n'importe quel appareil</a:t>
            </a:r>
            <a:endParaRPr lang="en-US" sz="900"/>
          </a:p>
        </p:txBody>
      </p:sp>
      <p:pic>
        <p:nvPicPr>
          <p:cNvPr id="12" name="Image 1" descr="preencoded.png"/>
          <p:cNvPicPr>
            <a:picLocks noChangeAspect="1"/>
          </p:cNvPicPr>
          <p:nvPr/>
        </p:nvPicPr>
        <p:blipFill>
          <a:blip r:embed="rId3"/>
          <a:stretch>
            <a:fillRect/>
          </a:stretch>
        </p:blipFill>
        <p:spPr>
          <a:xfrm>
            <a:off x="420624" y="2139696"/>
            <a:ext cx="201168" cy="201168"/>
          </a:xfrm>
          <a:prstGeom prst="rect">
            <a:avLst/>
          </a:prstGeom>
        </p:spPr>
      </p:pic>
      <p:sp>
        <p:nvSpPr>
          <p:cNvPr id="13" name="Text 9"/>
          <p:cNvSpPr/>
          <p:nvPr/>
        </p:nvSpPr>
        <p:spPr>
          <a:xfrm>
            <a:off x="676656" y="2121408"/>
            <a:ext cx="3639312"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Une connexion internet</a:t>
            </a:r>
            <a:endParaRPr lang="en-US" sz="1100"/>
          </a:p>
        </p:txBody>
      </p:sp>
      <p:sp>
        <p:nvSpPr>
          <p:cNvPr id="14" name="Text 10"/>
          <p:cNvSpPr/>
          <p:nvPr/>
        </p:nvSpPr>
        <p:spPr>
          <a:xfrm>
            <a:off x="676656" y="2322576"/>
            <a:ext cx="3639312"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Pour créer le compte et déployer (collecte = hors ligne OK)</a:t>
            </a:r>
            <a:endParaRPr lang="en-US" sz="900"/>
          </a:p>
        </p:txBody>
      </p:sp>
      <p:pic>
        <p:nvPicPr>
          <p:cNvPr id="15" name="Image 2" descr="preencoded.png"/>
          <p:cNvPicPr>
            <a:picLocks noChangeAspect="1"/>
          </p:cNvPicPr>
          <p:nvPr/>
        </p:nvPicPr>
        <p:blipFill>
          <a:blip r:embed="rId3"/>
          <a:stretch>
            <a:fillRect/>
          </a:stretch>
        </p:blipFill>
        <p:spPr>
          <a:xfrm>
            <a:off x="420624" y="2615184"/>
            <a:ext cx="201168" cy="201168"/>
          </a:xfrm>
          <a:prstGeom prst="rect">
            <a:avLst/>
          </a:prstGeom>
        </p:spPr>
      </p:pic>
      <p:sp>
        <p:nvSpPr>
          <p:cNvPr id="16" name="Text 11"/>
          <p:cNvSpPr/>
          <p:nvPr/>
        </p:nvSpPr>
        <p:spPr>
          <a:xfrm>
            <a:off x="676656" y="2596896"/>
            <a:ext cx="3639312"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Un compte KoboToolbox gratuit</a:t>
            </a:r>
            <a:endParaRPr lang="en-US" sz="1100"/>
          </a:p>
        </p:txBody>
      </p:sp>
      <p:sp>
        <p:nvSpPr>
          <p:cNvPr id="17" name="Text 12"/>
          <p:cNvSpPr/>
          <p:nvPr/>
        </p:nvSpPr>
        <p:spPr>
          <a:xfrm>
            <a:off x="676656" y="2798064"/>
            <a:ext cx="3639312"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Créé en 2 minutes sur kf.kobotoolbox.org</a:t>
            </a:r>
            <a:endParaRPr lang="en-US" sz="900"/>
          </a:p>
        </p:txBody>
      </p:sp>
      <p:pic>
        <p:nvPicPr>
          <p:cNvPr id="18" name="Image 3" descr="preencoded.png"/>
          <p:cNvPicPr>
            <a:picLocks noChangeAspect="1"/>
          </p:cNvPicPr>
          <p:nvPr/>
        </p:nvPicPr>
        <p:blipFill>
          <a:blip r:embed="rId3"/>
          <a:stretch>
            <a:fillRect/>
          </a:stretch>
        </p:blipFill>
        <p:spPr>
          <a:xfrm>
            <a:off x="420624" y="3090672"/>
            <a:ext cx="201168" cy="201168"/>
          </a:xfrm>
          <a:prstGeom prst="rect">
            <a:avLst/>
          </a:prstGeom>
        </p:spPr>
      </p:pic>
      <p:sp>
        <p:nvSpPr>
          <p:cNvPr id="19" name="Text 13"/>
          <p:cNvSpPr/>
          <p:nvPr/>
        </p:nvSpPr>
        <p:spPr>
          <a:xfrm>
            <a:off x="676656" y="3072384"/>
            <a:ext cx="3639312"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Aucune compétence en code</a:t>
            </a:r>
            <a:endParaRPr lang="en-US" sz="1100"/>
          </a:p>
        </p:txBody>
      </p:sp>
      <p:sp>
        <p:nvSpPr>
          <p:cNvPr id="20" name="Text 14"/>
          <p:cNvSpPr/>
          <p:nvPr/>
        </p:nvSpPr>
        <p:spPr>
          <a:xfrm>
            <a:off x="676656" y="3273552"/>
            <a:ext cx="3639312"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Zéro programmation requise pour les modules 1 à 9</a:t>
            </a:r>
            <a:endParaRPr lang="en-US" sz="900"/>
          </a:p>
        </p:txBody>
      </p:sp>
      <p:pic>
        <p:nvPicPr>
          <p:cNvPr id="21" name="Image 4" descr="preencoded.png"/>
          <p:cNvPicPr>
            <a:picLocks noChangeAspect="1"/>
          </p:cNvPicPr>
          <p:nvPr/>
        </p:nvPicPr>
        <p:blipFill>
          <a:blip r:embed="rId3"/>
          <a:stretch>
            <a:fillRect/>
          </a:stretch>
        </p:blipFill>
        <p:spPr>
          <a:xfrm>
            <a:off x="420624" y="3566160"/>
            <a:ext cx="201168" cy="201168"/>
          </a:xfrm>
          <a:prstGeom prst="rect">
            <a:avLst/>
          </a:prstGeom>
        </p:spPr>
      </p:pic>
      <p:sp>
        <p:nvSpPr>
          <p:cNvPr id="22" name="Text 15"/>
          <p:cNvSpPr/>
          <p:nvPr/>
        </p:nvSpPr>
        <p:spPr>
          <a:xfrm>
            <a:off x="676656" y="3547872"/>
            <a:ext cx="3639312"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Un smartphone Android (optionnel)</a:t>
            </a:r>
            <a:endParaRPr lang="en-US" sz="1100"/>
          </a:p>
        </p:txBody>
      </p:sp>
      <p:sp>
        <p:nvSpPr>
          <p:cNvPr id="23" name="Text 16"/>
          <p:cNvSpPr/>
          <p:nvPr/>
        </p:nvSpPr>
        <p:spPr>
          <a:xfrm>
            <a:off x="676656" y="3749040"/>
            <a:ext cx="3639312"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Pour tester KoboCollect — un émulateur marche aussi</a:t>
            </a:r>
            <a:endParaRPr lang="en-US" sz="900"/>
          </a:p>
        </p:txBody>
      </p:sp>
      <p:pic>
        <p:nvPicPr>
          <p:cNvPr id="24" name="Image 5" descr="preencoded.png"/>
          <p:cNvPicPr>
            <a:picLocks noChangeAspect="1"/>
          </p:cNvPicPr>
          <p:nvPr/>
        </p:nvPicPr>
        <p:blipFill>
          <a:blip r:embed="rId3"/>
          <a:stretch>
            <a:fillRect/>
          </a:stretch>
        </p:blipFill>
        <p:spPr>
          <a:xfrm>
            <a:off x="420624" y="4041648"/>
            <a:ext cx="201168" cy="201168"/>
          </a:xfrm>
          <a:prstGeom prst="rect">
            <a:avLst/>
          </a:prstGeom>
        </p:spPr>
      </p:pic>
      <p:sp>
        <p:nvSpPr>
          <p:cNvPr id="25" name="Text 17"/>
          <p:cNvSpPr/>
          <p:nvPr/>
        </p:nvSpPr>
        <p:spPr>
          <a:xfrm>
            <a:off x="676656" y="4023360"/>
            <a:ext cx="3639312"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De la curiosité et de la motivation</a:t>
            </a:r>
            <a:endParaRPr lang="en-US" sz="1100"/>
          </a:p>
        </p:txBody>
      </p:sp>
      <p:sp>
        <p:nvSpPr>
          <p:cNvPr id="26" name="Text 18"/>
          <p:cNvSpPr/>
          <p:nvPr/>
        </p:nvSpPr>
        <p:spPr>
          <a:xfrm>
            <a:off x="676656" y="4224528"/>
            <a:ext cx="3639312"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Le reste, vous l'apprendrez ici 😊</a:t>
            </a:r>
            <a:endParaRPr lang="en-US" sz="900"/>
          </a:p>
        </p:txBody>
      </p:sp>
      <p:sp>
        <p:nvSpPr>
          <p:cNvPr id="27" name="Shape 19"/>
          <p:cNvSpPr/>
          <p:nvPr/>
        </p:nvSpPr>
        <p:spPr>
          <a:xfrm>
            <a:off x="4700016" y="1188720"/>
            <a:ext cx="4169664" cy="3621024"/>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8" name="Shape 20"/>
          <p:cNvSpPr/>
          <p:nvPr/>
        </p:nvSpPr>
        <p:spPr>
          <a:xfrm>
            <a:off x="4700016" y="1188720"/>
            <a:ext cx="73152" cy="3621024"/>
          </a:xfrm>
          <a:prstGeom prst="rect">
            <a:avLst/>
          </a:prstGeom>
          <a:solidFill>
            <a:srgbClr val="C9A84C"/>
          </a:solidFill>
          <a:ln/>
        </p:spPr>
        <p:txBody>
          <a:bodyPr/>
          <a:lstStyle/>
          <a:p>
            <a:endParaRPr lang="fr-FR"/>
          </a:p>
        </p:txBody>
      </p:sp>
      <p:sp>
        <p:nvSpPr>
          <p:cNvPr id="29" name="Text 21"/>
          <p:cNvSpPr/>
          <p:nvPr/>
        </p:nvSpPr>
        <p:spPr>
          <a:xfrm>
            <a:off x="4846320" y="1261872"/>
            <a:ext cx="3931920" cy="292608"/>
          </a:xfrm>
          <a:prstGeom prst="rect">
            <a:avLst/>
          </a:prstGeom>
          <a:noFill/>
          <a:ln/>
        </p:spPr>
        <p:txBody>
          <a:bodyPr wrap="square" lIns="0" tIns="0" rIns="0" bIns="0" rtlCol="0" anchor="ctr"/>
          <a:lstStyle/>
          <a:p>
            <a:pPr marL="0" indent="0">
              <a:buNone/>
            </a:pPr>
            <a:r>
              <a:rPr lang="en-US" sz="1400" b="1">
                <a:solidFill>
                  <a:srgbClr val="C9A84C"/>
                </a:solidFill>
                <a:latin typeface="Calibri" pitchFamily="34" charset="0"/>
                <a:ea typeface="Calibri" pitchFamily="34" charset="-122"/>
                <a:cs typeface="Calibri" pitchFamily="34" charset="-120"/>
              </a:rPr>
              <a:t>🎬  Format des vidéos</a:t>
            </a:r>
            <a:endParaRPr lang="en-US" sz="1400"/>
          </a:p>
        </p:txBody>
      </p:sp>
      <p:sp>
        <p:nvSpPr>
          <p:cNvPr id="30" name="Shape 22"/>
          <p:cNvSpPr/>
          <p:nvPr/>
        </p:nvSpPr>
        <p:spPr>
          <a:xfrm>
            <a:off x="4846320" y="1664208"/>
            <a:ext cx="3858768" cy="530352"/>
          </a:xfrm>
          <a:prstGeom prst="rect">
            <a:avLst/>
          </a:prstGeom>
          <a:solidFill>
            <a:srgbClr val="F4F6F9"/>
          </a:solidFill>
          <a:ln/>
        </p:spPr>
        <p:txBody>
          <a:bodyPr/>
          <a:lstStyle/>
          <a:p>
            <a:endParaRPr lang="fr-FR"/>
          </a:p>
        </p:txBody>
      </p:sp>
      <p:pic>
        <p:nvPicPr>
          <p:cNvPr id="31" name="Image 6" descr="preencoded.png"/>
          <p:cNvPicPr>
            <a:picLocks noChangeAspect="1"/>
          </p:cNvPicPr>
          <p:nvPr/>
        </p:nvPicPr>
        <p:blipFill>
          <a:blip r:embed="rId4"/>
          <a:stretch>
            <a:fillRect/>
          </a:stretch>
        </p:blipFill>
        <p:spPr>
          <a:xfrm>
            <a:off x="4919472" y="1773936"/>
            <a:ext cx="274320" cy="274320"/>
          </a:xfrm>
          <a:prstGeom prst="rect">
            <a:avLst/>
          </a:prstGeom>
        </p:spPr>
      </p:pic>
      <p:sp>
        <p:nvSpPr>
          <p:cNvPr id="32" name="Text 23"/>
          <p:cNvSpPr/>
          <p:nvPr/>
        </p:nvSpPr>
        <p:spPr>
          <a:xfrm>
            <a:off x="5266944" y="1719072"/>
            <a:ext cx="3346704"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Vidéos courtes et ciblées</a:t>
            </a:r>
            <a:endParaRPr lang="en-US" sz="1100"/>
          </a:p>
        </p:txBody>
      </p:sp>
      <p:sp>
        <p:nvSpPr>
          <p:cNvPr id="33" name="Text 24"/>
          <p:cNvSpPr/>
          <p:nvPr/>
        </p:nvSpPr>
        <p:spPr>
          <a:xfrm>
            <a:off x="5266944" y="1938528"/>
            <a:ext cx="3346704" cy="201168"/>
          </a:xfrm>
          <a:prstGeom prst="rect">
            <a:avLst/>
          </a:prstGeom>
          <a:noFill/>
          <a:ln/>
        </p:spPr>
        <p:txBody>
          <a:bodyPr wrap="square" lIns="0" tIns="0" rIns="0" bIns="0" rtlCol="0" anchor="ctr"/>
          <a:lstStyle/>
          <a:p>
            <a:pPr marL="0" indent="0">
              <a:buNone/>
            </a:pPr>
            <a:r>
              <a:rPr lang="en-US" sz="950">
                <a:solidFill>
                  <a:srgbClr val="7090A8"/>
                </a:solidFill>
                <a:latin typeface="Calibri" pitchFamily="34" charset="0"/>
                <a:ea typeface="Calibri" pitchFamily="34" charset="-122"/>
                <a:cs typeface="Calibri" pitchFamily="34" charset="-120"/>
              </a:rPr>
              <a:t>10 à 50 min · Une compétence par vidéo</a:t>
            </a:r>
            <a:endParaRPr lang="en-US" sz="950"/>
          </a:p>
        </p:txBody>
      </p:sp>
      <p:sp>
        <p:nvSpPr>
          <p:cNvPr id="34" name="Shape 25"/>
          <p:cNvSpPr/>
          <p:nvPr/>
        </p:nvSpPr>
        <p:spPr>
          <a:xfrm>
            <a:off x="4846320" y="2249424"/>
            <a:ext cx="3858768" cy="530352"/>
          </a:xfrm>
          <a:prstGeom prst="rect">
            <a:avLst/>
          </a:prstGeom>
          <a:solidFill>
            <a:srgbClr val="F8F9FA"/>
          </a:solidFill>
          <a:ln/>
        </p:spPr>
        <p:txBody>
          <a:bodyPr/>
          <a:lstStyle/>
          <a:p>
            <a:endParaRPr lang="fr-FR"/>
          </a:p>
        </p:txBody>
      </p:sp>
      <p:pic>
        <p:nvPicPr>
          <p:cNvPr id="35" name="Image 7" descr="preencoded.png"/>
          <p:cNvPicPr>
            <a:picLocks noChangeAspect="1"/>
          </p:cNvPicPr>
          <p:nvPr/>
        </p:nvPicPr>
        <p:blipFill>
          <a:blip r:embed="rId5"/>
          <a:stretch>
            <a:fillRect/>
          </a:stretch>
        </p:blipFill>
        <p:spPr>
          <a:xfrm>
            <a:off x="4919472" y="2359152"/>
            <a:ext cx="274320" cy="274320"/>
          </a:xfrm>
          <a:prstGeom prst="rect">
            <a:avLst/>
          </a:prstGeom>
        </p:spPr>
      </p:pic>
      <p:sp>
        <p:nvSpPr>
          <p:cNvPr id="36" name="Text 26"/>
          <p:cNvSpPr/>
          <p:nvPr/>
        </p:nvSpPr>
        <p:spPr>
          <a:xfrm>
            <a:off x="5266944" y="2304288"/>
            <a:ext cx="3346704"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Sous-titres disponibles</a:t>
            </a:r>
            <a:endParaRPr lang="en-US" sz="1100"/>
          </a:p>
        </p:txBody>
      </p:sp>
      <p:sp>
        <p:nvSpPr>
          <p:cNvPr id="37" name="Text 27"/>
          <p:cNvSpPr/>
          <p:nvPr/>
        </p:nvSpPr>
        <p:spPr>
          <a:xfrm>
            <a:off x="5266944" y="2523744"/>
            <a:ext cx="3346704" cy="201168"/>
          </a:xfrm>
          <a:prstGeom prst="rect">
            <a:avLst/>
          </a:prstGeom>
          <a:noFill/>
          <a:ln/>
        </p:spPr>
        <p:txBody>
          <a:bodyPr wrap="square" lIns="0" tIns="0" rIns="0" bIns="0" rtlCol="0" anchor="ctr"/>
          <a:lstStyle/>
          <a:p>
            <a:pPr marL="0" indent="0">
              <a:buNone/>
            </a:pPr>
            <a:r>
              <a:rPr lang="en-US" sz="950">
                <a:solidFill>
                  <a:srgbClr val="7090A8"/>
                </a:solidFill>
                <a:latin typeface="Calibri" pitchFamily="34" charset="0"/>
                <a:ea typeface="Calibri" pitchFamily="34" charset="-122"/>
                <a:cs typeface="Calibri" pitchFamily="34" charset="-120"/>
              </a:rPr>
              <a:t>Transcriptions et annotations</a:t>
            </a:r>
            <a:endParaRPr lang="en-US" sz="950"/>
          </a:p>
        </p:txBody>
      </p:sp>
      <p:sp>
        <p:nvSpPr>
          <p:cNvPr id="38" name="Shape 28"/>
          <p:cNvSpPr/>
          <p:nvPr/>
        </p:nvSpPr>
        <p:spPr>
          <a:xfrm>
            <a:off x="4846320" y="2834640"/>
            <a:ext cx="3858768" cy="530352"/>
          </a:xfrm>
          <a:prstGeom prst="rect">
            <a:avLst/>
          </a:prstGeom>
          <a:solidFill>
            <a:srgbClr val="F4F6F9"/>
          </a:solidFill>
          <a:ln/>
        </p:spPr>
        <p:txBody>
          <a:bodyPr/>
          <a:lstStyle/>
          <a:p>
            <a:endParaRPr lang="fr-FR"/>
          </a:p>
        </p:txBody>
      </p:sp>
      <p:pic>
        <p:nvPicPr>
          <p:cNvPr id="39" name="Image 8" descr="preencoded.png"/>
          <p:cNvPicPr>
            <a:picLocks noChangeAspect="1"/>
          </p:cNvPicPr>
          <p:nvPr/>
        </p:nvPicPr>
        <p:blipFill>
          <a:blip r:embed="rId6"/>
          <a:stretch>
            <a:fillRect/>
          </a:stretch>
        </p:blipFill>
        <p:spPr>
          <a:xfrm>
            <a:off x="4919472" y="2944368"/>
            <a:ext cx="274320" cy="274320"/>
          </a:xfrm>
          <a:prstGeom prst="rect">
            <a:avLst/>
          </a:prstGeom>
        </p:spPr>
      </p:pic>
      <p:sp>
        <p:nvSpPr>
          <p:cNvPr id="40" name="Text 29"/>
          <p:cNvSpPr/>
          <p:nvPr/>
        </p:nvSpPr>
        <p:spPr>
          <a:xfrm>
            <a:off x="5266944" y="2889504"/>
            <a:ext cx="3346704"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À votre rythme</a:t>
            </a:r>
            <a:endParaRPr lang="en-US" sz="1100"/>
          </a:p>
        </p:txBody>
      </p:sp>
      <p:sp>
        <p:nvSpPr>
          <p:cNvPr id="41" name="Text 30"/>
          <p:cNvSpPr/>
          <p:nvPr/>
        </p:nvSpPr>
        <p:spPr>
          <a:xfrm>
            <a:off x="5266944" y="3108960"/>
            <a:ext cx="3346704" cy="201168"/>
          </a:xfrm>
          <a:prstGeom prst="rect">
            <a:avLst/>
          </a:prstGeom>
          <a:noFill/>
          <a:ln/>
        </p:spPr>
        <p:txBody>
          <a:bodyPr wrap="square" lIns="0" tIns="0" rIns="0" bIns="0" rtlCol="0" anchor="ctr"/>
          <a:lstStyle/>
          <a:p>
            <a:pPr marL="0" indent="0">
              <a:buNone/>
            </a:pPr>
            <a:r>
              <a:rPr lang="en-US" sz="950">
                <a:solidFill>
                  <a:srgbClr val="7090A8"/>
                </a:solidFill>
                <a:latin typeface="Calibri" pitchFamily="34" charset="0"/>
                <a:ea typeface="Calibri" pitchFamily="34" charset="-122"/>
                <a:cs typeface="Calibri" pitchFamily="34" charset="-120"/>
              </a:rPr>
              <a:t>Revenez, mettez en pause, recommencez</a:t>
            </a:r>
            <a:endParaRPr lang="en-US" sz="950"/>
          </a:p>
        </p:txBody>
      </p:sp>
      <p:sp>
        <p:nvSpPr>
          <p:cNvPr id="42" name="Shape 31"/>
          <p:cNvSpPr/>
          <p:nvPr/>
        </p:nvSpPr>
        <p:spPr>
          <a:xfrm>
            <a:off x="4846320" y="3419856"/>
            <a:ext cx="3858768" cy="530352"/>
          </a:xfrm>
          <a:prstGeom prst="rect">
            <a:avLst/>
          </a:prstGeom>
          <a:solidFill>
            <a:srgbClr val="F8F9FA"/>
          </a:solidFill>
          <a:ln/>
        </p:spPr>
        <p:txBody>
          <a:bodyPr/>
          <a:lstStyle/>
          <a:p>
            <a:endParaRPr lang="fr-FR"/>
          </a:p>
        </p:txBody>
      </p:sp>
      <p:pic>
        <p:nvPicPr>
          <p:cNvPr id="43" name="Image 9" descr="preencoded.png"/>
          <p:cNvPicPr>
            <a:picLocks noChangeAspect="1"/>
          </p:cNvPicPr>
          <p:nvPr/>
        </p:nvPicPr>
        <p:blipFill>
          <a:blip r:embed="rId7"/>
          <a:stretch>
            <a:fillRect/>
          </a:stretch>
        </p:blipFill>
        <p:spPr>
          <a:xfrm>
            <a:off x="4919472" y="3529584"/>
            <a:ext cx="274320" cy="274320"/>
          </a:xfrm>
          <a:prstGeom prst="rect">
            <a:avLst/>
          </a:prstGeom>
        </p:spPr>
      </p:pic>
      <p:sp>
        <p:nvSpPr>
          <p:cNvPr id="44" name="Text 32"/>
          <p:cNvSpPr/>
          <p:nvPr/>
        </p:nvSpPr>
        <p:spPr>
          <a:xfrm>
            <a:off x="5266944" y="3474720"/>
            <a:ext cx="3346704"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Exemples concrets</a:t>
            </a:r>
            <a:endParaRPr lang="en-US" sz="1100"/>
          </a:p>
        </p:txBody>
      </p:sp>
      <p:sp>
        <p:nvSpPr>
          <p:cNvPr id="45" name="Text 33"/>
          <p:cNvSpPr/>
          <p:nvPr/>
        </p:nvSpPr>
        <p:spPr>
          <a:xfrm>
            <a:off x="5266944" y="3694176"/>
            <a:ext cx="3346704" cy="201168"/>
          </a:xfrm>
          <a:prstGeom prst="rect">
            <a:avLst/>
          </a:prstGeom>
          <a:noFill/>
          <a:ln/>
        </p:spPr>
        <p:txBody>
          <a:bodyPr wrap="square" lIns="0" tIns="0" rIns="0" bIns="0" rtlCol="0" anchor="ctr"/>
          <a:lstStyle/>
          <a:p>
            <a:pPr marL="0" indent="0">
              <a:buNone/>
            </a:pPr>
            <a:r>
              <a:rPr lang="en-US" sz="950">
                <a:solidFill>
                  <a:srgbClr val="7090A8"/>
                </a:solidFill>
                <a:latin typeface="Calibri" pitchFamily="34" charset="0"/>
                <a:ea typeface="Calibri" pitchFamily="34" charset="-122"/>
                <a:cs typeface="Calibri" pitchFamily="34" charset="-120"/>
              </a:rPr>
              <a:t>Formulaire ONG RACINES tout au long de la série</a:t>
            </a:r>
            <a:endParaRPr lang="en-US" sz="950"/>
          </a:p>
        </p:txBody>
      </p:sp>
      <p:sp>
        <p:nvSpPr>
          <p:cNvPr id="46" name="Shape 34"/>
          <p:cNvSpPr/>
          <p:nvPr/>
        </p:nvSpPr>
        <p:spPr>
          <a:xfrm>
            <a:off x="4846320" y="4005072"/>
            <a:ext cx="3858768" cy="530352"/>
          </a:xfrm>
          <a:prstGeom prst="rect">
            <a:avLst/>
          </a:prstGeom>
          <a:solidFill>
            <a:srgbClr val="F4F6F9"/>
          </a:solidFill>
          <a:ln/>
        </p:spPr>
        <p:txBody>
          <a:bodyPr/>
          <a:lstStyle/>
          <a:p>
            <a:endParaRPr lang="fr-FR"/>
          </a:p>
        </p:txBody>
      </p:sp>
      <p:pic>
        <p:nvPicPr>
          <p:cNvPr id="47" name="Image 10" descr="preencoded.png"/>
          <p:cNvPicPr>
            <a:picLocks noChangeAspect="1"/>
          </p:cNvPicPr>
          <p:nvPr/>
        </p:nvPicPr>
        <p:blipFill>
          <a:blip r:embed="rId8"/>
          <a:stretch>
            <a:fillRect/>
          </a:stretch>
        </p:blipFill>
        <p:spPr>
          <a:xfrm>
            <a:off x="4919472" y="4114800"/>
            <a:ext cx="274320" cy="274320"/>
          </a:xfrm>
          <a:prstGeom prst="rect">
            <a:avLst/>
          </a:prstGeom>
        </p:spPr>
      </p:pic>
      <p:sp>
        <p:nvSpPr>
          <p:cNvPr id="48" name="Text 35"/>
          <p:cNvSpPr/>
          <p:nvPr/>
        </p:nvSpPr>
        <p:spPr>
          <a:xfrm>
            <a:off x="5266944" y="4059936"/>
            <a:ext cx="3346704" cy="219456"/>
          </a:xfrm>
          <a:prstGeom prst="rect">
            <a:avLst/>
          </a:prstGeom>
          <a:noFill/>
          <a:ln/>
        </p:spPr>
        <p:txBody>
          <a:bodyPr wrap="square" lIns="0" tIns="0" rIns="0" bIns="0" rtlCol="0" anchor="ctr"/>
          <a:lstStyle/>
          <a:p>
            <a:pPr marL="0" indent="0">
              <a:buNone/>
            </a:pPr>
            <a:r>
              <a:rPr lang="en-US" sz="1100" b="1">
                <a:solidFill>
                  <a:srgbClr val="1A2E3D"/>
                </a:solidFill>
                <a:latin typeface="Calibri" pitchFamily="34" charset="0"/>
                <a:ea typeface="Calibri" pitchFamily="34" charset="-122"/>
                <a:cs typeface="Calibri" pitchFamily="34" charset="-120"/>
              </a:rPr>
              <a:t>Progressif</a:t>
            </a:r>
            <a:endParaRPr lang="en-US" sz="1100"/>
          </a:p>
        </p:txBody>
      </p:sp>
      <p:sp>
        <p:nvSpPr>
          <p:cNvPr id="49" name="Text 36"/>
          <p:cNvSpPr/>
          <p:nvPr/>
        </p:nvSpPr>
        <p:spPr>
          <a:xfrm>
            <a:off x="5266944" y="4279392"/>
            <a:ext cx="3346704" cy="201168"/>
          </a:xfrm>
          <a:prstGeom prst="rect">
            <a:avLst/>
          </a:prstGeom>
          <a:noFill/>
          <a:ln/>
        </p:spPr>
        <p:txBody>
          <a:bodyPr wrap="square" lIns="0" tIns="0" rIns="0" bIns="0" rtlCol="0" anchor="ctr"/>
          <a:lstStyle/>
          <a:p>
            <a:pPr marL="0" indent="0">
              <a:buNone/>
            </a:pPr>
            <a:r>
              <a:rPr lang="en-US" sz="950">
                <a:solidFill>
                  <a:srgbClr val="7090A8"/>
                </a:solidFill>
                <a:latin typeface="Calibri" pitchFamily="34" charset="0"/>
                <a:ea typeface="Calibri" pitchFamily="34" charset="-122"/>
                <a:cs typeface="Calibri" pitchFamily="34" charset="-120"/>
              </a:rPr>
              <a:t>Chaque module s'appuie sur le précédent</a:t>
            </a:r>
            <a:endParaRPr lang="en-US" sz="950"/>
          </a:p>
        </p:txBody>
      </p:sp>
      <p:sp>
        <p:nvSpPr>
          <p:cNvPr id="50" name="Shape 37"/>
          <p:cNvSpPr/>
          <p:nvPr/>
        </p:nvSpPr>
        <p:spPr>
          <a:xfrm>
            <a:off x="0" y="4892040"/>
            <a:ext cx="9144000" cy="251460"/>
          </a:xfrm>
          <a:prstGeom prst="rect">
            <a:avLst/>
          </a:prstGeom>
          <a:solidFill>
            <a:srgbClr val="0D1B35"/>
          </a:solidFill>
          <a:ln/>
        </p:spPr>
        <p:txBody>
          <a:bodyPr/>
          <a:lstStyle/>
          <a:p>
            <a:endParaRPr lang="fr-FR"/>
          </a:p>
        </p:txBody>
      </p:sp>
      <p:sp>
        <p:nvSpPr>
          <p:cNvPr id="51" name="Text 38"/>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2" name="Text 39"/>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11 / 16</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600" b="1">
                <a:solidFill>
                  <a:srgbClr val="FFFFFF"/>
                </a:solidFill>
                <a:latin typeface="Calibri" pitchFamily="34" charset="0"/>
                <a:ea typeface="Calibri" pitchFamily="34" charset="-122"/>
                <a:cs typeface="Calibri" pitchFamily="34" charset="-120"/>
              </a:rPr>
              <a:t>Votre feuille de route — Par quel module commencer ?</a:t>
            </a:r>
            <a:endParaRPr lang="en-US" sz="26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Selon votre profil, voici le parcours recommandé</a:t>
            </a:r>
            <a:endParaRPr lang="en-US" sz="1200"/>
          </a:p>
        </p:txBody>
      </p:sp>
      <p:sp>
        <p:nvSpPr>
          <p:cNvPr id="6" name="Shape 4"/>
          <p:cNvSpPr/>
          <p:nvPr/>
        </p:nvSpPr>
        <p:spPr>
          <a:xfrm>
            <a:off x="274320" y="1243584"/>
            <a:ext cx="859536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74320" y="1243584"/>
            <a:ext cx="73152" cy="804672"/>
          </a:xfrm>
          <a:prstGeom prst="rect">
            <a:avLst/>
          </a:prstGeom>
          <a:solidFill>
            <a:srgbClr val="02C39A"/>
          </a:solidFill>
          <a:ln/>
        </p:spPr>
        <p:txBody>
          <a:bodyPr/>
          <a:lstStyle/>
          <a:p>
            <a:endParaRPr lang="fr-FR"/>
          </a:p>
        </p:txBody>
      </p:sp>
      <p:sp>
        <p:nvSpPr>
          <p:cNvPr id="8" name="Text 6"/>
          <p:cNvSpPr/>
          <p:nvPr/>
        </p:nvSpPr>
        <p:spPr>
          <a:xfrm>
            <a:off x="420624" y="1316736"/>
            <a:ext cx="2011680" cy="274320"/>
          </a:xfrm>
          <a:prstGeom prst="rect">
            <a:avLst/>
          </a:prstGeom>
          <a:noFill/>
          <a:ln/>
        </p:spPr>
        <p:txBody>
          <a:bodyPr wrap="square" lIns="0" tIns="0" rIns="0" bIns="0" rtlCol="0" anchor="ctr"/>
          <a:lstStyle/>
          <a:p>
            <a:pPr marL="0" indent="0">
              <a:buNone/>
            </a:pPr>
            <a:r>
              <a:rPr lang="en-US" sz="1300" b="1">
                <a:solidFill>
                  <a:srgbClr val="02C39A"/>
                </a:solidFill>
                <a:latin typeface="Calibri" pitchFamily="34" charset="0"/>
                <a:ea typeface="Calibri" pitchFamily="34" charset="-122"/>
                <a:cs typeface="Calibri" pitchFamily="34" charset="-120"/>
              </a:rPr>
              <a:t>Débutant complet</a:t>
            </a:r>
            <a:endParaRPr lang="en-US" sz="1300"/>
          </a:p>
        </p:txBody>
      </p:sp>
      <p:sp>
        <p:nvSpPr>
          <p:cNvPr id="9" name="Shape 7"/>
          <p:cNvSpPr/>
          <p:nvPr/>
        </p:nvSpPr>
        <p:spPr>
          <a:xfrm>
            <a:off x="2542032" y="1444752"/>
            <a:ext cx="640080" cy="274320"/>
          </a:xfrm>
          <a:prstGeom prst="rect">
            <a:avLst/>
          </a:prstGeom>
          <a:solidFill>
            <a:srgbClr val="02C39A"/>
          </a:solidFill>
          <a:ln/>
        </p:spPr>
        <p:txBody>
          <a:bodyPr/>
          <a:lstStyle/>
          <a:p>
            <a:endParaRPr lang="fr-FR"/>
          </a:p>
        </p:txBody>
      </p:sp>
      <p:sp>
        <p:nvSpPr>
          <p:cNvPr id="10" name="Text 8"/>
          <p:cNvSpPr/>
          <p:nvPr/>
        </p:nvSpPr>
        <p:spPr>
          <a:xfrm>
            <a:off x="2542032"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M1</a:t>
            </a:r>
            <a:endParaRPr lang="en-US" sz="900"/>
          </a:p>
        </p:txBody>
      </p:sp>
      <p:sp>
        <p:nvSpPr>
          <p:cNvPr id="11" name="Text 9"/>
          <p:cNvSpPr/>
          <p:nvPr/>
        </p:nvSpPr>
        <p:spPr>
          <a:xfrm>
            <a:off x="3182112"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12" name="Shape 10"/>
          <p:cNvSpPr/>
          <p:nvPr/>
        </p:nvSpPr>
        <p:spPr>
          <a:xfrm>
            <a:off x="3310128" y="1444752"/>
            <a:ext cx="640080" cy="274320"/>
          </a:xfrm>
          <a:prstGeom prst="rect">
            <a:avLst/>
          </a:prstGeom>
          <a:solidFill>
            <a:srgbClr val="02C39A"/>
          </a:solidFill>
          <a:ln/>
        </p:spPr>
        <p:txBody>
          <a:bodyPr/>
          <a:lstStyle/>
          <a:p>
            <a:endParaRPr lang="fr-FR"/>
          </a:p>
        </p:txBody>
      </p:sp>
      <p:sp>
        <p:nvSpPr>
          <p:cNvPr id="13" name="Text 11"/>
          <p:cNvSpPr/>
          <p:nvPr/>
        </p:nvSpPr>
        <p:spPr>
          <a:xfrm>
            <a:off x="3310128"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M2</a:t>
            </a:r>
            <a:endParaRPr lang="en-US" sz="900"/>
          </a:p>
        </p:txBody>
      </p:sp>
      <p:sp>
        <p:nvSpPr>
          <p:cNvPr id="14" name="Text 12"/>
          <p:cNvSpPr/>
          <p:nvPr/>
        </p:nvSpPr>
        <p:spPr>
          <a:xfrm>
            <a:off x="3950208"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15" name="Shape 13"/>
          <p:cNvSpPr/>
          <p:nvPr/>
        </p:nvSpPr>
        <p:spPr>
          <a:xfrm>
            <a:off x="4078224" y="1444752"/>
            <a:ext cx="640080" cy="274320"/>
          </a:xfrm>
          <a:prstGeom prst="rect">
            <a:avLst/>
          </a:prstGeom>
          <a:solidFill>
            <a:srgbClr val="02C39A"/>
          </a:solidFill>
          <a:ln/>
        </p:spPr>
        <p:txBody>
          <a:bodyPr/>
          <a:lstStyle/>
          <a:p>
            <a:endParaRPr lang="fr-FR"/>
          </a:p>
        </p:txBody>
      </p:sp>
      <p:sp>
        <p:nvSpPr>
          <p:cNvPr id="16" name="Text 14"/>
          <p:cNvSpPr/>
          <p:nvPr/>
        </p:nvSpPr>
        <p:spPr>
          <a:xfrm>
            <a:off x="4078224"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M3</a:t>
            </a:r>
            <a:endParaRPr lang="en-US" sz="900"/>
          </a:p>
        </p:txBody>
      </p:sp>
      <p:sp>
        <p:nvSpPr>
          <p:cNvPr id="17" name="Text 15"/>
          <p:cNvSpPr/>
          <p:nvPr/>
        </p:nvSpPr>
        <p:spPr>
          <a:xfrm>
            <a:off x="4718304"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18" name="Shape 16"/>
          <p:cNvSpPr/>
          <p:nvPr/>
        </p:nvSpPr>
        <p:spPr>
          <a:xfrm>
            <a:off x="4846320" y="1444752"/>
            <a:ext cx="640080" cy="274320"/>
          </a:xfrm>
          <a:prstGeom prst="rect">
            <a:avLst/>
          </a:prstGeom>
          <a:solidFill>
            <a:srgbClr val="02C39A"/>
          </a:solidFill>
          <a:ln/>
        </p:spPr>
        <p:txBody>
          <a:bodyPr/>
          <a:lstStyle/>
          <a:p>
            <a:endParaRPr lang="fr-FR"/>
          </a:p>
        </p:txBody>
      </p:sp>
      <p:sp>
        <p:nvSpPr>
          <p:cNvPr id="19" name="Text 17"/>
          <p:cNvSpPr/>
          <p:nvPr/>
        </p:nvSpPr>
        <p:spPr>
          <a:xfrm>
            <a:off x="4846320"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M4</a:t>
            </a:r>
            <a:endParaRPr lang="en-US" sz="900"/>
          </a:p>
        </p:txBody>
      </p:sp>
      <p:sp>
        <p:nvSpPr>
          <p:cNvPr id="20" name="Text 18"/>
          <p:cNvSpPr/>
          <p:nvPr/>
        </p:nvSpPr>
        <p:spPr>
          <a:xfrm>
            <a:off x="5486400"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21" name="Shape 19"/>
          <p:cNvSpPr/>
          <p:nvPr/>
        </p:nvSpPr>
        <p:spPr>
          <a:xfrm>
            <a:off x="5614416" y="1444752"/>
            <a:ext cx="640080" cy="274320"/>
          </a:xfrm>
          <a:prstGeom prst="rect">
            <a:avLst/>
          </a:prstGeom>
          <a:solidFill>
            <a:srgbClr val="02C39A"/>
          </a:solidFill>
          <a:ln/>
        </p:spPr>
        <p:txBody>
          <a:bodyPr/>
          <a:lstStyle/>
          <a:p>
            <a:endParaRPr lang="fr-FR"/>
          </a:p>
        </p:txBody>
      </p:sp>
      <p:sp>
        <p:nvSpPr>
          <p:cNvPr id="22" name="Text 20"/>
          <p:cNvSpPr/>
          <p:nvPr/>
        </p:nvSpPr>
        <p:spPr>
          <a:xfrm>
            <a:off x="5614416"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M5</a:t>
            </a:r>
            <a:endParaRPr lang="en-US" sz="900"/>
          </a:p>
        </p:txBody>
      </p:sp>
      <p:sp>
        <p:nvSpPr>
          <p:cNvPr id="23" name="Text 21"/>
          <p:cNvSpPr/>
          <p:nvPr/>
        </p:nvSpPr>
        <p:spPr>
          <a:xfrm>
            <a:off x="6254496"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24" name="Shape 22"/>
          <p:cNvSpPr/>
          <p:nvPr/>
        </p:nvSpPr>
        <p:spPr>
          <a:xfrm>
            <a:off x="6382512" y="1444752"/>
            <a:ext cx="640080" cy="274320"/>
          </a:xfrm>
          <a:prstGeom prst="rect">
            <a:avLst/>
          </a:prstGeom>
          <a:solidFill>
            <a:srgbClr val="02C39A"/>
          </a:solidFill>
          <a:ln/>
        </p:spPr>
        <p:txBody>
          <a:bodyPr/>
          <a:lstStyle/>
          <a:p>
            <a:endParaRPr lang="fr-FR"/>
          </a:p>
        </p:txBody>
      </p:sp>
      <p:sp>
        <p:nvSpPr>
          <p:cNvPr id="25" name="Text 23"/>
          <p:cNvSpPr/>
          <p:nvPr/>
        </p:nvSpPr>
        <p:spPr>
          <a:xfrm>
            <a:off x="6382512"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M6</a:t>
            </a:r>
            <a:endParaRPr lang="en-US" sz="900"/>
          </a:p>
        </p:txBody>
      </p:sp>
      <p:sp>
        <p:nvSpPr>
          <p:cNvPr id="26" name="Text 24"/>
          <p:cNvSpPr/>
          <p:nvPr/>
        </p:nvSpPr>
        <p:spPr>
          <a:xfrm>
            <a:off x="7022592"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27" name="Shape 25"/>
          <p:cNvSpPr/>
          <p:nvPr/>
        </p:nvSpPr>
        <p:spPr>
          <a:xfrm>
            <a:off x="7150608" y="1444752"/>
            <a:ext cx="640080" cy="274320"/>
          </a:xfrm>
          <a:prstGeom prst="rect">
            <a:avLst/>
          </a:prstGeom>
          <a:solidFill>
            <a:srgbClr val="02C39A"/>
          </a:solidFill>
          <a:ln/>
        </p:spPr>
        <p:txBody>
          <a:bodyPr/>
          <a:lstStyle/>
          <a:p>
            <a:endParaRPr lang="fr-FR"/>
          </a:p>
        </p:txBody>
      </p:sp>
      <p:sp>
        <p:nvSpPr>
          <p:cNvPr id="28" name="Text 26"/>
          <p:cNvSpPr/>
          <p:nvPr/>
        </p:nvSpPr>
        <p:spPr>
          <a:xfrm>
            <a:off x="7150608"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M7</a:t>
            </a:r>
            <a:endParaRPr lang="en-US" sz="900"/>
          </a:p>
        </p:txBody>
      </p:sp>
      <p:sp>
        <p:nvSpPr>
          <p:cNvPr id="29" name="Text 27"/>
          <p:cNvSpPr/>
          <p:nvPr/>
        </p:nvSpPr>
        <p:spPr>
          <a:xfrm>
            <a:off x="7790688" y="1444752"/>
            <a:ext cx="146304" cy="274320"/>
          </a:xfrm>
          <a:prstGeom prst="rect">
            <a:avLst/>
          </a:prstGeom>
          <a:noFill/>
          <a:ln/>
        </p:spPr>
        <p:txBody>
          <a:bodyPr wrap="square" lIns="0" tIns="0" rIns="0" bIns="0" rtlCol="0" anchor="ctr"/>
          <a:lstStyle/>
          <a:p>
            <a:pPr marL="0" indent="0" algn="ctr">
              <a:buNone/>
            </a:pPr>
            <a:r>
              <a:rPr lang="en-US" sz="1200">
                <a:solidFill>
                  <a:srgbClr val="02C39A"/>
                </a:solidFill>
                <a:latin typeface="Calibri" pitchFamily="34" charset="0"/>
                <a:ea typeface="Calibri" pitchFamily="34" charset="-122"/>
                <a:cs typeface="Calibri" pitchFamily="34" charset="-120"/>
              </a:rPr>
              <a:t>›</a:t>
            </a:r>
            <a:endParaRPr lang="en-US" sz="1200"/>
          </a:p>
        </p:txBody>
      </p:sp>
      <p:sp>
        <p:nvSpPr>
          <p:cNvPr id="30" name="Shape 28"/>
          <p:cNvSpPr/>
          <p:nvPr/>
        </p:nvSpPr>
        <p:spPr>
          <a:xfrm>
            <a:off x="7918704" y="1444752"/>
            <a:ext cx="640080" cy="274320"/>
          </a:xfrm>
          <a:prstGeom prst="rect">
            <a:avLst/>
          </a:prstGeom>
          <a:solidFill>
            <a:srgbClr val="02C39A"/>
          </a:solidFill>
          <a:ln/>
        </p:spPr>
        <p:txBody>
          <a:bodyPr/>
          <a:lstStyle/>
          <a:p>
            <a:endParaRPr lang="fr-FR"/>
          </a:p>
        </p:txBody>
      </p:sp>
      <p:sp>
        <p:nvSpPr>
          <p:cNvPr id="31" name="Text 29"/>
          <p:cNvSpPr/>
          <p:nvPr/>
        </p:nvSpPr>
        <p:spPr>
          <a:xfrm>
            <a:off x="7918704" y="1444752"/>
            <a:ext cx="640080" cy="274320"/>
          </a:xfrm>
          <a:prstGeom prst="rect">
            <a:avLst/>
          </a:prstGeom>
          <a:noFill/>
          <a:ln/>
        </p:spPr>
        <p:txBody>
          <a:bodyPr wrap="square" lIns="0" tIns="0" rIns="0" bIns="0" rtlCol="0" anchor="ctr"/>
          <a:lstStyle/>
          <a:p>
            <a:pPr marL="0" indent="0" algn="ctr">
              <a:buNone/>
            </a:pPr>
            <a:r>
              <a:rPr lang="en-US" sz="900" b="1">
                <a:solidFill>
                  <a:srgbClr val="02C39A"/>
                </a:solidFill>
                <a:latin typeface="Calibri" pitchFamily="34" charset="0"/>
                <a:ea typeface="Calibri" pitchFamily="34" charset="-122"/>
                <a:cs typeface="Calibri" pitchFamily="34" charset="-120"/>
              </a:rPr>
              <a:t>M8</a:t>
            </a:r>
            <a:endParaRPr lang="en-US" sz="900"/>
          </a:p>
        </p:txBody>
      </p:sp>
      <p:sp>
        <p:nvSpPr>
          <p:cNvPr id="32" name="Text 30"/>
          <p:cNvSpPr/>
          <p:nvPr/>
        </p:nvSpPr>
        <p:spPr>
          <a:xfrm>
            <a:off x="420624" y="1792224"/>
            <a:ext cx="8357616" cy="201168"/>
          </a:xfrm>
          <a:prstGeom prst="rect">
            <a:avLst/>
          </a:prstGeom>
          <a:noFill/>
          <a:ln/>
        </p:spPr>
        <p:txBody>
          <a:bodyPr wrap="square" lIns="0" tIns="0" rIns="0" bIns="0" rtlCol="0" anchor="ctr"/>
          <a:lstStyle/>
          <a:p>
            <a:pPr marL="0" indent="0">
              <a:buNone/>
            </a:pPr>
            <a:r>
              <a:rPr lang="en-US" sz="950" i="1">
                <a:solidFill>
                  <a:srgbClr val="7090A8"/>
                </a:solidFill>
                <a:latin typeface="Calibri" pitchFamily="34" charset="0"/>
                <a:ea typeface="Calibri" pitchFamily="34" charset="-122"/>
                <a:cs typeface="Calibri" pitchFamily="34" charset="-120"/>
              </a:rPr>
              <a:t>💡  Suivez la série dans l'ordre — chaque module prépare le suivant</a:t>
            </a:r>
            <a:endParaRPr lang="en-US" sz="950"/>
          </a:p>
        </p:txBody>
      </p:sp>
      <p:sp>
        <p:nvSpPr>
          <p:cNvPr id="33" name="Shape 31"/>
          <p:cNvSpPr/>
          <p:nvPr/>
        </p:nvSpPr>
        <p:spPr>
          <a:xfrm>
            <a:off x="274320" y="2139696"/>
            <a:ext cx="859536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4" name="Shape 32"/>
          <p:cNvSpPr/>
          <p:nvPr/>
        </p:nvSpPr>
        <p:spPr>
          <a:xfrm>
            <a:off x="274320" y="2139696"/>
            <a:ext cx="73152" cy="804672"/>
          </a:xfrm>
          <a:prstGeom prst="rect">
            <a:avLst/>
          </a:prstGeom>
          <a:solidFill>
            <a:srgbClr val="BA4A00"/>
          </a:solidFill>
          <a:ln/>
        </p:spPr>
        <p:txBody>
          <a:bodyPr/>
          <a:lstStyle/>
          <a:p>
            <a:endParaRPr lang="fr-FR"/>
          </a:p>
        </p:txBody>
      </p:sp>
      <p:sp>
        <p:nvSpPr>
          <p:cNvPr id="35" name="Text 33"/>
          <p:cNvSpPr/>
          <p:nvPr/>
        </p:nvSpPr>
        <p:spPr>
          <a:xfrm>
            <a:off x="420624" y="2212848"/>
            <a:ext cx="2011680" cy="274320"/>
          </a:xfrm>
          <a:prstGeom prst="rect">
            <a:avLst/>
          </a:prstGeom>
          <a:noFill/>
          <a:ln/>
        </p:spPr>
        <p:txBody>
          <a:bodyPr wrap="square" lIns="0" tIns="0" rIns="0" bIns="0" rtlCol="0" anchor="ctr"/>
          <a:lstStyle/>
          <a:p>
            <a:pPr marL="0" indent="0">
              <a:buNone/>
            </a:pPr>
            <a:r>
              <a:rPr lang="en-US" sz="1300" b="1">
                <a:solidFill>
                  <a:srgbClr val="BA4A00"/>
                </a:solidFill>
                <a:latin typeface="Calibri" pitchFamily="34" charset="0"/>
                <a:ea typeface="Calibri" pitchFamily="34" charset="-122"/>
                <a:cs typeface="Calibri" pitchFamily="34" charset="-120"/>
              </a:rPr>
              <a:t>Connaît déjà les bases</a:t>
            </a:r>
            <a:endParaRPr lang="en-US" sz="1300"/>
          </a:p>
        </p:txBody>
      </p:sp>
      <p:sp>
        <p:nvSpPr>
          <p:cNvPr id="36" name="Shape 34"/>
          <p:cNvSpPr/>
          <p:nvPr/>
        </p:nvSpPr>
        <p:spPr>
          <a:xfrm>
            <a:off x="2542032" y="2340864"/>
            <a:ext cx="640080" cy="274320"/>
          </a:xfrm>
          <a:prstGeom prst="rect">
            <a:avLst/>
          </a:prstGeom>
          <a:solidFill>
            <a:srgbClr val="BA4A00"/>
          </a:solidFill>
          <a:ln/>
        </p:spPr>
        <p:txBody>
          <a:bodyPr/>
          <a:lstStyle/>
          <a:p>
            <a:endParaRPr lang="fr-FR"/>
          </a:p>
        </p:txBody>
      </p:sp>
      <p:sp>
        <p:nvSpPr>
          <p:cNvPr id="37" name="Text 35"/>
          <p:cNvSpPr/>
          <p:nvPr/>
        </p:nvSpPr>
        <p:spPr>
          <a:xfrm>
            <a:off x="2542032" y="2340864"/>
            <a:ext cx="640080" cy="274320"/>
          </a:xfrm>
          <a:prstGeom prst="rect">
            <a:avLst/>
          </a:prstGeom>
          <a:noFill/>
          <a:ln/>
        </p:spPr>
        <p:txBody>
          <a:bodyPr wrap="square" lIns="0" tIns="0" rIns="0" bIns="0" rtlCol="0" anchor="ctr"/>
          <a:lstStyle/>
          <a:p>
            <a:pPr marL="0" indent="0" algn="ctr">
              <a:buNone/>
            </a:pPr>
            <a:r>
              <a:rPr lang="en-US" sz="900" b="1">
                <a:solidFill>
                  <a:srgbClr val="BA4A00"/>
                </a:solidFill>
                <a:latin typeface="Calibri" pitchFamily="34" charset="0"/>
                <a:ea typeface="Calibri" pitchFamily="34" charset="-122"/>
                <a:cs typeface="Calibri" pitchFamily="34" charset="-120"/>
              </a:rPr>
              <a:t>M5</a:t>
            </a:r>
            <a:endParaRPr lang="en-US" sz="900"/>
          </a:p>
        </p:txBody>
      </p:sp>
      <p:sp>
        <p:nvSpPr>
          <p:cNvPr id="38" name="Text 36"/>
          <p:cNvSpPr/>
          <p:nvPr/>
        </p:nvSpPr>
        <p:spPr>
          <a:xfrm>
            <a:off x="3182112" y="2340864"/>
            <a:ext cx="146304" cy="274320"/>
          </a:xfrm>
          <a:prstGeom prst="rect">
            <a:avLst/>
          </a:prstGeom>
          <a:noFill/>
          <a:ln/>
        </p:spPr>
        <p:txBody>
          <a:bodyPr wrap="square" lIns="0" tIns="0" rIns="0" bIns="0" rtlCol="0" anchor="ctr"/>
          <a:lstStyle/>
          <a:p>
            <a:pPr marL="0" indent="0" algn="ctr">
              <a:buNone/>
            </a:pPr>
            <a:r>
              <a:rPr lang="en-US" sz="1200">
                <a:solidFill>
                  <a:srgbClr val="BA4A00"/>
                </a:solidFill>
                <a:latin typeface="Calibri" pitchFamily="34" charset="0"/>
                <a:ea typeface="Calibri" pitchFamily="34" charset="-122"/>
                <a:cs typeface="Calibri" pitchFamily="34" charset="-120"/>
              </a:rPr>
              <a:t>›</a:t>
            </a:r>
            <a:endParaRPr lang="en-US" sz="1200"/>
          </a:p>
        </p:txBody>
      </p:sp>
      <p:sp>
        <p:nvSpPr>
          <p:cNvPr id="39" name="Shape 37"/>
          <p:cNvSpPr/>
          <p:nvPr/>
        </p:nvSpPr>
        <p:spPr>
          <a:xfrm>
            <a:off x="3310128" y="2340864"/>
            <a:ext cx="640080" cy="274320"/>
          </a:xfrm>
          <a:prstGeom prst="rect">
            <a:avLst/>
          </a:prstGeom>
          <a:solidFill>
            <a:srgbClr val="BA4A00"/>
          </a:solidFill>
          <a:ln/>
        </p:spPr>
        <p:txBody>
          <a:bodyPr/>
          <a:lstStyle/>
          <a:p>
            <a:endParaRPr lang="fr-FR"/>
          </a:p>
        </p:txBody>
      </p:sp>
      <p:sp>
        <p:nvSpPr>
          <p:cNvPr id="40" name="Text 38"/>
          <p:cNvSpPr/>
          <p:nvPr/>
        </p:nvSpPr>
        <p:spPr>
          <a:xfrm>
            <a:off x="3310128" y="2340864"/>
            <a:ext cx="640080" cy="274320"/>
          </a:xfrm>
          <a:prstGeom prst="rect">
            <a:avLst/>
          </a:prstGeom>
          <a:noFill/>
          <a:ln/>
        </p:spPr>
        <p:txBody>
          <a:bodyPr wrap="square" lIns="0" tIns="0" rIns="0" bIns="0" rtlCol="0" anchor="ctr"/>
          <a:lstStyle/>
          <a:p>
            <a:pPr marL="0" indent="0" algn="ctr">
              <a:buNone/>
            </a:pPr>
            <a:r>
              <a:rPr lang="en-US" sz="900" b="1">
                <a:solidFill>
                  <a:srgbClr val="BA4A00"/>
                </a:solidFill>
                <a:latin typeface="Calibri" pitchFamily="34" charset="0"/>
                <a:ea typeface="Calibri" pitchFamily="34" charset="-122"/>
                <a:cs typeface="Calibri" pitchFamily="34" charset="-120"/>
              </a:rPr>
              <a:t>M6</a:t>
            </a:r>
            <a:endParaRPr lang="en-US" sz="900"/>
          </a:p>
        </p:txBody>
      </p:sp>
      <p:sp>
        <p:nvSpPr>
          <p:cNvPr id="41" name="Text 39"/>
          <p:cNvSpPr/>
          <p:nvPr/>
        </p:nvSpPr>
        <p:spPr>
          <a:xfrm>
            <a:off x="3950208" y="2340864"/>
            <a:ext cx="146304" cy="274320"/>
          </a:xfrm>
          <a:prstGeom prst="rect">
            <a:avLst/>
          </a:prstGeom>
          <a:noFill/>
          <a:ln/>
        </p:spPr>
        <p:txBody>
          <a:bodyPr wrap="square" lIns="0" tIns="0" rIns="0" bIns="0" rtlCol="0" anchor="ctr"/>
          <a:lstStyle/>
          <a:p>
            <a:pPr marL="0" indent="0" algn="ctr">
              <a:buNone/>
            </a:pPr>
            <a:r>
              <a:rPr lang="en-US" sz="1200">
                <a:solidFill>
                  <a:srgbClr val="BA4A00"/>
                </a:solidFill>
                <a:latin typeface="Calibri" pitchFamily="34" charset="0"/>
                <a:ea typeface="Calibri" pitchFamily="34" charset="-122"/>
                <a:cs typeface="Calibri" pitchFamily="34" charset="-120"/>
              </a:rPr>
              <a:t>›</a:t>
            </a:r>
            <a:endParaRPr lang="en-US" sz="1200"/>
          </a:p>
        </p:txBody>
      </p:sp>
      <p:sp>
        <p:nvSpPr>
          <p:cNvPr id="42" name="Shape 40"/>
          <p:cNvSpPr/>
          <p:nvPr/>
        </p:nvSpPr>
        <p:spPr>
          <a:xfrm>
            <a:off x="4078224" y="2340864"/>
            <a:ext cx="640080" cy="274320"/>
          </a:xfrm>
          <a:prstGeom prst="rect">
            <a:avLst/>
          </a:prstGeom>
          <a:solidFill>
            <a:srgbClr val="BA4A00"/>
          </a:solidFill>
          <a:ln/>
        </p:spPr>
        <p:txBody>
          <a:bodyPr/>
          <a:lstStyle/>
          <a:p>
            <a:endParaRPr lang="fr-FR"/>
          </a:p>
        </p:txBody>
      </p:sp>
      <p:sp>
        <p:nvSpPr>
          <p:cNvPr id="43" name="Text 41"/>
          <p:cNvSpPr/>
          <p:nvPr/>
        </p:nvSpPr>
        <p:spPr>
          <a:xfrm>
            <a:off x="4078224" y="2340864"/>
            <a:ext cx="640080" cy="274320"/>
          </a:xfrm>
          <a:prstGeom prst="rect">
            <a:avLst/>
          </a:prstGeom>
          <a:noFill/>
          <a:ln/>
        </p:spPr>
        <p:txBody>
          <a:bodyPr wrap="square" lIns="0" tIns="0" rIns="0" bIns="0" rtlCol="0" anchor="ctr"/>
          <a:lstStyle/>
          <a:p>
            <a:pPr marL="0" indent="0" algn="ctr">
              <a:buNone/>
            </a:pPr>
            <a:r>
              <a:rPr lang="en-US" sz="900" b="1">
                <a:solidFill>
                  <a:srgbClr val="BA4A00"/>
                </a:solidFill>
                <a:latin typeface="Calibri" pitchFamily="34" charset="0"/>
                <a:ea typeface="Calibri" pitchFamily="34" charset="-122"/>
                <a:cs typeface="Calibri" pitchFamily="34" charset="-120"/>
              </a:rPr>
              <a:t>M7</a:t>
            </a:r>
            <a:endParaRPr lang="en-US" sz="900"/>
          </a:p>
        </p:txBody>
      </p:sp>
      <p:sp>
        <p:nvSpPr>
          <p:cNvPr id="44" name="Text 42"/>
          <p:cNvSpPr/>
          <p:nvPr/>
        </p:nvSpPr>
        <p:spPr>
          <a:xfrm>
            <a:off x="4718304" y="2340864"/>
            <a:ext cx="146304" cy="274320"/>
          </a:xfrm>
          <a:prstGeom prst="rect">
            <a:avLst/>
          </a:prstGeom>
          <a:noFill/>
          <a:ln/>
        </p:spPr>
        <p:txBody>
          <a:bodyPr wrap="square" lIns="0" tIns="0" rIns="0" bIns="0" rtlCol="0" anchor="ctr"/>
          <a:lstStyle/>
          <a:p>
            <a:pPr marL="0" indent="0" algn="ctr">
              <a:buNone/>
            </a:pPr>
            <a:r>
              <a:rPr lang="en-US" sz="1200">
                <a:solidFill>
                  <a:srgbClr val="BA4A00"/>
                </a:solidFill>
                <a:latin typeface="Calibri" pitchFamily="34" charset="0"/>
                <a:ea typeface="Calibri" pitchFamily="34" charset="-122"/>
                <a:cs typeface="Calibri" pitchFamily="34" charset="-120"/>
              </a:rPr>
              <a:t>›</a:t>
            </a:r>
            <a:endParaRPr lang="en-US" sz="1200"/>
          </a:p>
        </p:txBody>
      </p:sp>
      <p:sp>
        <p:nvSpPr>
          <p:cNvPr id="45" name="Shape 43"/>
          <p:cNvSpPr/>
          <p:nvPr/>
        </p:nvSpPr>
        <p:spPr>
          <a:xfrm>
            <a:off x="4846320" y="2340864"/>
            <a:ext cx="640080" cy="274320"/>
          </a:xfrm>
          <a:prstGeom prst="rect">
            <a:avLst/>
          </a:prstGeom>
          <a:solidFill>
            <a:srgbClr val="BA4A00"/>
          </a:solidFill>
          <a:ln/>
        </p:spPr>
        <p:txBody>
          <a:bodyPr/>
          <a:lstStyle/>
          <a:p>
            <a:endParaRPr lang="fr-FR"/>
          </a:p>
        </p:txBody>
      </p:sp>
      <p:sp>
        <p:nvSpPr>
          <p:cNvPr id="46" name="Text 44"/>
          <p:cNvSpPr/>
          <p:nvPr/>
        </p:nvSpPr>
        <p:spPr>
          <a:xfrm>
            <a:off x="4846320" y="2340864"/>
            <a:ext cx="640080" cy="274320"/>
          </a:xfrm>
          <a:prstGeom prst="rect">
            <a:avLst/>
          </a:prstGeom>
          <a:noFill/>
          <a:ln/>
        </p:spPr>
        <p:txBody>
          <a:bodyPr wrap="square" lIns="0" tIns="0" rIns="0" bIns="0" rtlCol="0" anchor="ctr"/>
          <a:lstStyle/>
          <a:p>
            <a:pPr marL="0" indent="0" algn="ctr">
              <a:buNone/>
            </a:pPr>
            <a:r>
              <a:rPr lang="en-US" sz="900" b="1">
                <a:solidFill>
                  <a:srgbClr val="BA4A00"/>
                </a:solidFill>
                <a:latin typeface="Calibri" pitchFamily="34" charset="0"/>
                <a:ea typeface="Calibri" pitchFamily="34" charset="-122"/>
                <a:cs typeface="Calibri" pitchFamily="34" charset="-120"/>
              </a:rPr>
              <a:t>M8</a:t>
            </a:r>
            <a:endParaRPr lang="en-US" sz="900"/>
          </a:p>
        </p:txBody>
      </p:sp>
      <p:sp>
        <p:nvSpPr>
          <p:cNvPr id="47" name="Text 45"/>
          <p:cNvSpPr/>
          <p:nvPr/>
        </p:nvSpPr>
        <p:spPr>
          <a:xfrm>
            <a:off x="5486400" y="2340864"/>
            <a:ext cx="146304" cy="274320"/>
          </a:xfrm>
          <a:prstGeom prst="rect">
            <a:avLst/>
          </a:prstGeom>
          <a:noFill/>
          <a:ln/>
        </p:spPr>
        <p:txBody>
          <a:bodyPr wrap="square" lIns="0" tIns="0" rIns="0" bIns="0" rtlCol="0" anchor="ctr"/>
          <a:lstStyle/>
          <a:p>
            <a:pPr marL="0" indent="0" algn="ctr">
              <a:buNone/>
            </a:pPr>
            <a:r>
              <a:rPr lang="en-US" sz="1200">
                <a:solidFill>
                  <a:srgbClr val="BA4A00"/>
                </a:solidFill>
                <a:latin typeface="Calibri" pitchFamily="34" charset="0"/>
                <a:ea typeface="Calibri" pitchFamily="34" charset="-122"/>
                <a:cs typeface="Calibri" pitchFamily="34" charset="-120"/>
              </a:rPr>
              <a:t>›</a:t>
            </a:r>
            <a:endParaRPr lang="en-US" sz="1200"/>
          </a:p>
        </p:txBody>
      </p:sp>
      <p:sp>
        <p:nvSpPr>
          <p:cNvPr id="48" name="Shape 46"/>
          <p:cNvSpPr/>
          <p:nvPr/>
        </p:nvSpPr>
        <p:spPr>
          <a:xfrm>
            <a:off x="5614416" y="2340864"/>
            <a:ext cx="640080" cy="274320"/>
          </a:xfrm>
          <a:prstGeom prst="rect">
            <a:avLst/>
          </a:prstGeom>
          <a:solidFill>
            <a:srgbClr val="BA4A00"/>
          </a:solidFill>
          <a:ln/>
        </p:spPr>
        <p:txBody>
          <a:bodyPr/>
          <a:lstStyle/>
          <a:p>
            <a:endParaRPr lang="fr-FR"/>
          </a:p>
        </p:txBody>
      </p:sp>
      <p:sp>
        <p:nvSpPr>
          <p:cNvPr id="49" name="Text 47"/>
          <p:cNvSpPr/>
          <p:nvPr/>
        </p:nvSpPr>
        <p:spPr>
          <a:xfrm>
            <a:off x="5614416" y="2340864"/>
            <a:ext cx="640080" cy="274320"/>
          </a:xfrm>
          <a:prstGeom prst="rect">
            <a:avLst/>
          </a:prstGeom>
          <a:noFill/>
          <a:ln/>
        </p:spPr>
        <p:txBody>
          <a:bodyPr wrap="square" lIns="0" tIns="0" rIns="0" bIns="0" rtlCol="0" anchor="ctr"/>
          <a:lstStyle/>
          <a:p>
            <a:pPr marL="0" indent="0" algn="ctr">
              <a:buNone/>
            </a:pPr>
            <a:r>
              <a:rPr lang="en-US" sz="900" b="1">
                <a:solidFill>
                  <a:srgbClr val="BA4A00"/>
                </a:solidFill>
                <a:latin typeface="Calibri" pitchFamily="34" charset="0"/>
                <a:ea typeface="Calibri" pitchFamily="34" charset="-122"/>
                <a:cs typeface="Calibri" pitchFamily="34" charset="-120"/>
              </a:rPr>
              <a:t>M9</a:t>
            </a:r>
            <a:endParaRPr lang="en-US" sz="900"/>
          </a:p>
        </p:txBody>
      </p:sp>
      <p:sp>
        <p:nvSpPr>
          <p:cNvPr id="50" name="Text 48"/>
          <p:cNvSpPr/>
          <p:nvPr/>
        </p:nvSpPr>
        <p:spPr>
          <a:xfrm>
            <a:off x="6254496" y="2340864"/>
            <a:ext cx="146304" cy="274320"/>
          </a:xfrm>
          <a:prstGeom prst="rect">
            <a:avLst/>
          </a:prstGeom>
          <a:noFill/>
          <a:ln/>
        </p:spPr>
        <p:txBody>
          <a:bodyPr wrap="square" lIns="0" tIns="0" rIns="0" bIns="0" rtlCol="0" anchor="ctr"/>
          <a:lstStyle/>
          <a:p>
            <a:pPr marL="0" indent="0" algn="ctr">
              <a:buNone/>
            </a:pPr>
            <a:r>
              <a:rPr lang="en-US" sz="1200">
                <a:solidFill>
                  <a:srgbClr val="BA4A00"/>
                </a:solidFill>
                <a:latin typeface="Calibri" pitchFamily="34" charset="0"/>
                <a:ea typeface="Calibri" pitchFamily="34" charset="-122"/>
                <a:cs typeface="Calibri" pitchFamily="34" charset="-120"/>
              </a:rPr>
              <a:t>›</a:t>
            </a:r>
            <a:endParaRPr lang="en-US" sz="1200"/>
          </a:p>
        </p:txBody>
      </p:sp>
      <p:sp>
        <p:nvSpPr>
          <p:cNvPr id="51" name="Shape 49"/>
          <p:cNvSpPr/>
          <p:nvPr/>
        </p:nvSpPr>
        <p:spPr>
          <a:xfrm>
            <a:off x="6382512" y="2340864"/>
            <a:ext cx="640080" cy="274320"/>
          </a:xfrm>
          <a:prstGeom prst="rect">
            <a:avLst/>
          </a:prstGeom>
          <a:solidFill>
            <a:srgbClr val="BA4A00"/>
          </a:solidFill>
          <a:ln/>
        </p:spPr>
        <p:txBody>
          <a:bodyPr/>
          <a:lstStyle/>
          <a:p>
            <a:endParaRPr lang="fr-FR"/>
          </a:p>
        </p:txBody>
      </p:sp>
      <p:sp>
        <p:nvSpPr>
          <p:cNvPr id="52" name="Text 50"/>
          <p:cNvSpPr/>
          <p:nvPr/>
        </p:nvSpPr>
        <p:spPr>
          <a:xfrm>
            <a:off x="6382512" y="2340864"/>
            <a:ext cx="640080" cy="274320"/>
          </a:xfrm>
          <a:prstGeom prst="rect">
            <a:avLst/>
          </a:prstGeom>
          <a:noFill/>
          <a:ln/>
        </p:spPr>
        <p:txBody>
          <a:bodyPr wrap="square" lIns="0" tIns="0" rIns="0" bIns="0" rtlCol="0" anchor="ctr"/>
          <a:lstStyle/>
          <a:p>
            <a:pPr marL="0" indent="0" algn="ctr">
              <a:buNone/>
            </a:pPr>
            <a:r>
              <a:rPr lang="en-US" sz="900" b="1">
                <a:solidFill>
                  <a:srgbClr val="BA4A00"/>
                </a:solidFill>
                <a:latin typeface="Calibri" pitchFamily="34" charset="0"/>
                <a:ea typeface="Calibri" pitchFamily="34" charset="-122"/>
                <a:cs typeface="Calibri" pitchFamily="34" charset="-120"/>
              </a:rPr>
              <a:t>M10</a:t>
            </a:r>
            <a:endParaRPr lang="en-US" sz="900"/>
          </a:p>
        </p:txBody>
      </p:sp>
      <p:sp>
        <p:nvSpPr>
          <p:cNvPr id="53" name="Text 51"/>
          <p:cNvSpPr/>
          <p:nvPr/>
        </p:nvSpPr>
        <p:spPr>
          <a:xfrm>
            <a:off x="420624" y="2688336"/>
            <a:ext cx="8357616" cy="201168"/>
          </a:xfrm>
          <a:prstGeom prst="rect">
            <a:avLst/>
          </a:prstGeom>
          <a:noFill/>
          <a:ln/>
        </p:spPr>
        <p:txBody>
          <a:bodyPr wrap="square" lIns="0" tIns="0" rIns="0" bIns="0" rtlCol="0" anchor="ctr"/>
          <a:lstStyle/>
          <a:p>
            <a:pPr marL="0" indent="0">
              <a:buNone/>
            </a:pPr>
            <a:r>
              <a:rPr lang="en-US" sz="950" i="1">
                <a:solidFill>
                  <a:srgbClr val="7090A8"/>
                </a:solidFill>
                <a:latin typeface="Calibri" pitchFamily="34" charset="0"/>
                <a:ea typeface="Calibri" pitchFamily="34" charset="-122"/>
                <a:cs typeface="Calibri" pitchFamily="34" charset="-120"/>
              </a:rPr>
              <a:t>💡  Commencer par la logique XPath — la clé pour aller plus loin</a:t>
            </a:r>
            <a:endParaRPr lang="en-US" sz="950"/>
          </a:p>
        </p:txBody>
      </p:sp>
      <p:sp>
        <p:nvSpPr>
          <p:cNvPr id="54" name="Shape 52"/>
          <p:cNvSpPr/>
          <p:nvPr/>
        </p:nvSpPr>
        <p:spPr>
          <a:xfrm>
            <a:off x="274320" y="3035808"/>
            <a:ext cx="859536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55" name="Shape 53"/>
          <p:cNvSpPr/>
          <p:nvPr/>
        </p:nvSpPr>
        <p:spPr>
          <a:xfrm>
            <a:off x="274320" y="3035808"/>
            <a:ext cx="73152" cy="804672"/>
          </a:xfrm>
          <a:prstGeom prst="rect">
            <a:avLst/>
          </a:prstGeom>
          <a:solidFill>
            <a:srgbClr val="2E86C1"/>
          </a:solidFill>
          <a:ln/>
        </p:spPr>
        <p:txBody>
          <a:bodyPr/>
          <a:lstStyle/>
          <a:p>
            <a:endParaRPr lang="fr-FR"/>
          </a:p>
        </p:txBody>
      </p:sp>
      <p:sp>
        <p:nvSpPr>
          <p:cNvPr id="56" name="Text 54"/>
          <p:cNvSpPr/>
          <p:nvPr/>
        </p:nvSpPr>
        <p:spPr>
          <a:xfrm>
            <a:off x="420624" y="3108960"/>
            <a:ext cx="2011680" cy="274320"/>
          </a:xfrm>
          <a:prstGeom prst="rect">
            <a:avLst/>
          </a:prstGeom>
          <a:noFill/>
          <a:ln/>
        </p:spPr>
        <p:txBody>
          <a:bodyPr wrap="square" lIns="0" tIns="0" rIns="0" bIns="0" rtlCol="0" anchor="ctr"/>
          <a:lstStyle/>
          <a:p>
            <a:pPr marL="0" indent="0">
              <a:buNone/>
            </a:pPr>
            <a:r>
              <a:rPr lang="en-US" sz="1300" b="1">
                <a:solidFill>
                  <a:srgbClr val="2E86C1"/>
                </a:solidFill>
                <a:latin typeface="Calibri" pitchFamily="34" charset="0"/>
                <a:ea typeface="Calibri" pitchFamily="34" charset="-122"/>
                <a:cs typeface="Calibri" pitchFamily="34" charset="-120"/>
              </a:rPr>
              <a:t>Superviseur / Manager</a:t>
            </a:r>
            <a:endParaRPr lang="en-US" sz="1300"/>
          </a:p>
        </p:txBody>
      </p:sp>
      <p:sp>
        <p:nvSpPr>
          <p:cNvPr id="57" name="Shape 55"/>
          <p:cNvSpPr/>
          <p:nvPr/>
        </p:nvSpPr>
        <p:spPr>
          <a:xfrm>
            <a:off x="2542032" y="3236976"/>
            <a:ext cx="640080" cy="274320"/>
          </a:xfrm>
          <a:prstGeom prst="rect">
            <a:avLst/>
          </a:prstGeom>
          <a:solidFill>
            <a:srgbClr val="2E86C1"/>
          </a:solidFill>
          <a:ln/>
        </p:spPr>
        <p:txBody>
          <a:bodyPr/>
          <a:lstStyle/>
          <a:p>
            <a:endParaRPr lang="fr-FR"/>
          </a:p>
        </p:txBody>
      </p:sp>
      <p:sp>
        <p:nvSpPr>
          <p:cNvPr id="58" name="Text 56"/>
          <p:cNvSpPr/>
          <p:nvPr/>
        </p:nvSpPr>
        <p:spPr>
          <a:xfrm>
            <a:off x="2542032" y="3236976"/>
            <a:ext cx="640080" cy="274320"/>
          </a:xfrm>
          <a:prstGeom prst="rect">
            <a:avLst/>
          </a:prstGeom>
          <a:noFill/>
          <a:ln/>
        </p:spPr>
        <p:txBody>
          <a:bodyPr wrap="square" lIns="0" tIns="0" rIns="0" bIns="0" rtlCol="0" anchor="ctr"/>
          <a:lstStyle/>
          <a:p>
            <a:pPr marL="0" indent="0" algn="ctr">
              <a:buNone/>
            </a:pPr>
            <a:r>
              <a:rPr lang="en-US" sz="900" b="1">
                <a:solidFill>
                  <a:srgbClr val="2E86C1"/>
                </a:solidFill>
                <a:latin typeface="Calibri" pitchFamily="34" charset="0"/>
                <a:ea typeface="Calibri" pitchFamily="34" charset="-122"/>
                <a:cs typeface="Calibri" pitchFamily="34" charset="-120"/>
              </a:rPr>
              <a:t>M6</a:t>
            </a:r>
            <a:endParaRPr lang="en-US" sz="900"/>
          </a:p>
        </p:txBody>
      </p:sp>
      <p:sp>
        <p:nvSpPr>
          <p:cNvPr id="59" name="Text 57"/>
          <p:cNvSpPr/>
          <p:nvPr/>
        </p:nvSpPr>
        <p:spPr>
          <a:xfrm>
            <a:off x="3182112" y="3236976"/>
            <a:ext cx="146304" cy="274320"/>
          </a:xfrm>
          <a:prstGeom prst="rect">
            <a:avLst/>
          </a:prstGeom>
          <a:noFill/>
          <a:ln/>
        </p:spPr>
        <p:txBody>
          <a:bodyPr wrap="square" lIns="0" tIns="0" rIns="0" bIns="0" rtlCol="0" anchor="ctr"/>
          <a:lstStyle/>
          <a:p>
            <a:pPr marL="0" indent="0" algn="ctr">
              <a:buNone/>
            </a:pPr>
            <a:r>
              <a:rPr lang="en-US" sz="1200">
                <a:solidFill>
                  <a:srgbClr val="2E86C1"/>
                </a:solidFill>
                <a:latin typeface="Calibri" pitchFamily="34" charset="0"/>
                <a:ea typeface="Calibri" pitchFamily="34" charset="-122"/>
                <a:cs typeface="Calibri" pitchFamily="34" charset="-120"/>
              </a:rPr>
              <a:t>›</a:t>
            </a:r>
            <a:endParaRPr lang="en-US" sz="1200"/>
          </a:p>
        </p:txBody>
      </p:sp>
      <p:sp>
        <p:nvSpPr>
          <p:cNvPr id="60" name="Shape 58"/>
          <p:cNvSpPr/>
          <p:nvPr/>
        </p:nvSpPr>
        <p:spPr>
          <a:xfrm>
            <a:off x="3310128" y="3236976"/>
            <a:ext cx="640080" cy="274320"/>
          </a:xfrm>
          <a:prstGeom prst="rect">
            <a:avLst/>
          </a:prstGeom>
          <a:solidFill>
            <a:srgbClr val="2E86C1"/>
          </a:solidFill>
          <a:ln/>
        </p:spPr>
        <p:txBody>
          <a:bodyPr/>
          <a:lstStyle/>
          <a:p>
            <a:endParaRPr lang="fr-FR"/>
          </a:p>
        </p:txBody>
      </p:sp>
      <p:sp>
        <p:nvSpPr>
          <p:cNvPr id="61" name="Text 59"/>
          <p:cNvSpPr/>
          <p:nvPr/>
        </p:nvSpPr>
        <p:spPr>
          <a:xfrm>
            <a:off x="3310128" y="3236976"/>
            <a:ext cx="640080" cy="274320"/>
          </a:xfrm>
          <a:prstGeom prst="rect">
            <a:avLst/>
          </a:prstGeom>
          <a:noFill/>
          <a:ln/>
        </p:spPr>
        <p:txBody>
          <a:bodyPr wrap="square" lIns="0" tIns="0" rIns="0" bIns="0" rtlCol="0" anchor="ctr"/>
          <a:lstStyle/>
          <a:p>
            <a:pPr marL="0" indent="0" algn="ctr">
              <a:buNone/>
            </a:pPr>
            <a:r>
              <a:rPr lang="en-US" sz="900" b="1">
                <a:solidFill>
                  <a:srgbClr val="2E86C1"/>
                </a:solidFill>
                <a:latin typeface="Calibri" pitchFamily="34" charset="0"/>
                <a:ea typeface="Calibri" pitchFamily="34" charset="-122"/>
                <a:cs typeface="Calibri" pitchFamily="34" charset="-120"/>
              </a:rPr>
              <a:t>M8</a:t>
            </a:r>
            <a:endParaRPr lang="en-US" sz="900"/>
          </a:p>
        </p:txBody>
      </p:sp>
      <p:sp>
        <p:nvSpPr>
          <p:cNvPr id="62" name="Text 60"/>
          <p:cNvSpPr/>
          <p:nvPr/>
        </p:nvSpPr>
        <p:spPr>
          <a:xfrm>
            <a:off x="3950208" y="3236976"/>
            <a:ext cx="146304" cy="274320"/>
          </a:xfrm>
          <a:prstGeom prst="rect">
            <a:avLst/>
          </a:prstGeom>
          <a:noFill/>
          <a:ln/>
        </p:spPr>
        <p:txBody>
          <a:bodyPr wrap="square" lIns="0" tIns="0" rIns="0" bIns="0" rtlCol="0" anchor="ctr"/>
          <a:lstStyle/>
          <a:p>
            <a:pPr marL="0" indent="0" algn="ctr">
              <a:buNone/>
            </a:pPr>
            <a:r>
              <a:rPr lang="en-US" sz="1200">
                <a:solidFill>
                  <a:srgbClr val="2E86C1"/>
                </a:solidFill>
                <a:latin typeface="Calibri" pitchFamily="34" charset="0"/>
                <a:ea typeface="Calibri" pitchFamily="34" charset="-122"/>
                <a:cs typeface="Calibri" pitchFamily="34" charset="-120"/>
              </a:rPr>
              <a:t>›</a:t>
            </a:r>
            <a:endParaRPr lang="en-US" sz="1200"/>
          </a:p>
        </p:txBody>
      </p:sp>
      <p:sp>
        <p:nvSpPr>
          <p:cNvPr id="63" name="Shape 61"/>
          <p:cNvSpPr/>
          <p:nvPr/>
        </p:nvSpPr>
        <p:spPr>
          <a:xfrm>
            <a:off x="4078224" y="3236976"/>
            <a:ext cx="640080" cy="274320"/>
          </a:xfrm>
          <a:prstGeom prst="rect">
            <a:avLst/>
          </a:prstGeom>
          <a:solidFill>
            <a:srgbClr val="2E86C1"/>
          </a:solidFill>
          <a:ln/>
        </p:spPr>
        <p:txBody>
          <a:bodyPr/>
          <a:lstStyle/>
          <a:p>
            <a:endParaRPr lang="fr-FR"/>
          </a:p>
        </p:txBody>
      </p:sp>
      <p:sp>
        <p:nvSpPr>
          <p:cNvPr id="64" name="Text 62"/>
          <p:cNvSpPr/>
          <p:nvPr/>
        </p:nvSpPr>
        <p:spPr>
          <a:xfrm>
            <a:off x="4078224" y="3236976"/>
            <a:ext cx="640080" cy="274320"/>
          </a:xfrm>
          <a:prstGeom prst="rect">
            <a:avLst/>
          </a:prstGeom>
          <a:noFill/>
          <a:ln/>
        </p:spPr>
        <p:txBody>
          <a:bodyPr wrap="square" lIns="0" tIns="0" rIns="0" bIns="0" rtlCol="0" anchor="ctr"/>
          <a:lstStyle/>
          <a:p>
            <a:pPr marL="0" indent="0" algn="ctr">
              <a:buNone/>
            </a:pPr>
            <a:r>
              <a:rPr lang="en-US" sz="900" b="1">
                <a:solidFill>
                  <a:srgbClr val="2E86C1"/>
                </a:solidFill>
                <a:latin typeface="Calibri" pitchFamily="34" charset="0"/>
                <a:ea typeface="Calibri" pitchFamily="34" charset="-122"/>
                <a:cs typeface="Calibri" pitchFamily="34" charset="-120"/>
              </a:rPr>
              <a:t>M9</a:t>
            </a:r>
            <a:endParaRPr lang="en-US" sz="900"/>
          </a:p>
        </p:txBody>
      </p:sp>
      <p:sp>
        <p:nvSpPr>
          <p:cNvPr id="65" name="Text 63"/>
          <p:cNvSpPr/>
          <p:nvPr/>
        </p:nvSpPr>
        <p:spPr>
          <a:xfrm>
            <a:off x="4718304" y="3236976"/>
            <a:ext cx="146304" cy="274320"/>
          </a:xfrm>
          <a:prstGeom prst="rect">
            <a:avLst/>
          </a:prstGeom>
          <a:noFill/>
          <a:ln/>
        </p:spPr>
        <p:txBody>
          <a:bodyPr wrap="square" lIns="0" tIns="0" rIns="0" bIns="0" rtlCol="0" anchor="ctr"/>
          <a:lstStyle/>
          <a:p>
            <a:pPr marL="0" indent="0" algn="ctr">
              <a:buNone/>
            </a:pPr>
            <a:r>
              <a:rPr lang="en-US" sz="1200">
                <a:solidFill>
                  <a:srgbClr val="2E86C1"/>
                </a:solidFill>
                <a:latin typeface="Calibri" pitchFamily="34" charset="0"/>
                <a:ea typeface="Calibri" pitchFamily="34" charset="-122"/>
                <a:cs typeface="Calibri" pitchFamily="34" charset="-120"/>
              </a:rPr>
              <a:t>›</a:t>
            </a:r>
            <a:endParaRPr lang="en-US" sz="1200"/>
          </a:p>
        </p:txBody>
      </p:sp>
      <p:sp>
        <p:nvSpPr>
          <p:cNvPr id="66" name="Shape 64"/>
          <p:cNvSpPr/>
          <p:nvPr/>
        </p:nvSpPr>
        <p:spPr>
          <a:xfrm>
            <a:off x="4846320" y="3236976"/>
            <a:ext cx="640080" cy="274320"/>
          </a:xfrm>
          <a:prstGeom prst="rect">
            <a:avLst/>
          </a:prstGeom>
          <a:solidFill>
            <a:srgbClr val="2E86C1"/>
          </a:solidFill>
          <a:ln/>
        </p:spPr>
        <p:txBody>
          <a:bodyPr/>
          <a:lstStyle/>
          <a:p>
            <a:endParaRPr lang="fr-FR"/>
          </a:p>
        </p:txBody>
      </p:sp>
      <p:sp>
        <p:nvSpPr>
          <p:cNvPr id="67" name="Text 65"/>
          <p:cNvSpPr/>
          <p:nvPr/>
        </p:nvSpPr>
        <p:spPr>
          <a:xfrm>
            <a:off x="4846320" y="3236976"/>
            <a:ext cx="640080" cy="274320"/>
          </a:xfrm>
          <a:prstGeom prst="rect">
            <a:avLst/>
          </a:prstGeom>
          <a:noFill/>
          <a:ln/>
        </p:spPr>
        <p:txBody>
          <a:bodyPr wrap="square" lIns="0" tIns="0" rIns="0" bIns="0" rtlCol="0" anchor="ctr"/>
          <a:lstStyle/>
          <a:p>
            <a:pPr marL="0" indent="0" algn="ctr">
              <a:buNone/>
            </a:pPr>
            <a:r>
              <a:rPr lang="en-US" sz="900" b="1">
                <a:solidFill>
                  <a:srgbClr val="2E86C1"/>
                </a:solidFill>
                <a:latin typeface="Calibri" pitchFamily="34" charset="0"/>
                <a:ea typeface="Calibri" pitchFamily="34" charset="-122"/>
                <a:cs typeface="Calibri" pitchFamily="34" charset="-120"/>
              </a:rPr>
              <a:t>M11</a:t>
            </a:r>
            <a:endParaRPr lang="en-US" sz="900"/>
          </a:p>
        </p:txBody>
      </p:sp>
      <p:sp>
        <p:nvSpPr>
          <p:cNvPr id="68" name="Text 66"/>
          <p:cNvSpPr/>
          <p:nvPr/>
        </p:nvSpPr>
        <p:spPr>
          <a:xfrm>
            <a:off x="420624" y="3584448"/>
            <a:ext cx="8357616" cy="201168"/>
          </a:xfrm>
          <a:prstGeom prst="rect">
            <a:avLst/>
          </a:prstGeom>
          <a:noFill/>
          <a:ln/>
        </p:spPr>
        <p:txBody>
          <a:bodyPr wrap="square" lIns="0" tIns="0" rIns="0" bIns="0" rtlCol="0" anchor="ctr"/>
          <a:lstStyle/>
          <a:p>
            <a:pPr marL="0" indent="0">
              <a:buNone/>
            </a:pPr>
            <a:r>
              <a:rPr lang="en-US" sz="950" i="1">
                <a:solidFill>
                  <a:srgbClr val="7090A8"/>
                </a:solidFill>
                <a:latin typeface="Calibri" pitchFamily="34" charset="0"/>
                <a:ea typeface="Calibri" pitchFamily="34" charset="-122"/>
                <a:cs typeface="Calibri" pitchFamily="34" charset="-120"/>
              </a:rPr>
              <a:t>💡  Focus sur le déploiement, la gestion et la visualisation</a:t>
            </a:r>
            <a:endParaRPr lang="en-US" sz="950"/>
          </a:p>
        </p:txBody>
      </p:sp>
      <p:sp>
        <p:nvSpPr>
          <p:cNvPr id="69" name="Shape 67"/>
          <p:cNvSpPr/>
          <p:nvPr/>
        </p:nvSpPr>
        <p:spPr>
          <a:xfrm>
            <a:off x="274320" y="3931920"/>
            <a:ext cx="8595360" cy="80467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0" name="Shape 68"/>
          <p:cNvSpPr/>
          <p:nvPr/>
        </p:nvSpPr>
        <p:spPr>
          <a:xfrm>
            <a:off x="274320" y="3931920"/>
            <a:ext cx="73152" cy="804672"/>
          </a:xfrm>
          <a:prstGeom prst="rect">
            <a:avLst/>
          </a:prstGeom>
          <a:solidFill>
            <a:srgbClr val="1B2A6B"/>
          </a:solidFill>
          <a:ln/>
        </p:spPr>
        <p:txBody>
          <a:bodyPr/>
          <a:lstStyle/>
          <a:p>
            <a:endParaRPr lang="fr-FR"/>
          </a:p>
        </p:txBody>
      </p:sp>
      <p:sp>
        <p:nvSpPr>
          <p:cNvPr id="71" name="Text 69"/>
          <p:cNvSpPr/>
          <p:nvPr/>
        </p:nvSpPr>
        <p:spPr>
          <a:xfrm>
            <a:off x="420624" y="4005072"/>
            <a:ext cx="2011680" cy="274320"/>
          </a:xfrm>
          <a:prstGeom prst="rect">
            <a:avLst/>
          </a:prstGeom>
          <a:noFill/>
          <a:ln/>
        </p:spPr>
        <p:txBody>
          <a:bodyPr wrap="square" lIns="0" tIns="0" rIns="0" bIns="0" rtlCol="0" anchor="ctr"/>
          <a:lstStyle/>
          <a:p>
            <a:pPr marL="0" indent="0">
              <a:buNone/>
            </a:pPr>
            <a:r>
              <a:rPr lang="en-US" sz="1300" b="1">
                <a:solidFill>
                  <a:srgbClr val="1B2A6B"/>
                </a:solidFill>
                <a:latin typeface="Calibri" pitchFamily="34" charset="0"/>
                <a:ea typeface="Calibri" pitchFamily="34" charset="-122"/>
                <a:cs typeface="Calibri" pitchFamily="34" charset="-120"/>
              </a:rPr>
              <a:t>Analyste de données</a:t>
            </a:r>
            <a:endParaRPr lang="en-US" sz="1300"/>
          </a:p>
        </p:txBody>
      </p:sp>
      <p:sp>
        <p:nvSpPr>
          <p:cNvPr id="72" name="Shape 70"/>
          <p:cNvSpPr/>
          <p:nvPr/>
        </p:nvSpPr>
        <p:spPr>
          <a:xfrm>
            <a:off x="2542032" y="4133088"/>
            <a:ext cx="640080" cy="274320"/>
          </a:xfrm>
          <a:prstGeom prst="rect">
            <a:avLst/>
          </a:prstGeom>
          <a:solidFill>
            <a:srgbClr val="1B2A6B"/>
          </a:solidFill>
          <a:ln/>
        </p:spPr>
        <p:txBody>
          <a:bodyPr/>
          <a:lstStyle/>
          <a:p>
            <a:endParaRPr lang="fr-FR"/>
          </a:p>
        </p:txBody>
      </p:sp>
      <p:sp>
        <p:nvSpPr>
          <p:cNvPr id="73" name="Text 71"/>
          <p:cNvSpPr/>
          <p:nvPr/>
        </p:nvSpPr>
        <p:spPr>
          <a:xfrm>
            <a:off x="2542032" y="4133088"/>
            <a:ext cx="640080" cy="274320"/>
          </a:xfrm>
          <a:prstGeom prst="rect">
            <a:avLst/>
          </a:prstGeom>
          <a:noFill/>
          <a:ln/>
        </p:spPr>
        <p:txBody>
          <a:bodyPr wrap="square" lIns="0" tIns="0" rIns="0" bIns="0" rtlCol="0" anchor="ctr"/>
          <a:lstStyle/>
          <a:p>
            <a:pPr marL="0" indent="0" algn="ctr">
              <a:buNone/>
            </a:pPr>
            <a:r>
              <a:rPr lang="en-US" sz="900" b="1">
                <a:solidFill>
                  <a:srgbClr val="1B2A6B"/>
                </a:solidFill>
                <a:latin typeface="Calibri" pitchFamily="34" charset="0"/>
                <a:ea typeface="Calibri" pitchFamily="34" charset="-122"/>
                <a:cs typeface="Calibri" pitchFamily="34" charset="-120"/>
              </a:rPr>
              <a:t>M8</a:t>
            </a:r>
            <a:endParaRPr lang="en-US" sz="900"/>
          </a:p>
        </p:txBody>
      </p:sp>
      <p:sp>
        <p:nvSpPr>
          <p:cNvPr id="74" name="Text 72"/>
          <p:cNvSpPr/>
          <p:nvPr/>
        </p:nvSpPr>
        <p:spPr>
          <a:xfrm>
            <a:off x="3182112" y="4133088"/>
            <a:ext cx="146304" cy="274320"/>
          </a:xfrm>
          <a:prstGeom prst="rect">
            <a:avLst/>
          </a:prstGeom>
          <a:noFill/>
          <a:ln/>
        </p:spPr>
        <p:txBody>
          <a:bodyPr wrap="square" lIns="0" tIns="0" rIns="0" bIns="0" rtlCol="0" anchor="ctr"/>
          <a:lstStyle/>
          <a:p>
            <a:pPr marL="0" indent="0" algn="ctr">
              <a:buNone/>
            </a:pPr>
            <a:r>
              <a:rPr lang="en-US" sz="1200">
                <a:solidFill>
                  <a:srgbClr val="1B2A6B"/>
                </a:solidFill>
                <a:latin typeface="Calibri" pitchFamily="34" charset="0"/>
                <a:ea typeface="Calibri" pitchFamily="34" charset="-122"/>
                <a:cs typeface="Calibri" pitchFamily="34" charset="-120"/>
              </a:rPr>
              <a:t>›</a:t>
            </a:r>
            <a:endParaRPr lang="en-US" sz="1200"/>
          </a:p>
        </p:txBody>
      </p:sp>
      <p:sp>
        <p:nvSpPr>
          <p:cNvPr id="75" name="Shape 73"/>
          <p:cNvSpPr/>
          <p:nvPr/>
        </p:nvSpPr>
        <p:spPr>
          <a:xfrm>
            <a:off x="3310128" y="4133088"/>
            <a:ext cx="640080" cy="274320"/>
          </a:xfrm>
          <a:prstGeom prst="rect">
            <a:avLst/>
          </a:prstGeom>
          <a:solidFill>
            <a:srgbClr val="1B2A6B"/>
          </a:solidFill>
          <a:ln/>
        </p:spPr>
        <p:txBody>
          <a:bodyPr/>
          <a:lstStyle/>
          <a:p>
            <a:endParaRPr lang="fr-FR"/>
          </a:p>
        </p:txBody>
      </p:sp>
      <p:sp>
        <p:nvSpPr>
          <p:cNvPr id="76" name="Text 74"/>
          <p:cNvSpPr/>
          <p:nvPr/>
        </p:nvSpPr>
        <p:spPr>
          <a:xfrm>
            <a:off x="3310128" y="4133088"/>
            <a:ext cx="640080" cy="274320"/>
          </a:xfrm>
          <a:prstGeom prst="rect">
            <a:avLst/>
          </a:prstGeom>
          <a:noFill/>
          <a:ln/>
        </p:spPr>
        <p:txBody>
          <a:bodyPr wrap="square" lIns="0" tIns="0" rIns="0" bIns="0" rtlCol="0" anchor="ctr"/>
          <a:lstStyle/>
          <a:p>
            <a:pPr marL="0" indent="0" algn="ctr">
              <a:buNone/>
            </a:pPr>
            <a:r>
              <a:rPr lang="en-US" sz="900" b="1">
                <a:solidFill>
                  <a:srgbClr val="1B2A6B"/>
                </a:solidFill>
                <a:latin typeface="Calibri" pitchFamily="34" charset="0"/>
                <a:ea typeface="Calibri" pitchFamily="34" charset="-122"/>
                <a:cs typeface="Calibri" pitchFamily="34" charset="-120"/>
              </a:rPr>
              <a:t>M9</a:t>
            </a:r>
            <a:endParaRPr lang="en-US" sz="900"/>
          </a:p>
        </p:txBody>
      </p:sp>
      <p:sp>
        <p:nvSpPr>
          <p:cNvPr id="77" name="Text 75"/>
          <p:cNvSpPr/>
          <p:nvPr/>
        </p:nvSpPr>
        <p:spPr>
          <a:xfrm>
            <a:off x="3950208" y="4133088"/>
            <a:ext cx="146304" cy="274320"/>
          </a:xfrm>
          <a:prstGeom prst="rect">
            <a:avLst/>
          </a:prstGeom>
          <a:noFill/>
          <a:ln/>
        </p:spPr>
        <p:txBody>
          <a:bodyPr wrap="square" lIns="0" tIns="0" rIns="0" bIns="0" rtlCol="0" anchor="ctr"/>
          <a:lstStyle/>
          <a:p>
            <a:pPr marL="0" indent="0" algn="ctr">
              <a:buNone/>
            </a:pPr>
            <a:r>
              <a:rPr lang="en-US" sz="1200">
                <a:solidFill>
                  <a:srgbClr val="1B2A6B"/>
                </a:solidFill>
                <a:latin typeface="Calibri" pitchFamily="34" charset="0"/>
                <a:ea typeface="Calibri" pitchFamily="34" charset="-122"/>
                <a:cs typeface="Calibri" pitchFamily="34" charset="-120"/>
              </a:rPr>
              <a:t>›</a:t>
            </a:r>
            <a:endParaRPr lang="en-US" sz="1200"/>
          </a:p>
        </p:txBody>
      </p:sp>
      <p:sp>
        <p:nvSpPr>
          <p:cNvPr id="78" name="Shape 76"/>
          <p:cNvSpPr/>
          <p:nvPr/>
        </p:nvSpPr>
        <p:spPr>
          <a:xfrm>
            <a:off x="4078224" y="4133088"/>
            <a:ext cx="640080" cy="274320"/>
          </a:xfrm>
          <a:prstGeom prst="rect">
            <a:avLst/>
          </a:prstGeom>
          <a:solidFill>
            <a:srgbClr val="1B2A6B"/>
          </a:solidFill>
          <a:ln/>
        </p:spPr>
        <p:txBody>
          <a:bodyPr/>
          <a:lstStyle/>
          <a:p>
            <a:endParaRPr lang="fr-FR"/>
          </a:p>
        </p:txBody>
      </p:sp>
      <p:sp>
        <p:nvSpPr>
          <p:cNvPr id="79" name="Text 77"/>
          <p:cNvSpPr/>
          <p:nvPr/>
        </p:nvSpPr>
        <p:spPr>
          <a:xfrm>
            <a:off x="4078224" y="4133088"/>
            <a:ext cx="640080" cy="274320"/>
          </a:xfrm>
          <a:prstGeom prst="rect">
            <a:avLst/>
          </a:prstGeom>
          <a:noFill/>
          <a:ln/>
        </p:spPr>
        <p:txBody>
          <a:bodyPr wrap="square" lIns="0" tIns="0" rIns="0" bIns="0" rtlCol="0" anchor="ctr"/>
          <a:lstStyle/>
          <a:p>
            <a:pPr marL="0" indent="0" algn="ctr">
              <a:buNone/>
            </a:pPr>
            <a:r>
              <a:rPr lang="en-US" sz="900" b="1">
                <a:solidFill>
                  <a:srgbClr val="1B2A6B"/>
                </a:solidFill>
                <a:latin typeface="Calibri" pitchFamily="34" charset="0"/>
                <a:ea typeface="Calibri" pitchFamily="34" charset="-122"/>
                <a:cs typeface="Calibri" pitchFamily="34" charset="-120"/>
              </a:rPr>
              <a:t>M10</a:t>
            </a:r>
            <a:endParaRPr lang="en-US" sz="900"/>
          </a:p>
        </p:txBody>
      </p:sp>
      <p:sp>
        <p:nvSpPr>
          <p:cNvPr id="80" name="Text 78"/>
          <p:cNvSpPr/>
          <p:nvPr/>
        </p:nvSpPr>
        <p:spPr>
          <a:xfrm>
            <a:off x="420624" y="4480560"/>
            <a:ext cx="8357616" cy="201168"/>
          </a:xfrm>
          <a:prstGeom prst="rect">
            <a:avLst/>
          </a:prstGeom>
          <a:noFill/>
          <a:ln/>
        </p:spPr>
        <p:txBody>
          <a:bodyPr wrap="square" lIns="0" tIns="0" rIns="0" bIns="0" rtlCol="0" anchor="ctr"/>
          <a:lstStyle/>
          <a:p>
            <a:pPr marL="0" indent="0">
              <a:buNone/>
            </a:pPr>
            <a:r>
              <a:rPr lang="en-US" sz="950" i="1">
                <a:solidFill>
                  <a:srgbClr val="7090A8"/>
                </a:solidFill>
                <a:latin typeface="Calibri" pitchFamily="34" charset="0"/>
                <a:ea typeface="Calibri" pitchFamily="34" charset="-122"/>
                <a:cs typeface="Calibri" pitchFamily="34" charset="-120"/>
              </a:rPr>
              <a:t>💡  Aller directement à l'analyse, l'export et les intégrations</a:t>
            </a:r>
            <a:endParaRPr lang="en-US" sz="950"/>
          </a:p>
        </p:txBody>
      </p:sp>
      <p:sp>
        <p:nvSpPr>
          <p:cNvPr id="81" name="Shape 79"/>
          <p:cNvSpPr/>
          <p:nvPr/>
        </p:nvSpPr>
        <p:spPr>
          <a:xfrm>
            <a:off x="274320" y="4828032"/>
            <a:ext cx="8595360" cy="329184"/>
          </a:xfrm>
          <a:prstGeom prst="rect">
            <a:avLst/>
          </a:prstGeom>
          <a:solidFill>
            <a:srgbClr val="C9A84C"/>
          </a:solidFill>
          <a:ln/>
        </p:spPr>
        <p:txBody>
          <a:bodyPr/>
          <a:lstStyle/>
          <a:p>
            <a:endParaRPr lang="fr-FR"/>
          </a:p>
        </p:txBody>
      </p:sp>
      <p:sp>
        <p:nvSpPr>
          <p:cNvPr id="82" name="Text 80"/>
          <p:cNvSpPr/>
          <p:nvPr/>
        </p:nvSpPr>
        <p:spPr>
          <a:xfrm>
            <a:off x="365760" y="4846320"/>
            <a:ext cx="8412480" cy="274320"/>
          </a:xfrm>
          <a:prstGeom prst="rect">
            <a:avLst/>
          </a:prstGeom>
          <a:noFill/>
          <a:ln/>
        </p:spPr>
        <p:txBody>
          <a:bodyPr wrap="square" lIns="0" tIns="0" rIns="0" bIns="0" rtlCol="0" anchor="ctr"/>
          <a:lstStyle/>
          <a:p>
            <a:pPr marL="0" indent="0" algn="ctr">
              <a:buNone/>
            </a:pPr>
            <a:r>
              <a:rPr lang="en-US" sz="1150" b="1">
                <a:solidFill>
                  <a:srgbClr val="0A1628"/>
                </a:solidFill>
                <a:latin typeface="Calibri" pitchFamily="34" charset="0"/>
                <a:ea typeface="Calibri" pitchFamily="34" charset="-122"/>
                <a:cs typeface="Calibri" pitchFamily="34" charset="-120"/>
              </a:rPr>
              <a:t>Peu importe votre niveau de départ — vous ressortirez expert de l'autre côté. Commençons ! 🚀</a:t>
            </a:r>
            <a:endParaRPr lang="en-US" sz="1150"/>
          </a:p>
        </p:txBody>
      </p:sp>
      <p:sp>
        <p:nvSpPr>
          <p:cNvPr id="83" name="Shape 81"/>
          <p:cNvSpPr/>
          <p:nvPr/>
        </p:nvSpPr>
        <p:spPr>
          <a:xfrm>
            <a:off x="0" y="4892040"/>
            <a:ext cx="9144000" cy="251460"/>
          </a:xfrm>
          <a:prstGeom prst="rect">
            <a:avLst/>
          </a:prstGeom>
          <a:solidFill>
            <a:srgbClr val="0D1B35"/>
          </a:solidFill>
          <a:ln/>
        </p:spPr>
        <p:txBody>
          <a:bodyPr/>
          <a:lstStyle/>
          <a:p>
            <a:endParaRPr lang="fr-FR"/>
          </a:p>
        </p:txBody>
      </p:sp>
      <p:sp>
        <p:nvSpPr>
          <p:cNvPr id="84" name="Text 82"/>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85" name="Text 83"/>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12 / 16</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D1B35"/>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Pourquoi une série en français ?</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La majorité des formations KoboToolbox sont en anglais — il était temps de changer ça</a:t>
            </a:r>
            <a:endParaRPr lang="en-US" sz="1200"/>
          </a:p>
        </p:txBody>
      </p:sp>
      <p:sp>
        <p:nvSpPr>
          <p:cNvPr id="6" name="Shape 4"/>
          <p:cNvSpPr/>
          <p:nvPr/>
        </p:nvSpPr>
        <p:spPr>
          <a:xfrm>
            <a:off x="365760" y="1188720"/>
            <a:ext cx="8412480" cy="1207008"/>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365760" y="1188720"/>
            <a:ext cx="73152" cy="1207008"/>
          </a:xfrm>
          <a:prstGeom prst="rect">
            <a:avLst/>
          </a:prstGeom>
          <a:solidFill>
            <a:srgbClr val="C9A84C"/>
          </a:solidFill>
          <a:ln/>
        </p:spPr>
        <p:txBody>
          <a:bodyPr/>
          <a:lstStyle/>
          <a:p>
            <a:endParaRPr lang="fr-FR"/>
          </a:p>
        </p:txBody>
      </p:sp>
      <p:pic>
        <p:nvPicPr>
          <p:cNvPr id="8" name="Image 0" descr="preencoded.png"/>
          <p:cNvPicPr>
            <a:picLocks noChangeAspect="1"/>
          </p:cNvPicPr>
          <p:nvPr/>
        </p:nvPicPr>
        <p:blipFill>
          <a:blip r:embed="rId3"/>
          <a:stretch>
            <a:fillRect/>
          </a:stretch>
        </p:blipFill>
        <p:spPr>
          <a:xfrm>
            <a:off x="512064" y="1298448"/>
            <a:ext cx="365760" cy="365760"/>
          </a:xfrm>
          <a:prstGeom prst="rect">
            <a:avLst/>
          </a:prstGeom>
        </p:spPr>
      </p:pic>
      <p:sp>
        <p:nvSpPr>
          <p:cNvPr id="9" name="Text 6"/>
          <p:cNvSpPr/>
          <p:nvPr/>
        </p:nvSpPr>
        <p:spPr>
          <a:xfrm>
            <a:off x="969264" y="1261872"/>
            <a:ext cx="7571232" cy="804672"/>
          </a:xfrm>
          <a:prstGeom prst="rect">
            <a:avLst/>
          </a:prstGeom>
          <a:noFill/>
          <a:ln/>
        </p:spPr>
        <p:txBody>
          <a:bodyPr wrap="square" lIns="0" tIns="0" rIns="0" bIns="0" rtlCol="0" anchor="ctr"/>
          <a:lstStyle/>
          <a:p>
            <a:pPr marL="0" indent="0">
              <a:lnSpc>
                <a:spcPct val="140000"/>
              </a:lnSpc>
              <a:buNone/>
            </a:pPr>
            <a:r>
              <a:rPr lang="en-US" sz="1200" i="1">
                <a:solidFill>
                  <a:srgbClr val="FFFFFF"/>
                </a:solidFill>
                <a:latin typeface="Calibri" pitchFamily="34" charset="0"/>
                <a:ea typeface="Calibri" pitchFamily="34" charset="-122"/>
                <a:cs typeface="Calibri" pitchFamily="34" charset="-120"/>
              </a:rPr>
              <a:t>KoboToolbox est utilisé dans plus de 100 pays, dont la majorité sont francophones en Afrique subsaharienne. Pourtant, presque toute la documentation officielle est en anglais. Cette série comble un vide réel pour des milliers de professionnels.</a:t>
            </a:r>
            <a:endParaRPr lang="en-US" sz="1200"/>
          </a:p>
        </p:txBody>
      </p:sp>
      <p:sp>
        <p:nvSpPr>
          <p:cNvPr id="10" name="Text 7"/>
          <p:cNvSpPr/>
          <p:nvPr/>
        </p:nvSpPr>
        <p:spPr>
          <a:xfrm>
            <a:off x="6766560" y="2340864"/>
            <a:ext cx="1938528" cy="219456"/>
          </a:xfrm>
          <a:prstGeom prst="rect">
            <a:avLst/>
          </a:prstGeom>
          <a:noFill/>
          <a:ln/>
        </p:spPr>
        <p:txBody>
          <a:bodyPr wrap="square" lIns="0" tIns="0" rIns="0" bIns="0" rtlCol="0" anchor="ctr"/>
          <a:lstStyle/>
          <a:p>
            <a:pPr marL="0" indent="0" algn="r">
              <a:buNone/>
            </a:pPr>
            <a:r>
              <a:rPr lang="en-US" sz="950">
                <a:solidFill>
                  <a:srgbClr val="C9A84C"/>
                </a:solidFill>
                <a:latin typeface="Calibri" pitchFamily="34" charset="0"/>
                <a:ea typeface="Calibri" pitchFamily="34" charset="-122"/>
                <a:cs typeface="Calibri" pitchFamily="34" charset="-120"/>
              </a:rPr>
              <a:t>— Alphonse Euphreme Ahlou</a:t>
            </a:r>
            <a:endParaRPr lang="en-US" sz="950"/>
          </a:p>
        </p:txBody>
      </p:sp>
      <p:sp>
        <p:nvSpPr>
          <p:cNvPr id="11" name="Shape 8"/>
          <p:cNvSpPr/>
          <p:nvPr/>
        </p:nvSpPr>
        <p:spPr>
          <a:xfrm>
            <a:off x="457200" y="2615184"/>
            <a:ext cx="1993392" cy="1316736"/>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12" name="Shape 9"/>
          <p:cNvSpPr/>
          <p:nvPr/>
        </p:nvSpPr>
        <p:spPr>
          <a:xfrm>
            <a:off x="457200" y="2615184"/>
            <a:ext cx="1993392" cy="73152"/>
          </a:xfrm>
          <a:prstGeom prst="rect">
            <a:avLst/>
          </a:prstGeom>
          <a:solidFill>
            <a:srgbClr val="C9A84C"/>
          </a:solidFill>
          <a:ln/>
        </p:spPr>
        <p:txBody>
          <a:bodyPr/>
          <a:lstStyle/>
          <a:p>
            <a:endParaRPr lang="fr-FR"/>
          </a:p>
        </p:txBody>
      </p:sp>
      <p:sp>
        <p:nvSpPr>
          <p:cNvPr id="13" name="Text 10"/>
          <p:cNvSpPr/>
          <p:nvPr/>
        </p:nvSpPr>
        <p:spPr>
          <a:xfrm>
            <a:off x="457200" y="2743200"/>
            <a:ext cx="1993392" cy="493776"/>
          </a:xfrm>
          <a:prstGeom prst="rect">
            <a:avLst/>
          </a:prstGeom>
          <a:noFill/>
          <a:ln/>
        </p:spPr>
        <p:txBody>
          <a:bodyPr wrap="square" lIns="0" tIns="0" rIns="0" bIns="0" rtlCol="0" anchor="ctr"/>
          <a:lstStyle/>
          <a:p>
            <a:pPr marL="0" indent="0" algn="ctr">
              <a:buNone/>
            </a:pPr>
            <a:r>
              <a:rPr lang="en-US" sz="2400" b="1">
                <a:solidFill>
                  <a:srgbClr val="C9A84C"/>
                </a:solidFill>
                <a:latin typeface="Calibri" pitchFamily="34" charset="0"/>
                <a:ea typeface="Calibri" pitchFamily="34" charset="-122"/>
                <a:cs typeface="Calibri" pitchFamily="34" charset="-120"/>
              </a:rPr>
              <a:t>300 M+</a:t>
            </a:r>
            <a:endParaRPr lang="en-US" sz="2400"/>
          </a:p>
        </p:txBody>
      </p:sp>
      <p:sp>
        <p:nvSpPr>
          <p:cNvPr id="14" name="Text 11"/>
          <p:cNvSpPr/>
          <p:nvPr/>
        </p:nvSpPr>
        <p:spPr>
          <a:xfrm>
            <a:off x="457200" y="3218688"/>
            <a:ext cx="1993392" cy="402336"/>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locuteurs</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francophones</a:t>
            </a:r>
            <a:endParaRPr lang="en-US" sz="1000"/>
          </a:p>
        </p:txBody>
      </p:sp>
      <p:sp>
        <p:nvSpPr>
          <p:cNvPr id="15" name="Shape 12"/>
          <p:cNvSpPr/>
          <p:nvPr/>
        </p:nvSpPr>
        <p:spPr>
          <a:xfrm>
            <a:off x="2615184" y="2615184"/>
            <a:ext cx="1993392" cy="1316736"/>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16" name="Shape 13"/>
          <p:cNvSpPr/>
          <p:nvPr/>
        </p:nvSpPr>
        <p:spPr>
          <a:xfrm>
            <a:off x="2615184" y="2615184"/>
            <a:ext cx="1993392" cy="73152"/>
          </a:xfrm>
          <a:prstGeom prst="rect">
            <a:avLst/>
          </a:prstGeom>
          <a:solidFill>
            <a:srgbClr val="1AA8C2"/>
          </a:solidFill>
          <a:ln/>
        </p:spPr>
        <p:txBody>
          <a:bodyPr/>
          <a:lstStyle/>
          <a:p>
            <a:endParaRPr lang="fr-FR"/>
          </a:p>
        </p:txBody>
      </p:sp>
      <p:sp>
        <p:nvSpPr>
          <p:cNvPr id="17" name="Text 14"/>
          <p:cNvSpPr/>
          <p:nvPr/>
        </p:nvSpPr>
        <p:spPr>
          <a:xfrm>
            <a:off x="2615184" y="2743200"/>
            <a:ext cx="1993392" cy="493776"/>
          </a:xfrm>
          <a:prstGeom prst="rect">
            <a:avLst/>
          </a:prstGeom>
          <a:noFill/>
          <a:ln/>
        </p:spPr>
        <p:txBody>
          <a:bodyPr wrap="square" lIns="0" tIns="0" rIns="0" bIns="0" rtlCol="0" anchor="ctr"/>
          <a:lstStyle/>
          <a:p>
            <a:pPr marL="0" indent="0" algn="ctr">
              <a:buNone/>
            </a:pPr>
            <a:r>
              <a:rPr lang="en-US" sz="2400" b="1">
                <a:solidFill>
                  <a:srgbClr val="1AA8C2"/>
                </a:solidFill>
                <a:latin typeface="Calibri" pitchFamily="34" charset="0"/>
                <a:ea typeface="Calibri" pitchFamily="34" charset="-122"/>
                <a:cs typeface="Calibri" pitchFamily="34" charset="-120"/>
              </a:rPr>
              <a:t>30+</a:t>
            </a:r>
            <a:endParaRPr lang="en-US" sz="2400"/>
          </a:p>
        </p:txBody>
      </p:sp>
      <p:sp>
        <p:nvSpPr>
          <p:cNvPr id="18" name="Text 15"/>
          <p:cNvSpPr/>
          <p:nvPr/>
        </p:nvSpPr>
        <p:spPr>
          <a:xfrm>
            <a:off x="2615184" y="3218688"/>
            <a:ext cx="1993392" cy="402336"/>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pays africains</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francophones</a:t>
            </a:r>
            <a:endParaRPr lang="en-US" sz="1000"/>
          </a:p>
        </p:txBody>
      </p:sp>
      <p:sp>
        <p:nvSpPr>
          <p:cNvPr id="19" name="Shape 16"/>
          <p:cNvSpPr/>
          <p:nvPr/>
        </p:nvSpPr>
        <p:spPr>
          <a:xfrm>
            <a:off x="4773168" y="2615184"/>
            <a:ext cx="1993392" cy="1316736"/>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20" name="Shape 17"/>
          <p:cNvSpPr/>
          <p:nvPr/>
        </p:nvSpPr>
        <p:spPr>
          <a:xfrm>
            <a:off x="4773168" y="2615184"/>
            <a:ext cx="1993392" cy="73152"/>
          </a:xfrm>
          <a:prstGeom prst="rect">
            <a:avLst/>
          </a:prstGeom>
          <a:solidFill>
            <a:srgbClr val="E74C3C"/>
          </a:solidFill>
          <a:ln/>
        </p:spPr>
        <p:txBody>
          <a:bodyPr/>
          <a:lstStyle/>
          <a:p>
            <a:endParaRPr lang="fr-FR"/>
          </a:p>
        </p:txBody>
      </p:sp>
      <p:sp>
        <p:nvSpPr>
          <p:cNvPr id="21" name="Text 18"/>
          <p:cNvSpPr/>
          <p:nvPr/>
        </p:nvSpPr>
        <p:spPr>
          <a:xfrm>
            <a:off x="4773168" y="2743200"/>
            <a:ext cx="1993392" cy="493776"/>
          </a:xfrm>
          <a:prstGeom prst="rect">
            <a:avLst/>
          </a:prstGeom>
          <a:noFill/>
          <a:ln/>
        </p:spPr>
        <p:txBody>
          <a:bodyPr wrap="square" lIns="0" tIns="0" rIns="0" bIns="0" rtlCol="0" anchor="ctr"/>
          <a:lstStyle/>
          <a:p>
            <a:pPr marL="0" indent="0" algn="ctr">
              <a:buNone/>
            </a:pPr>
            <a:r>
              <a:rPr lang="en-US" sz="2400" b="1">
                <a:solidFill>
                  <a:srgbClr val="E74C3C"/>
                </a:solidFill>
                <a:latin typeface="Calibri" pitchFamily="34" charset="0"/>
                <a:ea typeface="Calibri" pitchFamily="34" charset="-122"/>
                <a:cs typeface="Calibri" pitchFamily="34" charset="-120"/>
              </a:rPr>
              <a:t>&lt; 5%</a:t>
            </a:r>
            <a:endParaRPr lang="en-US" sz="2400"/>
          </a:p>
        </p:txBody>
      </p:sp>
      <p:sp>
        <p:nvSpPr>
          <p:cNvPr id="22" name="Text 19"/>
          <p:cNvSpPr/>
          <p:nvPr/>
        </p:nvSpPr>
        <p:spPr>
          <a:xfrm>
            <a:off x="4773168" y="3218688"/>
            <a:ext cx="1993392" cy="402336"/>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des formations</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Kobo en FR</a:t>
            </a:r>
            <a:endParaRPr lang="en-US" sz="1000"/>
          </a:p>
        </p:txBody>
      </p:sp>
      <p:sp>
        <p:nvSpPr>
          <p:cNvPr id="23" name="Shape 20"/>
          <p:cNvSpPr/>
          <p:nvPr/>
        </p:nvSpPr>
        <p:spPr>
          <a:xfrm>
            <a:off x="6931152" y="2615184"/>
            <a:ext cx="1993392" cy="1316736"/>
          </a:xfrm>
          <a:prstGeom prst="rect">
            <a:avLst/>
          </a:prstGeom>
          <a:solidFill>
            <a:srgbClr val="0D1B35"/>
          </a:solidFill>
          <a:ln/>
          <a:effectLst>
            <a:outerShdw blurRad="101600" dist="38100" dir="8100000" algn="bl" rotWithShape="0">
              <a:srgbClr val="000000">
                <a:alpha val="18000"/>
              </a:srgbClr>
            </a:outerShdw>
          </a:effectLst>
        </p:spPr>
        <p:txBody>
          <a:bodyPr/>
          <a:lstStyle/>
          <a:p>
            <a:endParaRPr lang="fr-FR"/>
          </a:p>
        </p:txBody>
      </p:sp>
      <p:sp>
        <p:nvSpPr>
          <p:cNvPr id="24" name="Shape 21"/>
          <p:cNvSpPr/>
          <p:nvPr/>
        </p:nvSpPr>
        <p:spPr>
          <a:xfrm>
            <a:off x="6931152" y="2615184"/>
            <a:ext cx="1993392" cy="73152"/>
          </a:xfrm>
          <a:prstGeom prst="rect">
            <a:avLst/>
          </a:prstGeom>
          <a:solidFill>
            <a:srgbClr val="28B463"/>
          </a:solidFill>
          <a:ln/>
        </p:spPr>
        <p:txBody>
          <a:bodyPr/>
          <a:lstStyle/>
          <a:p>
            <a:endParaRPr lang="fr-FR"/>
          </a:p>
        </p:txBody>
      </p:sp>
      <p:sp>
        <p:nvSpPr>
          <p:cNvPr id="25" name="Text 22"/>
          <p:cNvSpPr/>
          <p:nvPr/>
        </p:nvSpPr>
        <p:spPr>
          <a:xfrm>
            <a:off x="6931152" y="2743200"/>
            <a:ext cx="1993392" cy="493776"/>
          </a:xfrm>
          <a:prstGeom prst="rect">
            <a:avLst/>
          </a:prstGeom>
          <a:noFill/>
          <a:ln/>
        </p:spPr>
        <p:txBody>
          <a:bodyPr wrap="square" lIns="0" tIns="0" rIns="0" bIns="0" rtlCol="0" anchor="ctr"/>
          <a:lstStyle/>
          <a:p>
            <a:pPr marL="0" indent="0" algn="ctr">
              <a:buNone/>
            </a:pPr>
            <a:r>
              <a:rPr lang="en-US" sz="2400" b="1">
                <a:solidFill>
                  <a:srgbClr val="28B463"/>
                </a:solidFill>
                <a:latin typeface="Calibri" pitchFamily="34" charset="0"/>
                <a:ea typeface="Calibri" pitchFamily="34" charset="-122"/>
                <a:cs typeface="Calibri" pitchFamily="34" charset="-120"/>
              </a:rPr>
              <a:t>1ère</a:t>
            </a:r>
            <a:endParaRPr lang="en-US" sz="2400"/>
          </a:p>
        </p:txBody>
      </p:sp>
      <p:sp>
        <p:nvSpPr>
          <p:cNvPr id="26" name="Text 23"/>
          <p:cNvSpPr/>
          <p:nvPr/>
        </p:nvSpPr>
        <p:spPr>
          <a:xfrm>
            <a:off x="6931152" y="3218688"/>
            <a:ext cx="1993392" cy="402336"/>
          </a:xfrm>
          <a:prstGeom prst="rect">
            <a:avLst/>
          </a:prstGeom>
          <a:noFill/>
          <a:ln/>
        </p:spPr>
        <p:txBody>
          <a:bodyPr wrap="square" lIns="0" tIns="0" rIns="0" bIns="0" rtlCol="0" anchor="ctr"/>
          <a:lstStyle/>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Série complète</a:t>
            </a:r>
            <a:endParaRPr lang="en-US" sz="1000"/>
          </a:p>
          <a:p>
            <a:pPr marL="0" indent="0" algn="ctr">
              <a:lnSpc>
                <a:spcPct val="130000"/>
              </a:lnSpc>
              <a:buNone/>
            </a:pPr>
            <a:r>
              <a:rPr lang="en-US" sz="1000">
                <a:solidFill>
                  <a:srgbClr val="7090A8"/>
                </a:solidFill>
                <a:latin typeface="Calibri" pitchFamily="34" charset="0"/>
                <a:ea typeface="Calibri" pitchFamily="34" charset="-122"/>
                <a:cs typeface="Calibri" pitchFamily="34" charset="-120"/>
              </a:rPr>
              <a:t>en français</a:t>
            </a:r>
            <a:endParaRPr lang="en-US" sz="1000"/>
          </a:p>
        </p:txBody>
      </p:sp>
      <p:sp>
        <p:nvSpPr>
          <p:cNvPr id="27" name="Text 24"/>
          <p:cNvSpPr/>
          <p:nvPr/>
        </p:nvSpPr>
        <p:spPr>
          <a:xfrm>
            <a:off x="365760" y="4078224"/>
            <a:ext cx="8412480" cy="347472"/>
          </a:xfrm>
          <a:prstGeom prst="rect">
            <a:avLst/>
          </a:prstGeom>
          <a:noFill/>
          <a:ln/>
        </p:spPr>
        <p:txBody>
          <a:bodyPr wrap="square" lIns="0" tIns="0" rIns="0" bIns="0" rtlCol="0" anchor="ctr"/>
          <a:lstStyle/>
          <a:p>
            <a:pPr marL="0" indent="0">
              <a:lnSpc>
                <a:spcPct val="135000"/>
              </a:lnSpc>
              <a:buNone/>
            </a:pPr>
            <a:r>
              <a:rPr lang="en-US" sz="1100" i="1">
                <a:solidFill>
                  <a:srgbClr val="7090A8"/>
                </a:solidFill>
                <a:latin typeface="Calibri" pitchFamily="34" charset="0"/>
                <a:ea typeface="Calibri" pitchFamily="34" charset="-122"/>
                <a:cs typeface="Calibri" pitchFamily="34" charset="-120"/>
              </a:rPr>
              <a:t>Cette série s'appuie sur des exemples concrets d'Afrique de l'Ouest (ONG VEZO, Bénin) tout en restant applicable partout dans le monde francophone.</a:t>
            </a:r>
            <a:endParaRPr lang="en-US" sz="1100"/>
          </a:p>
        </p:txBody>
      </p:sp>
      <p:sp>
        <p:nvSpPr>
          <p:cNvPr id="28" name="Shape 25"/>
          <p:cNvSpPr/>
          <p:nvPr/>
        </p:nvSpPr>
        <p:spPr>
          <a:xfrm>
            <a:off x="0" y="4892040"/>
            <a:ext cx="9144000" cy="251460"/>
          </a:xfrm>
          <a:prstGeom prst="rect">
            <a:avLst/>
          </a:prstGeom>
          <a:solidFill>
            <a:srgbClr val="0D1B35"/>
          </a:solidFill>
          <a:ln/>
        </p:spPr>
        <p:txBody>
          <a:bodyPr/>
          <a:lstStyle/>
          <a:p>
            <a:endParaRPr lang="fr-FR"/>
          </a:p>
        </p:txBody>
      </p:sp>
      <p:sp>
        <p:nvSpPr>
          <p:cNvPr id="29" name="Text 26"/>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30" name="Text 27"/>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13 / 16</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A1628"/>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Ressources &amp; Liens utiles</a:t>
            </a:r>
            <a:endParaRPr lang="en-US" sz="28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Tout ce dont vous aurez besoin pour suivre la série</a:t>
            </a:r>
            <a:endParaRPr lang="en-US" sz="1200"/>
          </a:p>
        </p:txBody>
      </p:sp>
      <p:sp>
        <p:nvSpPr>
          <p:cNvPr id="6" name="Shape 4"/>
          <p:cNvSpPr/>
          <p:nvPr/>
        </p:nvSpPr>
        <p:spPr>
          <a:xfrm>
            <a:off x="274320" y="1188720"/>
            <a:ext cx="4297680" cy="107899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274320" y="1188720"/>
            <a:ext cx="73152" cy="1078992"/>
          </a:xfrm>
          <a:prstGeom prst="rect">
            <a:avLst/>
          </a:prstGeom>
          <a:solidFill>
            <a:srgbClr val="1B2A6B"/>
          </a:solidFill>
          <a:ln/>
        </p:spPr>
        <p:txBody>
          <a:bodyPr/>
          <a:lstStyle/>
          <a:p>
            <a:endParaRPr lang="fr-FR"/>
          </a:p>
        </p:txBody>
      </p:sp>
      <p:pic>
        <p:nvPicPr>
          <p:cNvPr id="8" name="Image 0" descr="preencoded.png"/>
          <p:cNvPicPr>
            <a:picLocks noChangeAspect="1"/>
          </p:cNvPicPr>
          <p:nvPr/>
        </p:nvPicPr>
        <p:blipFill>
          <a:blip r:embed="rId3"/>
          <a:stretch>
            <a:fillRect/>
          </a:stretch>
        </p:blipFill>
        <p:spPr>
          <a:xfrm>
            <a:off x="420624" y="1298448"/>
            <a:ext cx="310896" cy="310896"/>
          </a:xfrm>
          <a:prstGeom prst="rect">
            <a:avLst/>
          </a:prstGeom>
        </p:spPr>
      </p:pic>
      <p:sp>
        <p:nvSpPr>
          <p:cNvPr id="9" name="Text 6"/>
          <p:cNvSpPr/>
          <p:nvPr/>
        </p:nvSpPr>
        <p:spPr>
          <a:xfrm>
            <a:off x="822960" y="1261872"/>
            <a:ext cx="3675888" cy="237744"/>
          </a:xfrm>
          <a:prstGeom prst="rect">
            <a:avLst/>
          </a:prstGeom>
          <a:noFill/>
          <a:ln/>
        </p:spPr>
        <p:txBody>
          <a:bodyPr wrap="square" lIns="0" tIns="0" rIns="0" bIns="0" rtlCol="0" anchor="ctr"/>
          <a:lstStyle/>
          <a:p>
            <a:pPr marL="0" indent="0">
              <a:buNone/>
            </a:pPr>
            <a:r>
              <a:rPr lang="en-US" sz="1200" b="1">
                <a:solidFill>
                  <a:srgbClr val="1A2E3D"/>
                </a:solidFill>
                <a:latin typeface="Calibri" pitchFamily="34" charset="0"/>
                <a:ea typeface="Calibri" pitchFamily="34" charset="-122"/>
                <a:cs typeface="Calibri" pitchFamily="34" charset="-120"/>
              </a:rPr>
              <a:t>Créer votre compte Kobo</a:t>
            </a:r>
            <a:endParaRPr lang="en-US" sz="1200"/>
          </a:p>
        </p:txBody>
      </p:sp>
      <p:sp>
        <p:nvSpPr>
          <p:cNvPr id="10" name="Shape 7"/>
          <p:cNvSpPr/>
          <p:nvPr/>
        </p:nvSpPr>
        <p:spPr>
          <a:xfrm>
            <a:off x="822960" y="1554480"/>
            <a:ext cx="3675888" cy="219456"/>
          </a:xfrm>
          <a:prstGeom prst="rect">
            <a:avLst/>
          </a:prstGeom>
          <a:solidFill>
            <a:srgbClr val="1B2A6B"/>
          </a:solidFill>
          <a:ln/>
        </p:spPr>
        <p:txBody>
          <a:bodyPr/>
          <a:lstStyle/>
          <a:p>
            <a:endParaRPr lang="fr-FR"/>
          </a:p>
        </p:txBody>
      </p:sp>
      <p:sp>
        <p:nvSpPr>
          <p:cNvPr id="11" name="Text 8"/>
          <p:cNvSpPr/>
          <p:nvPr/>
        </p:nvSpPr>
        <p:spPr>
          <a:xfrm>
            <a:off x="859536" y="1572768"/>
            <a:ext cx="3602736" cy="182880"/>
          </a:xfrm>
          <a:prstGeom prst="rect">
            <a:avLst/>
          </a:prstGeom>
          <a:noFill/>
          <a:ln/>
        </p:spPr>
        <p:txBody>
          <a:bodyPr wrap="square" lIns="0" tIns="0" rIns="0" bIns="0" rtlCol="0" anchor="ctr"/>
          <a:lstStyle/>
          <a:p>
            <a:pPr marL="0" indent="0">
              <a:buNone/>
            </a:pPr>
            <a:r>
              <a:rPr lang="en-US" sz="900" b="1" dirty="0">
                <a:solidFill>
                  <a:srgbClr val="1B2A6B"/>
                </a:solidFill>
                <a:latin typeface="Calibri" pitchFamily="34" charset="0"/>
                <a:ea typeface="Calibri" pitchFamily="34" charset="-122"/>
                <a:cs typeface="Calibri" pitchFamily="34" charset="-120"/>
              </a:rPr>
              <a:t>🔗https://kf.kobotoolbox.org  kf.kobotoolbox.org</a:t>
            </a:r>
            <a:endParaRPr lang="en-US" sz="900" dirty="0"/>
          </a:p>
        </p:txBody>
      </p:sp>
      <p:sp>
        <p:nvSpPr>
          <p:cNvPr id="12" name="Text 9"/>
          <p:cNvSpPr/>
          <p:nvPr/>
        </p:nvSpPr>
        <p:spPr>
          <a:xfrm>
            <a:off x="822960" y="1828800"/>
            <a:ext cx="3675888"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Compte gratuit — 2 minutes pour commencer</a:t>
            </a:r>
            <a:endParaRPr lang="en-US" sz="900"/>
          </a:p>
        </p:txBody>
      </p:sp>
      <p:sp>
        <p:nvSpPr>
          <p:cNvPr id="13" name="Shape 10"/>
          <p:cNvSpPr/>
          <p:nvPr/>
        </p:nvSpPr>
        <p:spPr>
          <a:xfrm>
            <a:off x="4700016" y="1188720"/>
            <a:ext cx="4297680" cy="107899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14" name="Shape 11"/>
          <p:cNvSpPr/>
          <p:nvPr/>
        </p:nvSpPr>
        <p:spPr>
          <a:xfrm>
            <a:off x="4700016" y="1188720"/>
            <a:ext cx="73152" cy="1078992"/>
          </a:xfrm>
          <a:prstGeom prst="rect">
            <a:avLst/>
          </a:prstGeom>
          <a:solidFill>
            <a:srgbClr val="1E8449"/>
          </a:solidFill>
          <a:ln/>
        </p:spPr>
        <p:txBody>
          <a:bodyPr/>
          <a:lstStyle/>
          <a:p>
            <a:endParaRPr lang="fr-FR"/>
          </a:p>
        </p:txBody>
      </p:sp>
      <p:pic>
        <p:nvPicPr>
          <p:cNvPr id="15" name="Image 1" descr="preencoded.png"/>
          <p:cNvPicPr>
            <a:picLocks noChangeAspect="1"/>
          </p:cNvPicPr>
          <p:nvPr/>
        </p:nvPicPr>
        <p:blipFill>
          <a:blip r:embed="rId4"/>
          <a:stretch>
            <a:fillRect/>
          </a:stretch>
        </p:blipFill>
        <p:spPr>
          <a:xfrm>
            <a:off x="4846320" y="1298448"/>
            <a:ext cx="310896" cy="310896"/>
          </a:xfrm>
          <a:prstGeom prst="rect">
            <a:avLst/>
          </a:prstGeom>
        </p:spPr>
      </p:pic>
      <p:sp>
        <p:nvSpPr>
          <p:cNvPr id="16" name="Text 12"/>
          <p:cNvSpPr/>
          <p:nvPr/>
        </p:nvSpPr>
        <p:spPr>
          <a:xfrm>
            <a:off x="5248656" y="1261872"/>
            <a:ext cx="3675888" cy="237744"/>
          </a:xfrm>
          <a:prstGeom prst="rect">
            <a:avLst/>
          </a:prstGeom>
          <a:noFill/>
          <a:ln/>
        </p:spPr>
        <p:txBody>
          <a:bodyPr wrap="square" lIns="0" tIns="0" rIns="0" bIns="0" rtlCol="0" anchor="ctr"/>
          <a:lstStyle/>
          <a:p>
            <a:pPr marL="0" indent="0">
              <a:buNone/>
            </a:pPr>
            <a:r>
              <a:rPr lang="en-US" sz="1200" b="1">
                <a:solidFill>
                  <a:srgbClr val="1A2E3D"/>
                </a:solidFill>
                <a:latin typeface="Calibri" pitchFamily="34" charset="0"/>
                <a:ea typeface="Calibri" pitchFamily="34" charset="-122"/>
                <a:cs typeface="Calibri" pitchFamily="34" charset="-120"/>
              </a:rPr>
              <a:t>Compte humanitaire (ONG)</a:t>
            </a:r>
            <a:endParaRPr lang="en-US" sz="1200"/>
          </a:p>
        </p:txBody>
      </p:sp>
      <p:sp>
        <p:nvSpPr>
          <p:cNvPr id="17" name="Shape 13"/>
          <p:cNvSpPr/>
          <p:nvPr/>
        </p:nvSpPr>
        <p:spPr>
          <a:xfrm>
            <a:off x="5248656" y="1554480"/>
            <a:ext cx="3675888" cy="219456"/>
          </a:xfrm>
          <a:prstGeom prst="rect">
            <a:avLst/>
          </a:prstGeom>
          <a:solidFill>
            <a:srgbClr val="1E8449"/>
          </a:solidFill>
          <a:ln/>
        </p:spPr>
        <p:txBody>
          <a:bodyPr/>
          <a:lstStyle/>
          <a:p>
            <a:endParaRPr lang="fr-FR"/>
          </a:p>
        </p:txBody>
      </p:sp>
      <p:sp>
        <p:nvSpPr>
          <p:cNvPr id="18" name="Text 14"/>
          <p:cNvSpPr/>
          <p:nvPr/>
        </p:nvSpPr>
        <p:spPr>
          <a:xfrm>
            <a:off x="5285232" y="1572768"/>
            <a:ext cx="3602736" cy="182880"/>
          </a:xfrm>
          <a:prstGeom prst="rect">
            <a:avLst/>
          </a:prstGeom>
          <a:noFill/>
          <a:ln/>
        </p:spPr>
        <p:txBody>
          <a:bodyPr wrap="square" lIns="0" tIns="0" rIns="0" bIns="0" rtlCol="0" anchor="ctr"/>
          <a:lstStyle/>
          <a:p>
            <a:pPr marL="0" indent="0">
              <a:buNone/>
            </a:pPr>
            <a:r>
              <a:rPr lang="en-US" sz="900" b="1">
                <a:solidFill>
                  <a:srgbClr val="1E8449"/>
                </a:solidFill>
                <a:latin typeface="Calibri" pitchFamily="34" charset="0"/>
                <a:ea typeface="Calibri" pitchFamily="34" charset="-122"/>
                <a:cs typeface="Calibri" pitchFamily="34" charset="-120"/>
              </a:rPr>
              <a:t>🔗  kobo.humanitarianresponse.info</a:t>
            </a:r>
            <a:endParaRPr lang="en-US" sz="900"/>
          </a:p>
        </p:txBody>
      </p:sp>
      <p:sp>
        <p:nvSpPr>
          <p:cNvPr id="19" name="Text 15"/>
          <p:cNvSpPr/>
          <p:nvPr/>
        </p:nvSpPr>
        <p:spPr>
          <a:xfrm>
            <a:off x="5248656" y="1828800"/>
            <a:ext cx="3675888"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Serveur dédié pour organisations humanitaires</a:t>
            </a:r>
            <a:endParaRPr lang="en-US" sz="900"/>
          </a:p>
        </p:txBody>
      </p:sp>
      <p:sp>
        <p:nvSpPr>
          <p:cNvPr id="20" name="Shape 16"/>
          <p:cNvSpPr/>
          <p:nvPr/>
        </p:nvSpPr>
        <p:spPr>
          <a:xfrm>
            <a:off x="274320" y="2450592"/>
            <a:ext cx="4297680" cy="107899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1" name="Shape 17"/>
          <p:cNvSpPr/>
          <p:nvPr/>
        </p:nvSpPr>
        <p:spPr>
          <a:xfrm>
            <a:off x="274320" y="2450592"/>
            <a:ext cx="73152" cy="1078992"/>
          </a:xfrm>
          <a:prstGeom prst="rect">
            <a:avLst/>
          </a:prstGeom>
          <a:solidFill>
            <a:srgbClr val="1A5276"/>
          </a:solidFill>
          <a:ln/>
        </p:spPr>
        <p:txBody>
          <a:bodyPr/>
          <a:lstStyle/>
          <a:p>
            <a:endParaRPr lang="fr-FR"/>
          </a:p>
        </p:txBody>
      </p:sp>
      <p:pic>
        <p:nvPicPr>
          <p:cNvPr id="22" name="Image 2" descr="preencoded.png"/>
          <p:cNvPicPr>
            <a:picLocks noChangeAspect="1"/>
          </p:cNvPicPr>
          <p:nvPr/>
        </p:nvPicPr>
        <p:blipFill>
          <a:blip r:embed="rId5"/>
          <a:stretch>
            <a:fillRect/>
          </a:stretch>
        </p:blipFill>
        <p:spPr>
          <a:xfrm>
            <a:off x="420624" y="2560320"/>
            <a:ext cx="310896" cy="310896"/>
          </a:xfrm>
          <a:prstGeom prst="rect">
            <a:avLst/>
          </a:prstGeom>
        </p:spPr>
      </p:pic>
      <p:sp>
        <p:nvSpPr>
          <p:cNvPr id="23" name="Text 18"/>
          <p:cNvSpPr/>
          <p:nvPr/>
        </p:nvSpPr>
        <p:spPr>
          <a:xfrm>
            <a:off x="822960" y="2523744"/>
            <a:ext cx="3675888" cy="237744"/>
          </a:xfrm>
          <a:prstGeom prst="rect">
            <a:avLst/>
          </a:prstGeom>
          <a:noFill/>
          <a:ln/>
        </p:spPr>
        <p:txBody>
          <a:bodyPr wrap="square" lIns="0" tIns="0" rIns="0" bIns="0" rtlCol="0" anchor="ctr"/>
          <a:lstStyle/>
          <a:p>
            <a:pPr marL="0" indent="0">
              <a:buNone/>
            </a:pPr>
            <a:r>
              <a:rPr lang="en-US" sz="1200" b="1">
                <a:solidFill>
                  <a:srgbClr val="1A2E3D"/>
                </a:solidFill>
                <a:latin typeface="Calibri" pitchFamily="34" charset="0"/>
                <a:ea typeface="Calibri" pitchFamily="34" charset="-122"/>
                <a:cs typeface="Calibri" pitchFamily="34" charset="-120"/>
              </a:rPr>
              <a:t>Documentation officielle</a:t>
            </a:r>
            <a:endParaRPr lang="en-US" sz="1200"/>
          </a:p>
        </p:txBody>
      </p:sp>
      <p:sp>
        <p:nvSpPr>
          <p:cNvPr id="24" name="Shape 19"/>
          <p:cNvSpPr/>
          <p:nvPr/>
        </p:nvSpPr>
        <p:spPr>
          <a:xfrm>
            <a:off x="822960" y="2816352"/>
            <a:ext cx="3675888" cy="219456"/>
          </a:xfrm>
          <a:prstGeom prst="rect">
            <a:avLst/>
          </a:prstGeom>
          <a:solidFill>
            <a:srgbClr val="1A5276"/>
          </a:solidFill>
          <a:ln/>
        </p:spPr>
        <p:txBody>
          <a:bodyPr/>
          <a:lstStyle/>
          <a:p>
            <a:endParaRPr lang="fr-FR"/>
          </a:p>
        </p:txBody>
      </p:sp>
      <p:sp>
        <p:nvSpPr>
          <p:cNvPr id="25" name="Text 20"/>
          <p:cNvSpPr/>
          <p:nvPr/>
        </p:nvSpPr>
        <p:spPr>
          <a:xfrm>
            <a:off x="859536" y="2834640"/>
            <a:ext cx="3602736" cy="182880"/>
          </a:xfrm>
          <a:prstGeom prst="rect">
            <a:avLst/>
          </a:prstGeom>
          <a:noFill/>
          <a:ln/>
        </p:spPr>
        <p:txBody>
          <a:bodyPr wrap="square" lIns="0" tIns="0" rIns="0" bIns="0" rtlCol="0" anchor="ctr"/>
          <a:lstStyle/>
          <a:p>
            <a:pPr marL="0" indent="0">
              <a:buNone/>
            </a:pPr>
            <a:r>
              <a:rPr lang="en-US" sz="900" b="1">
                <a:solidFill>
                  <a:srgbClr val="1A5276"/>
                </a:solidFill>
                <a:latin typeface="Calibri" pitchFamily="34" charset="0"/>
                <a:ea typeface="Calibri" pitchFamily="34" charset="-122"/>
                <a:cs typeface="Calibri" pitchFamily="34" charset="-120"/>
              </a:rPr>
              <a:t>🔗  docs.kobotoolbox.org</a:t>
            </a:r>
            <a:endParaRPr lang="en-US" sz="900"/>
          </a:p>
        </p:txBody>
      </p:sp>
      <p:sp>
        <p:nvSpPr>
          <p:cNvPr id="26" name="Text 21"/>
          <p:cNvSpPr/>
          <p:nvPr/>
        </p:nvSpPr>
        <p:spPr>
          <a:xfrm>
            <a:off x="822960" y="3090672"/>
            <a:ext cx="3675888"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Tous les articles d'aide en anglais</a:t>
            </a:r>
            <a:endParaRPr lang="en-US" sz="900"/>
          </a:p>
        </p:txBody>
      </p:sp>
      <p:sp>
        <p:nvSpPr>
          <p:cNvPr id="27" name="Shape 22"/>
          <p:cNvSpPr/>
          <p:nvPr/>
        </p:nvSpPr>
        <p:spPr>
          <a:xfrm>
            <a:off x="4700016" y="2450592"/>
            <a:ext cx="4297680" cy="107899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28" name="Shape 23"/>
          <p:cNvSpPr/>
          <p:nvPr/>
        </p:nvSpPr>
        <p:spPr>
          <a:xfrm>
            <a:off x="4700016" y="2450592"/>
            <a:ext cx="73152" cy="1078992"/>
          </a:xfrm>
          <a:prstGeom prst="rect">
            <a:avLst/>
          </a:prstGeom>
          <a:solidFill>
            <a:srgbClr val="7D3C98"/>
          </a:solidFill>
          <a:ln/>
        </p:spPr>
        <p:txBody>
          <a:bodyPr/>
          <a:lstStyle/>
          <a:p>
            <a:endParaRPr lang="fr-FR"/>
          </a:p>
        </p:txBody>
      </p:sp>
      <p:pic>
        <p:nvPicPr>
          <p:cNvPr id="29" name="Image 3" descr="preencoded.png"/>
          <p:cNvPicPr>
            <a:picLocks noChangeAspect="1"/>
          </p:cNvPicPr>
          <p:nvPr/>
        </p:nvPicPr>
        <p:blipFill>
          <a:blip r:embed="rId6"/>
          <a:stretch>
            <a:fillRect/>
          </a:stretch>
        </p:blipFill>
        <p:spPr>
          <a:xfrm>
            <a:off x="4846320" y="2560320"/>
            <a:ext cx="310896" cy="310896"/>
          </a:xfrm>
          <a:prstGeom prst="rect">
            <a:avLst/>
          </a:prstGeom>
        </p:spPr>
      </p:pic>
      <p:sp>
        <p:nvSpPr>
          <p:cNvPr id="30" name="Text 24"/>
          <p:cNvSpPr/>
          <p:nvPr/>
        </p:nvSpPr>
        <p:spPr>
          <a:xfrm>
            <a:off x="5248656" y="2523744"/>
            <a:ext cx="3675888" cy="237744"/>
          </a:xfrm>
          <a:prstGeom prst="rect">
            <a:avLst/>
          </a:prstGeom>
          <a:noFill/>
          <a:ln/>
        </p:spPr>
        <p:txBody>
          <a:bodyPr wrap="square" lIns="0" tIns="0" rIns="0" bIns="0" rtlCol="0" anchor="ctr"/>
          <a:lstStyle/>
          <a:p>
            <a:pPr marL="0" indent="0">
              <a:buNone/>
            </a:pPr>
            <a:r>
              <a:rPr lang="en-US" sz="1200" b="1">
                <a:solidFill>
                  <a:srgbClr val="1A2E3D"/>
                </a:solidFill>
                <a:latin typeface="Calibri" pitchFamily="34" charset="0"/>
                <a:ea typeface="Calibri" pitchFamily="34" charset="-122"/>
                <a:cs typeface="Calibri" pitchFamily="34" charset="-120"/>
              </a:rPr>
              <a:t>Référence XLSForm</a:t>
            </a:r>
            <a:endParaRPr lang="en-US" sz="1200"/>
          </a:p>
        </p:txBody>
      </p:sp>
      <p:sp>
        <p:nvSpPr>
          <p:cNvPr id="31" name="Shape 25"/>
          <p:cNvSpPr/>
          <p:nvPr/>
        </p:nvSpPr>
        <p:spPr>
          <a:xfrm>
            <a:off x="5248656" y="2816352"/>
            <a:ext cx="3675888" cy="219456"/>
          </a:xfrm>
          <a:prstGeom prst="rect">
            <a:avLst/>
          </a:prstGeom>
          <a:solidFill>
            <a:srgbClr val="7D3C98"/>
          </a:solidFill>
          <a:ln/>
        </p:spPr>
        <p:txBody>
          <a:bodyPr/>
          <a:lstStyle/>
          <a:p>
            <a:endParaRPr lang="fr-FR"/>
          </a:p>
        </p:txBody>
      </p:sp>
      <p:sp>
        <p:nvSpPr>
          <p:cNvPr id="32" name="Text 26"/>
          <p:cNvSpPr/>
          <p:nvPr/>
        </p:nvSpPr>
        <p:spPr>
          <a:xfrm>
            <a:off x="5285232" y="2834640"/>
            <a:ext cx="3602736" cy="182880"/>
          </a:xfrm>
          <a:prstGeom prst="rect">
            <a:avLst/>
          </a:prstGeom>
          <a:noFill/>
          <a:ln/>
        </p:spPr>
        <p:txBody>
          <a:bodyPr wrap="square" lIns="0" tIns="0" rIns="0" bIns="0" rtlCol="0" anchor="ctr"/>
          <a:lstStyle/>
          <a:p>
            <a:pPr marL="0" indent="0">
              <a:buNone/>
            </a:pPr>
            <a:r>
              <a:rPr lang="en-US" sz="900" b="1">
                <a:solidFill>
                  <a:srgbClr val="7D3C98"/>
                </a:solidFill>
                <a:latin typeface="Calibri" pitchFamily="34" charset="0"/>
                <a:ea typeface="Calibri" pitchFamily="34" charset="-122"/>
                <a:cs typeface="Calibri" pitchFamily="34" charset="-120"/>
              </a:rPr>
              <a:t>🔗  xlsform.org</a:t>
            </a:r>
            <a:endParaRPr lang="en-US" sz="900"/>
          </a:p>
        </p:txBody>
      </p:sp>
      <p:sp>
        <p:nvSpPr>
          <p:cNvPr id="33" name="Text 27"/>
          <p:cNvSpPr/>
          <p:nvPr/>
        </p:nvSpPr>
        <p:spPr>
          <a:xfrm>
            <a:off x="5248656" y="3090672"/>
            <a:ext cx="3675888"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Tous les types de questions et paramètres</a:t>
            </a:r>
            <a:endParaRPr lang="en-US" sz="900"/>
          </a:p>
        </p:txBody>
      </p:sp>
      <p:sp>
        <p:nvSpPr>
          <p:cNvPr id="34" name="Shape 28"/>
          <p:cNvSpPr/>
          <p:nvPr/>
        </p:nvSpPr>
        <p:spPr>
          <a:xfrm>
            <a:off x="274320" y="3712464"/>
            <a:ext cx="4297680" cy="107899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35" name="Shape 29"/>
          <p:cNvSpPr/>
          <p:nvPr/>
        </p:nvSpPr>
        <p:spPr>
          <a:xfrm>
            <a:off x="274320" y="3712464"/>
            <a:ext cx="73152" cy="1078992"/>
          </a:xfrm>
          <a:prstGeom prst="rect">
            <a:avLst/>
          </a:prstGeom>
          <a:solidFill>
            <a:srgbClr val="0B6E4F"/>
          </a:solidFill>
          <a:ln/>
        </p:spPr>
        <p:txBody>
          <a:bodyPr/>
          <a:lstStyle/>
          <a:p>
            <a:endParaRPr lang="fr-FR"/>
          </a:p>
        </p:txBody>
      </p:sp>
      <p:pic>
        <p:nvPicPr>
          <p:cNvPr id="36" name="Image 4" descr="preencoded.png"/>
          <p:cNvPicPr>
            <a:picLocks noChangeAspect="1"/>
          </p:cNvPicPr>
          <p:nvPr/>
        </p:nvPicPr>
        <p:blipFill>
          <a:blip r:embed="rId7"/>
          <a:stretch>
            <a:fillRect/>
          </a:stretch>
        </p:blipFill>
        <p:spPr>
          <a:xfrm>
            <a:off x="420624" y="3822192"/>
            <a:ext cx="310896" cy="310896"/>
          </a:xfrm>
          <a:prstGeom prst="rect">
            <a:avLst/>
          </a:prstGeom>
        </p:spPr>
      </p:pic>
      <p:sp>
        <p:nvSpPr>
          <p:cNvPr id="37" name="Text 30"/>
          <p:cNvSpPr/>
          <p:nvPr/>
        </p:nvSpPr>
        <p:spPr>
          <a:xfrm>
            <a:off x="822960" y="3785616"/>
            <a:ext cx="3675888" cy="237744"/>
          </a:xfrm>
          <a:prstGeom prst="rect">
            <a:avLst/>
          </a:prstGeom>
          <a:noFill/>
          <a:ln/>
        </p:spPr>
        <p:txBody>
          <a:bodyPr wrap="square" lIns="0" tIns="0" rIns="0" bIns="0" rtlCol="0" anchor="ctr"/>
          <a:lstStyle/>
          <a:p>
            <a:pPr marL="0" indent="0">
              <a:buNone/>
            </a:pPr>
            <a:r>
              <a:rPr lang="en-US" sz="1200" b="1">
                <a:solidFill>
                  <a:srgbClr val="1A2E3D"/>
                </a:solidFill>
                <a:latin typeface="Calibri" pitchFamily="34" charset="0"/>
                <a:ea typeface="Calibri" pitchFamily="34" charset="-122"/>
                <a:cs typeface="Calibri" pitchFamily="34" charset="-120"/>
              </a:rPr>
              <a:t>Communauté Kobo</a:t>
            </a:r>
            <a:endParaRPr lang="en-US" sz="1200"/>
          </a:p>
        </p:txBody>
      </p:sp>
      <p:sp>
        <p:nvSpPr>
          <p:cNvPr id="38" name="Shape 31"/>
          <p:cNvSpPr/>
          <p:nvPr/>
        </p:nvSpPr>
        <p:spPr>
          <a:xfrm>
            <a:off x="822960" y="4078224"/>
            <a:ext cx="3675888" cy="219456"/>
          </a:xfrm>
          <a:prstGeom prst="rect">
            <a:avLst/>
          </a:prstGeom>
          <a:solidFill>
            <a:srgbClr val="0B6E4F"/>
          </a:solidFill>
          <a:ln/>
        </p:spPr>
        <p:txBody>
          <a:bodyPr/>
          <a:lstStyle/>
          <a:p>
            <a:endParaRPr lang="fr-FR"/>
          </a:p>
        </p:txBody>
      </p:sp>
      <p:sp>
        <p:nvSpPr>
          <p:cNvPr id="39" name="Text 32"/>
          <p:cNvSpPr/>
          <p:nvPr/>
        </p:nvSpPr>
        <p:spPr>
          <a:xfrm>
            <a:off x="859536" y="4096512"/>
            <a:ext cx="3602736" cy="182880"/>
          </a:xfrm>
          <a:prstGeom prst="rect">
            <a:avLst/>
          </a:prstGeom>
          <a:noFill/>
          <a:ln/>
        </p:spPr>
        <p:txBody>
          <a:bodyPr wrap="square" lIns="0" tIns="0" rIns="0" bIns="0" rtlCol="0" anchor="ctr"/>
          <a:lstStyle/>
          <a:p>
            <a:pPr marL="0" indent="0">
              <a:buNone/>
            </a:pPr>
            <a:r>
              <a:rPr lang="en-US" sz="900" b="1">
                <a:solidFill>
                  <a:srgbClr val="0B6E4F"/>
                </a:solidFill>
                <a:latin typeface="Calibri" pitchFamily="34" charset="0"/>
                <a:ea typeface="Calibri" pitchFamily="34" charset="-122"/>
                <a:cs typeface="Calibri" pitchFamily="34" charset="-120"/>
              </a:rPr>
              <a:t>🔗  community.kobotoolbox.org</a:t>
            </a:r>
            <a:endParaRPr lang="en-US" sz="900"/>
          </a:p>
        </p:txBody>
      </p:sp>
      <p:sp>
        <p:nvSpPr>
          <p:cNvPr id="40" name="Text 33"/>
          <p:cNvSpPr/>
          <p:nvPr/>
        </p:nvSpPr>
        <p:spPr>
          <a:xfrm>
            <a:off x="822960" y="4352544"/>
            <a:ext cx="3675888"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Forum d'entraide — milliers de questions</a:t>
            </a:r>
            <a:endParaRPr lang="en-US" sz="900"/>
          </a:p>
        </p:txBody>
      </p:sp>
      <p:sp>
        <p:nvSpPr>
          <p:cNvPr id="41" name="Shape 34"/>
          <p:cNvSpPr/>
          <p:nvPr/>
        </p:nvSpPr>
        <p:spPr>
          <a:xfrm>
            <a:off x="4700016" y="3712464"/>
            <a:ext cx="4297680" cy="1078992"/>
          </a:xfrm>
          <a:prstGeom prst="rect">
            <a:avLst/>
          </a:prstGeom>
          <a:solidFill>
            <a:srgbClr val="FFFFFF"/>
          </a:solidFill>
          <a:ln/>
          <a:effectLst>
            <a:outerShdw blurRad="101600" dist="38100" dir="8100000" algn="bl" rotWithShape="0">
              <a:srgbClr val="000000">
                <a:alpha val="18000"/>
              </a:srgbClr>
            </a:outerShdw>
          </a:effectLst>
        </p:spPr>
        <p:txBody>
          <a:bodyPr/>
          <a:lstStyle/>
          <a:p>
            <a:endParaRPr lang="fr-FR"/>
          </a:p>
        </p:txBody>
      </p:sp>
      <p:sp>
        <p:nvSpPr>
          <p:cNvPr id="42" name="Shape 35"/>
          <p:cNvSpPr/>
          <p:nvPr/>
        </p:nvSpPr>
        <p:spPr>
          <a:xfrm>
            <a:off x="4700016" y="3712464"/>
            <a:ext cx="73152" cy="1078992"/>
          </a:xfrm>
          <a:prstGeom prst="rect">
            <a:avLst/>
          </a:prstGeom>
          <a:solidFill>
            <a:srgbClr val="E74C3C"/>
          </a:solidFill>
          <a:ln/>
        </p:spPr>
        <p:txBody>
          <a:bodyPr/>
          <a:lstStyle/>
          <a:p>
            <a:endParaRPr lang="fr-FR"/>
          </a:p>
        </p:txBody>
      </p:sp>
      <p:pic>
        <p:nvPicPr>
          <p:cNvPr id="43" name="Image 5" descr="preencoded.png"/>
          <p:cNvPicPr>
            <a:picLocks noChangeAspect="1"/>
          </p:cNvPicPr>
          <p:nvPr/>
        </p:nvPicPr>
        <p:blipFill>
          <a:blip r:embed="rId8"/>
          <a:stretch>
            <a:fillRect/>
          </a:stretch>
        </p:blipFill>
        <p:spPr>
          <a:xfrm>
            <a:off x="4846320" y="3822192"/>
            <a:ext cx="310896" cy="310896"/>
          </a:xfrm>
          <a:prstGeom prst="rect">
            <a:avLst/>
          </a:prstGeom>
        </p:spPr>
      </p:pic>
      <p:sp>
        <p:nvSpPr>
          <p:cNvPr id="44" name="Text 36"/>
          <p:cNvSpPr/>
          <p:nvPr/>
        </p:nvSpPr>
        <p:spPr>
          <a:xfrm>
            <a:off x="5248656" y="3785616"/>
            <a:ext cx="3675888" cy="237744"/>
          </a:xfrm>
          <a:prstGeom prst="rect">
            <a:avLst/>
          </a:prstGeom>
          <a:noFill/>
          <a:ln/>
        </p:spPr>
        <p:txBody>
          <a:bodyPr wrap="square" lIns="0" tIns="0" rIns="0" bIns="0" rtlCol="0" anchor="ctr"/>
          <a:lstStyle/>
          <a:p>
            <a:pPr marL="0" indent="0">
              <a:buNone/>
            </a:pPr>
            <a:r>
              <a:rPr lang="en-US" sz="1200" b="1">
                <a:solidFill>
                  <a:srgbClr val="1A2E3D"/>
                </a:solidFill>
                <a:latin typeface="Calibri" pitchFamily="34" charset="0"/>
                <a:ea typeface="Calibri" pitchFamily="34" charset="-122"/>
                <a:cs typeface="Calibri" pitchFamily="34" charset="-120"/>
              </a:rPr>
              <a:t>Chaîne YouTube</a:t>
            </a:r>
            <a:endParaRPr lang="en-US" sz="1200"/>
          </a:p>
        </p:txBody>
      </p:sp>
      <p:sp>
        <p:nvSpPr>
          <p:cNvPr id="45" name="Shape 37"/>
          <p:cNvSpPr/>
          <p:nvPr/>
        </p:nvSpPr>
        <p:spPr>
          <a:xfrm>
            <a:off x="5248656" y="4078224"/>
            <a:ext cx="3675888" cy="219456"/>
          </a:xfrm>
          <a:prstGeom prst="rect">
            <a:avLst/>
          </a:prstGeom>
          <a:solidFill>
            <a:srgbClr val="E74C3C"/>
          </a:solidFill>
          <a:ln/>
        </p:spPr>
        <p:txBody>
          <a:bodyPr/>
          <a:lstStyle/>
          <a:p>
            <a:endParaRPr lang="fr-FR"/>
          </a:p>
        </p:txBody>
      </p:sp>
      <p:sp>
        <p:nvSpPr>
          <p:cNvPr id="46" name="Text 38"/>
          <p:cNvSpPr/>
          <p:nvPr/>
        </p:nvSpPr>
        <p:spPr>
          <a:xfrm>
            <a:off x="5285232" y="4096512"/>
            <a:ext cx="3602736" cy="182880"/>
          </a:xfrm>
          <a:prstGeom prst="rect">
            <a:avLst/>
          </a:prstGeom>
          <a:noFill/>
          <a:ln/>
        </p:spPr>
        <p:txBody>
          <a:bodyPr wrap="square" lIns="0" tIns="0" rIns="0" bIns="0" rtlCol="0" anchor="ctr"/>
          <a:lstStyle/>
          <a:p>
            <a:pPr marL="0" indent="0">
              <a:buNone/>
            </a:pPr>
            <a:r>
              <a:rPr lang="en-US" sz="900" b="1">
                <a:solidFill>
                  <a:srgbClr val="E74C3C"/>
                </a:solidFill>
                <a:latin typeface="Calibri" pitchFamily="34" charset="0"/>
                <a:ea typeface="Calibri" pitchFamily="34" charset="-122"/>
                <a:cs typeface="Calibri" pitchFamily="34" charset="-120"/>
              </a:rPr>
              <a:t>🔗  Toutes les vidéos de la série</a:t>
            </a:r>
            <a:endParaRPr lang="en-US" sz="900"/>
          </a:p>
        </p:txBody>
      </p:sp>
      <p:sp>
        <p:nvSpPr>
          <p:cNvPr id="47" name="Text 39"/>
          <p:cNvSpPr/>
          <p:nvPr/>
        </p:nvSpPr>
        <p:spPr>
          <a:xfrm>
            <a:off x="5248656" y="4352544"/>
            <a:ext cx="3675888" cy="201168"/>
          </a:xfrm>
          <a:prstGeom prst="rect">
            <a:avLst/>
          </a:prstGeom>
          <a:noFill/>
          <a:ln/>
        </p:spPr>
        <p:txBody>
          <a:bodyPr wrap="square" lIns="0" tIns="0" rIns="0" bIns="0" rtlCol="0" anchor="ctr"/>
          <a:lstStyle/>
          <a:p>
            <a:pPr marL="0" indent="0">
              <a:buNone/>
            </a:pPr>
            <a:r>
              <a:rPr lang="en-US" sz="900">
                <a:solidFill>
                  <a:srgbClr val="7090A8"/>
                </a:solidFill>
                <a:latin typeface="Calibri" pitchFamily="34" charset="0"/>
                <a:ea typeface="Calibri" pitchFamily="34" charset="-122"/>
                <a:cs typeface="Calibri" pitchFamily="34" charset="-120"/>
              </a:rPr>
              <a:t>S'abonner pour ne rien manquer</a:t>
            </a:r>
            <a:endParaRPr lang="en-US" sz="900"/>
          </a:p>
        </p:txBody>
      </p:sp>
      <p:sp>
        <p:nvSpPr>
          <p:cNvPr id="48" name="Shape 40"/>
          <p:cNvSpPr/>
          <p:nvPr/>
        </p:nvSpPr>
        <p:spPr>
          <a:xfrm>
            <a:off x="0" y="4892040"/>
            <a:ext cx="9144000" cy="251460"/>
          </a:xfrm>
          <a:prstGeom prst="rect">
            <a:avLst/>
          </a:prstGeom>
          <a:solidFill>
            <a:srgbClr val="0D1B35"/>
          </a:solidFill>
          <a:ln/>
        </p:spPr>
        <p:txBody>
          <a:bodyPr/>
          <a:lstStyle/>
          <a:p>
            <a:endParaRPr lang="fr-FR"/>
          </a:p>
        </p:txBody>
      </p:sp>
      <p:sp>
        <p:nvSpPr>
          <p:cNvPr id="49" name="Text 41"/>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50" name="Text 42"/>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14 / 16</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115568"/>
          </a:xfrm>
          <a:prstGeom prst="rect">
            <a:avLst/>
          </a:prstGeom>
          <a:solidFill>
            <a:srgbClr val="0D1B35"/>
          </a:solidFill>
          <a:ln/>
        </p:spPr>
        <p:txBody>
          <a:bodyPr/>
          <a:lstStyle/>
          <a:p>
            <a:endParaRPr lang="fr-FR"/>
          </a:p>
        </p:txBody>
      </p:sp>
      <p:sp>
        <p:nvSpPr>
          <p:cNvPr id="3" name="Shape 1"/>
          <p:cNvSpPr/>
          <p:nvPr/>
        </p:nvSpPr>
        <p:spPr>
          <a:xfrm>
            <a:off x="0" y="0"/>
            <a:ext cx="201168" cy="1115568"/>
          </a:xfrm>
          <a:prstGeom prst="rect">
            <a:avLst/>
          </a:prstGeom>
          <a:solidFill>
            <a:srgbClr val="C9A84C"/>
          </a:solidFill>
          <a:ln/>
        </p:spPr>
        <p:txBody>
          <a:bodyPr/>
          <a:lstStyle/>
          <a:p>
            <a:endParaRPr lang="fr-FR"/>
          </a:p>
        </p:txBody>
      </p:sp>
      <p:sp>
        <p:nvSpPr>
          <p:cNvPr id="4" name="Text 2"/>
          <p:cNvSpPr/>
          <p:nvPr/>
        </p:nvSpPr>
        <p:spPr>
          <a:xfrm>
            <a:off x="329184" y="128016"/>
            <a:ext cx="8595360" cy="548640"/>
          </a:xfrm>
          <a:prstGeom prst="rect">
            <a:avLst/>
          </a:prstGeom>
          <a:noFill/>
          <a:ln/>
        </p:spPr>
        <p:txBody>
          <a:bodyPr wrap="square" lIns="0" tIns="0" rIns="0" bIns="0" rtlCol="0" anchor="ctr"/>
          <a:lstStyle/>
          <a:p>
            <a:pPr marL="0" indent="0">
              <a:buNone/>
            </a:pPr>
            <a:r>
              <a:rPr lang="en-US" sz="3200" b="1">
                <a:solidFill>
                  <a:srgbClr val="FFFFFF"/>
                </a:solidFill>
                <a:latin typeface="Calibri" pitchFamily="34" charset="0"/>
                <a:ea typeface="Calibri" pitchFamily="34" charset="-122"/>
                <a:cs typeface="Calibri" pitchFamily="34" charset="-120"/>
              </a:rPr>
              <a:t>Passons aux choses sérieuses !</a:t>
            </a:r>
            <a:endParaRPr lang="en-US" sz="3200"/>
          </a:p>
        </p:txBody>
      </p:sp>
      <p:sp>
        <p:nvSpPr>
          <p:cNvPr id="5" name="Text 3"/>
          <p:cNvSpPr/>
          <p:nvPr/>
        </p:nvSpPr>
        <p:spPr>
          <a:xfrm>
            <a:off x="329184" y="676656"/>
            <a:ext cx="8595360" cy="310896"/>
          </a:xfrm>
          <a:prstGeom prst="rect">
            <a:avLst/>
          </a:prstGeom>
          <a:noFill/>
          <a:ln/>
        </p:spPr>
        <p:txBody>
          <a:bodyPr wrap="square" lIns="0" tIns="0" rIns="0" bIns="0" rtlCol="0" anchor="ctr"/>
          <a:lstStyle/>
          <a:p>
            <a:pPr marL="0" indent="0">
              <a:buNone/>
            </a:pPr>
            <a:r>
              <a:rPr lang="en-US" sz="1300" i="1">
                <a:solidFill>
                  <a:srgbClr val="F0C060"/>
                </a:solidFill>
                <a:latin typeface="Calibri" pitchFamily="34" charset="0"/>
                <a:ea typeface="Calibri" pitchFamily="34" charset="-122"/>
                <a:cs typeface="Calibri" pitchFamily="34" charset="-120"/>
              </a:rPr>
              <a:t>Voici comment tirer le maximum de cette série</a:t>
            </a:r>
            <a:endParaRPr lang="en-US" sz="1300"/>
          </a:p>
        </p:txBody>
      </p:sp>
      <p:sp>
        <p:nvSpPr>
          <p:cNvPr id="6" name="Shape 4"/>
          <p:cNvSpPr/>
          <p:nvPr/>
        </p:nvSpPr>
        <p:spPr>
          <a:xfrm>
            <a:off x="329184" y="1243584"/>
            <a:ext cx="8503920" cy="749808"/>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7" name="Shape 5"/>
          <p:cNvSpPr/>
          <p:nvPr/>
        </p:nvSpPr>
        <p:spPr>
          <a:xfrm>
            <a:off x="329184" y="1243584"/>
            <a:ext cx="73152" cy="749808"/>
          </a:xfrm>
          <a:prstGeom prst="rect">
            <a:avLst/>
          </a:prstGeom>
          <a:solidFill>
            <a:srgbClr val="C9A84C"/>
          </a:solidFill>
          <a:ln/>
        </p:spPr>
        <p:txBody>
          <a:bodyPr/>
          <a:lstStyle/>
          <a:p>
            <a:endParaRPr lang="fr-FR"/>
          </a:p>
        </p:txBody>
      </p:sp>
      <p:sp>
        <p:nvSpPr>
          <p:cNvPr id="8" name="Shape 6"/>
          <p:cNvSpPr/>
          <p:nvPr/>
        </p:nvSpPr>
        <p:spPr>
          <a:xfrm>
            <a:off x="493776" y="1389888"/>
            <a:ext cx="457200" cy="457200"/>
          </a:xfrm>
          <a:prstGeom prst="ellipse">
            <a:avLst/>
          </a:prstGeom>
          <a:solidFill>
            <a:srgbClr val="C9A84C"/>
          </a:solidFill>
          <a:ln/>
        </p:spPr>
        <p:txBody>
          <a:bodyPr/>
          <a:lstStyle/>
          <a:p>
            <a:endParaRPr lang="fr-FR"/>
          </a:p>
        </p:txBody>
      </p:sp>
      <p:sp>
        <p:nvSpPr>
          <p:cNvPr id="9" name="Text 7"/>
          <p:cNvSpPr/>
          <p:nvPr/>
        </p:nvSpPr>
        <p:spPr>
          <a:xfrm>
            <a:off x="493776" y="1389888"/>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1</a:t>
            </a:r>
            <a:endParaRPr lang="en-US" sz="1600"/>
          </a:p>
        </p:txBody>
      </p:sp>
      <p:pic>
        <p:nvPicPr>
          <p:cNvPr id="10" name="Image 0" descr="preencoded.png"/>
          <p:cNvPicPr>
            <a:picLocks noChangeAspect="1"/>
          </p:cNvPicPr>
          <p:nvPr/>
        </p:nvPicPr>
        <p:blipFill>
          <a:blip r:embed="rId3"/>
          <a:stretch>
            <a:fillRect/>
          </a:stretch>
        </p:blipFill>
        <p:spPr>
          <a:xfrm>
            <a:off x="1060704" y="1435608"/>
            <a:ext cx="292608" cy="292608"/>
          </a:xfrm>
          <a:prstGeom prst="rect">
            <a:avLst/>
          </a:prstGeom>
        </p:spPr>
      </p:pic>
      <p:sp>
        <p:nvSpPr>
          <p:cNvPr id="11" name="Text 8"/>
          <p:cNvSpPr/>
          <p:nvPr/>
        </p:nvSpPr>
        <p:spPr>
          <a:xfrm>
            <a:off x="1444752" y="1335024"/>
            <a:ext cx="2743200"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Regardez dans l'ordre</a:t>
            </a:r>
            <a:endParaRPr lang="en-US" sz="1300"/>
          </a:p>
        </p:txBody>
      </p:sp>
      <p:sp>
        <p:nvSpPr>
          <p:cNvPr id="12" name="Text 9"/>
          <p:cNvSpPr/>
          <p:nvPr/>
        </p:nvSpPr>
        <p:spPr>
          <a:xfrm>
            <a:off x="1444752" y="1645920"/>
            <a:ext cx="7223760" cy="292608"/>
          </a:xfrm>
          <a:prstGeom prst="rect">
            <a:avLst/>
          </a:prstGeom>
          <a:noFill/>
          <a:ln/>
        </p:spPr>
        <p:txBody>
          <a:bodyPr wrap="square" lIns="0" tIns="0" rIns="0" bIns="0" rtlCol="0" anchor="ctr"/>
          <a:lstStyle/>
          <a:p>
            <a:pPr marL="0" indent="0">
              <a:lnSpc>
                <a:spcPct val="125000"/>
              </a:lnSpc>
              <a:buNone/>
            </a:pPr>
            <a:r>
              <a:rPr lang="en-US" sz="1000">
                <a:solidFill>
                  <a:srgbClr val="7090A8"/>
                </a:solidFill>
                <a:latin typeface="Calibri" pitchFamily="34" charset="0"/>
                <a:ea typeface="Calibri" pitchFamily="34" charset="-122"/>
                <a:cs typeface="Calibri" pitchFamily="34" charset="-120"/>
              </a:rPr>
              <a:t>Chaque module s'appuie sur le précédent. Si vous êtes débutant, commencez par M1 et suivez le fil.</a:t>
            </a:r>
            <a:endParaRPr lang="en-US" sz="1000"/>
          </a:p>
        </p:txBody>
      </p:sp>
      <p:sp>
        <p:nvSpPr>
          <p:cNvPr id="13" name="Shape 10"/>
          <p:cNvSpPr/>
          <p:nvPr/>
        </p:nvSpPr>
        <p:spPr>
          <a:xfrm>
            <a:off x="329184" y="2103120"/>
            <a:ext cx="8503920" cy="749808"/>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4" name="Shape 11"/>
          <p:cNvSpPr/>
          <p:nvPr/>
        </p:nvSpPr>
        <p:spPr>
          <a:xfrm>
            <a:off x="329184" y="2103120"/>
            <a:ext cx="73152" cy="749808"/>
          </a:xfrm>
          <a:prstGeom prst="rect">
            <a:avLst/>
          </a:prstGeom>
          <a:solidFill>
            <a:srgbClr val="1AA8C2"/>
          </a:solidFill>
          <a:ln/>
        </p:spPr>
        <p:txBody>
          <a:bodyPr/>
          <a:lstStyle/>
          <a:p>
            <a:endParaRPr lang="fr-FR"/>
          </a:p>
        </p:txBody>
      </p:sp>
      <p:sp>
        <p:nvSpPr>
          <p:cNvPr id="15" name="Shape 12"/>
          <p:cNvSpPr/>
          <p:nvPr/>
        </p:nvSpPr>
        <p:spPr>
          <a:xfrm>
            <a:off x="493776" y="2249424"/>
            <a:ext cx="457200" cy="457200"/>
          </a:xfrm>
          <a:prstGeom prst="ellipse">
            <a:avLst/>
          </a:prstGeom>
          <a:solidFill>
            <a:srgbClr val="1AA8C2"/>
          </a:solidFill>
          <a:ln/>
        </p:spPr>
        <p:txBody>
          <a:bodyPr/>
          <a:lstStyle/>
          <a:p>
            <a:endParaRPr lang="fr-FR"/>
          </a:p>
        </p:txBody>
      </p:sp>
      <p:sp>
        <p:nvSpPr>
          <p:cNvPr id="16" name="Text 13"/>
          <p:cNvSpPr/>
          <p:nvPr/>
        </p:nvSpPr>
        <p:spPr>
          <a:xfrm>
            <a:off x="493776" y="2249424"/>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2</a:t>
            </a:r>
            <a:endParaRPr lang="en-US" sz="1600"/>
          </a:p>
        </p:txBody>
      </p:sp>
      <p:pic>
        <p:nvPicPr>
          <p:cNvPr id="17" name="Image 1" descr="preencoded.png"/>
          <p:cNvPicPr>
            <a:picLocks noChangeAspect="1"/>
          </p:cNvPicPr>
          <p:nvPr/>
        </p:nvPicPr>
        <p:blipFill>
          <a:blip r:embed="rId4"/>
          <a:stretch>
            <a:fillRect/>
          </a:stretch>
        </p:blipFill>
        <p:spPr>
          <a:xfrm>
            <a:off x="1060704" y="2295144"/>
            <a:ext cx="292608" cy="292608"/>
          </a:xfrm>
          <a:prstGeom prst="rect">
            <a:avLst/>
          </a:prstGeom>
        </p:spPr>
      </p:pic>
      <p:sp>
        <p:nvSpPr>
          <p:cNvPr id="18" name="Text 14"/>
          <p:cNvSpPr/>
          <p:nvPr/>
        </p:nvSpPr>
        <p:spPr>
          <a:xfrm>
            <a:off x="1444752" y="2194560"/>
            <a:ext cx="2743200"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Pratiquez en même temps</a:t>
            </a:r>
            <a:endParaRPr lang="en-US" sz="1300"/>
          </a:p>
        </p:txBody>
      </p:sp>
      <p:sp>
        <p:nvSpPr>
          <p:cNvPr id="19" name="Text 15"/>
          <p:cNvSpPr/>
          <p:nvPr/>
        </p:nvSpPr>
        <p:spPr>
          <a:xfrm>
            <a:off x="1444752" y="2505456"/>
            <a:ext cx="7223760" cy="292608"/>
          </a:xfrm>
          <a:prstGeom prst="rect">
            <a:avLst/>
          </a:prstGeom>
          <a:noFill/>
          <a:ln/>
        </p:spPr>
        <p:txBody>
          <a:bodyPr wrap="square" lIns="0" tIns="0" rIns="0" bIns="0" rtlCol="0" anchor="ctr"/>
          <a:lstStyle/>
          <a:p>
            <a:pPr marL="0" indent="0">
              <a:lnSpc>
                <a:spcPct val="125000"/>
              </a:lnSpc>
              <a:buNone/>
            </a:pPr>
            <a:r>
              <a:rPr lang="en-US" sz="1000">
                <a:solidFill>
                  <a:srgbClr val="7090A8"/>
                </a:solidFill>
                <a:latin typeface="Calibri" pitchFamily="34" charset="0"/>
                <a:ea typeface="Calibri" pitchFamily="34" charset="-122"/>
                <a:cs typeface="Calibri" pitchFamily="34" charset="-120"/>
              </a:rPr>
              <a:t>Ouvrez KoboToolbox dans un autre onglet et suivez en temps réel. Vous retiendrez 3× mieux.</a:t>
            </a:r>
            <a:endParaRPr lang="en-US" sz="1000"/>
          </a:p>
        </p:txBody>
      </p:sp>
      <p:sp>
        <p:nvSpPr>
          <p:cNvPr id="20" name="Shape 16"/>
          <p:cNvSpPr/>
          <p:nvPr/>
        </p:nvSpPr>
        <p:spPr>
          <a:xfrm>
            <a:off x="329184" y="2962656"/>
            <a:ext cx="8503920" cy="749808"/>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21" name="Shape 17"/>
          <p:cNvSpPr/>
          <p:nvPr/>
        </p:nvSpPr>
        <p:spPr>
          <a:xfrm>
            <a:off x="329184" y="2962656"/>
            <a:ext cx="73152" cy="749808"/>
          </a:xfrm>
          <a:prstGeom prst="rect">
            <a:avLst/>
          </a:prstGeom>
          <a:solidFill>
            <a:srgbClr val="1E8449"/>
          </a:solidFill>
          <a:ln/>
        </p:spPr>
        <p:txBody>
          <a:bodyPr/>
          <a:lstStyle/>
          <a:p>
            <a:endParaRPr lang="fr-FR"/>
          </a:p>
        </p:txBody>
      </p:sp>
      <p:sp>
        <p:nvSpPr>
          <p:cNvPr id="22" name="Shape 18"/>
          <p:cNvSpPr/>
          <p:nvPr/>
        </p:nvSpPr>
        <p:spPr>
          <a:xfrm>
            <a:off x="493776" y="3108960"/>
            <a:ext cx="457200" cy="457200"/>
          </a:xfrm>
          <a:prstGeom prst="ellipse">
            <a:avLst/>
          </a:prstGeom>
          <a:solidFill>
            <a:srgbClr val="1E8449"/>
          </a:solidFill>
          <a:ln/>
        </p:spPr>
        <p:txBody>
          <a:bodyPr/>
          <a:lstStyle/>
          <a:p>
            <a:endParaRPr lang="fr-FR"/>
          </a:p>
        </p:txBody>
      </p:sp>
      <p:sp>
        <p:nvSpPr>
          <p:cNvPr id="23" name="Text 19"/>
          <p:cNvSpPr/>
          <p:nvPr/>
        </p:nvSpPr>
        <p:spPr>
          <a:xfrm>
            <a:off x="493776" y="3108960"/>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3</a:t>
            </a:r>
            <a:endParaRPr lang="en-US" sz="1600"/>
          </a:p>
        </p:txBody>
      </p:sp>
      <p:pic>
        <p:nvPicPr>
          <p:cNvPr id="24" name="Image 2" descr="preencoded.png"/>
          <p:cNvPicPr>
            <a:picLocks noChangeAspect="1"/>
          </p:cNvPicPr>
          <p:nvPr/>
        </p:nvPicPr>
        <p:blipFill>
          <a:blip r:embed="rId5"/>
          <a:stretch>
            <a:fillRect/>
          </a:stretch>
        </p:blipFill>
        <p:spPr>
          <a:xfrm>
            <a:off x="1060704" y="3154680"/>
            <a:ext cx="292608" cy="292608"/>
          </a:xfrm>
          <a:prstGeom prst="rect">
            <a:avLst/>
          </a:prstGeom>
        </p:spPr>
      </p:pic>
      <p:sp>
        <p:nvSpPr>
          <p:cNvPr id="25" name="Text 20"/>
          <p:cNvSpPr/>
          <p:nvPr/>
        </p:nvSpPr>
        <p:spPr>
          <a:xfrm>
            <a:off x="1444752" y="3054096"/>
            <a:ext cx="2743200"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Posez vos questions</a:t>
            </a:r>
            <a:endParaRPr lang="en-US" sz="1300"/>
          </a:p>
        </p:txBody>
      </p:sp>
      <p:sp>
        <p:nvSpPr>
          <p:cNvPr id="26" name="Text 21"/>
          <p:cNvSpPr/>
          <p:nvPr/>
        </p:nvSpPr>
        <p:spPr>
          <a:xfrm>
            <a:off x="1444752" y="3364992"/>
            <a:ext cx="7223760" cy="292608"/>
          </a:xfrm>
          <a:prstGeom prst="rect">
            <a:avLst/>
          </a:prstGeom>
          <a:noFill/>
          <a:ln/>
        </p:spPr>
        <p:txBody>
          <a:bodyPr wrap="square" lIns="0" tIns="0" rIns="0" bIns="0" rtlCol="0" anchor="ctr"/>
          <a:lstStyle/>
          <a:p>
            <a:pPr marL="0" indent="0">
              <a:lnSpc>
                <a:spcPct val="125000"/>
              </a:lnSpc>
              <a:buNone/>
            </a:pPr>
            <a:r>
              <a:rPr lang="en-US" sz="1000">
                <a:solidFill>
                  <a:srgbClr val="7090A8"/>
                </a:solidFill>
                <a:latin typeface="Calibri" pitchFamily="34" charset="0"/>
                <a:ea typeface="Calibri" pitchFamily="34" charset="-122"/>
                <a:cs typeface="Calibri" pitchFamily="34" charset="-120"/>
              </a:rPr>
              <a:t>Commentaires YouTube ouverts — chaque question reçoit une réponse. La communauté est là.</a:t>
            </a:r>
            <a:endParaRPr lang="en-US" sz="1000"/>
          </a:p>
        </p:txBody>
      </p:sp>
      <p:sp>
        <p:nvSpPr>
          <p:cNvPr id="27" name="Shape 22"/>
          <p:cNvSpPr/>
          <p:nvPr/>
        </p:nvSpPr>
        <p:spPr>
          <a:xfrm>
            <a:off x="329184" y="3822192"/>
            <a:ext cx="8503920" cy="749808"/>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28" name="Shape 23"/>
          <p:cNvSpPr/>
          <p:nvPr/>
        </p:nvSpPr>
        <p:spPr>
          <a:xfrm>
            <a:off x="329184" y="3822192"/>
            <a:ext cx="73152" cy="749808"/>
          </a:xfrm>
          <a:prstGeom prst="rect">
            <a:avLst/>
          </a:prstGeom>
          <a:solidFill>
            <a:srgbClr val="E74C3C"/>
          </a:solidFill>
          <a:ln/>
        </p:spPr>
        <p:txBody>
          <a:bodyPr/>
          <a:lstStyle/>
          <a:p>
            <a:endParaRPr lang="fr-FR"/>
          </a:p>
        </p:txBody>
      </p:sp>
      <p:sp>
        <p:nvSpPr>
          <p:cNvPr id="29" name="Shape 24"/>
          <p:cNvSpPr/>
          <p:nvPr/>
        </p:nvSpPr>
        <p:spPr>
          <a:xfrm>
            <a:off x="493776" y="3968496"/>
            <a:ext cx="457200" cy="457200"/>
          </a:xfrm>
          <a:prstGeom prst="ellipse">
            <a:avLst/>
          </a:prstGeom>
          <a:solidFill>
            <a:srgbClr val="E74C3C"/>
          </a:solidFill>
          <a:ln/>
        </p:spPr>
        <p:txBody>
          <a:bodyPr/>
          <a:lstStyle/>
          <a:p>
            <a:endParaRPr lang="fr-FR"/>
          </a:p>
        </p:txBody>
      </p:sp>
      <p:sp>
        <p:nvSpPr>
          <p:cNvPr id="30" name="Text 25"/>
          <p:cNvSpPr/>
          <p:nvPr/>
        </p:nvSpPr>
        <p:spPr>
          <a:xfrm>
            <a:off x="493776" y="3968496"/>
            <a:ext cx="457200" cy="457200"/>
          </a:xfrm>
          <a:prstGeom prst="rect">
            <a:avLst/>
          </a:prstGeom>
          <a:noFill/>
          <a:ln/>
        </p:spPr>
        <p:txBody>
          <a:bodyPr wrap="square" lIns="0" tIns="0" rIns="0" bIns="0"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4</a:t>
            </a:r>
            <a:endParaRPr lang="en-US" sz="1600"/>
          </a:p>
        </p:txBody>
      </p:sp>
      <p:pic>
        <p:nvPicPr>
          <p:cNvPr id="31" name="Image 3" descr="preencoded.png"/>
          <p:cNvPicPr>
            <a:picLocks noChangeAspect="1"/>
          </p:cNvPicPr>
          <p:nvPr/>
        </p:nvPicPr>
        <p:blipFill>
          <a:blip r:embed="rId6"/>
          <a:stretch>
            <a:fillRect/>
          </a:stretch>
        </p:blipFill>
        <p:spPr>
          <a:xfrm>
            <a:off x="1060704" y="4014216"/>
            <a:ext cx="292608" cy="292608"/>
          </a:xfrm>
          <a:prstGeom prst="rect">
            <a:avLst/>
          </a:prstGeom>
        </p:spPr>
      </p:pic>
      <p:sp>
        <p:nvSpPr>
          <p:cNvPr id="32" name="Text 26"/>
          <p:cNvSpPr/>
          <p:nvPr/>
        </p:nvSpPr>
        <p:spPr>
          <a:xfrm>
            <a:off x="1444752" y="3913632"/>
            <a:ext cx="2743200" cy="274320"/>
          </a:xfrm>
          <a:prstGeom prst="rect">
            <a:avLst/>
          </a:prstGeom>
          <a:noFill/>
          <a:ln/>
        </p:spPr>
        <p:txBody>
          <a:bodyPr wrap="square" lIns="0" tIns="0" rIns="0" bIns="0" rtlCol="0" anchor="ctr"/>
          <a:lstStyle/>
          <a:p>
            <a:pPr marL="0" indent="0">
              <a:buNone/>
            </a:pPr>
            <a:r>
              <a:rPr lang="en-US" sz="1300" b="1">
                <a:solidFill>
                  <a:srgbClr val="FFFFFF"/>
                </a:solidFill>
                <a:latin typeface="Calibri" pitchFamily="34" charset="0"/>
                <a:ea typeface="Calibri" pitchFamily="34" charset="-122"/>
                <a:cs typeface="Calibri" pitchFamily="34" charset="-120"/>
              </a:rPr>
              <a:t>Partagez avec vos collègues</a:t>
            </a:r>
            <a:endParaRPr lang="en-US" sz="1300"/>
          </a:p>
        </p:txBody>
      </p:sp>
      <p:sp>
        <p:nvSpPr>
          <p:cNvPr id="33" name="Text 27"/>
          <p:cNvSpPr/>
          <p:nvPr/>
        </p:nvSpPr>
        <p:spPr>
          <a:xfrm>
            <a:off x="1444752" y="4224528"/>
            <a:ext cx="7223760" cy="292608"/>
          </a:xfrm>
          <a:prstGeom prst="rect">
            <a:avLst/>
          </a:prstGeom>
          <a:noFill/>
          <a:ln/>
        </p:spPr>
        <p:txBody>
          <a:bodyPr wrap="square" lIns="0" tIns="0" rIns="0" bIns="0" rtlCol="0" anchor="ctr"/>
          <a:lstStyle/>
          <a:p>
            <a:pPr marL="0" indent="0">
              <a:lnSpc>
                <a:spcPct val="125000"/>
              </a:lnSpc>
              <a:buNone/>
            </a:pPr>
            <a:r>
              <a:rPr lang="en-US" sz="1000">
                <a:solidFill>
                  <a:srgbClr val="7090A8"/>
                </a:solidFill>
                <a:latin typeface="Calibri" pitchFamily="34" charset="0"/>
                <a:ea typeface="Calibri" pitchFamily="34" charset="-122"/>
                <a:cs typeface="Calibri" pitchFamily="34" charset="-120"/>
              </a:rPr>
              <a:t>Si cette série vous aide, partagez-la ! C'est ce qui permet de créer du contenu de qualité en français.</a:t>
            </a:r>
            <a:endParaRPr lang="en-US" sz="1000"/>
          </a:p>
        </p:txBody>
      </p:sp>
      <p:sp>
        <p:nvSpPr>
          <p:cNvPr id="34" name="Shape 28"/>
          <p:cNvSpPr/>
          <p:nvPr/>
        </p:nvSpPr>
        <p:spPr>
          <a:xfrm>
            <a:off x="329184" y="4773168"/>
            <a:ext cx="8503920" cy="347472"/>
          </a:xfrm>
          <a:prstGeom prst="rect">
            <a:avLst/>
          </a:prstGeom>
          <a:solidFill>
            <a:srgbClr val="C9A84C"/>
          </a:solidFill>
          <a:ln/>
        </p:spPr>
        <p:txBody>
          <a:bodyPr/>
          <a:lstStyle/>
          <a:p>
            <a:endParaRPr lang="fr-FR"/>
          </a:p>
        </p:txBody>
      </p:sp>
      <p:sp>
        <p:nvSpPr>
          <p:cNvPr id="35" name="Text 29"/>
          <p:cNvSpPr/>
          <p:nvPr/>
        </p:nvSpPr>
        <p:spPr>
          <a:xfrm>
            <a:off x="420624" y="4791456"/>
            <a:ext cx="8357616" cy="292608"/>
          </a:xfrm>
          <a:prstGeom prst="rect">
            <a:avLst/>
          </a:prstGeom>
          <a:noFill/>
          <a:ln/>
        </p:spPr>
        <p:txBody>
          <a:bodyPr wrap="square" lIns="0" tIns="0" rIns="0" bIns="0" rtlCol="0" anchor="ctr"/>
          <a:lstStyle/>
          <a:p>
            <a:pPr marL="0" indent="0" algn="ctr">
              <a:buNone/>
            </a:pPr>
            <a:r>
              <a:rPr lang="en-US" sz="1200" b="1">
                <a:solidFill>
                  <a:srgbClr val="0A1628"/>
                </a:solidFill>
                <a:latin typeface="Calibri" pitchFamily="34" charset="0"/>
                <a:ea typeface="Calibri" pitchFamily="34" charset="-122"/>
                <a:cs typeface="Calibri" pitchFamily="34" charset="-120"/>
              </a:rPr>
              <a:t>🚀  Module 1 — Introduction &amp; Création de compte  →  On démarre !</a:t>
            </a:r>
            <a:endParaRPr lang="en-US" sz="1200"/>
          </a:p>
        </p:txBody>
      </p:sp>
      <p:sp>
        <p:nvSpPr>
          <p:cNvPr id="36" name="Shape 30"/>
          <p:cNvSpPr/>
          <p:nvPr/>
        </p:nvSpPr>
        <p:spPr>
          <a:xfrm>
            <a:off x="0" y="4892040"/>
            <a:ext cx="9144000" cy="251460"/>
          </a:xfrm>
          <a:prstGeom prst="rect">
            <a:avLst/>
          </a:prstGeom>
          <a:solidFill>
            <a:srgbClr val="0D1B35"/>
          </a:solidFill>
          <a:ln/>
        </p:spPr>
        <p:txBody>
          <a:bodyPr/>
          <a:lstStyle/>
          <a:p>
            <a:endParaRPr lang="fr-FR"/>
          </a:p>
        </p:txBody>
      </p:sp>
      <p:sp>
        <p:nvSpPr>
          <p:cNvPr id="37" name="Text 31"/>
          <p:cNvSpPr/>
          <p:nvPr/>
        </p:nvSpPr>
        <p:spPr>
          <a:xfrm>
            <a:off x="274320" y="4901184"/>
            <a:ext cx="6400800" cy="219456"/>
          </a:xfrm>
          <a:prstGeom prst="rect">
            <a:avLst/>
          </a:prstGeom>
          <a:noFill/>
          <a:ln/>
        </p:spPr>
        <p:txBody>
          <a:bodyPr wrap="square" lIns="0" tIns="0" rIns="0" bIns="0" rtlCol="0" anchor="ctr"/>
          <a:lstStyle/>
          <a:p>
            <a:pPr marL="0" indent="0">
              <a:buNone/>
            </a:pPr>
            <a:r>
              <a:rPr lang="en-US" sz="900">
                <a:solidFill>
                  <a:srgbClr val="C9A84C"/>
                </a:solidFill>
                <a:latin typeface="Calibri" pitchFamily="34" charset="0"/>
                <a:ea typeface="Calibri" pitchFamily="34" charset="-122"/>
                <a:cs typeface="Calibri" pitchFamily="34" charset="-120"/>
              </a:rPr>
              <a:t>KoboToolbox de A à Z  ·  Alphonse Euphreme Ahlou</a:t>
            </a:r>
            <a:endParaRPr lang="en-US" sz="900"/>
          </a:p>
        </p:txBody>
      </p:sp>
      <p:sp>
        <p:nvSpPr>
          <p:cNvPr id="38" name="Text 32"/>
          <p:cNvSpPr/>
          <p:nvPr/>
        </p:nvSpPr>
        <p:spPr>
          <a:xfrm>
            <a:off x="8412480" y="4901184"/>
            <a:ext cx="457200" cy="219456"/>
          </a:xfrm>
          <a:prstGeom prst="rect">
            <a:avLst/>
          </a:prstGeom>
          <a:noFill/>
          <a:ln/>
        </p:spPr>
        <p:txBody>
          <a:bodyPr wrap="square" lIns="0" tIns="0" rIns="0" bIns="0" rtlCol="0" anchor="ctr"/>
          <a:lstStyle/>
          <a:p>
            <a:pPr marL="0" indent="0" algn="r">
              <a:buNone/>
            </a:pPr>
            <a:r>
              <a:rPr lang="en-US" sz="900">
                <a:solidFill>
                  <a:srgbClr val="7090A8"/>
                </a:solidFill>
                <a:latin typeface="Calibri" pitchFamily="34" charset="0"/>
                <a:ea typeface="Calibri" pitchFamily="34" charset="-122"/>
                <a:cs typeface="Calibri" pitchFamily="34" charset="-120"/>
              </a:rPr>
              <a:t>15 / 16</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rot="900000">
            <a:off x="6400800" y="-457200"/>
            <a:ext cx="4114800" cy="6858000"/>
          </a:xfrm>
          <a:prstGeom prst="rect">
            <a:avLst/>
          </a:prstGeom>
          <a:solidFill>
            <a:srgbClr val="112240"/>
          </a:solidFill>
          <a:ln/>
        </p:spPr>
        <p:txBody>
          <a:bodyPr/>
          <a:lstStyle/>
          <a:p>
            <a:endParaRPr lang="fr-FR"/>
          </a:p>
        </p:txBody>
      </p:sp>
      <p:sp>
        <p:nvSpPr>
          <p:cNvPr id="3" name="Shape 1"/>
          <p:cNvSpPr/>
          <p:nvPr/>
        </p:nvSpPr>
        <p:spPr>
          <a:xfrm rot="900000">
            <a:off x="7132320" y="-457200"/>
            <a:ext cx="4114800" cy="6858000"/>
          </a:xfrm>
          <a:prstGeom prst="rect">
            <a:avLst/>
          </a:prstGeom>
          <a:solidFill>
            <a:srgbClr val="0C1E38"/>
          </a:solidFill>
          <a:ln/>
        </p:spPr>
        <p:txBody>
          <a:bodyPr/>
          <a:lstStyle/>
          <a:p>
            <a:endParaRPr lang="fr-FR"/>
          </a:p>
        </p:txBody>
      </p:sp>
      <p:sp>
        <p:nvSpPr>
          <p:cNvPr id="4" name="Shape 2"/>
          <p:cNvSpPr/>
          <p:nvPr/>
        </p:nvSpPr>
        <p:spPr>
          <a:xfrm>
            <a:off x="0" y="0"/>
            <a:ext cx="201168" cy="5143500"/>
          </a:xfrm>
          <a:prstGeom prst="rect">
            <a:avLst/>
          </a:prstGeom>
          <a:solidFill>
            <a:srgbClr val="C9A84C"/>
          </a:solidFill>
          <a:ln/>
        </p:spPr>
        <p:txBody>
          <a:bodyPr/>
          <a:lstStyle/>
          <a:p>
            <a:endParaRPr lang="fr-FR"/>
          </a:p>
        </p:txBody>
      </p:sp>
      <p:sp>
        <p:nvSpPr>
          <p:cNvPr id="5" name="Shape 3"/>
          <p:cNvSpPr/>
          <p:nvPr/>
        </p:nvSpPr>
        <p:spPr>
          <a:xfrm>
            <a:off x="457200" y="402336"/>
            <a:ext cx="4114800" cy="329184"/>
          </a:xfrm>
          <a:prstGeom prst="rect">
            <a:avLst/>
          </a:prstGeom>
          <a:solidFill>
            <a:srgbClr val="C9A84C"/>
          </a:solidFill>
          <a:ln/>
        </p:spPr>
        <p:txBody>
          <a:bodyPr/>
          <a:lstStyle/>
          <a:p>
            <a:endParaRPr lang="fr-FR"/>
          </a:p>
        </p:txBody>
      </p:sp>
      <p:sp>
        <p:nvSpPr>
          <p:cNvPr id="6" name="Text 4"/>
          <p:cNvSpPr/>
          <p:nvPr/>
        </p:nvSpPr>
        <p:spPr>
          <a:xfrm>
            <a:off x="457200" y="402336"/>
            <a:ext cx="4114800" cy="329184"/>
          </a:xfrm>
          <a:prstGeom prst="rect">
            <a:avLst/>
          </a:prstGeom>
          <a:noFill/>
          <a:ln/>
        </p:spPr>
        <p:txBody>
          <a:bodyPr wrap="square" lIns="0" tIns="0" rIns="0" bIns="0" rtlCol="0" anchor="ctr"/>
          <a:lstStyle/>
          <a:p>
            <a:pPr marL="0" indent="0" algn="ctr">
              <a:buNone/>
            </a:pPr>
            <a:r>
              <a:rPr lang="en-US" sz="1100" b="1" kern="0" spc="200">
                <a:solidFill>
                  <a:srgbClr val="0A1628"/>
                </a:solidFill>
                <a:latin typeface="Calibri" pitchFamily="34" charset="0"/>
                <a:ea typeface="Calibri" pitchFamily="34" charset="-122"/>
                <a:cs typeface="Calibri" pitchFamily="34" charset="-120"/>
              </a:rPr>
              <a:t>KoboToolbox de A à Z</a:t>
            </a:r>
            <a:endParaRPr lang="en-US" sz="1100"/>
          </a:p>
        </p:txBody>
      </p:sp>
      <p:sp>
        <p:nvSpPr>
          <p:cNvPr id="7" name="Text 5"/>
          <p:cNvSpPr/>
          <p:nvPr/>
        </p:nvSpPr>
        <p:spPr>
          <a:xfrm>
            <a:off x="457200" y="914400"/>
            <a:ext cx="5943600" cy="694944"/>
          </a:xfrm>
          <a:prstGeom prst="rect">
            <a:avLst/>
          </a:prstGeom>
          <a:noFill/>
          <a:ln/>
        </p:spPr>
        <p:txBody>
          <a:bodyPr wrap="square" lIns="0" tIns="0" rIns="0" bIns="0" rtlCol="0" anchor="ctr"/>
          <a:lstStyle/>
          <a:p>
            <a:pPr marL="0" indent="0">
              <a:buNone/>
            </a:pPr>
            <a:r>
              <a:rPr lang="en-US" sz="4400" b="1">
                <a:solidFill>
                  <a:srgbClr val="FFFFFF"/>
                </a:solidFill>
                <a:latin typeface="Calibri" pitchFamily="34" charset="0"/>
                <a:ea typeface="Calibri" pitchFamily="34" charset="-122"/>
                <a:cs typeface="Calibri" pitchFamily="34" charset="-120"/>
              </a:rPr>
              <a:t>À très bientôt</a:t>
            </a:r>
            <a:endParaRPr lang="en-US" sz="4400"/>
          </a:p>
        </p:txBody>
      </p:sp>
      <p:sp>
        <p:nvSpPr>
          <p:cNvPr id="8" name="Text 6"/>
          <p:cNvSpPr/>
          <p:nvPr/>
        </p:nvSpPr>
        <p:spPr>
          <a:xfrm>
            <a:off x="457200" y="1572768"/>
            <a:ext cx="6400800" cy="640080"/>
          </a:xfrm>
          <a:prstGeom prst="rect">
            <a:avLst/>
          </a:prstGeom>
          <a:noFill/>
          <a:ln/>
        </p:spPr>
        <p:txBody>
          <a:bodyPr wrap="square" lIns="0" tIns="0" rIns="0" bIns="0" rtlCol="0" anchor="ctr"/>
          <a:lstStyle/>
          <a:p>
            <a:pPr marL="0" indent="0">
              <a:buNone/>
            </a:pPr>
            <a:r>
              <a:rPr lang="en-US" sz="3800" b="1">
                <a:solidFill>
                  <a:srgbClr val="F0C060"/>
                </a:solidFill>
                <a:latin typeface="Calibri" pitchFamily="34" charset="0"/>
                <a:ea typeface="Calibri" pitchFamily="34" charset="-122"/>
                <a:cs typeface="Calibri" pitchFamily="34" charset="-120"/>
              </a:rPr>
              <a:t>dans la Vidéo 1 ! 👋</a:t>
            </a:r>
            <a:endParaRPr lang="en-US" sz="3800"/>
          </a:p>
        </p:txBody>
      </p:sp>
      <p:sp>
        <p:nvSpPr>
          <p:cNvPr id="9" name="Shape 7"/>
          <p:cNvSpPr/>
          <p:nvPr/>
        </p:nvSpPr>
        <p:spPr>
          <a:xfrm>
            <a:off x="457200" y="2340864"/>
            <a:ext cx="4114800" cy="0"/>
          </a:xfrm>
          <a:prstGeom prst="line">
            <a:avLst/>
          </a:prstGeom>
          <a:noFill/>
          <a:ln w="12700">
            <a:solidFill>
              <a:srgbClr val="3A4A5A"/>
            </a:solidFill>
            <a:prstDash val="solid"/>
          </a:ln>
        </p:spPr>
        <p:txBody>
          <a:bodyPr/>
          <a:lstStyle/>
          <a:p>
            <a:endParaRPr lang="fr-FR"/>
          </a:p>
        </p:txBody>
      </p:sp>
      <p:sp>
        <p:nvSpPr>
          <p:cNvPr id="10" name="Text 8"/>
          <p:cNvSpPr/>
          <p:nvPr/>
        </p:nvSpPr>
        <p:spPr>
          <a:xfrm>
            <a:off x="457200" y="2487168"/>
            <a:ext cx="6400800" cy="36576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Alphonse Euphreme Ahlou</a:t>
            </a:r>
            <a:endParaRPr lang="en-US" sz="1800"/>
          </a:p>
        </p:txBody>
      </p:sp>
      <p:sp>
        <p:nvSpPr>
          <p:cNvPr id="11" name="Text 9"/>
          <p:cNvSpPr/>
          <p:nvPr/>
        </p:nvSpPr>
        <p:spPr>
          <a:xfrm>
            <a:off x="457200" y="2871216"/>
            <a:ext cx="6858000" cy="256032"/>
          </a:xfrm>
          <a:prstGeom prst="rect">
            <a:avLst/>
          </a:prstGeom>
          <a:noFill/>
          <a:ln/>
        </p:spPr>
        <p:txBody>
          <a:bodyPr wrap="square" lIns="0" tIns="0" rIns="0" bIns="0" rtlCol="0" anchor="ctr"/>
          <a:lstStyle/>
          <a:p>
            <a:pPr marL="0" indent="0">
              <a:buNone/>
            </a:pPr>
            <a:r>
              <a:rPr lang="en-US" sz="1200" i="1">
                <a:solidFill>
                  <a:srgbClr val="F0C060"/>
                </a:solidFill>
                <a:latin typeface="Calibri" pitchFamily="34" charset="0"/>
                <a:ea typeface="Calibri" pitchFamily="34" charset="-122"/>
                <a:cs typeface="Calibri" pitchFamily="34" charset="-120"/>
              </a:rPr>
              <a:t>Agent de planification, de programmation et de recherche · Canada</a:t>
            </a:r>
            <a:endParaRPr lang="en-US" sz="1200"/>
          </a:p>
        </p:txBody>
      </p:sp>
      <p:sp>
        <p:nvSpPr>
          <p:cNvPr id="12" name="Shape 10"/>
          <p:cNvSpPr/>
          <p:nvPr/>
        </p:nvSpPr>
        <p:spPr>
          <a:xfrm>
            <a:off x="457200" y="3310128"/>
            <a:ext cx="5943600" cy="1152144"/>
          </a:xfrm>
          <a:prstGeom prst="rect">
            <a:avLst/>
          </a:prstGeom>
          <a:solidFill>
            <a:srgbClr val="112240"/>
          </a:solidFill>
          <a:ln/>
          <a:effectLst>
            <a:outerShdw blurRad="101600" dist="38100" dir="8100000" algn="bl" rotWithShape="0">
              <a:srgbClr val="000000">
                <a:alpha val="18000"/>
              </a:srgbClr>
            </a:outerShdw>
          </a:effectLst>
        </p:spPr>
        <p:txBody>
          <a:bodyPr/>
          <a:lstStyle/>
          <a:p>
            <a:endParaRPr lang="fr-FR"/>
          </a:p>
        </p:txBody>
      </p:sp>
      <p:sp>
        <p:nvSpPr>
          <p:cNvPr id="13" name="Text 11"/>
          <p:cNvSpPr/>
          <p:nvPr/>
        </p:nvSpPr>
        <p:spPr>
          <a:xfrm>
            <a:off x="566928" y="3401568"/>
            <a:ext cx="5724144" cy="256032"/>
          </a:xfrm>
          <a:prstGeom prst="rect">
            <a:avLst/>
          </a:prstGeom>
          <a:noFill/>
          <a:ln/>
        </p:spPr>
        <p:txBody>
          <a:bodyPr wrap="square" lIns="0" tIns="0" rIns="0" bIns="0" rtlCol="0" anchor="ctr"/>
          <a:lstStyle/>
          <a:p>
            <a:pPr marL="0" indent="0">
              <a:buNone/>
            </a:pPr>
            <a:r>
              <a:rPr lang="en-US" sz="1200" b="1">
                <a:solidFill>
                  <a:srgbClr val="F0C060"/>
                </a:solidFill>
                <a:latin typeface="Calibri" pitchFamily="34" charset="0"/>
                <a:ea typeface="Calibri" pitchFamily="34" charset="-122"/>
                <a:cs typeface="Calibri" pitchFamily="34" charset="-120"/>
              </a:rPr>
              <a:t>Pour suivre la série et ne rien manquer :</a:t>
            </a:r>
            <a:endParaRPr lang="en-US" sz="1200"/>
          </a:p>
        </p:txBody>
      </p:sp>
      <p:sp>
        <p:nvSpPr>
          <p:cNvPr id="14" name="Text 12"/>
          <p:cNvSpPr/>
          <p:nvPr/>
        </p:nvSpPr>
        <p:spPr>
          <a:xfrm>
            <a:off x="566928" y="3694176"/>
            <a:ext cx="5724144" cy="182880"/>
          </a:xfrm>
          <a:prstGeom prst="rect">
            <a:avLst/>
          </a:prstGeom>
          <a:noFill/>
          <a:ln/>
        </p:spPr>
        <p:txBody>
          <a:bodyPr wrap="square" lIns="0" tIns="0" rIns="0" bIns="0" rtlCol="0" anchor="ctr"/>
          <a:lstStyle/>
          <a:p>
            <a:pPr marL="0" indent="0">
              <a:buNone/>
            </a:pPr>
            <a:r>
              <a:rPr lang="en-US" sz="1100">
                <a:solidFill>
                  <a:srgbClr val="CCDDEE"/>
                </a:solidFill>
                <a:latin typeface="Calibri" pitchFamily="34" charset="0"/>
                <a:ea typeface="Calibri" pitchFamily="34" charset="-122"/>
                <a:cs typeface="Calibri" pitchFamily="34" charset="-120"/>
              </a:rPr>
              <a:t>🔔 S'abonner à la chaîne YouTube</a:t>
            </a:r>
            <a:endParaRPr lang="en-US" sz="1100"/>
          </a:p>
        </p:txBody>
      </p:sp>
      <p:sp>
        <p:nvSpPr>
          <p:cNvPr id="15" name="Text 13"/>
          <p:cNvSpPr/>
          <p:nvPr/>
        </p:nvSpPr>
        <p:spPr>
          <a:xfrm>
            <a:off x="566928" y="3895344"/>
            <a:ext cx="5724144" cy="182880"/>
          </a:xfrm>
          <a:prstGeom prst="rect">
            <a:avLst/>
          </a:prstGeom>
          <a:noFill/>
          <a:ln/>
        </p:spPr>
        <p:txBody>
          <a:bodyPr wrap="square" lIns="0" tIns="0" rIns="0" bIns="0" rtlCol="0" anchor="ctr"/>
          <a:lstStyle/>
          <a:p>
            <a:pPr marL="0" indent="0">
              <a:buNone/>
            </a:pPr>
            <a:r>
              <a:rPr lang="en-US" sz="1100">
                <a:solidFill>
                  <a:srgbClr val="CCDDEE"/>
                </a:solidFill>
                <a:latin typeface="Calibri" pitchFamily="34" charset="0"/>
                <a:ea typeface="Calibri" pitchFamily="34" charset="-122"/>
                <a:cs typeface="Calibri" pitchFamily="34" charset="-120"/>
              </a:rPr>
              <a:t>👍 Liker chaque vidéo — ça aide vraiment !</a:t>
            </a:r>
            <a:endParaRPr lang="en-US" sz="1100"/>
          </a:p>
        </p:txBody>
      </p:sp>
      <p:sp>
        <p:nvSpPr>
          <p:cNvPr id="16" name="Text 14"/>
          <p:cNvSpPr/>
          <p:nvPr/>
        </p:nvSpPr>
        <p:spPr>
          <a:xfrm>
            <a:off x="566928" y="4096512"/>
            <a:ext cx="5724144" cy="182880"/>
          </a:xfrm>
          <a:prstGeom prst="rect">
            <a:avLst/>
          </a:prstGeom>
          <a:noFill/>
          <a:ln/>
        </p:spPr>
        <p:txBody>
          <a:bodyPr wrap="square" lIns="0" tIns="0" rIns="0" bIns="0" rtlCol="0" anchor="ctr"/>
          <a:lstStyle/>
          <a:p>
            <a:pPr marL="0" indent="0">
              <a:buNone/>
            </a:pPr>
            <a:r>
              <a:rPr lang="en-US" sz="1100">
                <a:solidFill>
                  <a:srgbClr val="CCDDEE"/>
                </a:solidFill>
                <a:latin typeface="Calibri" pitchFamily="34" charset="0"/>
                <a:ea typeface="Calibri" pitchFamily="34" charset="-122"/>
                <a:cs typeface="Calibri" pitchFamily="34" charset="-120"/>
              </a:rPr>
              <a:t>💬 Commenter avec vos questions</a:t>
            </a:r>
            <a:endParaRPr lang="en-US" sz="1100"/>
          </a:p>
        </p:txBody>
      </p:sp>
      <p:sp>
        <p:nvSpPr>
          <p:cNvPr id="17" name="Text 15"/>
          <p:cNvSpPr/>
          <p:nvPr/>
        </p:nvSpPr>
        <p:spPr>
          <a:xfrm>
            <a:off x="566928" y="4297680"/>
            <a:ext cx="5724144" cy="182880"/>
          </a:xfrm>
          <a:prstGeom prst="rect">
            <a:avLst/>
          </a:prstGeom>
          <a:noFill/>
          <a:ln/>
        </p:spPr>
        <p:txBody>
          <a:bodyPr wrap="square" lIns="0" tIns="0" rIns="0" bIns="0" rtlCol="0" anchor="ctr"/>
          <a:lstStyle/>
          <a:p>
            <a:pPr marL="0" indent="0">
              <a:buNone/>
            </a:pPr>
            <a:r>
              <a:rPr lang="en-US" sz="1100">
                <a:solidFill>
                  <a:srgbClr val="CCDDEE"/>
                </a:solidFill>
                <a:latin typeface="Calibri" pitchFamily="34" charset="0"/>
                <a:ea typeface="Calibri" pitchFamily="34" charset="-122"/>
                <a:cs typeface="Calibri" pitchFamily="34" charset="-120"/>
              </a:rPr>
              <a:t>📤 Partager avec vos collègues francophones</a:t>
            </a:r>
            <a:endParaRPr lang="en-US" sz="1100"/>
          </a:p>
        </p:txBody>
      </p:sp>
      <p:sp>
        <p:nvSpPr>
          <p:cNvPr id="18" name="Text 16"/>
          <p:cNvSpPr/>
          <p:nvPr/>
        </p:nvSpPr>
        <p:spPr>
          <a:xfrm>
            <a:off x="457200" y="4553712"/>
            <a:ext cx="6400800" cy="310896"/>
          </a:xfrm>
          <a:prstGeom prst="rect">
            <a:avLst/>
          </a:prstGeom>
          <a:noFill/>
          <a:ln/>
        </p:spPr>
        <p:txBody>
          <a:bodyPr wrap="square" lIns="0" tIns="0" rIns="0" bIns="0" rtlCol="0" anchor="ctr"/>
          <a:lstStyle/>
          <a:p>
            <a:pPr marL="0" indent="0">
              <a:buNone/>
            </a:pPr>
            <a:r>
              <a:rPr lang="en-US" sz="1400" b="1">
                <a:solidFill>
                  <a:srgbClr val="C9A84C"/>
                </a:solidFill>
                <a:latin typeface="Calibri" pitchFamily="34" charset="0"/>
                <a:ea typeface="Calibri" pitchFamily="34" charset="-122"/>
                <a:cs typeface="Calibri" pitchFamily="34" charset="-120"/>
              </a:rPr>
              <a:t>Merci d'être là — On commence maintenant ! 🚀</a:t>
            </a:r>
            <a:endParaRPr lang="en-US"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2129</Words>
  <Application>Microsoft Office PowerPoint</Application>
  <PresentationFormat>Affichage à l'écran (16:9)</PresentationFormat>
  <Paragraphs>408</Paragraphs>
  <Slides>16</Slides>
  <Notes>16</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16</vt:i4>
      </vt:variant>
    </vt:vector>
  </HeadingPairs>
  <TitlesOfParts>
    <vt:vector size="1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KoboToolbox de A à Z — Présentation de la série</dc:title>
  <dc:subject>PptxGenJS Presentation</dc:subject>
  <dc:creator>PptxGenJS</dc:creator>
  <cp:lastModifiedBy>Ahlou Alphonse Euphreme</cp:lastModifiedBy>
  <cp:revision>1</cp:revision>
  <dcterms:created xsi:type="dcterms:W3CDTF">2026-03-29T17:20:14Z</dcterms:created>
  <dcterms:modified xsi:type="dcterms:W3CDTF">2026-03-29T20:51:53Z</dcterms:modified>
</cp:coreProperties>
</file>