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6785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&amp; équipes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3200400" cy="36576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 ·  Vidéo 16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  ·  Collaborateurs · Rôles · Permissions · Partage · Organisations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50208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6032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95020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2316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95020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2628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6656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9502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2940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— Module 11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Collaborer en équipe sur KoboToolbox en toute sécurité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475488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2984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78992" y="13075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rôles — Propriétaire · Admin · Éditeur · Lecteur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1536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les droits de chaque rôle avant de partager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64008" cy="475488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18470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78992" y="1856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collaborateurs à un projet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78992" y="2084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Inviter par nom d'utilisateur ou email Kobo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64008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23957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78992" y="24048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permissions par rôle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78992" y="26334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chaque rôle peut et ne peut pas faire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64008" cy="47548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294436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78992" y="29535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un projet — niveaux et options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78992" y="318211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· Organisation · Lien public · Équipe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7472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474720"/>
            <a:ext cx="64008" cy="475488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349300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78992" y="35021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organisations et équipes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78992" y="37307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des projets et des utilisateurs en équipe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0233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4023360"/>
            <a:ext cx="64008" cy="475488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40416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78992" y="40507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de sécurité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78992" y="4279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donne quoi, quand révoquer, principe du moindre privilège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20040" y="4572000"/>
            <a:ext cx="64008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57200" y="45902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078992" y="45994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 — équipe terrain RACINES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78992" y="48280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les accès pour une équipe de 5 enquêteurs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rôles dans KoboToolbox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Comprendre la hiérarchie des droits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définit 4 rôles par projet. Chaque rôle donne des droits précis sur le formulaire et les données. Il est essentiel de choisir le bon rôle pour chaque membre de l'équipe.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2029968" cy="3035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64008" cy="3035808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1737360"/>
            <a:ext cx="2029968" cy="42062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792224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58952" y="1773936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 (Owner)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11480" y="221284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4 — Maximum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11480" y="2432304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Créateur du projet. Accès total et permanent. Ne peut pas être révoqué. Peut supprimer le projet et transférer la propriété.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1480" y="3090672"/>
            <a:ext cx="1847088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145536"/>
            <a:ext cx="164592" cy="16459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30936" y="312724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faire — accès absolu</a:t>
            </a:r>
            <a:endParaRPr lang="en-US" sz="8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438144"/>
            <a:ext cx="164592" cy="1645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" y="341985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le projet définitivement</a:t>
            </a:r>
            <a:endParaRPr lang="en-US" sz="8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730752"/>
            <a:ext cx="164592" cy="1645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0936" y="371246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Transférer la propriété</a:t>
            </a:r>
            <a:endParaRPr lang="en-US" sz="8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023360"/>
            <a:ext cx="164592" cy="16459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30936" y="400507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tous les collaborateurs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2496312" y="1737360"/>
            <a:ext cx="2029968" cy="3035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0"/>
          <p:cNvSpPr/>
          <p:nvPr/>
        </p:nvSpPr>
        <p:spPr>
          <a:xfrm>
            <a:off x="2496312" y="1737360"/>
            <a:ext cx="64008" cy="3035808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1"/>
          <p:cNvSpPr/>
          <p:nvPr/>
        </p:nvSpPr>
        <p:spPr>
          <a:xfrm>
            <a:off x="2496312" y="1737360"/>
            <a:ext cx="2029968" cy="420624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9464" y="1792224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2935224" y="1773936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 (Admin)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2587752" y="221284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— Très élevé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2587752" y="2432304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complet sauf suppression du projet. Gère les formulaires, les données et les autres utilisateurs. Peut modifier les paramètres.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2587752" y="3090672"/>
            <a:ext cx="1847088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3145536"/>
            <a:ext cx="164592" cy="16459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2807208" y="312724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 formulaire</a:t>
            </a:r>
            <a:endParaRPr lang="en-US" sz="8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3438144"/>
            <a:ext cx="164592" cy="16459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2807208" y="341985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et modifier les données</a:t>
            </a:r>
            <a:endParaRPr lang="en-US" sz="85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3730752"/>
            <a:ext cx="164592" cy="16459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2807208" y="371246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collaborateurs</a:t>
            </a:r>
            <a:endParaRPr lang="en-US" sz="85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4023360"/>
            <a:ext cx="164592" cy="16459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2807208" y="400507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et supprimer des soumissions</a:t>
            </a:r>
            <a:endParaRPr lang="en-US" sz="850" dirty="0"/>
          </a:p>
        </p:txBody>
      </p:sp>
      <p:sp>
        <p:nvSpPr>
          <p:cNvPr id="42" name="Shape 30"/>
          <p:cNvSpPr/>
          <p:nvPr/>
        </p:nvSpPr>
        <p:spPr>
          <a:xfrm>
            <a:off x="4672584" y="1737360"/>
            <a:ext cx="2029968" cy="3035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31"/>
          <p:cNvSpPr/>
          <p:nvPr/>
        </p:nvSpPr>
        <p:spPr>
          <a:xfrm>
            <a:off x="4672584" y="1737360"/>
            <a:ext cx="64008" cy="303580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32"/>
          <p:cNvSpPr/>
          <p:nvPr/>
        </p:nvSpPr>
        <p:spPr>
          <a:xfrm>
            <a:off x="4672584" y="1737360"/>
            <a:ext cx="2029968" cy="42062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1792224"/>
            <a:ext cx="292608" cy="292608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5111496" y="1773936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 (Editor)</a:t>
            </a:r>
            <a:endParaRPr lang="en-US" sz="1050" dirty="0"/>
          </a:p>
        </p:txBody>
      </p:sp>
      <p:sp>
        <p:nvSpPr>
          <p:cNvPr id="47" name="Text 34"/>
          <p:cNvSpPr/>
          <p:nvPr/>
        </p:nvSpPr>
        <p:spPr>
          <a:xfrm>
            <a:off x="4764024" y="221284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— Intermédiaire</a:t>
            </a:r>
            <a:endParaRPr lang="en-US" sz="850" dirty="0"/>
          </a:p>
        </p:txBody>
      </p:sp>
      <p:sp>
        <p:nvSpPr>
          <p:cNvPr id="48" name="Text 35"/>
          <p:cNvSpPr/>
          <p:nvPr/>
        </p:nvSpPr>
        <p:spPr>
          <a:xfrm>
            <a:off x="4764024" y="2432304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collecter des données et modifier les soumissions. Ne peut pas modifier le formulaire ni gérer les utilisateurs.</a:t>
            </a:r>
            <a:endParaRPr lang="en-US" sz="900" dirty="0"/>
          </a:p>
        </p:txBody>
      </p:sp>
      <p:sp>
        <p:nvSpPr>
          <p:cNvPr id="49" name="Shape 36"/>
          <p:cNvSpPr/>
          <p:nvPr/>
        </p:nvSpPr>
        <p:spPr>
          <a:xfrm>
            <a:off x="4764024" y="3090672"/>
            <a:ext cx="1847088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3145536"/>
            <a:ext cx="164592" cy="164592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4983480" y="312724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 des données</a:t>
            </a:r>
            <a:endParaRPr lang="en-US" sz="850" dirty="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3438144"/>
            <a:ext cx="164592" cy="164592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4983480" y="341985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et modifier les soumissions</a:t>
            </a:r>
            <a:endParaRPr lang="en-US" sz="850" dirty="0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3730752"/>
            <a:ext cx="164592" cy="164592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4983480" y="371246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les données</a:t>
            </a:r>
            <a:endParaRPr lang="en-US" sz="850" dirty="0"/>
          </a:p>
        </p:txBody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4023360"/>
            <a:ext cx="164592" cy="164592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4983480" y="400507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aux rapports</a:t>
            </a:r>
            <a:endParaRPr lang="en-US" sz="850" dirty="0"/>
          </a:p>
        </p:txBody>
      </p:sp>
      <p:sp>
        <p:nvSpPr>
          <p:cNvPr id="58" name="Shape 41"/>
          <p:cNvSpPr/>
          <p:nvPr/>
        </p:nvSpPr>
        <p:spPr>
          <a:xfrm>
            <a:off x="6848856" y="1737360"/>
            <a:ext cx="2029968" cy="3035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9" name="Shape 42"/>
          <p:cNvSpPr/>
          <p:nvPr/>
        </p:nvSpPr>
        <p:spPr>
          <a:xfrm>
            <a:off x="6848856" y="1737360"/>
            <a:ext cx="64008" cy="303580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43"/>
          <p:cNvSpPr/>
          <p:nvPr/>
        </p:nvSpPr>
        <p:spPr>
          <a:xfrm>
            <a:off x="6848856" y="1737360"/>
            <a:ext cx="2029968" cy="420624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2008" y="1792224"/>
            <a:ext cx="292608" cy="292608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7287768" y="1773936"/>
            <a:ext cx="1517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Lecteur (Viewer)</a:t>
            </a:r>
            <a:endParaRPr lang="en-US" sz="1050" dirty="0"/>
          </a:p>
        </p:txBody>
      </p:sp>
      <p:sp>
        <p:nvSpPr>
          <p:cNvPr id="63" name="Text 45"/>
          <p:cNvSpPr/>
          <p:nvPr/>
        </p:nvSpPr>
        <p:spPr>
          <a:xfrm>
            <a:off x="6940296" y="221284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— Lecture seule</a:t>
            </a:r>
            <a:endParaRPr lang="en-US" sz="850" dirty="0"/>
          </a:p>
        </p:txBody>
      </p:sp>
      <p:sp>
        <p:nvSpPr>
          <p:cNvPr id="64" name="Text 46"/>
          <p:cNvSpPr/>
          <p:nvPr/>
        </p:nvSpPr>
        <p:spPr>
          <a:xfrm>
            <a:off x="6940296" y="2432304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en lecture seule. Peut voir les données et les rapports mais ne peut rien modifier. Idéal pour les partenaires de monitoring.</a:t>
            </a:r>
            <a:endParaRPr lang="en-US" sz="900" dirty="0"/>
          </a:p>
        </p:txBody>
      </p:sp>
      <p:sp>
        <p:nvSpPr>
          <p:cNvPr id="65" name="Shape 47"/>
          <p:cNvSpPr/>
          <p:nvPr/>
        </p:nvSpPr>
        <p:spPr>
          <a:xfrm>
            <a:off x="6940296" y="3090672"/>
            <a:ext cx="1847088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66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3145536"/>
            <a:ext cx="164592" cy="164592"/>
          </a:xfrm>
          <a:prstGeom prst="rect">
            <a:avLst/>
          </a:prstGeom>
        </p:spPr>
      </p:pic>
      <p:sp>
        <p:nvSpPr>
          <p:cNvPr id="67" name="Text 48"/>
          <p:cNvSpPr/>
          <p:nvPr/>
        </p:nvSpPr>
        <p:spPr>
          <a:xfrm>
            <a:off x="7159752" y="312724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soumissions</a:t>
            </a:r>
            <a:endParaRPr lang="en-US" sz="850" dirty="0"/>
          </a:p>
        </p:txBody>
      </p:sp>
      <p:pic>
        <p:nvPicPr>
          <p:cNvPr id="68" name="Image 1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3438144"/>
            <a:ext cx="164592" cy="164592"/>
          </a:xfrm>
          <a:prstGeom prst="rect">
            <a:avLst/>
          </a:prstGeom>
        </p:spPr>
      </p:pic>
      <p:sp>
        <p:nvSpPr>
          <p:cNvPr id="69" name="Text 49"/>
          <p:cNvSpPr/>
          <p:nvPr/>
        </p:nvSpPr>
        <p:spPr>
          <a:xfrm>
            <a:off x="7159752" y="341985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rapports</a:t>
            </a:r>
            <a:endParaRPr lang="en-US" sz="850" dirty="0"/>
          </a:p>
        </p:txBody>
      </p:sp>
      <p:pic>
        <p:nvPicPr>
          <p:cNvPr id="70" name="Image 1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3730752"/>
            <a:ext cx="164592" cy="164592"/>
          </a:xfrm>
          <a:prstGeom prst="rect">
            <a:avLst/>
          </a:prstGeom>
        </p:spPr>
      </p:pic>
      <p:sp>
        <p:nvSpPr>
          <p:cNvPr id="71" name="Text 50"/>
          <p:cNvSpPr/>
          <p:nvPr/>
        </p:nvSpPr>
        <p:spPr>
          <a:xfrm>
            <a:off x="7159752" y="371246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les données</a:t>
            </a:r>
            <a:endParaRPr lang="en-US" sz="850" dirty="0"/>
          </a:p>
        </p:txBody>
      </p:sp>
      <p:pic>
        <p:nvPicPr>
          <p:cNvPr id="72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4023360"/>
            <a:ext cx="164592" cy="164592"/>
          </a:xfrm>
          <a:prstGeom prst="rect">
            <a:avLst/>
          </a:prstGeom>
        </p:spPr>
      </p:pic>
      <p:sp>
        <p:nvSpPr>
          <p:cNvPr id="73" name="Text 51"/>
          <p:cNvSpPr/>
          <p:nvPr/>
        </p:nvSpPr>
        <p:spPr>
          <a:xfrm>
            <a:off x="7159752" y="400507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la carte GPS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collaborateurs à un projet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Inviter par nom d'utilisateur ou email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partager un projet 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411480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64008" cy="585216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1746504"/>
            <a:ext cx="420624" cy="420624"/>
          </a:xfrm>
          <a:prstGeom prst="ellipse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1746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792224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371600" y="171907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projet dans KoboToolbox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371600" y="197510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la liste Projects → cliquer sur les 3 points (⋮) du projet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2322576"/>
            <a:ext cx="411480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365760" y="2322576"/>
            <a:ext cx="64008" cy="58521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457200" y="2404872"/>
            <a:ext cx="420624" cy="420624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457200" y="2404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450592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371600" y="2377440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« Paramètres »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1371600" y="263347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latéral « Partager » ou « Partager ce projet »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65760" y="2980944"/>
            <a:ext cx="411480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2"/>
          <p:cNvSpPr/>
          <p:nvPr/>
        </p:nvSpPr>
        <p:spPr>
          <a:xfrm>
            <a:off x="365760" y="2980944"/>
            <a:ext cx="64008" cy="585216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3"/>
          <p:cNvSpPr/>
          <p:nvPr/>
        </p:nvSpPr>
        <p:spPr>
          <a:xfrm>
            <a:off x="457200" y="3063240"/>
            <a:ext cx="420624" cy="420624"/>
          </a:xfrm>
          <a:prstGeom prst="ellipse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4"/>
          <p:cNvSpPr/>
          <p:nvPr/>
        </p:nvSpPr>
        <p:spPr>
          <a:xfrm>
            <a:off x="45720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108960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371600" y="3035808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 nom d'utilisateur Kobo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1371600" y="329184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collaborateur doit avoir un compte KoboToolbox actif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365760" y="3639312"/>
            <a:ext cx="411480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28"/>
          <p:cNvSpPr/>
          <p:nvPr/>
        </p:nvSpPr>
        <p:spPr>
          <a:xfrm>
            <a:off x="365760" y="3639312"/>
            <a:ext cx="64008" cy="585216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29"/>
          <p:cNvSpPr/>
          <p:nvPr/>
        </p:nvSpPr>
        <p:spPr>
          <a:xfrm>
            <a:off x="457200" y="3721608"/>
            <a:ext cx="420624" cy="420624"/>
          </a:xfrm>
          <a:prstGeom prst="ellipse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0"/>
          <p:cNvSpPr/>
          <p:nvPr/>
        </p:nvSpPr>
        <p:spPr>
          <a:xfrm>
            <a:off x="457200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767328"/>
            <a:ext cx="292608" cy="29260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371600" y="3694176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rôle approprié</a:t>
            </a:r>
            <a:endParaRPr lang="en-US" sz="1150" dirty="0"/>
          </a:p>
        </p:txBody>
      </p:sp>
      <p:sp>
        <p:nvSpPr>
          <p:cNvPr id="38" name="Text 32"/>
          <p:cNvSpPr/>
          <p:nvPr/>
        </p:nvSpPr>
        <p:spPr>
          <a:xfrm>
            <a:off x="1371600" y="395020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Éditeur · Lecteur — selon les responsabilités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365760" y="4297680"/>
            <a:ext cx="411480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4"/>
          <p:cNvSpPr/>
          <p:nvPr/>
        </p:nvSpPr>
        <p:spPr>
          <a:xfrm>
            <a:off x="365760" y="4297680"/>
            <a:ext cx="64008" cy="58521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5"/>
          <p:cNvSpPr/>
          <p:nvPr/>
        </p:nvSpPr>
        <p:spPr>
          <a:xfrm>
            <a:off x="457200" y="4379976"/>
            <a:ext cx="420624" cy="420624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36"/>
          <p:cNvSpPr/>
          <p:nvPr/>
        </p:nvSpPr>
        <p:spPr>
          <a:xfrm>
            <a:off x="457200" y="4379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4425696"/>
            <a:ext cx="292608" cy="29260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371600" y="4352544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l'invitation</a:t>
            </a:r>
            <a:endParaRPr lang="en-US" sz="1150" dirty="0"/>
          </a:p>
        </p:txBody>
      </p:sp>
      <p:sp>
        <p:nvSpPr>
          <p:cNvPr id="45" name="Text 38"/>
          <p:cNvSpPr/>
          <p:nvPr/>
        </p:nvSpPr>
        <p:spPr>
          <a:xfrm>
            <a:off x="1371600" y="460857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collaborateur reçoit un email de notification automatique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0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1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— Enquête_RACINES_2024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4828032" y="1719072"/>
            <a:ext cx="3968496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3"/>
          <p:cNvSpPr/>
          <p:nvPr/>
        </p:nvSpPr>
        <p:spPr>
          <a:xfrm>
            <a:off x="4919472" y="1719072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Collaborateurs actuels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4828032" y="2066544"/>
            <a:ext cx="3968496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45"/>
          <p:cNvSpPr/>
          <p:nvPr/>
        </p:nvSpPr>
        <p:spPr>
          <a:xfrm>
            <a:off x="4882896" y="2103120"/>
            <a:ext cx="292608" cy="292608"/>
          </a:xfrm>
          <a:prstGeom prst="ellipse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46"/>
          <p:cNvSpPr/>
          <p:nvPr/>
        </p:nvSpPr>
        <p:spPr>
          <a:xfrm>
            <a:off x="4882896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</a:t>
            </a:r>
            <a:endParaRPr lang="en-US" sz="576" dirty="0"/>
          </a:p>
        </p:txBody>
      </p:sp>
      <p:sp>
        <p:nvSpPr>
          <p:cNvPr id="54" name="Text 47"/>
          <p:cNvSpPr/>
          <p:nvPr/>
        </p:nvSpPr>
        <p:spPr>
          <a:xfrm>
            <a:off x="5230368" y="2139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jean.dupont</a:t>
            </a:r>
            <a:endParaRPr lang="en-US" sz="950" dirty="0"/>
          </a:p>
        </p:txBody>
      </p:sp>
      <p:sp>
        <p:nvSpPr>
          <p:cNvPr id="55" name="Shape 48"/>
          <p:cNvSpPr/>
          <p:nvPr/>
        </p:nvSpPr>
        <p:spPr>
          <a:xfrm>
            <a:off x="7296912" y="2139696"/>
            <a:ext cx="1408176" cy="201168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49"/>
          <p:cNvSpPr/>
          <p:nvPr/>
        </p:nvSpPr>
        <p:spPr>
          <a:xfrm>
            <a:off x="7296912" y="213969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</a:t>
            </a:r>
            <a:endParaRPr lang="en-US" sz="850" dirty="0"/>
          </a:p>
        </p:txBody>
      </p:sp>
      <p:sp>
        <p:nvSpPr>
          <p:cNvPr id="57" name="Text 50"/>
          <p:cNvSpPr/>
          <p:nvPr/>
        </p:nvSpPr>
        <p:spPr>
          <a:xfrm>
            <a:off x="8723376" y="215798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58" name="Shape 51"/>
          <p:cNvSpPr/>
          <p:nvPr/>
        </p:nvSpPr>
        <p:spPr>
          <a:xfrm>
            <a:off x="4828032" y="2450592"/>
            <a:ext cx="3968496" cy="36576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Shape 52"/>
          <p:cNvSpPr/>
          <p:nvPr/>
        </p:nvSpPr>
        <p:spPr>
          <a:xfrm>
            <a:off x="4882896" y="2487168"/>
            <a:ext cx="292608" cy="292608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3"/>
          <p:cNvSpPr/>
          <p:nvPr/>
        </p:nvSpPr>
        <p:spPr>
          <a:xfrm>
            <a:off x="4882896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</a:t>
            </a:r>
            <a:endParaRPr lang="en-US" sz="576" dirty="0"/>
          </a:p>
        </p:txBody>
      </p:sp>
      <p:sp>
        <p:nvSpPr>
          <p:cNvPr id="61" name="Text 54"/>
          <p:cNvSpPr/>
          <p:nvPr/>
        </p:nvSpPr>
        <p:spPr>
          <a:xfrm>
            <a:off x="5230368" y="25237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marie.kouassi</a:t>
            </a:r>
            <a:endParaRPr lang="en-US" sz="950" dirty="0"/>
          </a:p>
        </p:txBody>
      </p:sp>
      <p:sp>
        <p:nvSpPr>
          <p:cNvPr id="62" name="Shape 55"/>
          <p:cNvSpPr/>
          <p:nvPr/>
        </p:nvSpPr>
        <p:spPr>
          <a:xfrm>
            <a:off x="7296912" y="2523744"/>
            <a:ext cx="1408176" cy="20116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56"/>
          <p:cNvSpPr/>
          <p:nvPr/>
        </p:nvSpPr>
        <p:spPr>
          <a:xfrm>
            <a:off x="7296912" y="252374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</a:t>
            </a:r>
            <a:endParaRPr lang="en-US" sz="850" dirty="0"/>
          </a:p>
        </p:txBody>
      </p:sp>
      <p:sp>
        <p:nvSpPr>
          <p:cNvPr id="64" name="Text 57"/>
          <p:cNvSpPr/>
          <p:nvPr/>
        </p:nvSpPr>
        <p:spPr>
          <a:xfrm>
            <a:off x="8723376" y="254203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65" name="Shape 58"/>
          <p:cNvSpPr/>
          <p:nvPr/>
        </p:nvSpPr>
        <p:spPr>
          <a:xfrm>
            <a:off x="4828032" y="2834640"/>
            <a:ext cx="3968496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Shape 59"/>
          <p:cNvSpPr/>
          <p:nvPr/>
        </p:nvSpPr>
        <p:spPr>
          <a:xfrm>
            <a:off x="4882896" y="2871216"/>
            <a:ext cx="292608" cy="292608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Text 60"/>
          <p:cNvSpPr/>
          <p:nvPr/>
        </p:nvSpPr>
        <p:spPr>
          <a:xfrm>
            <a:off x="4882896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576" dirty="0"/>
          </a:p>
        </p:txBody>
      </p:sp>
      <p:sp>
        <p:nvSpPr>
          <p:cNvPr id="68" name="Text 61"/>
          <p:cNvSpPr/>
          <p:nvPr/>
        </p:nvSpPr>
        <p:spPr>
          <a:xfrm>
            <a:off x="5230368" y="2907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paul.ade</a:t>
            </a:r>
            <a:endParaRPr lang="en-US" sz="950" dirty="0"/>
          </a:p>
        </p:txBody>
      </p:sp>
      <p:sp>
        <p:nvSpPr>
          <p:cNvPr id="69" name="Shape 62"/>
          <p:cNvSpPr/>
          <p:nvPr/>
        </p:nvSpPr>
        <p:spPr>
          <a:xfrm>
            <a:off x="7296912" y="2907792"/>
            <a:ext cx="1408176" cy="20116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63"/>
          <p:cNvSpPr/>
          <p:nvPr/>
        </p:nvSpPr>
        <p:spPr>
          <a:xfrm>
            <a:off x="7296912" y="2907792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</a:t>
            </a:r>
            <a:endParaRPr lang="en-US" sz="850" dirty="0"/>
          </a:p>
        </p:txBody>
      </p:sp>
      <p:sp>
        <p:nvSpPr>
          <p:cNvPr id="71" name="Text 64"/>
          <p:cNvSpPr/>
          <p:nvPr/>
        </p:nvSpPr>
        <p:spPr>
          <a:xfrm>
            <a:off x="8723376" y="292608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72" name="Shape 65"/>
          <p:cNvSpPr/>
          <p:nvPr/>
        </p:nvSpPr>
        <p:spPr>
          <a:xfrm>
            <a:off x="4828032" y="3218688"/>
            <a:ext cx="3968496" cy="36576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66"/>
          <p:cNvSpPr/>
          <p:nvPr/>
        </p:nvSpPr>
        <p:spPr>
          <a:xfrm>
            <a:off x="4882896" y="3255264"/>
            <a:ext cx="292608" cy="292608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Text 67"/>
          <p:cNvSpPr/>
          <p:nvPr/>
        </p:nvSpPr>
        <p:spPr>
          <a:xfrm>
            <a:off x="4882896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7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576" dirty="0"/>
          </a:p>
        </p:txBody>
      </p:sp>
      <p:sp>
        <p:nvSpPr>
          <p:cNvPr id="75" name="Text 68"/>
          <p:cNvSpPr/>
          <p:nvPr/>
        </p:nvSpPr>
        <p:spPr>
          <a:xfrm>
            <a:off x="5230368" y="3291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s.mensah</a:t>
            </a:r>
            <a:endParaRPr lang="en-US" sz="950" dirty="0"/>
          </a:p>
        </p:txBody>
      </p:sp>
      <p:sp>
        <p:nvSpPr>
          <p:cNvPr id="76" name="Shape 69"/>
          <p:cNvSpPr/>
          <p:nvPr/>
        </p:nvSpPr>
        <p:spPr>
          <a:xfrm>
            <a:off x="7296912" y="3291840"/>
            <a:ext cx="1408176" cy="20116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0"/>
          <p:cNvSpPr/>
          <p:nvPr/>
        </p:nvSpPr>
        <p:spPr>
          <a:xfrm>
            <a:off x="7296912" y="329184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Lecteur</a:t>
            </a:r>
            <a:endParaRPr lang="en-US" sz="850" dirty="0"/>
          </a:p>
        </p:txBody>
      </p:sp>
      <p:sp>
        <p:nvSpPr>
          <p:cNvPr id="78" name="Text 71"/>
          <p:cNvSpPr/>
          <p:nvPr/>
        </p:nvSpPr>
        <p:spPr>
          <a:xfrm>
            <a:off x="8723376" y="331012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79" name="Shape 72"/>
          <p:cNvSpPr/>
          <p:nvPr/>
        </p:nvSpPr>
        <p:spPr>
          <a:xfrm>
            <a:off x="4828032" y="3621024"/>
            <a:ext cx="3968496" cy="310896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Text 73"/>
          <p:cNvSpPr/>
          <p:nvPr/>
        </p:nvSpPr>
        <p:spPr>
          <a:xfrm>
            <a:off x="4919472" y="3621024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collaborateur</a:t>
            </a:r>
            <a:endParaRPr lang="en-US" sz="1000" dirty="0"/>
          </a:p>
        </p:txBody>
      </p:sp>
      <p:sp>
        <p:nvSpPr>
          <p:cNvPr id="81" name="Shape 74"/>
          <p:cNvSpPr/>
          <p:nvPr/>
        </p:nvSpPr>
        <p:spPr>
          <a:xfrm>
            <a:off x="4828032" y="3968496"/>
            <a:ext cx="2633472" cy="310896"/>
          </a:xfrm>
          <a:prstGeom prst="rect">
            <a:avLst/>
          </a:prstGeom>
          <a:solidFill>
            <a:srgbClr val="F0F7FF"/>
          </a:solidFill>
          <a:ln w="635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75"/>
          <p:cNvSpPr/>
          <p:nvPr/>
        </p:nvSpPr>
        <p:spPr>
          <a:xfrm>
            <a:off x="4882896" y="400507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d'utilisateur Kobo…</a:t>
            </a:r>
            <a:endParaRPr lang="en-US" sz="900" dirty="0"/>
          </a:p>
        </p:txBody>
      </p:sp>
      <p:sp>
        <p:nvSpPr>
          <p:cNvPr id="83" name="Shape 76"/>
          <p:cNvSpPr/>
          <p:nvPr/>
        </p:nvSpPr>
        <p:spPr>
          <a:xfrm>
            <a:off x="7498080" y="3968496"/>
            <a:ext cx="1243584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1A3A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Text 77"/>
          <p:cNvSpPr/>
          <p:nvPr/>
        </p:nvSpPr>
        <p:spPr>
          <a:xfrm>
            <a:off x="7534656" y="400507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 ▼</a:t>
            </a:r>
            <a:endParaRPr lang="en-US" sz="900" dirty="0"/>
          </a:p>
        </p:txBody>
      </p:sp>
      <p:sp>
        <p:nvSpPr>
          <p:cNvPr id="85" name="Shape 78"/>
          <p:cNvSpPr/>
          <p:nvPr/>
        </p:nvSpPr>
        <p:spPr>
          <a:xfrm>
            <a:off x="4828032" y="4352544"/>
            <a:ext cx="3968496" cy="310896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Text 79"/>
          <p:cNvSpPr/>
          <p:nvPr/>
        </p:nvSpPr>
        <p:spPr>
          <a:xfrm>
            <a:off x="4828032" y="4352544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permissions par rôle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Ce que chaque rôle peut faire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complète des droits accordés à chaque rôle pour un projet KoboToolbox 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2926080" cy="32918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0040" y="15727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Permission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64408" y="1572768"/>
            <a:ext cx="1371600" cy="32918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64408" y="1572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54296" y="1572768"/>
            <a:ext cx="1371600" cy="329184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654296" y="1572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44184" y="1572768"/>
            <a:ext cx="1371600" cy="3291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044184" y="1572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34072" y="1572768"/>
            <a:ext cx="1371600" cy="329184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434072" y="1572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Lecteur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1901952"/>
            <a:ext cx="292608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74904" y="1938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 formulaire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64408" y="1901952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264408" y="1901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54296" y="1901952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654296" y="1901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44184" y="1901952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044184" y="1901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434072" y="1901952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434072" y="1901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2148840"/>
            <a:ext cx="2926080" cy="2286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74904" y="21854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 formulaire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64408" y="2148840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264408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54296" y="2148840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654296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44184" y="2148840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6044184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34072" y="2148840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7434072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2395728"/>
            <a:ext cx="292608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74904" y="243230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le formulaire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64408" y="2395728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264408" y="2395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54296" y="2395728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654296" y="2395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44184" y="2395728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044184" y="2395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34072" y="2395728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7434072" y="2395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2642616"/>
            <a:ext cx="2926080" cy="2286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374904" y="26791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soumissions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64408" y="2642616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3264408" y="26426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54296" y="2642616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4654296" y="26426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044184" y="2642616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6044184" y="26426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434072" y="2642616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7434072" y="26426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20040" y="2889504"/>
            <a:ext cx="292608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374904" y="292608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soumissions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64408" y="2889504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3264408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654296" y="2889504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4654296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044184" y="2889504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6044184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434072" y="2889504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7434072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20040" y="3136392"/>
            <a:ext cx="2926080" cy="2286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374904" y="317296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une soumission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64408" y="3136392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3264408" y="3136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654296" y="3136392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4654296" y="3136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044184" y="3136392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6044184" y="3136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434072" y="3136392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7434072" y="3136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20040" y="3383280"/>
            <a:ext cx="292608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Text 79"/>
          <p:cNvSpPr/>
          <p:nvPr/>
        </p:nvSpPr>
        <p:spPr>
          <a:xfrm>
            <a:off x="374904" y="341985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une soumission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264408" y="3383280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Text 81"/>
          <p:cNvSpPr/>
          <p:nvPr/>
        </p:nvSpPr>
        <p:spPr>
          <a:xfrm>
            <a:off x="3264408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654296" y="3383280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Text 83"/>
          <p:cNvSpPr/>
          <p:nvPr/>
        </p:nvSpPr>
        <p:spPr>
          <a:xfrm>
            <a:off x="4654296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044184" y="3383280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6044184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434072" y="3383280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Text 87"/>
          <p:cNvSpPr/>
          <p:nvPr/>
        </p:nvSpPr>
        <p:spPr>
          <a:xfrm>
            <a:off x="7434072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320040" y="3630168"/>
            <a:ext cx="2926080" cy="2286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Text 89"/>
          <p:cNvSpPr/>
          <p:nvPr/>
        </p:nvSpPr>
        <p:spPr>
          <a:xfrm>
            <a:off x="374904" y="366674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les données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264408" y="3630168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Text 91"/>
          <p:cNvSpPr/>
          <p:nvPr/>
        </p:nvSpPr>
        <p:spPr>
          <a:xfrm>
            <a:off x="3264408" y="3630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654296" y="3630168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Text 93"/>
          <p:cNvSpPr/>
          <p:nvPr/>
        </p:nvSpPr>
        <p:spPr>
          <a:xfrm>
            <a:off x="4654296" y="3630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044184" y="3630168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Text 95"/>
          <p:cNvSpPr/>
          <p:nvPr/>
        </p:nvSpPr>
        <p:spPr>
          <a:xfrm>
            <a:off x="6044184" y="3630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7434072" y="3630168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Text 97"/>
          <p:cNvSpPr/>
          <p:nvPr/>
        </p:nvSpPr>
        <p:spPr>
          <a:xfrm>
            <a:off x="7434072" y="3630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320040" y="3877056"/>
            <a:ext cx="292608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Text 99"/>
          <p:cNvSpPr/>
          <p:nvPr/>
        </p:nvSpPr>
        <p:spPr>
          <a:xfrm>
            <a:off x="374904" y="391363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rapports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64408" y="3877056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Text 101"/>
          <p:cNvSpPr/>
          <p:nvPr/>
        </p:nvSpPr>
        <p:spPr>
          <a:xfrm>
            <a:off x="3264408" y="3877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4654296" y="3877056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Text 103"/>
          <p:cNvSpPr/>
          <p:nvPr/>
        </p:nvSpPr>
        <p:spPr>
          <a:xfrm>
            <a:off x="4654296" y="3877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6044184" y="3877056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Text 105"/>
          <p:cNvSpPr/>
          <p:nvPr/>
        </p:nvSpPr>
        <p:spPr>
          <a:xfrm>
            <a:off x="6044184" y="3877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7434072" y="3877056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9" name="Text 107"/>
          <p:cNvSpPr/>
          <p:nvPr/>
        </p:nvSpPr>
        <p:spPr>
          <a:xfrm>
            <a:off x="7434072" y="3877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320040" y="4123944"/>
            <a:ext cx="2926080" cy="2286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1" name="Text 109"/>
          <p:cNvSpPr/>
          <p:nvPr/>
        </p:nvSpPr>
        <p:spPr>
          <a:xfrm>
            <a:off x="374904" y="416052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collaborateurs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3264408" y="4123944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3" name="Text 111"/>
          <p:cNvSpPr/>
          <p:nvPr/>
        </p:nvSpPr>
        <p:spPr>
          <a:xfrm>
            <a:off x="3264408" y="4123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4654296" y="4123944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5" name="Text 113"/>
          <p:cNvSpPr/>
          <p:nvPr/>
        </p:nvSpPr>
        <p:spPr>
          <a:xfrm>
            <a:off x="4654296" y="4123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6044184" y="4123944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7" name="Text 115"/>
          <p:cNvSpPr/>
          <p:nvPr/>
        </p:nvSpPr>
        <p:spPr>
          <a:xfrm>
            <a:off x="6044184" y="4123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7434072" y="4123944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9" name="Text 117"/>
          <p:cNvSpPr/>
          <p:nvPr/>
        </p:nvSpPr>
        <p:spPr>
          <a:xfrm>
            <a:off x="7434072" y="4123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320040" y="4370832"/>
            <a:ext cx="292608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Text 119"/>
          <p:cNvSpPr/>
          <p:nvPr/>
        </p:nvSpPr>
        <p:spPr>
          <a:xfrm>
            <a:off x="374904" y="44074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les paramètres projet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3264408" y="4370832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3" name="Text 121"/>
          <p:cNvSpPr/>
          <p:nvPr/>
        </p:nvSpPr>
        <p:spPr>
          <a:xfrm>
            <a:off x="3264408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4654296" y="4370832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5" name="Text 123"/>
          <p:cNvSpPr/>
          <p:nvPr/>
        </p:nvSpPr>
        <p:spPr>
          <a:xfrm>
            <a:off x="4654296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6044184" y="4370832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7" name="Text 125"/>
          <p:cNvSpPr/>
          <p:nvPr/>
        </p:nvSpPr>
        <p:spPr>
          <a:xfrm>
            <a:off x="6044184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7434072" y="4370832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9" name="Text 127"/>
          <p:cNvSpPr/>
          <p:nvPr/>
        </p:nvSpPr>
        <p:spPr>
          <a:xfrm>
            <a:off x="7434072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320040" y="4617720"/>
            <a:ext cx="2926080" cy="22860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1" name="Text 129"/>
          <p:cNvSpPr/>
          <p:nvPr/>
        </p:nvSpPr>
        <p:spPr>
          <a:xfrm>
            <a:off x="374904" y="465429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le projet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3264408" y="4617720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3" name="Text 131"/>
          <p:cNvSpPr/>
          <p:nvPr/>
        </p:nvSpPr>
        <p:spPr>
          <a:xfrm>
            <a:off x="3264408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4654296" y="4617720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5" name="Text 133"/>
          <p:cNvSpPr/>
          <p:nvPr/>
        </p:nvSpPr>
        <p:spPr>
          <a:xfrm>
            <a:off x="4654296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6044184" y="4617720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7" name="Text 135"/>
          <p:cNvSpPr/>
          <p:nvPr/>
        </p:nvSpPr>
        <p:spPr>
          <a:xfrm>
            <a:off x="6044184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7434072" y="4617720"/>
            <a:ext cx="137160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9" name="Text 137"/>
          <p:cNvSpPr/>
          <p:nvPr/>
        </p:nvSpPr>
        <p:spPr>
          <a:xfrm>
            <a:off x="7434072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320040" y="4882896"/>
            <a:ext cx="8503920" cy="256032"/>
          </a:xfrm>
          <a:prstGeom prst="rect">
            <a:avLst/>
          </a:prstGeom>
          <a:solidFill>
            <a:srgbClr val="E8F4FD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1" name="Text 139"/>
          <p:cNvSpPr/>
          <p:nvPr/>
        </p:nvSpPr>
        <p:spPr>
          <a:xfrm>
            <a:off x="411480" y="49194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autorisé   ✗ = interdit   Part. = partiel selon configuration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un projet — Niveaux et options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Les différentes façons de donner accès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20624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166420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261872"/>
            <a:ext cx="4206240" cy="40233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335024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58952" y="135331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individuel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" y="173736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Inviter une personne spécifique par nom d'utilisateur Kobo ou adresse email. Elle reçoit les droits définis par son rôle.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" y="2249424"/>
            <a:ext cx="4005072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11480" y="2304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: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344168" y="2304288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du projet → Partager → Nom d'utilisateur → Choisir rôle → Inviter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11480" y="265176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Superviseur de terrain · Partenaire ONG · Analyste externe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754880" y="1261872"/>
            <a:ext cx="420624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4754880" y="1261872"/>
            <a:ext cx="64008" cy="1664208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4754880" y="1261872"/>
            <a:ext cx="4206240" cy="402336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33502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93792" y="135331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organisationnel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4846320" y="173736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avec toute une organisation Kobo. Tous les membres de l'organisation ont accès avec le rôle défini.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846320" y="2249424"/>
            <a:ext cx="4005072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2"/>
          <p:cNvSpPr/>
          <p:nvPr/>
        </p:nvSpPr>
        <p:spPr>
          <a:xfrm>
            <a:off x="4846320" y="2304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: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5779008" y="2304288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Partager → Onglet « Organisation » → Sélectionner l'organisation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4846320" y="265176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Tout le personnel de l'ONG · Tous les partenaires d'un réseau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20040" y="3054096"/>
            <a:ext cx="420624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6"/>
          <p:cNvSpPr/>
          <p:nvPr/>
        </p:nvSpPr>
        <p:spPr>
          <a:xfrm>
            <a:off x="320040" y="3054096"/>
            <a:ext cx="64008" cy="1664208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7"/>
          <p:cNvSpPr/>
          <p:nvPr/>
        </p:nvSpPr>
        <p:spPr>
          <a:xfrm>
            <a:off x="320040" y="3054096"/>
            <a:ext cx="4206240" cy="402336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127248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58952" y="314553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public (rapports)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411480" y="3529584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 lien pour partager les rapports et statistiques sans compte Kobo. Les données brutes restent protégées.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411480" y="4041648"/>
            <a:ext cx="4005072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1"/>
          <p:cNvSpPr/>
          <p:nvPr/>
        </p:nvSpPr>
        <p:spPr>
          <a:xfrm>
            <a:off x="411480" y="40965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:</a:t>
            </a:r>
            <a:endParaRPr lang="en-US" sz="850" dirty="0"/>
          </a:p>
        </p:txBody>
      </p:sp>
      <p:sp>
        <p:nvSpPr>
          <p:cNvPr id="37" name="Text 32"/>
          <p:cNvSpPr/>
          <p:nvPr/>
        </p:nvSpPr>
        <p:spPr>
          <a:xfrm>
            <a:off x="1344168" y="4096512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→ Partager → Activer public → Copier URL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411480" y="444398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Partenaires sans compte Kobo · Bailleurs · Public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4754880" y="3054096"/>
            <a:ext cx="4206240" cy="16642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5"/>
          <p:cNvSpPr/>
          <p:nvPr/>
        </p:nvSpPr>
        <p:spPr>
          <a:xfrm>
            <a:off x="4754880" y="3054096"/>
            <a:ext cx="64008" cy="1664208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6"/>
          <p:cNvSpPr/>
          <p:nvPr/>
        </p:nvSpPr>
        <p:spPr>
          <a:xfrm>
            <a:off x="4754880" y="3054096"/>
            <a:ext cx="4206240" cy="402336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127248"/>
            <a:ext cx="274320" cy="27432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193792" y="314553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de propriété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4846320" y="3529584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Transférer la propriété du projet à un autre utilisateur Kobo. L'ancien propriétaire devient Admin ou perd l'accès.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4846320" y="4041648"/>
            <a:ext cx="4005072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0"/>
          <p:cNvSpPr/>
          <p:nvPr/>
        </p:nvSpPr>
        <p:spPr>
          <a:xfrm>
            <a:off x="4846320" y="40965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: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5779008" y="4096512"/>
            <a:ext cx="3072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Partager → Transférer la propriété → Confirmer</a:t>
            </a:r>
            <a:endParaRPr lang="en-US" sz="850" dirty="0"/>
          </a:p>
        </p:txBody>
      </p:sp>
      <p:sp>
        <p:nvSpPr>
          <p:cNvPr id="48" name="Text 42"/>
          <p:cNvSpPr/>
          <p:nvPr/>
        </p:nvSpPr>
        <p:spPr>
          <a:xfrm>
            <a:off x="4846320" y="444398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Changement de responsable de projet · Fin de contrat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&amp; équipes dans KoboToolbox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Structurer les projets à l'échelle d'une organisation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organisation KoboToolbox est un espace partagé qui regroupe plusieurs projets et utilisateurs. Elle facilite la gestion centralisée des accès à grande échelle.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8412480" cy="310896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8275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d'une organisation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121408"/>
            <a:ext cx="2560320" cy="512064"/>
          </a:xfrm>
          <a:prstGeom prst="rect">
            <a:avLst/>
          </a:prstGeom>
          <a:solidFill>
            <a:srgbClr val="4A235A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91840" y="212140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ONG RACINES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633472"/>
            <a:ext cx="0" cy="292608"/>
          </a:xfrm>
          <a:prstGeom prst="line">
            <a:avLst/>
          </a:prstGeom>
          <a:noFill/>
          <a:ln w="19050">
            <a:solidFill>
              <a:srgbClr val="4A23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1207008" y="2926080"/>
            <a:ext cx="6729984" cy="0"/>
          </a:xfrm>
          <a:prstGeom prst="line">
            <a:avLst/>
          </a:prstGeom>
          <a:noFill/>
          <a:ln w="190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1828800" y="2926080"/>
            <a:ext cx="0" cy="292608"/>
          </a:xfrm>
          <a:prstGeom prst="line">
            <a:avLst/>
          </a:prstGeom>
          <a:noFill/>
          <a:ln w="190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731520" y="3218688"/>
            <a:ext cx="2194560" cy="402336"/>
          </a:xfrm>
          <a:prstGeom prst="rect">
            <a:avLst/>
          </a:prstGeom>
          <a:solidFill>
            <a:srgbClr val="1A5276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31520" y="32186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Terrain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786384" y="3694176"/>
            <a:ext cx="201168" cy="201168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786384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</a:t>
            </a:r>
            <a:endParaRPr lang="en-US" sz="396" dirty="0"/>
          </a:p>
        </p:txBody>
      </p:sp>
      <p:sp>
        <p:nvSpPr>
          <p:cNvPr id="22" name="Text 20"/>
          <p:cNvSpPr/>
          <p:nvPr/>
        </p:nvSpPr>
        <p:spPr>
          <a:xfrm>
            <a:off x="1042416" y="3712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jean.d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3950208"/>
            <a:ext cx="219456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786384" y="3986784"/>
            <a:ext cx="201168" cy="201168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86384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396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marie.k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1520" y="4242816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786384" y="4279392"/>
            <a:ext cx="201168" cy="201168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86384" y="4279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396" dirty="0"/>
          </a:p>
        </p:txBody>
      </p:sp>
      <p:sp>
        <p:nvSpPr>
          <p:cNvPr id="30" name="Text 28"/>
          <p:cNvSpPr/>
          <p:nvPr/>
        </p:nvSpPr>
        <p:spPr>
          <a:xfrm>
            <a:off x="1042416" y="4297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paul.a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17720" y="2926080"/>
            <a:ext cx="0" cy="292608"/>
          </a:xfrm>
          <a:prstGeom prst="line">
            <a:avLst/>
          </a:prstGeom>
          <a:noFill/>
          <a:ln w="1905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520440" y="3218688"/>
            <a:ext cx="2194560" cy="402336"/>
          </a:xfrm>
          <a:prstGeom prst="rect">
            <a:avLst/>
          </a:prstGeom>
          <a:solidFill>
            <a:srgbClr val="922B21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520440" y="32186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20440" y="3657600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575304" y="3694176"/>
            <a:ext cx="201168" cy="201168"/>
          </a:xfrm>
          <a:prstGeom prst="ellipse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575304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</a:t>
            </a:r>
            <a:endParaRPr lang="en-US" sz="396" dirty="0"/>
          </a:p>
        </p:txBody>
      </p:sp>
      <p:sp>
        <p:nvSpPr>
          <p:cNvPr id="37" name="Text 35"/>
          <p:cNvSpPr/>
          <p:nvPr/>
        </p:nvSpPr>
        <p:spPr>
          <a:xfrm>
            <a:off x="3831336" y="3712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s.mensah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520440" y="3950208"/>
            <a:ext cx="219456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575304" y="3986784"/>
            <a:ext cx="201168" cy="201168"/>
          </a:xfrm>
          <a:prstGeom prst="ellipse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575304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</a:t>
            </a:r>
            <a:endParaRPr lang="en-US" sz="396" dirty="0"/>
          </a:p>
        </p:txBody>
      </p:sp>
      <p:sp>
        <p:nvSpPr>
          <p:cNvPr id="41" name="Text 39"/>
          <p:cNvSpPr/>
          <p:nvPr/>
        </p:nvSpPr>
        <p:spPr>
          <a:xfrm>
            <a:off x="3831336" y="4005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f.diallo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06640" y="2926080"/>
            <a:ext cx="0" cy="292608"/>
          </a:xfrm>
          <a:prstGeom prst="line">
            <a:avLst/>
          </a:prstGeom>
          <a:noFill/>
          <a:ln w="19050">
            <a:solidFill>
              <a:srgbClr val="0E66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6309360" y="3218688"/>
            <a:ext cx="2194560" cy="402336"/>
          </a:xfrm>
          <a:prstGeom prst="rect">
            <a:avLst/>
          </a:prstGeom>
          <a:solidFill>
            <a:srgbClr val="0E665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309360" y="321868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09360" y="3657600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6364224" y="3694176"/>
            <a:ext cx="201168" cy="201168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364224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endParaRPr lang="en-US" sz="396" dirty="0"/>
          </a:p>
        </p:txBody>
      </p:sp>
      <p:sp>
        <p:nvSpPr>
          <p:cNvPr id="48" name="Text 46"/>
          <p:cNvSpPr/>
          <p:nvPr/>
        </p:nvSpPr>
        <p:spPr>
          <a:xfrm>
            <a:off x="6620256" y="3712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kofi.m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09360" y="3950208"/>
            <a:ext cx="2194560" cy="274320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6364224" y="3986784"/>
            <a:ext cx="201168" cy="201168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6364224" y="3986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396" dirty="0"/>
          </a:p>
        </p:txBody>
      </p:sp>
      <p:sp>
        <p:nvSpPr>
          <p:cNvPr id="52" name="Text 50"/>
          <p:cNvSpPr/>
          <p:nvPr/>
        </p:nvSpPr>
        <p:spPr>
          <a:xfrm>
            <a:off x="6620256" y="4005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amina.b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65760" y="4809744"/>
            <a:ext cx="8503920" cy="329184"/>
          </a:xfrm>
          <a:prstGeom prst="rect">
            <a:avLst/>
          </a:prstGeom>
          <a:solidFill>
            <a:srgbClr val="EBF5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365760" y="4809744"/>
            <a:ext cx="64008" cy="329184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864608"/>
            <a:ext cx="201168" cy="201168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731520" y="4846320"/>
            <a:ext cx="8101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clé : partager un projet avec une organisation donne automatiquement accès à tous ses membres actuels ET futurs.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et révoquer l'accès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Gérer les droits dans le temps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 rôle d'un collaborateur 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664208"/>
            <a:ext cx="219456" cy="219456"/>
          </a:xfrm>
          <a:prstGeom prst="ellipse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48640" y="16642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16459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Paramètres → Partager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048256"/>
            <a:ext cx="219456" cy="219456"/>
          </a:xfrm>
          <a:prstGeom prst="ellipse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20482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20299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le collaborateur dans la liste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432304"/>
            <a:ext cx="219456" cy="219456"/>
          </a:xfrm>
          <a:prstGeom prst="ellipse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8640" y="24323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24140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son rôle actuel → sélectionner le nouveau rôle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816352"/>
            <a:ext cx="219456" cy="219456"/>
          </a:xfrm>
          <a:prstGeom prst="ellipse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48640" y="2816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279806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changement prend effet immédiatement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2735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Révoquer l'accès 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602736"/>
            <a:ext cx="40233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48640" y="3602736"/>
            <a:ext cx="45720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58368" y="36210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Partager → Trouver le collaborateur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877056"/>
            <a:ext cx="4023360" cy="256032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548640" y="3877056"/>
            <a:ext cx="45720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58368" y="38953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le ✕ à droite de son nom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151376"/>
            <a:ext cx="40233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548640" y="4151376"/>
            <a:ext cx="45720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58368" y="41696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— l'accès est immédiatement retiré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425696"/>
            <a:ext cx="4023360" cy="256032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548640" y="4425696"/>
            <a:ext cx="45720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58368" y="44439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disparaît de son tableau de bord Projects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754880" y="1261872"/>
            <a:ext cx="64008" cy="349300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révoquer l'accès ?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28032" y="1719072"/>
            <a:ext cx="3968496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4828032" y="1719072"/>
            <a:ext cx="64008" cy="58521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1865376"/>
            <a:ext cx="274320" cy="27432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5248656" y="17922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contrat enquêteur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5248656" y="20482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que la mission terrain est terminée — avant la fin officielle si possible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828032" y="2377440"/>
            <a:ext cx="3968496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3"/>
          <p:cNvSpPr/>
          <p:nvPr/>
        </p:nvSpPr>
        <p:spPr>
          <a:xfrm>
            <a:off x="4828032" y="2377440"/>
            <a:ext cx="64008" cy="58521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523744"/>
            <a:ext cx="274320" cy="27432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5248656" y="24505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d'organisation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5248656" y="27066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collaborateur quitte l'ONG ou change de projet — révoquer immédiatement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4828032" y="3035808"/>
            <a:ext cx="3968496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1" name="Shape 47"/>
          <p:cNvSpPr/>
          <p:nvPr/>
        </p:nvSpPr>
        <p:spPr>
          <a:xfrm>
            <a:off x="4828032" y="3035808"/>
            <a:ext cx="64008" cy="585216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3182112"/>
            <a:ext cx="274320" cy="274320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5248656" y="31089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Suspicion de fuite de données</a:t>
            </a:r>
            <a:endParaRPr lang="en-US" sz="1100" dirty="0"/>
          </a:p>
        </p:txBody>
      </p:sp>
      <p:sp>
        <p:nvSpPr>
          <p:cNvPr id="54" name="Text 49"/>
          <p:cNvSpPr/>
          <p:nvPr/>
        </p:nvSpPr>
        <p:spPr>
          <a:xfrm>
            <a:off x="5248656" y="3364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doute sur un accès non autorisé — révoquer et changer le mot de passe projet</a:t>
            </a:r>
            <a:endParaRPr lang="en-US" sz="950" dirty="0"/>
          </a:p>
        </p:txBody>
      </p:sp>
      <p:sp>
        <p:nvSpPr>
          <p:cNvPr id="55" name="Shape 50"/>
          <p:cNvSpPr/>
          <p:nvPr/>
        </p:nvSpPr>
        <p:spPr>
          <a:xfrm>
            <a:off x="4828032" y="3694176"/>
            <a:ext cx="3968496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6" name="Shape 51"/>
          <p:cNvSpPr/>
          <p:nvPr/>
        </p:nvSpPr>
        <p:spPr>
          <a:xfrm>
            <a:off x="4828032" y="3694176"/>
            <a:ext cx="64008" cy="58521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3840480"/>
            <a:ext cx="274320" cy="274320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5248656" y="3767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archivé</a:t>
            </a:r>
            <a:endParaRPr lang="en-US" sz="1100" dirty="0"/>
          </a:p>
        </p:txBody>
      </p:sp>
      <p:sp>
        <p:nvSpPr>
          <p:cNvPr id="59" name="Text 53"/>
          <p:cNvSpPr/>
          <p:nvPr/>
        </p:nvSpPr>
        <p:spPr>
          <a:xfrm>
            <a:off x="5248656" y="4023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archivage d'un projet — réduire les accès à Admin uniquement pour l'archivage</a:t>
            </a:r>
            <a:endParaRPr lang="en-US" sz="950" dirty="0"/>
          </a:p>
        </p:txBody>
      </p:sp>
      <p:sp>
        <p:nvSpPr>
          <p:cNvPr id="60" name="Shape 54"/>
          <p:cNvSpPr/>
          <p:nvPr/>
        </p:nvSpPr>
        <p:spPr>
          <a:xfrm>
            <a:off x="4828032" y="4352544"/>
            <a:ext cx="3968496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1" name="Shape 55"/>
          <p:cNvSpPr/>
          <p:nvPr/>
        </p:nvSpPr>
        <p:spPr>
          <a:xfrm>
            <a:off x="4828032" y="4352544"/>
            <a:ext cx="64008" cy="58521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1184" y="4498848"/>
            <a:ext cx="274320" cy="274320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5248656" y="44256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rôle (promotion)</a:t>
            </a:r>
            <a:endParaRPr lang="en-US" sz="1100" dirty="0"/>
          </a:p>
        </p:txBody>
      </p:sp>
      <p:sp>
        <p:nvSpPr>
          <p:cNvPr id="64" name="Text 57"/>
          <p:cNvSpPr/>
          <p:nvPr/>
        </p:nvSpPr>
        <p:spPr>
          <a:xfrm>
            <a:off x="5248656" y="4681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Remonter de Lecteur → Éditeur ou Éditeur → Admin selon l'évolution des responsabilités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de sécurité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Principe du moindre privilège et gestion des accès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fondamentale : donner le minimum de droits nécessaires pour accomplir la mission — et révoquer immédiatement quand la mission est terminée.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64008" cy="109728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0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2104" y="179222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du moindre privilège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11480" y="2194560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donner Admin si Éditeur suffit. Ne jamais donner Éditeur si Lecteur suffit. Chaque droit supplémentaire = risque supplémentaire.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" y="2596896"/>
            <a:ext cx="4005072" cy="16459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48056" y="261518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Commencer par Lecteur → élever les droits seulement si nécessaire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54880" y="1719072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4754880" y="1719072"/>
            <a:ext cx="64008" cy="1097280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2880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66944" y="179222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le compte Propriétaire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46320" y="2194560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Propriétaire est le seul à pouvoir supprimer le projet. Utiliser un compte institutionnel (pas personnel) comme propriétaire.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846320" y="2596896"/>
            <a:ext cx="4005072" cy="16459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/>
          <p:nvPr/>
        </p:nvSpPr>
        <p:spPr>
          <a:xfrm>
            <a:off x="4882896" y="261518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Propriétaire = compte ONG · Backup : un 2e Admin au minimum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944368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320040" y="2944368"/>
            <a:ext cx="64008" cy="10972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54096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32104" y="301752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des accès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11480" y="341985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processus : invitation → mission → révocation. Tenir un registre des collaborateurs actifs mis à jour mensuellement.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11480" y="3822192"/>
            <a:ext cx="4005072" cy="16459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5"/>
          <p:cNvSpPr/>
          <p:nvPr/>
        </p:nvSpPr>
        <p:spPr>
          <a:xfrm>
            <a:off x="448056" y="384048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mensuel des accès · Révoquer dès fin de mission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4754880" y="2944368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7"/>
          <p:cNvSpPr/>
          <p:nvPr/>
        </p:nvSpPr>
        <p:spPr>
          <a:xfrm>
            <a:off x="4754880" y="2944368"/>
            <a:ext cx="64008" cy="109728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054096"/>
            <a:ext cx="329184" cy="32918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266944" y="3017520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des comptes enquêteurs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4846320" y="3419856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enquêteurs utilisant KoboCollect, s'assurer qu'ils utilisent des mots de passe forts et changent leur mot de passe entre les campagnes.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4846320" y="3822192"/>
            <a:ext cx="4005072" cy="16459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1"/>
          <p:cNvSpPr/>
          <p:nvPr/>
        </p:nvSpPr>
        <p:spPr>
          <a:xfrm>
            <a:off x="4882896" y="384048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Politique : 12 caractères min · Changement entre campagnes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320040" y="4169664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3"/>
          <p:cNvSpPr/>
          <p:nvPr/>
        </p:nvSpPr>
        <p:spPr>
          <a:xfrm>
            <a:off x="320040" y="4169664"/>
            <a:ext cx="64008" cy="10972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279392"/>
            <a:ext cx="329184" cy="32918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32104" y="424281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compte = une personne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411480" y="4645152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partager un compte entre plusieurs personnes. Si un compte est partagé, impossible de tracer qui a fait quoi.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411480" y="5047488"/>
            <a:ext cx="4005072" cy="16459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37"/>
          <p:cNvSpPr/>
          <p:nvPr/>
        </p:nvSpPr>
        <p:spPr>
          <a:xfrm>
            <a:off x="448056" y="506577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Compte nominatif pour chaque enquêteur · Jamais de compte générique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4754880" y="4169664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39"/>
          <p:cNvSpPr/>
          <p:nvPr/>
        </p:nvSpPr>
        <p:spPr>
          <a:xfrm>
            <a:off x="4754880" y="4169664"/>
            <a:ext cx="64008" cy="109728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279392"/>
            <a:ext cx="329184" cy="329184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5266944" y="424281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public ≠ données brutes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4846320" y="4645152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lien de rapport public ne donne accès qu'aux graphiques et statistiques. Les données brutes restent protégées. Vérifier avant de partager.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4846320" y="5047488"/>
            <a:ext cx="4005072" cy="16459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3"/>
          <p:cNvSpPr/>
          <p:nvPr/>
        </p:nvSpPr>
        <p:spPr>
          <a:xfrm>
            <a:off x="4882896" y="5065776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Tester le lien public depuis un navigateur en navigation privée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 — Configuration équipe ONG RACINES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Rôles et accès pour une campagne terrain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: 5 enquêteurs terrain · 1 superviseur · 1 responsable ONG · 1 partenaire bailleur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609344"/>
            <a:ext cx="85039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09344"/>
            <a:ext cx="64008" cy="768096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1609344"/>
            <a:ext cx="8503920" cy="32918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02336" y="1645920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02336" y="1645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</a:t>
            </a:r>
            <a:endParaRPr lang="en-US" sz="504" dirty="0"/>
          </a:p>
        </p:txBody>
      </p:sp>
      <p:sp>
        <p:nvSpPr>
          <p:cNvPr id="15" name="Text 13"/>
          <p:cNvSpPr/>
          <p:nvPr/>
        </p:nvSpPr>
        <p:spPr>
          <a:xfrm>
            <a:off x="731520" y="16642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jean.dupont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32304" y="1682496"/>
            <a:ext cx="10972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432304" y="16824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1700784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ONG — crée et gère le projet</a:t>
            </a:r>
            <a:endParaRPr lang="en-US" sz="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011680"/>
            <a:ext cx="164592" cy="16459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21792" y="19933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faire</a:t>
            </a:r>
            <a:endParaRPr lang="en-US" sz="9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212848"/>
            <a:ext cx="164592" cy="16459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21792" y="21945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total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163824" y="2011680"/>
            <a:ext cx="4663440" cy="310896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3218688" y="2048256"/>
            <a:ext cx="4553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Compte institutionnel ONG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20040" y="2450592"/>
            <a:ext cx="85039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2"/>
          <p:cNvSpPr/>
          <p:nvPr/>
        </p:nvSpPr>
        <p:spPr>
          <a:xfrm>
            <a:off x="320040" y="2450592"/>
            <a:ext cx="64008" cy="768096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3"/>
          <p:cNvSpPr/>
          <p:nvPr/>
        </p:nvSpPr>
        <p:spPr>
          <a:xfrm>
            <a:off x="320040" y="2450592"/>
            <a:ext cx="8503920" cy="329184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4"/>
          <p:cNvSpPr/>
          <p:nvPr/>
        </p:nvSpPr>
        <p:spPr>
          <a:xfrm>
            <a:off x="402336" y="2487168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5"/>
          <p:cNvSpPr/>
          <p:nvPr/>
        </p:nvSpPr>
        <p:spPr>
          <a:xfrm>
            <a:off x="402336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504" dirty="0"/>
          </a:p>
        </p:txBody>
      </p:sp>
      <p:sp>
        <p:nvSpPr>
          <p:cNvPr id="30" name="Text 26"/>
          <p:cNvSpPr/>
          <p:nvPr/>
        </p:nvSpPr>
        <p:spPr>
          <a:xfrm>
            <a:off x="731520" y="25054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s.mensah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2432304" y="2523744"/>
            <a:ext cx="10972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8"/>
          <p:cNvSpPr/>
          <p:nvPr/>
        </p:nvSpPr>
        <p:spPr>
          <a:xfrm>
            <a:off x="2432304" y="25237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3657600" y="2542032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Superviseur terrain — surveille la qualité</a:t>
            </a:r>
            <a:endParaRPr lang="en-US" sz="95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852928"/>
            <a:ext cx="164592" cy="16459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21792" y="2834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et modifier données</a:t>
            </a:r>
            <a:endParaRPr lang="en-US" sz="95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054096"/>
            <a:ext cx="164592" cy="16459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21792" y="30358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collaborateurs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3163824" y="2852928"/>
            <a:ext cx="4663440" cy="310896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3"/>
          <p:cNvSpPr/>
          <p:nvPr/>
        </p:nvSpPr>
        <p:spPr>
          <a:xfrm>
            <a:off x="3218688" y="2889504"/>
            <a:ext cx="4553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Backup du propriétaire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320040" y="3291840"/>
            <a:ext cx="85039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5"/>
          <p:cNvSpPr/>
          <p:nvPr/>
        </p:nvSpPr>
        <p:spPr>
          <a:xfrm>
            <a:off x="320040" y="3291840"/>
            <a:ext cx="64008" cy="7680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36"/>
          <p:cNvSpPr/>
          <p:nvPr/>
        </p:nvSpPr>
        <p:spPr>
          <a:xfrm>
            <a:off x="320040" y="3291840"/>
            <a:ext cx="8503920" cy="3291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37"/>
          <p:cNvSpPr/>
          <p:nvPr/>
        </p:nvSpPr>
        <p:spPr>
          <a:xfrm>
            <a:off x="402336" y="332841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38"/>
          <p:cNvSpPr/>
          <p:nvPr/>
        </p:nvSpPr>
        <p:spPr>
          <a:xfrm>
            <a:off x="402336" y="3328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</a:t>
            </a:r>
            <a:endParaRPr lang="en-US" sz="504" dirty="0"/>
          </a:p>
        </p:txBody>
      </p:sp>
      <p:sp>
        <p:nvSpPr>
          <p:cNvPr id="45" name="Text 39"/>
          <p:cNvSpPr/>
          <p:nvPr/>
        </p:nvSpPr>
        <p:spPr>
          <a:xfrm>
            <a:off x="731520" y="33467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jean.b.dupont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2432304" y="3364992"/>
            <a:ext cx="10972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1"/>
          <p:cNvSpPr/>
          <p:nvPr/>
        </p:nvSpPr>
        <p:spPr>
          <a:xfrm>
            <a:off x="2432304" y="3364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3657600" y="3383280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Enquêteur terrain — collecte les données</a:t>
            </a:r>
            <a:endParaRPr lang="en-US" sz="950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694176"/>
            <a:ext cx="164592" cy="164592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621792" y="36758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 données</a:t>
            </a:r>
            <a:endParaRPr lang="en-US" sz="950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895344"/>
            <a:ext cx="164592" cy="164592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621792" y="387705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Voir/modifier ses soumissions</a:t>
            </a:r>
            <a:endParaRPr lang="en-US" sz="950" dirty="0"/>
          </a:p>
        </p:txBody>
      </p:sp>
      <p:sp>
        <p:nvSpPr>
          <p:cNvPr id="53" name="Shape 45"/>
          <p:cNvSpPr/>
          <p:nvPr/>
        </p:nvSpPr>
        <p:spPr>
          <a:xfrm>
            <a:off x="3163824" y="3694176"/>
            <a:ext cx="4663440" cy="310896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46"/>
          <p:cNvSpPr/>
          <p:nvPr/>
        </p:nvSpPr>
        <p:spPr>
          <a:xfrm>
            <a:off x="3218688" y="3730752"/>
            <a:ext cx="4553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×4 enquêteurs avec ce rôle</a:t>
            </a:r>
            <a:endParaRPr lang="en-US" sz="950" dirty="0"/>
          </a:p>
        </p:txBody>
      </p:sp>
      <p:sp>
        <p:nvSpPr>
          <p:cNvPr id="55" name="Shape 47"/>
          <p:cNvSpPr/>
          <p:nvPr/>
        </p:nvSpPr>
        <p:spPr>
          <a:xfrm>
            <a:off x="320040" y="4133088"/>
            <a:ext cx="85039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6" name="Shape 48"/>
          <p:cNvSpPr/>
          <p:nvPr/>
        </p:nvSpPr>
        <p:spPr>
          <a:xfrm>
            <a:off x="320040" y="4133088"/>
            <a:ext cx="64008" cy="768096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49"/>
          <p:cNvSpPr/>
          <p:nvPr/>
        </p:nvSpPr>
        <p:spPr>
          <a:xfrm>
            <a:off x="320040" y="4133088"/>
            <a:ext cx="8503920" cy="329184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Shape 50"/>
          <p:cNvSpPr/>
          <p:nvPr/>
        </p:nvSpPr>
        <p:spPr>
          <a:xfrm>
            <a:off x="402336" y="4169664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Text 51"/>
          <p:cNvSpPr/>
          <p:nvPr/>
        </p:nvSpPr>
        <p:spPr>
          <a:xfrm>
            <a:off x="402336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</a:t>
            </a:r>
            <a:endParaRPr lang="en-US" sz="504" dirty="0"/>
          </a:p>
        </p:txBody>
      </p:sp>
      <p:sp>
        <p:nvSpPr>
          <p:cNvPr id="60" name="Text 52"/>
          <p:cNvSpPr/>
          <p:nvPr/>
        </p:nvSpPr>
        <p:spPr>
          <a:xfrm>
            <a:off x="731520" y="41879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bailleur.fond</a:t>
            </a:r>
            <a:endParaRPr lang="en-US" sz="1100" dirty="0"/>
          </a:p>
        </p:txBody>
      </p:sp>
      <p:sp>
        <p:nvSpPr>
          <p:cNvPr id="61" name="Shape 53"/>
          <p:cNvSpPr/>
          <p:nvPr/>
        </p:nvSpPr>
        <p:spPr>
          <a:xfrm>
            <a:off x="2432304" y="4206240"/>
            <a:ext cx="10972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54"/>
          <p:cNvSpPr/>
          <p:nvPr/>
        </p:nvSpPr>
        <p:spPr>
          <a:xfrm>
            <a:off x="2432304" y="4206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Lecteur</a:t>
            </a:r>
            <a:endParaRPr lang="en-US" sz="900" dirty="0"/>
          </a:p>
        </p:txBody>
      </p:sp>
      <p:sp>
        <p:nvSpPr>
          <p:cNvPr id="63" name="Text 55"/>
          <p:cNvSpPr/>
          <p:nvPr/>
        </p:nvSpPr>
        <p:spPr>
          <a:xfrm>
            <a:off x="3657600" y="422452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bailleur — suit l'avancement</a:t>
            </a:r>
            <a:endParaRPr lang="en-US" sz="950" dirty="0"/>
          </a:p>
        </p:txBody>
      </p:sp>
      <p:pic>
        <p:nvPicPr>
          <p:cNvPr id="6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4535424"/>
            <a:ext cx="164592" cy="164592"/>
          </a:xfrm>
          <a:prstGeom prst="rect">
            <a:avLst/>
          </a:prstGeom>
        </p:spPr>
      </p:pic>
      <p:sp>
        <p:nvSpPr>
          <p:cNvPr id="65" name="Text 56"/>
          <p:cNvSpPr/>
          <p:nvPr/>
        </p:nvSpPr>
        <p:spPr>
          <a:xfrm>
            <a:off x="621792" y="45171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rapports</a:t>
            </a:r>
            <a:endParaRPr lang="en-US" sz="950" dirty="0"/>
          </a:p>
        </p:txBody>
      </p:sp>
      <p:pic>
        <p:nvPicPr>
          <p:cNvPr id="6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4736592"/>
            <a:ext cx="164592" cy="164592"/>
          </a:xfrm>
          <a:prstGeom prst="rect">
            <a:avLst/>
          </a:prstGeom>
        </p:spPr>
      </p:pic>
      <p:sp>
        <p:nvSpPr>
          <p:cNvPr id="67" name="Text 57"/>
          <p:cNvSpPr/>
          <p:nvPr/>
        </p:nvSpPr>
        <p:spPr>
          <a:xfrm>
            <a:off x="621792" y="47183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données agrégées</a:t>
            </a:r>
            <a:endParaRPr lang="en-US" sz="950" dirty="0"/>
          </a:p>
        </p:txBody>
      </p:sp>
      <p:sp>
        <p:nvSpPr>
          <p:cNvPr id="68" name="Shape 58"/>
          <p:cNvSpPr/>
          <p:nvPr/>
        </p:nvSpPr>
        <p:spPr>
          <a:xfrm>
            <a:off x="3163824" y="4535424"/>
            <a:ext cx="4663440" cy="310896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Text 59"/>
          <p:cNvSpPr/>
          <p:nvPr/>
        </p:nvSpPr>
        <p:spPr>
          <a:xfrm>
            <a:off x="3218688" y="4572000"/>
            <a:ext cx="4553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Accès limité aux statistiques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en temps réel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plusieurs personnes travaillent sur le même projet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est conçu pour la collaboration simultanée. Plusieurs collaborateurs peuvent accéder et travailler sur le même projet en même temps.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82496"/>
            <a:ext cx="4206240" cy="13533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82496"/>
            <a:ext cx="64008" cy="135331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0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2104" y="177393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simultanée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11480" y="219456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enquêteurs peuvent collecter des données en même temps sur le même formulaire déployé. Les soumissions arrivent en temps réel dans l'onglet Data.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11480" y="2724912"/>
            <a:ext cx="4005072" cy="23774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48056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limite de collecteurs simultanés — Kobo gère la concurrence automatiquement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54880" y="1682496"/>
            <a:ext cx="4206240" cy="13533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4754880" y="1682496"/>
            <a:ext cx="64008" cy="1353312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828800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66944" y="1773936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à tour de rôle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846320" y="2194560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Admin ne peuvent pas modifier le formulaire exactement au même instant — le dernier enregistrement prévaut. Coordonner les modifications en équipe.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846320" y="2724912"/>
            <a:ext cx="4005072" cy="237744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/>
          <p:nvPr/>
        </p:nvSpPr>
        <p:spPr>
          <a:xfrm>
            <a:off x="4882896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pratique : désigner un seul responsable formulaire · Notifier l'équipe avant modification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3163824"/>
            <a:ext cx="4206240" cy="13533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1"/>
          <p:cNvSpPr/>
          <p:nvPr/>
        </p:nvSpPr>
        <p:spPr>
          <a:xfrm>
            <a:off x="320040" y="3163824"/>
            <a:ext cx="64008" cy="1353312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310128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32104" y="325526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des données en parallèle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411480" y="3675888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superviseurs peuvent consulter l'onglet Data simultanément. Les modifications de données (validation, commentaires) sont visibles immédiatement.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411480" y="4206240"/>
            <a:ext cx="4005072" cy="237744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5"/>
          <p:cNvSpPr/>
          <p:nvPr/>
        </p:nvSpPr>
        <p:spPr>
          <a:xfrm>
            <a:off x="448056" y="42245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 de chaque modification · Auteur visible dans les métadonnées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4754880" y="3163824"/>
            <a:ext cx="4206240" cy="13533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7"/>
          <p:cNvSpPr/>
          <p:nvPr/>
        </p:nvSpPr>
        <p:spPr>
          <a:xfrm>
            <a:off x="4754880" y="3163824"/>
            <a:ext cx="64008" cy="1353312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310128"/>
            <a:ext cx="329184" cy="32918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266944" y="3255264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validation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4846320" y="3675888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un workflow : Enquêteur collecte → Superviseur valide → Admin exporte. Utiliser le champ « validation_status » pour marquer les soumissions.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4846320" y="4206240"/>
            <a:ext cx="4005072" cy="237744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1"/>
          <p:cNvSpPr/>
          <p:nvPr/>
        </p:nvSpPr>
        <p:spPr>
          <a:xfrm>
            <a:off x="4882896" y="42245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validation_status : En révision · Approuvé · Rejeté — visible par toute l'équipe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 son compte KoboToolbox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et protection des accès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du compte 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64008" cy="548640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92224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1719072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fort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" y="1975104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12 caractères · majuscules + chiffres + symboles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228600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365760" y="2286000"/>
            <a:ext cx="64008" cy="54864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14016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2960" y="2340864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2 facteurs (2FA)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822960" y="2596896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dans Compte → Sécurité → authentificateur TOTP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65760" y="2907792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8"/>
          <p:cNvSpPr/>
          <p:nvPr/>
        </p:nvSpPr>
        <p:spPr>
          <a:xfrm>
            <a:off x="365760" y="2907792"/>
            <a:ext cx="64008" cy="54864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35808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2960" y="2962656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email vérifiée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22960" y="3218688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vérifié = réception des invitations et alertes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65760" y="3529584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2"/>
          <p:cNvSpPr/>
          <p:nvPr/>
        </p:nvSpPr>
        <p:spPr>
          <a:xfrm>
            <a:off x="365760" y="3529584"/>
            <a:ext cx="64008" cy="54864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57600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22960" y="3584448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API régénérer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822960" y="3840480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Régénérer le token API si suspicion de compromission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365760" y="4151376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6"/>
          <p:cNvSpPr/>
          <p:nvPr/>
        </p:nvSpPr>
        <p:spPr>
          <a:xfrm>
            <a:off x="365760" y="4151376"/>
            <a:ext cx="64008" cy="5486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79392"/>
            <a:ext cx="292608" cy="2926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22960" y="420624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actives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822960" y="4462272"/>
            <a:ext cx="3584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sessions → déconnecter les appareils inconnus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0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1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Sécurité — Interface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4828032" y="1719072"/>
            <a:ext cx="3968496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3"/>
          <p:cNvSpPr/>
          <p:nvPr/>
        </p:nvSpPr>
        <p:spPr>
          <a:xfrm>
            <a:off x="4919472" y="1719072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compte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4901184" y="2066544"/>
            <a:ext cx="457200" cy="457200"/>
          </a:xfrm>
          <a:prstGeom prst="ellipse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35"/>
          <p:cNvSpPr/>
          <p:nvPr/>
        </p:nvSpPr>
        <p:spPr>
          <a:xfrm>
            <a:off x="4901184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5431536" y="210312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jean.dupont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5431536" y="2322576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jean.dupont@ong-racines.org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4828032" y="2596896"/>
            <a:ext cx="3968496" cy="310896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39"/>
          <p:cNvSpPr/>
          <p:nvPr/>
        </p:nvSpPr>
        <p:spPr>
          <a:xfrm>
            <a:off x="4919472" y="2596896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4828032" y="2944368"/>
            <a:ext cx="3968496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1"/>
          <p:cNvSpPr/>
          <p:nvPr/>
        </p:nvSpPr>
        <p:spPr>
          <a:xfrm>
            <a:off x="4882896" y="29809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950" dirty="0"/>
          </a:p>
        </p:txBody>
      </p:sp>
      <p:sp>
        <p:nvSpPr>
          <p:cNvPr id="49" name="Text 42"/>
          <p:cNvSpPr/>
          <p:nvPr/>
        </p:nvSpPr>
        <p:spPr>
          <a:xfrm>
            <a:off x="6309360" y="2980944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Modifié il y a 32 jours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4828032" y="3291840"/>
            <a:ext cx="3968496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4"/>
          <p:cNvSpPr/>
          <p:nvPr/>
        </p:nvSpPr>
        <p:spPr>
          <a:xfrm>
            <a:off x="4882896" y="33284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</a:t>
            </a:r>
            <a:endParaRPr lang="en-US" sz="950" dirty="0"/>
          </a:p>
        </p:txBody>
      </p:sp>
      <p:sp>
        <p:nvSpPr>
          <p:cNvPr id="52" name="Text 45"/>
          <p:cNvSpPr/>
          <p:nvPr/>
        </p:nvSpPr>
        <p:spPr>
          <a:xfrm>
            <a:off x="6309360" y="332841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Activé ✓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4828032" y="3639312"/>
            <a:ext cx="3968496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47"/>
          <p:cNvSpPr/>
          <p:nvPr/>
        </p:nvSpPr>
        <p:spPr>
          <a:xfrm>
            <a:off x="4882896" y="36758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API</a:t>
            </a:r>
            <a:endParaRPr lang="en-US" sz="950" dirty="0"/>
          </a:p>
        </p:txBody>
      </p:sp>
      <p:sp>
        <p:nvSpPr>
          <p:cNvPr id="55" name="Text 48"/>
          <p:cNvSpPr/>
          <p:nvPr/>
        </p:nvSpPr>
        <p:spPr>
          <a:xfrm>
            <a:off x="6309360" y="3675888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a1b2c3…  (régénérer)</a:t>
            </a:r>
            <a:endParaRPr lang="en-US" sz="1000" dirty="0"/>
          </a:p>
        </p:txBody>
      </p:sp>
      <p:sp>
        <p:nvSpPr>
          <p:cNvPr id="56" name="Shape 49"/>
          <p:cNvSpPr/>
          <p:nvPr/>
        </p:nvSpPr>
        <p:spPr>
          <a:xfrm>
            <a:off x="4828032" y="3986784"/>
            <a:ext cx="3968496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0"/>
          <p:cNvSpPr/>
          <p:nvPr/>
        </p:nvSpPr>
        <p:spPr>
          <a:xfrm>
            <a:off x="4882896" y="40233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actives</a:t>
            </a:r>
            <a:endParaRPr lang="en-US" sz="950" dirty="0"/>
          </a:p>
        </p:txBody>
      </p:sp>
      <p:sp>
        <p:nvSpPr>
          <p:cNvPr id="58" name="Text 51"/>
          <p:cNvSpPr/>
          <p:nvPr/>
        </p:nvSpPr>
        <p:spPr>
          <a:xfrm>
            <a:off x="6309360" y="4023360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appareils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courantes — Gestion des accès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fréquents à éviter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1133856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5528" y="13533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Admin à tous les enquêteurs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11480" y="170078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enquêteurs n'ont besoin que du rôle Éditeur pour collecter. Un Admin peut modifier le formulaire et supprimer des données.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157984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48056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Enquêteurs = Éditeur · Superviseur = Admin · Bailleur = Lecteur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1280160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54880" y="1280160"/>
            <a:ext cx="64008" cy="113385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30368" y="13533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révoquer après une campagne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846320" y="170078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anciens collaborateurs gardent l'accès indéfiniment. Si leur compte est compromis, vos données sont exposées.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46320" y="2157984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4882896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post-campagne : révoquer tous les accès temporaires dans les 7 jours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20040" y="2487168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320040" y="2487168"/>
            <a:ext cx="64008" cy="11338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78608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95528" y="2560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propriétaire personnel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11480" y="290779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propriétaire quitte l'organisation, le projet peut devenir inaccessible ou être supprimé par inadvertance.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11480" y="3364992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48056" y="3383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Propriétaire = compte institutionnel (ex : admin@ong-racines.org)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754880" y="2487168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4754880" y="2487168"/>
            <a:ext cx="64008" cy="113385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578608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30368" y="2560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 lien public sans vérifier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4846320" y="290779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lien de rapport public peut contenir plus d'infos que prévu si les filtres ne sont pas configurés correctement.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846320" y="3364992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4882896" y="3383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Tester le lien en navigation privée avant partage · Vérifier les données visibles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20040" y="3694176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320040" y="3694176"/>
            <a:ext cx="64008" cy="113385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85616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95528" y="37673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Inviter par email non-Kobo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411480" y="411480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L'invitation Kobo nécessite que le collaborateur ait déjà un compte KoboToolbox. Inviter un email sans compte n'envoie pas d'accès.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11480" y="4572000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448056" y="45902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Vérifier que la personne a un compte Kobo actif avant invitation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4754880" y="3694176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8"/>
          <p:cNvSpPr/>
          <p:nvPr/>
        </p:nvSpPr>
        <p:spPr>
          <a:xfrm>
            <a:off x="4754880" y="3694176"/>
            <a:ext cx="64008" cy="1133856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785616"/>
            <a:ext cx="292608" cy="29260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230368" y="37673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Confier le compte à un tiers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4846320" y="411480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ses identifiants avec un autre enquêteur casse la traçabilité. Impossible de savoir qui a fait quoi dans les logs.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4846320" y="4572000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2"/>
          <p:cNvSpPr/>
          <p:nvPr/>
        </p:nvSpPr>
        <p:spPr>
          <a:xfrm>
            <a:off x="4882896" y="45902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 compte = une personne · Créer un compte dédié si nécessaire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— Gestion équipe RACINES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superviseur des accès actifs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des collaborateurs actifs sur le projet Enquête_RACINES_2024 au 22/03/2026 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1554480" cy="32918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56616" y="162763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92808" y="1572768"/>
            <a:ext cx="1188720" cy="32918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929384" y="162763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99816" y="1572768"/>
            <a:ext cx="1005840" cy="329184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136392" y="162763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23944" y="1572768"/>
            <a:ext cx="822960" cy="32918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160520" y="162763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965192" y="1572768"/>
            <a:ext cx="1280160" cy="32918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01768" y="162763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connexion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63640" y="1572768"/>
            <a:ext cx="822960" cy="32918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300216" y="162763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104888" y="1572768"/>
            <a:ext cx="731520" cy="329184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141464" y="162763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1920240"/>
            <a:ext cx="155448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56616" y="197510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Dupont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92808" y="1920240"/>
            <a:ext cx="118872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929384" y="197510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jean.dupont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099816" y="1920240"/>
            <a:ext cx="100584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136392" y="197510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23944" y="1920240"/>
            <a:ext cx="82296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160520" y="197510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01/01/2026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65192" y="1920240"/>
            <a:ext cx="128016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5001768" y="197510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63640" y="1920240"/>
            <a:ext cx="82296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300216" y="197510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104888" y="1920240"/>
            <a:ext cx="73152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7141464" y="197510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2267712"/>
            <a:ext cx="155448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56616" y="232257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 Mensah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892808" y="2267712"/>
            <a:ext cx="11887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1929384" y="232257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s.mensah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099816" y="2267712"/>
            <a:ext cx="10058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3136392" y="232257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23944" y="2267712"/>
            <a:ext cx="8229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160520" y="232257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15/01/2026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965192" y="2267712"/>
            <a:ext cx="12801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001768" y="232257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63640" y="2267712"/>
            <a:ext cx="8229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6300216" y="232257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104888" y="2267712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7141464" y="232257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" y="2615184"/>
            <a:ext cx="155448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356616" y="267004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Jean-Baptiste D.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892808" y="2615184"/>
            <a:ext cx="118872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1929384" y="267004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jb.dupont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099816" y="2615184"/>
            <a:ext cx="100584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3136392" y="267004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23944" y="2615184"/>
            <a:ext cx="82296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4160520" y="267004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01/03/2026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965192" y="2615184"/>
            <a:ext cx="128016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5001768" y="267004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63640" y="2615184"/>
            <a:ext cx="82296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6300216" y="267004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104888" y="2615184"/>
            <a:ext cx="73152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7141464" y="267004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Révoquer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20040" y="2962656"/>
            <a:ext cx="155448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356616" y="30175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Kouassi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892808" y="2962656"/>
            <a:ext cx="11887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1929384" y="3017520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marie.k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099816" y="2962656"/>
            <a:ext cx="10058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3136392" y="3017520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123944" y="2962656"/>
            <a:ext cx="8229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4160520" y="301752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01/03/2026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965192" y="2962656"/>
            <a:ext cx="12801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5001768" y="3017520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263640" y="2962656"/>
            <a:ext cx="8229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6300216" y="3017520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104888" y="2962656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7141464" y="301752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Révoquer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320040" y="3310128"/>
            <a:ext cx="155448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Text 79"/>
          <p:cNvSpPr/>
          <p:nvPr/>
        </p:nvSpPr>
        <p:spPr>
          <a:xfrm>
            <a:off x="356616" y="3364992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Adé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1892808" y="3310128"/>
            <a:ext cx="118872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Text 81"/>
          <p:cNvSpPr/>
          <p:nvPr/>
        </p:nvSpPr>
        <p:spPr>
          <a:xfrm>
            <a:off x="1929384" y="336499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paul.ade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099816" y="3310128"/>
            <a:ext cx="100584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Text 83"/>
          <p:cNvSpPr/>
          <p:nvPr/>
        </p:nvSpPr>
        <p:spPr>
          <a:xfrm>
            <a:off x="3136392" y="3364992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23944" y="3310128"/>
            <a:ext cx="82296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4160520" y="336499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01/03/2026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965192" y="3310128"/>
            <a:ext cx="128016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Text 87"/>
          <p:cNvSpPr/>
          <p:nvPr/>
        </p:nvSpPr>
        <p:spPr>
          <a:xfrm>
            <a:off x="5001768" y="336499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21/03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6263640" y="3310128"/>
            <a:ext cx="82296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Text 89"/>
          <p:cNvSpPr/>
          <p:nvPr/>
        </p:nvSpPr>
        <p:spPr>
          <a:xfrm>
            <a:off x="6300216" y="336499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104888" y="3310128"/>
            <a:ext cx="73152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Text 91"/>
          <p:cNvSpPr/>
          <p:nvPr/>
        </p:nvSpPr>
        <p:spPr>
          <a:xfrm>
            <a:off x="7141464" y="336499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Révoquer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320040" y="3657600"/>
            <a:ext cx="155448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Text 93"/>
          <p:cNvSpPr/>
          <p:nvPr/>
        </p:nvSpPr>
        <p:spPr>
          <a:xfrm>
            <a:off x="356616" y="371246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Fatou Diallo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1892808" y="3657600"/>
            <a:ext cx="11887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Text 95"/>
          <p:cNvSpPr/>
          <p:nvPr/>
        </p:nvSpPr>
        <p:spPr>
          <a:xfrm>
            <a:off x="1929384" y="371246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fatou.d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3099816" y="3657600"/>
            <a:ext cx="10058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Text 97"/>
          <p:cNvSpPr/>
          <p:nvPr/>
        </p:nvSpPr>
        <p:spPr>
          <a:xfrm>
            <a:off x="3136392" y="3712464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123944" y="3657600"/>
            <a:ext cx="8229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Text 99"/>
          <p:cNvSpPr/>
          <p:nvPr/>
        </p:nvSpPr>
        <p:spPr>
          <a:xfrm>
            <a:off x="4160520" y="371246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01/03/2026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4965192" y="3657600"/>
            <a:ext cx="12801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Text 101"/>
          <p:cNvSpPr/>
          <p:nvPr/>
        </p:nvSpPr>
        <p:spPr>
          <a:xfrm>
            <a:off x="5001768" y="3712464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6263640" y="3657600"/>
            <a:ext cx="8229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Text 103"/>
          <p:cNvSpPr/>
          <p:nvPr/>
        </p:nvSpPr>
        <p:spPr>
          <a:xfrm>
            <a:off x="6300216" y="371246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7104888" y="3657600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Text 105"/>
          <p:cNvSpPr/>
          <p:nvPr/>
        </p:nvSpPr>
        <p:spPr>
          <a:xfrm>
            <a:off x="7141464" y="371246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Révoquer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320040" y="4005072"/>
            <a:ext cx="155448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9" name="Text 107"/>
          <p:cNvSpPr/>
          <p:nvPr/>
        </p:nvSpPr>
        <p:spPr>
          <a:xfrm>
            <a:off x="356616" y="405993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Bailleur UE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892808" y="4005072"/>
            <a:ext cx="118872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1" name="Text 109"/>
          <p:cNvSpPr/>
          <p:nvPr/>
        </p:nvSpPr>
        <p:spPr>
          <a:xfrm>
            <a:off x="1929384" y="4059936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bailleur.ue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3099816" y="4005072"/>
            <a:ext cx="100584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3" name="Text 111"/>
          <p:cNvSpPr/>
          <p:nvPr/>
        </p:nvSpPr>
        <p:spPr>
          <a:xfrm>
            <a:off x="3136392" y="4059936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Lecteur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4123944" y="4005072"/>
            <a:ext cx="82296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5" name="Text 113"/>
          <p:cNvSpPr/>
          <p:nvPr/>
        </p:nvSpPr>
        <p:spPr>
          <a:xfrm>
            <a:off x="4160520" y="405993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15/02/2026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4965192" y="4005072"/>
            <a:ext cx="128016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7" name="Text 115"/>
          <p:cNvSpPr/>
          <p:nvPr/>
        </p:nvSpPr>
        <p:spPr>
          <a:xfrm>
            <a:off x="5001768" y="4059936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10/03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6263640" y="4005072"/>
            <a:ext cx="82296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9" name="Text 117"/>
          <p:cNvSpPr/>
          <p:nvPr/>
        </p:nvSpPr>
        <p:spPr>
          <a:xfrm>
            <a:off x="6300216" y="4059936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7104888" y="4005072"/>
            <a:ext cx="73152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Text 119"/>
          <p:cNvSpPr/>
          <p:nvPr/>
        </p:nvSpPr>
        <p:spPr>
          <a:xfrm>
            <a:off x="7141464" y="405993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320040" y="4352544"/>
            <a:ext cx="155448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3" name="Text 121"/>
          <p:cNvSpPr/>
          <p:nvPr/>
        </p:nvSpPr>
        <p:spPr>
          <a:xfrm>
            <a:off x="356616" y="4407408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 Partenaire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1892808" y="4352544"/>
            <a:ext cx="11887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5" name="Text 123"/>
          <p:cNvSpPr/>
          <p:nvPr/>
        </p:nvSpPr>
        <p:spPr>
          <a:xfrm>
            <a:off x="1929384" y="4407408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ong.part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3099816" y="4352544"/>
            <a:ext cx="100584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7" name="Text 125"/>
          <p:cNvSpPr/>
          <p:nvPr/>
        </p:nvSpPr>
        <p:spPr>
          <a:xfrm>
            <a:off x="3136392" y="4407408"/>
            <a:ext cx="950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Lecteur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4123944" y="4352544"/>
            <a:ext cx="8229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9" name="Text 127"/>
          <p:cNvSpPr/>
          <p:nvPr/>
        </p:nvSpPr>
        <p:spPr>
          <a:xfrm>
            <a:off x="4160520" y="440740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15/02/2026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4965192" y="4352544"/>
            <a:ext cx="12801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1" name="Text 129"/>
          <p:cNvSpPr/>
          <p:nvPr/>
        </p:nvSpPr>
        <p:spPr>
          <a:xfrm>
            <a:off x="5001768" y="4407408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01/02</a:t>
            </a:r>
            <a:endParaRPr lang="en-US" sz="850" dirty="0"/>
          </a:p>
        </p:txBody>
      </p:sp>
      <p:sp>
        <p:nvSpPr>
          <p:cNvPr id="132" name="Shape 130"/>
          <p:cNvSpPr/>
          <p:nvPr/>
        </p:nvSpPr>
        <p:spPr>
          <a:xfrm>
            <a:off x="6263640" y="4352544"/>
            <a:ext cx="82296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3" name="Text 131"/>
          <p:cNvSpPr/>
          <p:nvPr/>
        </p:nvSpPr>
        <p:spPr>
          <a:xfrm>
            <a:off x="6300216" y="440740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Inactif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7104888" y="4352544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5" name="Text 133"/>
          <p:cNvSpPr/>
          <p:nvPr/>
        </p:nvSpPr>
        <p:spPr>
          <a:xfrm>
            <a:off x="7141464" y="4407408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Révoquer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320040" y="4791456"/>
            <a:ext cx="8503920" cy="329184"/>
          </a:xfrm>
          <a:prstGeom prst="rect">
            <a:avLst/>
          </a:prstGeom>
          <a:solidFill>
            <a:srgbClr val="FFF8E1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4846320"/>
            <a:ext cx="201168" cy="201168"/>
          </a:xfrm>
          <a:prstGeom prst="rect">
            <a:avLst/>
          </a:prstGeom>
        </p:spPr>
      </p:pic>
      <p:sp>
        <p:nvSpPr>
          <p:cNvPr id="138" name="Text 135"/>
          <p:cNvSpPr/>
          <p:nvPr/>
        </p:nvSpPr>
        <p:spPr>
          <a:xfrm>
            <a:off x="676656" y="4828032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 Partenaire inactif depuis &gt; 30 jours → Révoquer l'accès ou confirmer la nécessité de maintenir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KoboToolbox et limites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selon le plan choisi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 de collaborateurs et les fonctionnalités d'équipe varient selon le plan KoboToolbox souscrit.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09344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09344"/>
            <a:ext cx="64008" cy="3200400"/>
          </a:xfrm>
          <a:prstGeom prst="rect">
            <a:avLst/>
          </a:prstGeom>
          <a:solidFill>
            <a:srgbClr val="5E7D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1609344"/>
            <a:ext cx="2743200" cy="402336"/>
          </a:xfrm>
          <a:prstGeom prst="rect">
            <a:avLst/>
          </a:prstGeom>
          <a:solidFill>
            <a:srgbClr val="5E7D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1148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Gratuit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0665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3408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Collaborateurs : illimité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542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: 5 GB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779776"/>
            <a:ext cx="256032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834640"/>
            <a:ext cx="182880" cy="1828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9224" y="281635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rôles disponibles</a:t>
            </a:r>
            <a:endParaRPr lang="en-US" sz="9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0896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9224" y="309067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de projets complet</a:t>
            </a:r>
            <a:endParaRPr lang="en-US" sz="9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383280"/>
            <a:ext cx="182880" cy="1828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9224" y="336499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(limitée)</a:t>
            </a:r>
            <a:endParaRPr lang="en-US" sz="9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57600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9224" y="363931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d'organisation</a:t>
            </a:r>
            <a:endParaRPr lang="en-US" sz="9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950208"/>
            <a:ext cx="164592" cy="16459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0936" y="393192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soumissions/mois</a:t>
            </a:r>
            <a:endParaRPr lang="en-US" sz="9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206240"/>
            <a:ext cx="164592" cy="1645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30936" y="418795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communautaire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3200400" y="1609344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3"/>
          <p:cNvSpPr/>
          <p:nvPr/>
        </p:nvSpPr>
        <p:spPr>
          <a:xfrm>
            <a:off x="3200400" y="1609344"/>
            <a:ext cx="64008" cy="32004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4"/>
          <p:cNvSpPr/>
          <p:nvPr/>
        </p:nvSpPr>
        <p:spPr>
          <a:xfrm>
            <a:off x="3200400" y="1609344"/>
            <a:ext cx="2743200" cy="40233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5"/>
          <p:cNvSpPr/>
          <p:nvPr/>
        </p:nvSpPr>
        <p:spPr>
          <a:xfrm>
            <a:off x="329184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Humanitaire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3291840" y="20665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(ONG vérifiée)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3291840" y="23408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Collaborateurs : illimité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3291840" y="2542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: 5 GB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3291840" y="2779776"/>
            <a:ext cx="256032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834640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529584" y="281635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dédié humanitaire</a:t>
            </a:r>
            <a:endParaRPr lang="en-US" sz="95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108960"/>
            <a:ext cx="182880" cy="18288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3529584" y="309067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prioritaire</a:t>
            </a:r>
            <a:endParaRPr lang="en-US" sz="95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383280"/>
            <a:ext cx="182880" cy="18288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3529584" y="336499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soumissions</a:t>
            </a:r>
            <a:endParaRPr lang="en-US" sz="95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675888"/>
            <a:ext cx="164592" cy="164592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3511296" y="365760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 aux ONG humanitaires</a:t>
            </a:r>
            <a:endParaRPr lang="en-US" sz="9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3931920"/>
            <a:ext cx="164592" cy="164592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3511296" y="3913632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requise</a:t>
            </a:r>
            <a:endParaRPr lang="en-US" sz="900" dirty="0"/>
          </a:p>
        </p:txBody>
      </p:sp>
      <p:sp>
        <p:nvSpPr>
          <p:cNvPr id="48" name="Shape 35"/>
          <p:cNvSpPr/>
          <p:nvPr/>
        </p:nvSpPr>
        <p:spPr>
          <a:xfrm>
            <a:off x="6080760" y="1609344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9" name="Shape 36"/>
          <p:cNvSpPr/>
          <p:nvPr/>
        </p:nvSpPr>
        <p:spPr>
          <a:xfrm>
            <a:off x="6080760" y="1609344"/>
            <a:ext cx="64008" cy="3200400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Shape 37"/>
          <p:cNvSpPr/>
          <p:nvPr/>
        </p:nvSpPr>
        <p:spPr>
          <a:xfrm>
            <a:off x="6080760" y="1609344"/>
            <a:ext cx="2743200" cy="402336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38"/>
          <p:cNvSpPr/>
          <p:nvPr/>
        </p:nvSpPr>
        <p:spPr>
          <a:xfrm>
            <a:off x="617220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Pro / Entreprise</a:t>
            </a:r>
            <a:endParaRPr lang="en-US" sz="1200" dirty="0"/>
          </a:p>
        </p:txBody>
      </p:sp>
      <p:sp>
        <p:nvSpPr>
          <p:cNvPr id="52" name="Text 39"/>
          <p:cNvSpPr/>
          <p:nvPr/>
        </p:nvSpPr>
        <p:spPr>
          <a:xfrm>
            <a:off x="6172200" y="20665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29 $/mois</a:t>
            </a:r>
            <a:endParaRPr lang="en-US" sz="1100" dirty="0"/>
          </a:p>
        </p:txBody>
      </p:sp>
      <p:sp>
        <p:nvSpPr>
          <p:cNvPr id="53" name="Text 40"/>
          <p:cNvSpPr/>
          <p:nvPr/>
        </p:nvSpPr>
        <p:spPr>
          <a:xfrm>
            <a:off x="6172200" y="23408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Collaborateurs : illimité</a:t>
            </a:r>
            <a:endParaRPr lang="en-US" sz="950" dirty="0"/>
          </a:p>
        </p:txBody>
      </p:sp>
      <p:sp>
        <p:nvSpPr>
          <p:cNvPr id="54" name="Text 41"/>
          <p:cNvSpPr/>
          <p:nvPr/>
        </p:nvSpPr>
        <p:spPr>
          <a:xfrm>
            <a:off x="6172200" y="25420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: augmenté</a:t>
            </a:r>
            <a:endParaRPr lang="en-US" sz="950" dirty="0"/>
          </a:p>
        </p:txBody>
      </p:sp>
      <p:sp>
        <p:nvSpPr>
          <p:cNvPr id="55" name="Shape 42"/>
          <p:cNvSpPr/>
          <p:nvPr/>
        </p:nvSpPr>
        <p:spPr>
          <a:xfrm>
            <a:off x="6172200" y="2779776"/>
            <a:ext cx="2560320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834640"/>
            <a:ext cx="182880" cy="182880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6409944" y="281635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avancées</a:t>
            </a:r>
            <a:endParaRPr lang="en-US" sz="950" dirty="0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108960"/>
            <a:ext cx="182880" cy="182880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6409944" y="309067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illimitée</a:t>
            </a:r>
            <a:endParaRPr lang="en-US" sz="950" dirty="0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383280"/>
            <a:ext cx="182880" cy="182880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6409944" y="336499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premium</a:t>
            </a:r>
            <a:endParaRPr lang="en-US" sz="950" dirty="0"/>
          </a:p>
        </p:txBody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657600"/>
            <a:ext cx="182880" cy="182880"/>
          </a:xfrm>
          <a:prstGeom prst="rect">
            <a:avLst/>
          </a:prstGeom>
        </p:spPr>
      </p:pic>
      <p:sp>
        <p:nvSpPr>
          <p:cNvPr id="63" name="Text 46"/>
          <p:cNvSpPr/>
          <p:nvPr/>
        </p:nvSpPr>
        <p:spPr>
          <a:xfrm>
            <a:off x="6409944" y="363931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SAML</a:t>
            </a:r>
            <a:endParaRPr lang="en-US" sz="950" dirty="0"/>
          </a:p>
        </p:txBody>
      </p:sp>
      <p:pic>
        <p:nvPicPr>
          <p:cNvPr id="64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931920"/>
            <a:ext cx="182880" cy="182880"/>
          </a:xfrm>
          <a:prstGeom prst="rect">
            <a:avLst/>
          </a:prstGeom>
        </p:spPr>
      </p:pic>
      <p:sp>
        <p:nvSpPr>
          <p:cNvPr id="65" name="Text 47"/>
          <p:cNvSpPr/>
          <p:nvPr/>
        </p:nvSpPr>
        <p:spPr>
          <a:xfrm>
            <a:off x="6409944" y="391363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équipes avancée</a:t>
            </a:r>
            <a:endParaRPr lang="en-US" sz="950" dirty="0"/>
          </a:p>
        </p:txBody>
      </p:sp>
      <p:pic>
        <p:nvPicPr>
          <p:cNvPr id="66" name="Image 1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224528"/>
            <a:ext cx="164592" cy="164592"/>
          </a:xfrm>
          <a:prstGeom prst="rect">
            <a:avLst/>
          </a:prstGeom>
        </p:spPr>
      </p:pic>
      <p:sp>
        <p:nvSpPr>
          <p:cNvPr id="67" name="Text 48"/>
          <p:cNvSpPr/>
          <p:nvPr/>
        </p:nvSpPr>
        <p:spPr>
          <a:xfrm>
            <a:off x="6391656" y="4206240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mensuelle</a:t>
            </a:r>
            <a:endParaRPr lang="en-US" sz="900" dirty="0"/>
          </a:p>
        </p:txBody>
      </p:sp>
      <p:sp>
        <p:nvSpPr>
          <p:cNvPr id="68" name="Shape 49"/>
          <p:cNvSpPr/>
          <p:nvPr/>
        </p:nvSpPr>
        <p:spPr>
          <a:xfrm>
            <a:off x="320040" y="4828032"/>
            <a:ext cx="8503920" cy="329184"/>
          </a:xfrm>
          <a:prstGeom prst="rect">
            <a:avLst/>
          </a:prstGeom>
          <a:solidFill>
            <a:srgbClr val="EBF5FB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9" name="Shape 50"/>
          <p:cNvSpPr/>
          <p:nvPr/>
        </p:nvSpPr>
        <p:spPr>
          <a:xfrm>
            <a:off x="320040" y="4828032"/>
            <a:ext cx="64008" cy="329184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0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4882896"/>
            <a:ext cx="201168" cy="201168"/>
          </a:xfrm>
          <a:prstGeom prst="rect">
            <a:avLst/>
          </a:prstGeom>
        </p:spPr>
      </p:pic>
      <p:sp>
        <p:nvSpPr>
          <p:cNvPr id="71" name="Text 51"/>
          <p:cNvSpPr/>
          <p:nvPr/>
        </p:nvSpPr>
        <p:spPr>
          <a:xfrm>
            <a:off x="676656" y="486460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plans sur kobo.humanitarianresponse.info (ONG humanitaires) ou kf.kobotoolbox.org (général). Les plans évoluent régulièrement.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rapide — Gestion des accès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des rôles et actions clés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310896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1261872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des 4 rôles — Droits principaux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609344"/>
            <a:ext cx="118872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166420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554480" y="1609344"/>
            <a:ext cx="1042416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591056" y="16642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formulaire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96896" y="1609344"/>
            <a:ext cx="1042416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633472" y="16642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formulaire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39312" y="1609344"/>
            <a:ext cx="1042416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75888" y="16642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81728" y="1609344"/>
            <a:ext cx="1042416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18304" y="16642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soumission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724144" y="1609344"/>
            <a:ext cx="1042416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760720" y="16642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soumission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66560" y="1609344"/>
            <a:ext cx="1042416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803136" y="16642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collabo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808976" y="1609344"/>
            <a:ext cx="1042416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845552" y="166420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projet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" y="1938528"/>
            <a:ext cx="1188720" cy="310896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84048" y="199339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554480" y="1938528"/>
            <a:ext cx="1042416" cy="31089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591056" y="19933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96896" y="1938528"/>
            <a:ext cx="1042416" cy="31089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633472" y="19933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39312" y="1938528"/>
            <a:ext cx="1042416" cy="31089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675888" y="19933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81728" y="1938528"/>
            <a:ext cx="1042416" cy="31089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718304" y="19933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24144" y="1938528"/>
            <a:ext cx="1042416" cy="31089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760720" y="19933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66560" y="1938528"/>
            <a:ext cx="1042416" cy="31089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803136" y="19933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808976" y="1938528"/>
            <a:ext cx="1042416" cy="31089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7845552" y="199339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47472" y="2267712"/>
            <a:ext cx="1188720" cy="310896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84048" y="2322576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554480" y="2267712"/>
            <a:ext cx="104241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1591056" y="23225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96896" y="2267712"/>
            <a:ext cx="104241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2633472" y="23225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39312" y="2267712"/>
            <a:ext cx="104241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3675888" y="23225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81728" y="2267712"/>
            <a:ext cx="104241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4718304" y="23225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724144" y="2267712"/>
            <a:ext cx="104241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5760720" y="23225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766560" y="2267712"/>
            <a:ext cx="104241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6803136" y="23225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808976" y="2267712"/>
            <a:ext cx="104241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7845552" y="232257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47472" y="2596896"/>
            <a:ext cx="118872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384048" y="2651760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554480" y="2596896"/>
            <a:ext cx="1042416" cy="31089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1591056" y="265176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596896" y="2596896"/>
            <a:ext cx="1042416" cy="31089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2633472" y="265176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639312" y="2596896"/>
            <a:ext cx="1042416" cy="31089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3675888" y="265176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681728" y="2596896"/>
            <a:ext cx="1042416" cy="31089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4718304" y="265176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724144" y="2596896"/>
            <a:ext cx="1042416" cy="31089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5760720" y="265176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766560" y="2596896"/>
            <a:ext cx="1042416" cy="31089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6803136" y="265176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808976" y="2596896"/>
            <a:ext cx="1042416" cy="31089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7845552" y="265176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47472" y="2926080"/>
            <a:ext cx="1188720" cy="310896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384048" y="298094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Lecteur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554480" y="2926080"/>
            <a:ext cx="104241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1591056" y="298094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596896" y="2926080"/>
            <a:ext cx="104241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Text 78"/>
          <p:cNvSpPr/>
          <p:nvPr/>
        </p:nvSpPr>
        <p:spPr>
          <a:xfrm>
            <a:off x="2633472" y="298094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639312" y="2926080"/>
            <a:ext cx="104241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3675888" y="298094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681728" y="2926080"/>
            <a:ext cx="104241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4718304" y="298094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5724144" y="2926080"/>
            <a:ext cx="104241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5760720" y="298094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766560" y="2926080"/>
            <a:ext cx="104241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6803136" y="298094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7808976" y="2926080"/>
            <a:ext cx="1042416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Text 88"/>
          <p:cNvSpPr/>
          <p:nvPr/>
        </p:nvSpPr>
        <p:spPr>
          <a:xfrm>
            <a:off x="7845552" y="298094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320040" y="3566160"/>
            <a:ext cx="850392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Text 90"/>
          <p:cNvSpPr/>
          <p:nvPr/>
        </p:nvSpPr>
        <p:spPr>
          <a:xfrm>
            <a:off x="411480" y="3566160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rapides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47472" y="3913632"/>
            <a:ext cx="8449056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347472" y="3913632"/>
            <a:ext cx="45720" cy="219456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Text 93"/>
          <p:cNvSpPr/>
          <p:nvPr/>
        </p:nvSpPr>
        <p:spPr>
          <a:xfrm>
            <a:off x="457200" y="3931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collaborateur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2157984" y="3931920"/>
            <a:ext cx="660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Partager → Nom d'utilisateur → Rôle → Inviter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47472" y="4151376"/>
            <a:ext cx="8449056" cy="21945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347472" y="4151376"/>
            <a:ext cx="45720" cy="219456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Text 97"/>
          <p:cNvSpPr/>
          <p:nvPr/>
        </p:nvSpPr>
        <p:spPr>
          <a:xfrm>
            <a:off x="457200" y="41696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un rôle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2157984" y="4169664"/>
            <a:ext cx="660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Partager → Cliquer sur le rôle actuel → Nouveau rôle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347472" y="4389120"/>
            <a:ext cx="8449056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347472" y="4389120"/>
            <a:ext cx="45720" cy="219456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Text 101"/>
          <p:cNvSpPr/>
          <p:nvPr/>
        </p:nvSpPr>
        <p:spPr>
          <a:xfrm>
            <a:off x="457200" y="44074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Révoquer l'accès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2157984" y="4407408"/>
            <a:ext cx="660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Partager → ✕ à droite du nom → Confirmer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347472" y="4626864"/>
            <a:ext cx="8449056" cy="219456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347472" y="4626864"/>
            <a:ext cx="45720" cy="219456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Text 105"/>
          <p:cNvSpPr/>
          <p:nvPr/>
        </p:nvSpPr>
        <p:spPr>
          <a:xfrm>
            <a:off x="457200" y="46451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organisation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2157984" y="4645152"/>
            <a:ext cx="660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→ Organisations → Créer → Ajouter membres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Module 11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64008" cy="438912"/>
          </a:xfrm>
          <a:prstGeom prst="rect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" y="1280160"/>
            <a:ext cx="438912" cy="438912"/>
          </a:xfrm>
          <a:prstGeom prst="ellipse">
            <a:avLst/>
          </a:prstGeom>
          <a:solidFill>
            <a:srgbClr val="B7950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298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Rôles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137160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395728" y="131673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 (tout) · Admin (sauf suppression projet) · Éditeur (collecte+données) · Lecteur (lecture seule)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9222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64008" cy="438912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47472" y="1792224"/>
            <a:ext cx="438912" cy="438912"/>
          </a:xfrm>
          <a:prstGeom prst="ellipse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472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18105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188366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395728" y="18288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→ Partager → Nom d'utilisateur Kobo → Rôle → Inviter · email de notification auto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304288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2304288"/>
            <a:ext cx="64008" cy="43891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7472" y="2304288"/>
            <a:ext cx="438912" cy="438912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23225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2395728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395728" y="2340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 ne peut pas modifier le formulaire · Lecteur ne peut pas modifier les données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816352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2816352"/>
            <a:ext cx="64008" cy="438912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47472" y="2816352"/>
            <a:ext cx="438912" cy="438912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47472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28346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0" y="2907792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395728" y="28529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 · Organisation · Lien public (rapports seuls) · Transfert de propriété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328416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74320" y="3328416"/>
            <a:ext cx="64008" cy="438912"/>
          </a:xfrm>
          <a:prstGeom prst="rect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47472" y="3328416"/>
            <a:ext cx="438912" cy="438912"/>
          </a:xfrm>
          <a:prstGeom prst="ellipse">
            <a:avLst/>
          </a:prstGeom>
          <a:solidFill>
            <a:srgbClr val="4A2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47472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33467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0" y="3419856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395728" y="33649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partagé multi-projets · Partage auto avec tous les membres actuels et futurs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84048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274320" y="3840480"/>
            <a:ext cx="64008" cy="43891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47472" y="3840480"/>
            <a:ext cx="438912" cy="43891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47472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" y="3858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286000" y="393192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395728" y="387705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 privilège · Propriétaire = compte institutionnel · Révoquer en 7j post-mission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35254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274320" y="4352544"/>
            <a:ext cx="64008" cy="43891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47472" y="4352544"/>
            <a:ext cx="438912" cy="438912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47472" y="4352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4400" y="43708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286000" y="444398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395728" y="43891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à tous · Compte partagé · Oublier de révoquer · Inviter email sans compte Kobo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solidFill>
            <a:srgbClr val="1A3A8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VIDÉOS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 17–18 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pratiques &amp;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réels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3200400" cy="36576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Formulaire d'enquête nutrition de A à Z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5112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Formulaire de suivi de bénéficiaires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8221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Bonnes pratiques professionnelles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Erreurs courantes à éviter absolument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4439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Checklist de qualité pour tout projet Kobo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Abonnez-vous pour ne pas manquer la suite !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49194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· Commentaire · Partage — ça aide vraiment 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2852</Words>
  <Application>Microsoft Office PowerPoint</Application>
  <PresentationFormat>Affichage à l'écran (16:9)</PresentationFormat>
  <Paragraphs>594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KoboToolbox – Module 11 : Gestion des utilisateurs &amp; équipes</dc:title>
  <dc:subject>PptxGenJS Presentation</dc:subject>
  <dc:creator>PptxGenJS</dc:creator>
  <cp:lastModifiedBy>Ahlou Alphonse Euphreme</cp:lastModifiedBy>
  <cp:revision>1</cp:revision>
  <dcterms:created xsi:type="dcterms:W3CDTF">2026-03-22T19:19:22Z</dcterms:created>
  <dcterms:modified xsi:type="dcterms:W3CDTF">2026-03-22T19:21:34Z</dcterms:modified>
</cp:coreProperties>
</file>