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5735D98A-5E9D-45E5-9858-B2F8FC0FB54C}"/>
    <pc:docChg chg="modSld">
      <pc:chgData name="Ahlou Alphonse Euphreme" userId="f12afe77-4db7-47e3-b604-bb0d456a5c02" providerId="ADAL" clId="{5735D98A-5E9D-45E5-9858-B2F8FC0FB54C}" dt="2026-03-22T19:34:19.936" v="2" actId="1076"/>
      <pc:docMkLst>
        <pc:docMk/>
      </pc:docMkLst>
      <pc:sldChg chg="modSp mod">
        <pc:chgData name="Ahlou Alphonse Euphreme" userId="f12afe77-4db7-47e3-b604-bb0d456a5c02" providerId="ADAL" clId="{5735D98A-5E9D-45E5-9858-B2F8FC0FB54C}" dt="2026-03-22T19:34:19.936" v="2" actId="1076"/>
        <pc:sldMkLst>
          <pc:docMk/>
          <pc:sldMk cId="0" sldId="258"/>
        </pc:sldMkLst>
        <pc:spChg chg="mod">
          <ac:chgData name="Ahlou Alphonse Euphreme" userId="f12afe77-4db7-47e3-b604-bb0d456a5c02" providerId="ADAL" clId="{5735D98A-5E9D-45E5-9858-B2F8FC0FB54C}" dt="2026-03-22T19:34:16.026" v="1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3-22T19:34:19.936" v="2" actId="1076"/>
          <ac:spMkLst>
            <pc:docMk/>
            <pc:sldMk cId="0" sldId="258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23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3657600" cy="384048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 ·  MODULE FINAL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pratiques &amp;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réels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Vidéos 17–18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min  ·  Enquête nutrition · Suivi bénéficiaires · Bonnes pratiques · Erreurs à éviter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38144"/>
            <a:ext cx="7772400" cy="804672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66928" y="3493008"/>
            <a:ext cx="7552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Félicitations ! Vous êtes à la fin de la série complète KoboToolbox de A à Z.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749040"/>
            <a:ext cx="7552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 · 18 vidéos · De la création du formulaire à l'analyse et l'intégration des données.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33856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133856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10512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810512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87168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487168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63824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16382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0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8404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17136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17136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93792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193792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70448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870448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47104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54710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23760" y="4334256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22376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900416" y="4334256"/>
            <a:ext cx="457200" cy="457200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900416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12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projets complets + bonnes pratiques professionnelles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 — Enquête nutrition de A à Z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formulaire SMART de collecte nutritionnelle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2 — Suivi de bénéficiaires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 et de suivi longitudinal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professionnelles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d'or pour des projets Kobo de qualité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erreurs à éviter absolument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pièges que commettent même les expérimentés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qualité — tout projet Kobo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 complète avant, pendant et après la collecte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02336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78992" y="4050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et aller plus loin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communauté, certifications et formations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64008" cy="475488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5902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78992" y="45994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final — Merci !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78992" y="48280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vous attend après cette série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 — Enquête nutrition de A à 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Objectif : évaluer l'état nutritionnel d'enfants de 6 à 59 mois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ONG de santé infantile · Zone rurale Bénin · 500 ménages cibles · 3 agents de collecte · 2 semaines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609344"/>
            <a:ext cx="8412480" cy="3108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formulaire — 5 sections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75104"/>
            <a:ext cx="283464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9751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36576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8912" y="23042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collecte (date)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2743200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36576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38912" y="25054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agent (text)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688336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688336"/>
            <a:ext cx="36576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38912" y="27066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ménage (text)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889504"/>
            <a:ext cx="2743200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65760" y="2889504"/>
            <a:ext cx="36576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38912" y="29077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(select_one)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090672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090672"/>
            <a:ext cx="36576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38912" y="31089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(geopoint)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328416"/>
            <a:ext cx="2834640" cy="3108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38912" y="3328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 CIBLE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200400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46120" y="3200400"/>
            <a:ext cx="36576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319272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 enfant (text)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46120" y="3401568"/>
            <a:ext cx="2743200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46120" y="3401568"/>
            <a:ext cx="36576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319272" y="34198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naissance (date)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46120" y="3602736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46120" y="3602736"/>
            <a:ext cx="36576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319272" y="36210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(select_one)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46120" y="3803904"/>
            <a:ext cx="2743200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246120" y="3803904"/>
            <a:ext cx="36576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319272" y="38221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calculé (calculate)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46120" y="4005072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3246120" y="4005072"/>
            <a:ext cx="36576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319272" y="40233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vaccinal (select_multiple)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803904"/>
            <a:ext cx="283464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57200" y="38039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ANTHROPO.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4114800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126480" y="4114800"/>
            <a:ext cx="36576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199632" y="41330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en kg (decimal)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26480" y="4315968"/>
            <a:ext cx="2743200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126480" y="4315968"/>
            <a:ext cx="36576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199632" y="43342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en cm (decimal)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26480" y="4517136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6126480" y="4517136"/>
            <a:ext cx="36576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199632" y="45354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(décimal)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26480" y="4718304"/>
            <a:ext cx="2743200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6126480" y="4718304"/>
            <a:ext cx="36576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6199632" y="47365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calculé (calculate)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26480" y="4919472"/>
            <a:ext cx="27432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6126480" y="4919472"/>
            <a:ext cx="36576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6199632" y="49377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Z calculé (calculate)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5760" y="3730752"/>
            <a:ext cx="4443984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57200" y="373075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4041648"/>
            <a:ext cx="4352544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365760" y="4041648"/>
            <a:ext cx="36576" cy="1828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438912" y="4059936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Allaitement maternel (select_one)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" y="4242816"/>
            <a:ext cx="4352544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365760" y="4242816"/>
            <a:ext cx="36576" cy="1828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438912" y="4261104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Diversité alimentaire (select_multiple)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65760" y="4443984"/>
            <a:ext cx="4352544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365760" y="4443984"/>
            <a:ext cx="36576" cy="1828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438912" y="4462272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repas (integer)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65760" y="4645152"/>
            <a:ext cx="4352544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365760" y="4645152"/>
            <a:ext cx="36576" cy="1828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438912" y="4663440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eau (select_one)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809744" y="4645152"/>
            <a:ext cx="4443984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4901184" y="464515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&amp; RÉFÉRENCE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809744" y="4956048"/>
            <a:ext cx="4352544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4809744" y="4956048"/>
            <a:ext cx="36576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4882896" y="4974336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nutritionnel (calculate)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809744" y="5157216"/>
            <a:ext cx="4352544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4809744" y="5157216"/>
            <a:ext cx="36576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4882896" y="5175504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URENI (select_one)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809744" y="5358384"/>
            <a:ext cx="4352544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4809744" y="5358384"/>
            <a:ext cx="36576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4882896" y="5376672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(text)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809744" y="5559552"/>
            <a:ext cx="4352544" cy="18288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4809744" y="5559552"/>
            <a:ext cx="36576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4882896" y="5577840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enfant (image)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 — Logique et calculs XPath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Automatiser le diagnostic nutritionnel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calculs XPath permettent de classifier automatiquement le statut nutritionnel à partir des mesures saisies — sans calcul manuel de l'enquêteur.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82496"/>
            <a:ext cx="64008" cy="56692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11480" y="1755648"/>
            <a:ext cx="868680" cy="21945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17556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71600" y="1719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en mois (depuis date de naissance)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1956816"/>
            <a:ext cx="5029200" cy="21945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426464" y="1975104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int((today() - ${date_naissance}) div 30.44)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10528" y="1810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en mois entiers pour classification nutritionnelle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32257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2322576"/>
            <a:ext cx="64008" cy="56692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11480" y="2395728"/>
            <a:ext cx="868680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239572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71600" y="2359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(Indice de Masse Corporelle)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2596896"/>
            <a:ext cx="5029200" cy="21945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426464" y="2615184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${poids_kg} div (${taille_m} * ${taille_m})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10528" y="24505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taille_m = taille en mètres (diviser par 100 si saisi en cm)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96265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962656"/>
            <a:ext cx="64008" cy="56692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11480" y="3035808"/>
            <a:ext cx="868680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11480" y="30358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371600" y="2999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PB/Taille (Périmètre Brachial)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0" y="3236976"/>
            <a:ext cx="5029200" cy="21945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426464" y="3255264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if(${pb_mm} &lt; 115, 'SAM', if(${pb_mm} &lt; 125, 'MAM', 'Normal'))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10528" y="30906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&lt; 115mm · MAM 115–124mm · Normal ≥ 125mm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60273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3602736"/>
            <a:ext cx="64008" cy="5669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11480" y="3675888"/>
            <a:ext cx="868680" cy="2194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11480" y="36758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371600" y="3639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nutritionnel global (classification)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371600" y="3877056"/>
            <a:ext cx="5029200" cy="21945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426464" y="3895344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if(${statut_pb} = 'SAM', 'Malnutrition aiguë sévère', if(${statut_pb} = 'MAM', 'Malnutrition aiguë modérée', 'État nutritionnel satisfaisant'))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10528" y="37307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Affiché dans une note à la fin du formulaire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24281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20040" y="4242816"/>
            <a:ext cx="6400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11480" y="4315968"/>
            <a:ext cx="868680" cy="2194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11480" y="43159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371600" y="4279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automatique URENI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71600" y="4517136"/>
            <a:ext cx="5029200" cy="21945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1426464" y="4535424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${statut_pb} = 'SAM'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10528" y="43708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— affiche la question référence URENI seulement si SAM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2 — Suivi de bénéficiaires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Inscription initiale + visites de suivi périodiques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Programme social ONG RACINES · 300 ménages suivis · Visites trimestrielles · Évaluation sur 12 mois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609344"/>
            <a:ext cx="411480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1 — Inscription initiale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38912" y="199339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8912" y="19933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07008" y="2011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bénéficiaire *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31136"/>
            <a:ext cx="4114800" cy="2560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23113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38912" y="226771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38912" y="22677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07008" y="2286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et prénom *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50545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250545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38912" y="254203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38912" y="25420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07008" y="2560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 *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779776"/>
            <a:ext cx="4114800" cy="2560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65760" y="277977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38912" y="281635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38912" y="28163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07008" y="2834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*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05409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65760" y="305409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207008" y="3108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de résidence *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328416"/>
            <a:ext cx="4114800" cy="2560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65760" y="332841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38912" y="336499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38912" y="33649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207008" y="3383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domicile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60273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65760" y="360273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38912" y="363931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38912" y="36393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207008" y="3657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bénéficiaire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877056"/>
            <a:ext cx="4114800" cy="2560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365760" y="387705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438912" y="391363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38912" y="39136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207008" y="3931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identifiés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415137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65760" y="415137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438912" y="418795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438912" y="41879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207008" y="4206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responsable ménage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4425696"/>
            <a:ext cx="4114800" cy="2560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365760" y="4425696"/>
            <a:ext cx="4572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438912" y="4462272"/>
            <a:ext cx="713232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38912" y="44622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207008" y="4480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contact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63440" y="1609344"/>
            <a:ext cx="4114800" cy="3108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4754880" y="160934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2 — Visite de suivi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63440" y="195681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4663440" y="195681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4736592" y="199339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4736592" y="1993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201168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bénéficiaire * (barcode)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663440" y="2231136"/>
            <a:ext cx="4114800" cy="256032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4663440" y="223113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4736592" y="226771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4736592" y="22677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22860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visite *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663440" y="250545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4663440" y="250545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4736592" y="254203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4736592" y="2542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256032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 de suivi *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663440" y="2779776"/>
            <a:ext cx="4114800" cy="256032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4663440" y="277977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4736592" y="281635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4736592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614416" y="28346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 présent ? *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663440" y="305409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4663440" y="305409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4736592" y="309067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4736592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614416" y="3108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reçus ce trimestre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663440" y="3328416"/>
            <a:ext cx="4114800" cy="256032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4663440" y="332841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4736592" y="336499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4736592" y="33649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5614416" y="338328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économique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663440" y="360273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4663440" y="360273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4736592" y="363931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4736592" y="36393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5614416" y="36576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des enfants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663440" y="3877056"/>
            <a:ext cx="4114800" cy="256032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4663440" y="387705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4736592" y="391363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4736592" y="39136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14416" y="393192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enfants scolarisés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663440" y="415137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4663440" y="415137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4736592" y="418795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4736592" y="4187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614416" y="42062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des services (1–5)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4663440" y="4425696"/>
            <a:ext cx="4114800" cy="256032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4663440" y="4425696"/>
            <a:ext cx="45720" cy="2560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4736592" y="4462272"/>
            <a:ext cx="82296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Text 110"/>
          <p:cNvSpPr/>
          <p:nvPr/>
        </p:nvSpPr>
        <p:spPr>
          <a:xfrm>
            <a:off x="4736592" y="44622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5614416" y="44805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Remarques de l'agent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2 — Logique du suivi longitudinal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Lier le formulaire de suivi à la fiche d'inscription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de suivi récupère les informations de la fiche d'inscription via le code bénéficiaire (barcode) et calcule automatiquement la progression.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841248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 données — Lien inscription ↔ suivi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200400" cy="2011680"/>
          </a:xfrm>
          <a:prstGeom prst="rect">
            <a:avLst/>
          </a:prstGeom>
          <a:solidFill>
            <a:srgbClr val="1A5276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Inscription initiale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2468880"/>
            <a:ext cx="3054096" cy="256032"/>
          </a:xfrm>
          <a:prstGeom prst="rect">
            <a:avLst/>
          </a:prstGeom>
          <a:solidFill>
            <a:srgbClr val="DD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66928" y="248716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code_beneficiaire  (barcode)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" y="2761488"/>
            <a:ext cx="3054096" cy="256032"/>
          </a:xfrm>
          <a:prstGeom prst="rect">
            <a:avLst/>
          </a:prstGeom>
          <a:solidFill>
            <a:srgbClr val="CC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6928" y="2779776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nom_prenom  (text)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3054096"/>
            <a:ext cx="3054096" cy="256032"/>
          </a:xfrm>
          <a:prstGeom prst="rect">
            <a:avLst/>
          </a:prstGeom>
          <a:solidFill>
            <a:srgbClr val="DD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66928" y="3072384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date_naissance  (date)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" y="3346704"/>
            <a:ext cx="3054096" cy="256032"/>
          </a:xfrm>
          <a:prstGeom prst="rect">
            <a:avLst/>
          </a:prstGeom>
          <a:solidFill>
            <a:srgbClr val="CC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6928" y="336499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gps_domicile  (geopoint)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" y="3639312"/>
            <a:ext cx="3054096" cy="256032"/>
          </a:xfrm>
          <a:prstGeom prst="rect">
            <a:avLst/>
          </a:prstGeom>
          <a:solidFill>
            <a:srgbClr val="DD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928" y="365760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 (image)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85616" y="29443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657600" y="331012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bénéficiaire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clé de jointure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3657600" cy="2011680"/>
          </a:xfrm>
          <a:prstGeom prst="rect">
            <a:avLst/>
          </a:prstGeom>
          <a:solidFill>
            <a:srgbClr val="1E8449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663440" y="2139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Visite de suivi (×4/an)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36592" y="2468880"/>
            <a:ext cx="3511296" cy="256032"/>
          </a:xfrm>
          <a:prstGeom prst="rect">
            <a:avLst/>
          </a:prstGeom>
          <a:solidFill>
            <a:srgbClr val="DD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73168" y="2487168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code_beneficiaire  (barcode)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2761488"/>
            <a:ext cx="3511296" cy="256032"/>
          </a:xfrm>
          <a:prstGeom prst="rect">
            <a:avLst/>
          </a:prstGeom>
          <a:solidFill>
            <a:srgbClr val="CC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73168" y="277977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date_visite  (date)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36592" y="3054096"/>
            <a:ext cx="3511296" cy="256032"/>
          </a:xfrm>
          <a:prstGeom prst="rect">
            <a:avLst/>
          </a:prstGeom>
          <a:solidFill>
            <a:srgbClr val="DD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73168" y="3072384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  (select_one)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3346704"/>
            <a:ext cx="3511296" cy="256032"/>
          </a:xfrm>
          <a:prstGeom prst="rect">
            <a:avLst/>
          </a:prstGeom>
          <a:solidFill>
            <a:srgbClr val="CC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73168" y="336499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services_recus  (select_mult)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3639312"/>
            <a:ext cx="3511296" cy="256032"/>
          </a:xfrm>
          <a:prstGeom prst="rect">
            <a:avLst/>
          </a:prstGeom>
          <a:solidFill>
            <a:srgbClr val="DD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73168" y="3657600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 (range 1–5)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206240"/>
            <a:ext cx="841248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" y="42062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longitudinale — Export + jointure Excel / Python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2 formulaires en XLS → Jointure sur code_beneficiaire dans Excel (XLOOKUP) ou Python (df.merge()) → Tableau suivi individuel par bénéficiaire sur 12 mois.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— Conception du formulaire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Les règles d'or avant de créer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18872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" y="13350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par la fiche de collecte papier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73736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d'ouvrir Kobo, définir sur papier toutes les questions, leurs types, les listes de choix et les sauts logiques. La numérisation vient après.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19456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2128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si vous ne pouvez pas l'écrire sur papier, vous ne pouvez pas le saisir dans Kobo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6187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61872"/>
            <a:ext cx="6400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6944" y="13350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correctement toutes les variables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46320" y="173736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snake_case sans accents : nom_agent, date_collecte, commune_residence. Les noms courts et clairs facilitent l'analyse.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194560"/>
            <a:ext cx="4005072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2128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: type_objet (ex: age_enfant · nb_personnes_menage · code_village)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578608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578608"/>
            <a:ext cx="64008" cy="1188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88336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" y="26517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sur le terrain avant de déployer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11480" y="3054096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remplir 5 à 10 formulaires tests par un enquêteur réel dans des conditions réelles. Vérifier GPS, photo, logique, durée.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511296"/>
            <a:ext cx="4005072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529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cycles : Formbuilder → Test → Correction → Déploiement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578608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578608"/>
            <a:ext cx="6400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88336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66944" y="26517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Impliquer les enquêteurs dans la conception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846320" y="3054096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enquêteurs connaissent les contraintes terrain. Les impliquer dès la conception réduit les erreurs et améliore l'acceptation.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511296"/>
            <a:ext cx="4005072" cy="20116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529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de validation du formulaire avec l'équipe avant déploiement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895344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895344"/>
            <a:ext cx="64008" cy="11887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05072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32104" y="396849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toutes les décisions de conception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11480" y="437083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un fichier de documentation : objectif de chaque question, liste des choix, logique de saut, contraintes. Indispensable pour les versions futures.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828032"/>
            <a:ext cx="4005072" cy="20116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Guide du formulaire (1–2 pages) + fichier XLSForm comme référence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895344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895344"/>
            <a:ext cx="6400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005072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66944" y="396849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identifiants uniques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846320" y="437083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inclure un champ d'identifiant unique (code_menage, code_beneficiaire) pour permettre la jointure et le suivi longitudinal.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828032"/>
            <a:ext cx="4005072" cy="201168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concat(code_zone, '-', format-date(today(),'%Y%m%d'), '-', position(..))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— Terrain &amp; Données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Les règles d'or pendant et après la collecte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0972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3816" y="133502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enquêteurs (≥ 1 journée)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737360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organiser une formation dédiée à KoboCollect + au formulaire spécifique. Inclure une collecte test dans les conditions réelles.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61872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754880" y="1261872"/>
            <a:ext cx="64008" cy="10972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48656" y="133502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quotidienne à distance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46320" y="1737360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superviseur consulte l'onglet Data chaque soir, vérifie les 3–5 premières soumissions de chaque agent et signale les erreurs par WhatsApp.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2432304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320040" y="2432304"/>
            <a:ext cx="64008" cy="10972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54203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3816" y="250545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les exports à intervalles réguliers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11480" y="2907792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en XLS chaque semaine vers un dossier partagé (Google Drive / OneDrive). Ne pas attendre la fin de la collecte.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54880" y="2432304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4754880" y="2432304"/>
            <a:ext cx="64008" cy="10972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54203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48656" y="250545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qualité systématique post-collecte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46320" y="2907792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collecte : vérifier doublons · valeurs aberrantes · GPS hors zone · photos manquantes. Corriger avant toute analyse.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" y="3602736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320040" y="3602736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12464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13816" y="367588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AVANT de supprimer ou d'archiver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11480" y="407822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exporter en XLS + KML (si GPS) avant tout archivage ou suppression. Conserver les archives dans au moins 2 emplacements.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54880" y="3602736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8"/>
          <p:cNvSpPr/>
          <p:nvPr/>
        </p:nvSpPr>
        <p:spPr>
          <a:xfrm>
            <a:off x="4754880" y="3602736"/>
            <a:ext cx="64008" cy="109728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712464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48656" y="367588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résultats avec les bénéficiaires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4846320" y="407822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Restituer les résultats aux communautés enquêtées est une bonne pratique éthique et renforce la confiance pour les prochaines collectes.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erreurs à éviter — Partie 1 (1 à 10)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Les pièges que commettent même les expérimentés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45720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84048" y="1316736"/>
            <a:ext cx="402336" cy="2194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31673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335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en brouillon sans le savoir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52544" y="1371600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462272" y="13350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de prévisualisation n'est pas le lien de collecte. Les données saisies en preview sont perdues.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627632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1627632"/>
            <a:ext cx="4572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84048" y="1664208"/>
            <a:ext cx="40233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84048" y="166420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1682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capturé en intérieur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52544" y="1719072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462272" y="16824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&gt; 50 m possible. Configurer accuracy_threshold = 10 et sortir à l'air libre.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1975104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975104"/>
            <a:ext cx="45720" cy="31089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84048" y="2011680"/>
            <a:ext cx="402336" cy="21945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84048" y="201168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2029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modifié pendant la collecte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52544" y="2066544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462272" y="20299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Casse la compatibilité entre les soumissions v1 et v2. Figer le formulaire avant le terrain.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322576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2322576"/>
            <a:ext cx="457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84048" y="2359152"/>
            <a:ext cx="402336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" y="235915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au lieu de selected() pour select_mult.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52544" y="2414016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462272" y="23774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selected(${q},'valeur') est obligatoire pour les choix multiples. = ne fonctionne jamais.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670048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2670048"/>
            <a:ext cx="45720" cy="3108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84048" y="2706624"/>
            <a:ext cx="402336" cy="2194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84048" y="270662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sans apostrophes dans XPath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52544" y="2761488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462272" y="27249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${q} = femme → incorrect. Toujours ${q} = 'femme' avec apostrophes pour les textes.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3017520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320040" y="3017520"/>
            <a:ext cx="45720" cy="3108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84048" y="3054096"/>
            <a:ext cx="402336" cy="21945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84048" y="305409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30723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sans exporter d'abord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52544" y="3108960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462272" y="30723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est irréversible. TOUJOURS exporter en XLS avant toute suppression.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3364992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20040" y="3364992"/>
            <a:ext cx="457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84048" y="3401568"/>
            <a:ext cx="402336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84048" y="340156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41248" y="3419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de synchroniser avant fin de batterie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52544" y="3456432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462272" y="34198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brouillons non synchronisés sont perdus. Synchroniser après chaque 5 soumissions.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3712464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320040" y="3712464"/>
            <a:ext cx="45720" cy="310896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384048" y="3749040"/>
            <a:ext cx="402336" cy="219456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84048" y="37490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41248" y="3767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rapport public avant nettoyage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352544" y="3803904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462272" y="37673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doublons et erreurs apparaîtront dans le rapport. Valider les données d'abord.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20040" y="4059936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320040" y="4059936"/>
            <a:ext cx="4572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384048" y="4096512"/>
            <a:ext cx="40233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384048" y="40965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41248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API exposé dans du code public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52544" y="4151376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4462272" y="4114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GitHub = accès total à TOUTES vos données. Variables d'environnement obligatoires.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0040" y="4407408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320040" y="4407408"/>
            <a:ext cx="45720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384048" y="4443984"/>
            <a:ext cx="402336" cy="2194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384048" y="44439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41248" y="4462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sans max-pixels = fichiers 4K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352544" y="4498848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4462272" y="44622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max-pixels = 1024, les photos 4K bloquent la synchronisation. Toujours limiter.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erreurs à éviter — Partie 2 (11 à 20)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Suite des pièges fréquents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457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84048" y="1316736"/>
            <a:ext cx="402336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31673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335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 de variables avec espaces ou accents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52544" y="1371600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462272" y="13350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résidence → interdit. Utiliser snake_case : commune_residence.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627632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1627632"/>
            <a:ext cx="45720" cy="3108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84048" y="1664208"/>
            <a:ext cx="402336" cy="2194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84048" y="166420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1682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circulaire dans calculate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52544" y="1719072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462272" y="16824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${score} = ${score} + 1 → boucle infinie. Un calculate ne peut se référencer lui-même.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1975104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975104"/>
            <a:ext cx="457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84048" y="2011680"/>
            <a:ext cx="402336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84048" y="201168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2029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la pagination de l'API REST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52544" y="2066544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462272" y="20299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retourne max 30 000 résultats. Boucler sur les pages avec ?limit=&amp;offset=.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322576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2322576"/>
            <a:ext cx="4572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84048" y="2359152"/>
            <a:ext cx="40233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" y="235915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UTF-8 manquant dans les CSV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52544" y="2414016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462272" y="23774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Caractères accentués corrompus dans Excel. Données → Depuis texte → UTF-8.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670048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2670048"/>
            <a:ext cx="45720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84048" y="2706624"/>
            <a:ext cx="402336" cy="2194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84048" y="270662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propriétaire personnel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52544" y="2761488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462272" y="27249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l'agent quitte l'ONG, le projet peut disparaître. Propriétaire = compte institutionnel.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3017520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320040" y="3017520"/>
            <a:ext cx="45720" cy="3108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84048" y="3054096"/>
            <a:ext cx="402336" cy="21945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84048" y="305409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30723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sans field-list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52544" y="3108960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462272" y="30723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field-list sur le groupe, chaque ligne s'affiche sur un écran séparé — confusion.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3364992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20040" y="3364992"/>
            <a:ext cx="45720" cy="31089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84048" y="3401568"/>
            <a:ext cx="402336" cy="21945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84048" y="340156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41248" y="3419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test non supprimées avant analyse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52544" y="3456432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462272" y="34198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soumissions test faussent toutes les statistiques. Nettoyer avant tout export.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3712464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320040" y="3712464"/>
            <a:ext cx="45720" cy="310896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384048" y="3749040"/>
            <a:ext cx="402336" cy="219456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84048" y="37490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41248" y="3767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Pourcentages sur petit échantillon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352544" y="3803904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462272" y="37673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sur 4 répondants n'est pas significatif. Toujours mentionner le n=.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20040" y="4059936"/>
            <a:ext cx="85039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320040" y="4059936"/>
            <a:ext cx="457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384048" y="4096512"/>
            <a:ext cx="402336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384048" y="40965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41248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vers HTTP (non HTTPS)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52544" y="4151376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4462272" y="4114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refuse les webhooks HTTP non sécurisés. Toujours HTTPS avec certificat SSL.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0040" y="4407408"/>
            <a:ext cx="85039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320040" y="4407408"/>
            <a:ext cx="45720" cy="3108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384048" y="4443984"/>
            <a:ext cx="402336" cy="2194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384048" y="44439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41248" y="4462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Kobo pour plusieurs enquêteurs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352544" y="4498848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4462272" y="44622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tracer qui a soumis quoi. Un compte = une personne. Toujours.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qualité — Tout projet KoboToolbox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Avant · Pendant · Après la collecte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706624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74904" y="12618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Conception &amp; préparation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609344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93192" y="162763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Objectifs de collecte définis par écrit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956816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93192" y="1975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Fiche de collecte papier rédigée et validée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304288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267712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93192" y="232257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Formulaire Kobo créé avec noms snake_case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2596896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93192" y="26700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Contraintes et logique testées (Preview)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999232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93192" y="301752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Identifiant unique inclus dans le formulaire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346704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3255264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93192" y="33649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GPS configuré (accuracy_threshold = 10)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694176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84448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93192" y="37124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Formation enquêteurs réalisée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041648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3913632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93192" y="40599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 terrain (5–10 soumissions réelles)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389120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20040" y="4242816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93192" y="440740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Formulaire déployé — tests supprimés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36576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93192" y="475488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Lien/QR distribué à l'équipe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18688" y="1261872"/>
            <a:ext cx="2706624" cy="3108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273552" y="12618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— Collecte active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18688" y="1609344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3218688" y="1609344"/>
            <a:ext cx="36576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291840" y="162763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Supervision quotidienne onglet Data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18688" y="1956816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218688" y="1938528"/>
            <a:ext cx="36576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291840" y="1975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Vérification GPS dans la zone attendue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18688" y="2304288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3218688" y="2267712"/>
            <a:ext cx="36576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291840" y="232257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Contrôle photos (présentes et nettes)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18688" y="2651760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218688" y="2596896"/>
            <a:ext cx="36576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291840" y="26700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Durée entretien vérifiée (&gt; 5 min)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18688" y="2999232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3218688" y="2926080"/>
            <a:ext cx="36576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3291840" y="301752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Synchronisation après chaque 5–10 saisies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18688" y="3346704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3218688" y="3255264"/>
            <a:ext cx="36576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291840" y="33649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Export XLS hebdomadaire de sauvegarde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18688" y="3694176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3218688" y="3584448"/>
            <a:ext cx="36576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3291840" y="37124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Brouillons vérifiés et finalisés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18688" y="4041648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3218688" y="3913632"/>
            <a:ext cx="36576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3291840" y="40599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Doublons identifiés et traités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17336" y="1261872"/>
            <a:ext cx="2706624" cy="310896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6172200" y="12618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Clôture &amp; archivage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117336" y="1609344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6117336" y="1609344"/>
            <a:ext cx="36576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6190488" y="162763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Export final XLS + KML + médias ZIP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117336" y="1956816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6117336" y="1938528"/>
            <a:ext cx="36576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6190488" y="1975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Nettoyage des données (doublons, aberrants)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17336" y="2304288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6117336" y="2267712"/>
            <a:ext cx="36576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6190488" y="232257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Validation statut de toutes les soumissions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17336" y="2651760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6117336" y="2596896"/>
            <a:ext cx="36576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6190488" y="26700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Rapport de restitution produit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117336" y="2999232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6117336" y="2926080"/>
            <a:ext cx="36576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6190488" y="301752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Accès collaborateurs révoqués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117336" y="3346704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6117336" y="3255264"/>
            <a:ext cx="36576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6190488" y="33649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Projet archivé dans KoboToolbox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117336" y="3694176"/>
            <a:ext cx="270662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6117336" y="3584448"/>
            <a:ext cx="36576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6190488" y="37124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Archives conservées dans 2 emplacements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117336" y="4041648"/>
            <a:ext cx="2706624" cy="329184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6117336" y="3913632"/>
            <a:ext cx="36576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6190488" y="40599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Documentation du formulaire archivée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— Aller plus loin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Documentation · Communauté · Certifications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2070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898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755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docs.kobotoolbox.org — Tous les articles d'aide, tutoriels et FAQ officielle de KoboToolbox. Disponible en anglais et partiellement en français.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249424"/>
            <a:ext cx="4005072" cy="16459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26771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docs.kobotoolbox.org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61872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61872"/>
            <a:ext cx="64008" cy="12070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898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694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Kobo (Forum)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46320" y="1755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community.kobotoolbox.org — Des milliers de questions et réponses d'utilisateurs du monde entier. Chercher avant de poser une question !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249424"/>
            <a:ext cx="4005072" cy="1645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26771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community.kobotoolbox.org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596896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596896"/>
            <a:ext cx="64008" cy="12070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24912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" y="268833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officielle Kobo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11480" y="309067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kobotoolbox.org/training — Modules de formation gratuits en ligne, webinaires réguliers et ateliers pour les organisations humanitaires.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584448"/>
            <a:ext cx="4005072" cy="16459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60273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kobotoolbox.org/training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596896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596896"/>
            <a:ext cx="64008" cy="1207008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24912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66944" y="268833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ODK / XLSForm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846320" y="309067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odk-x.org — La certification Open Data Kit valide votre maîtrise de XLSForm, le format sous-jacent de KoboToolbox. Reconnue internationalement.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584448"/>
            <a:ext cx="4005072" cy="164592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60273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odk-x.org / xlsform.org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93192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931920"/>
            <a:ext cx="64008" cy="120700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59936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32104" y="40233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Specification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11480" y="442569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xlsform.org — Référence complète de toutes les colonnes, types, apparences et fonctions XPath disponibles dans KoboToolbox.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919472"/>
            <a:ext cx="4005072" cy="16459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93776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xlsform.org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93192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931920"/>
            <a:ext cx="64008" cy="120700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059936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66944" y="40233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Intégrations — GitHub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846320" y="442569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github.com/kobotoolbox — Code source, exemples d'intégration, scripts Python et outils de la communauté développeurs autour de Kobo.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919472"/>
            <a:ext cx="4005072" cy="16459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93776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github.com/kobotoolbox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Récapitulatif — La série complète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 · 18 vidéos · KoboToolbox de A à 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225296"/>
            <a:ext cx="475488" cy="54864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22529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Création de compte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53619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compte, découvrir l'interface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18304" y="1225296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18304" y="1225296"/>
            <a:ext cx="475488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18304" y="122529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66944" y="12801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Navigation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66944" y="153619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Formbuilder, XLSForm, Library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1828800"/>
            <a:ext cx="475488" cy="54864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182880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188366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son premier formulaire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2139696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base, sections, paramètres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18304" y="1828800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718304" y="1828800"/>
            <a:ext cx="475488" cy="54864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18304" y="182880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66944" y="188366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questions avancés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66944" y="2139696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photo, calculs, matrice, notation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432304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2432304"/>
            <a:ext cx="475488" cy="54864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243230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24871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&amp; sauts conditionnels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2743200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logic, relevant, constraint, default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18304" y="2432304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718304" y="2432304"/>
            <a:ext cx="475488" cy="54864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18304" y="243230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66944" y="24871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du formulaire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66944" y="2743200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Déployer, versions, QR, activer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035808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035808"/>
            <a:ext cx="475488" cy="54864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74320" y="303580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309067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données sur le terrain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" y="3346704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KoboCollect, hors ligne, Enketo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18304" y="3035808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718304" y="3035808"/>
            <a:ext cx="475488" cy="54864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718304" y="303580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66944" y="309067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&amp; suivi des soumissions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66944" y="3346704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Voir, modifier, filtrer, doublons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639312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274320" y="3639312"/>
            <a:ext cx="475488" cy="54864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274320" y="363931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" y="369417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visualisation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2960" y="395020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carte GPS, partage public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18304" y="3639312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718304" y="3639312"/>
            <a:ext cx="475488" cy="54864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718304" y="363931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66944" y="369417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intégrations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66944" y="395020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XLS, API REST, Power BI, webhooks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4242816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274320" y="4242816"/>
            <a:ext cx="475488" cy="54864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274320" y="424281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2960" y="42976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&amp; équipes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2960" y="455371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Rôles, permissions, organisations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18304" y="4242816"/>
            <a:ext cx="4315968" cy="548640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4718304" y="4242816"/>
            <a:ext cx="475488" cy="54864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718304" y="424281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66944" y="42976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pratiques &amp; projets réels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66944" y="455371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Nutrition, bénéficiaires, best practices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600000">
            <a:off x="566928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 rot="600000">
            <a:off x="64008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554480" y="45720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Félicitations !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maîtrisez maintenant KoboToolbox de A à 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046720" cy="36576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savez faire :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2359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formulaires complexes avec logique XPath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49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" y="27066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des données en tout terrain, connecté ou non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723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3054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et visualiser les résultats dans Kobo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1985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" y="34015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et connecter à Power BI, Google Sheets, API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67328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9808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une équipe terrain avec les bons droits</a:t>
            </a:r>
            <a:endParaRPr lang="en-US" sz="12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9808" y="4096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bonnes pratiques professionnelles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57200" y="45354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d'avoir suivi la série KoboToolbox de A à Z  🙏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457200" y="4882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votre soutien permet de créer du contenu de qualité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 ultime — Tout projet professionnel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Imprimez cette slide et gardez-la sous la main 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16459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0896" y="12618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Formulaire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609344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6656" y="16459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définies et validées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157984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6656" y="213969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pour tous les noms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76656" y="26334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sur les numériques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3090672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145536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76656" y="31272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inclus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584448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584448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65760" y="3639312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76656" y="362102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XPath testée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078224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" y="4078224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65760" y="413308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76656" y="41148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validé par l'équipe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993392" y="1261872"/>
            <a:ext cx="1645920" cy="3108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029968" y="12618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Déploiement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93392" y="1609344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993392" y="1609344"/>
            <a:ext cx="45720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2084832" y="166420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395728" y="16459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déployé (non brouillon)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993392" y="2103120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1993392" y="2103120"/>
            <a:ext cx="45720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2084832" y="2157984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395728" y="213969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Enketo Offline testé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993392" y="259689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1993392" y="2596896"/>
            <a:ext cx="45720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2084832" y="2651760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395728" y="26334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distribué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993392" y="3090672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1993392" y="3090672"/>
            <a:ext cx="45720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2084832" y="3145536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395728" y="31272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configuré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993392" y="3584448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1993392" y="3584448"/>
            <a:ext cx="45720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2084832" y="3639312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395728" y="362102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équipe attribués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993392" y="4078224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1993392" y="4078224"/>
            <a:ext cx="45720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2084832" y="413308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2395728" y="41148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test supprimées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712464" y="1261872"/>
            <a:ext cx="164592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3749040" y="12618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Collecte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712464" y="1609344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3712464" y="1609344"/>
            <a:ext cx="45720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3803904" y="166420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4114800" y="16459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en extérieur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712464" y="2103120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3712464" y="2103120"/>
            <a:ext cx="45720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3803904" y="2157984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4114800" y="213969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max-pixels = 1024 (photo)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712464" y="259689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3712464" y="2596896"/>
            <a:ext cx="45720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3803904" y="2651760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4114800" y="26334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après chaque 5 saisies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712464" y="3090672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3712464" y="3090672"/>
            <a:ext cx="45720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3803904" y="3145536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4114800" y="31272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quotidienne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712464" y="3584448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3712464" y="3584448"/>
            <a:ext cx="45720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3803904" y="3639312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4114800" y="362102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XLS hebdomadaire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712464" y="4078224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3712464" y="4078224"/>
            <a:ext cx="45720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3803904" y="413308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4114800" y="41148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vérifiés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431536" y="1261872"/>
            <a:ext cx="16459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5468112" y="12618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Analyse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431536" y="1609344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5431536" y="1609344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5522976" y="166420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5833872" y="16459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nettoyées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431536" y="2103120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5431536" y="2103120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5522976" y="2157984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5833872" y="213969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validé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431536" y="259689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5431536" y="2596896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5522976" y="2651760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5833872" y="26334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public testé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431536" y="3090672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5431536" y="3090672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5522976" y="3145536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Text 102"/>
          <p:cNvSpPr/>
          <p:nvPr/>
        </p:nvSpPr>
        <p:spPr>
          <a:xfrm>
            <a:off x="5833872" y="31272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 sur chaque graphique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431536" y="3584448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5431536" y="3584448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5522976" y="3639312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Text 106"/>
          <p:cNvSpPr/>
          <p:nvPr/>
        </p:nvSpPr>
        <p:spPr>
          <a:xfrm>
            <a:off x="5833872" y="362102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final + médias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431536" y="4078224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5431536" y="4078224"/>
            <a:ext cx="45720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5522976" y="413308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Text 110"/>
          <p:cNvSpPr/>
          <p:nvPr/>
        </p:nvSpPr>
        <p:spPr>
          <a:xfrm>
            <a:off x="5833872" y="41148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restitution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7150608" y="1261872"/>
            <a:ext cx="1645920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Text 112"/>
          <p:cNvSpPr/>
          <p:nvPr/>
        </p:nvSpPr>
        <p:spPr>
          <a:xfrm>
            <a:off x="7187184" y="12618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Clôture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7150608" y="1609344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7150608" y="1609344"/>
            <a:ext cx="457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7242048" y="166420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Text 116"/>
          <p:cNvSpPr/>
          <p:nvPr/>
        </p:nvSpPr>
        <p:spPr>
          <a:xfrm>
            <a:off x="7552944" y="16459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avant archivage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7150608" y="2103120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7150608" y="2103120"/>
            <a:ext cx="457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7242048" y="2157984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Text 120"/>
          <p:cNvSpPr/>
          <p:nvPr/>
        </p:nvSpPr>
        <p:spPr>
          <a:xfrm>
            <a:off x="7552944" y="213969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révoqués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150608" y="259689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7150608" y="2596896"/>
            <a:ext cx="457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7242048" y="2651760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Text 124"/>
          <p:cNvSpPr/>
          <p:nvPr/>
        </p:nvSpPr>
        <p:spPr>
          <a:xfrm>
            <a:off x="7552944" y="26334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archivé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150608" y="3090672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7150608" y="3090672"/>
            <a:ext cx="457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7242048" y="3145536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0" name="Text 128"/>
          <p:cNvSpPr/>
          <p:nvPr/>
        </p:nvSpPr>
        <p:spPr>
          <a:xfrm>
            <a:off x="7552944" y="31272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× 2 emplacements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7150608" y="3584448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7150608" y="3584448"/>
            <a:ext cx="457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7242048" y="3639312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Text 132"/>
          <p:cNvSpPr/>
          <p:nvPr/>
        </p:nvSpPr>
        <p:spPr>
          <a:xfrm>
            <a:off x="7552944" y="362102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conservée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7150608" y="4078224"/>
            <a:ext cx="1645920" cy="475488"/>
          </a:xfrm>
          <a:prstGeom prst="rect">
            <a:avLst/>
          </a:prstGeom>
          <a:solidFill>
            <a:srgbClr val="F8FB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7150608" y="4078224"/>
            <a:ext cx="457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7242048" y="4133088"/>
            <a:ext cx="25603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8" name="Text 136"/>
          <p:cNvSpPr/>
          <p:nvPr/>
        </p:nvSpPr>
        <p:spPr>
          <a:xfrm>
            <a:off x="7552944" y="41148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rédigé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12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 de ce module final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SMART : identifiant · mesures anthropo · calculs statut · référence auto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188366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95728" y="1828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formulaires liés par code_beneficiaire : inscription initiale + visites trimestrielles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395728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95728" y="2340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d'abord · snake_case · tester · impliquer équipe · documenter toutes les décisions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28529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les enquêteurs · superviser quotidiennement · sauvegarder hebdomadairement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erreurs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3419856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395728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· GPS intérieur · = sur select_mult · formulaire modifié · supprimer sans exporter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95728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· Pendant · Après · 3 phases · 30 points de contrôle · imprimer et utiliser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444398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95728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docs.kobotoolbox.org · community · training · xlsform.org · github.com/kobotoolbox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La série KoboToolbox de A à 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 · 18 vidéos · Tout ce qu'il faut savoir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12 (FINAL)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45720" cy="329184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84048" y="1298448"/>
            <a:ext cx="658368" cy="237744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2984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25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15184" y="1325880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· Interface · Formbuilder · XLSForm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609344"/>
            <a:ext cx="8503920" cy="3291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1609344"/>
            <a:ext cx="45720" cy="329184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84048" y="1645920"/>
            <a:ext cx="658368" cy="237744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M3–M4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673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15184" y="1673352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base et avancés · GPS · Calculs · Matrice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1956816"/>
            <a:ext cx="85039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1956816"/>
            <a:ext cx="45720" cy="32918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84048" y="1993392"/>
            <a:ext cx="658368" cy="23774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19933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2020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XPath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15184" y="2020824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 · Relevant · Constraint · Default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304288"/>
            <a:ext cx="8503920" cy="3291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304288"/>
            <a:ext cx="45720" cy="329184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84048" y="2340864"/>
            <a:ext cx="658368" cy="237744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84048" y="23408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15184" y="2368296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· QR · Lien · Activer/Désactiver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651760"/>
            <a:ext cx="85039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2651760"/>
            <a:ext cx="45720" cy="32918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84048" y="2688336"/>
            <a:ext cx="658368" cy="23774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84048" y="26883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27157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terrain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15184" y="2715768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· Hors ligne · Enketo · Multi-langue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2999232"/>
            <a:ext cx="8503920" cy="3291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2999232"/>
            <a:ext cx="45720" cy="32918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84048" y="3035808"/>
            <a:ext cx="658368" cy="23774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84048" y="30358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données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15184" y="3063240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· Modifier · Filtrer · Doublons · Validation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346704"/>
            <a:ext cx="85039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20040" y="3346704"/>
            <a:ext cx="45720" cy="32918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84048" y="3383280"/>
            <a:ext cx="658368" cy="23774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84048" y="33832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" y="3410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615184" y="3410712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Graphiques · Carte GPS · Rapport public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3694176"/>
            <a:ext cx="8503920" cy="3291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20040" y="3694176"/>
            <a:ext cx="45720" cy="329184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84048" y="3730752"/>
            <a:ext cx="658368" cy="237744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84048" y="37307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97280" y="37581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615184" y="3758184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 · API REST · Power BI · Google Sheets · Webhooks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" y="4041648"/>
            <a:ext cx="85039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320040" y="4041648"/>
            <a:ext cx="45720" cy="329184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384048" y="4078224"/>
            <a:ext cx="658368" cy="237744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84048" y="407822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97280" y="41056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615184" y="4105656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· Permissions · Organisations · Sécurité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0040" y="4389120"/>
            <a:ext cx="8503920" cy="3291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320040" y="4389120"/>
            <a:ext cx="45720" cy="32918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384048" y="4425696"/>
            <a:ext cx="658368" cy="23774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384048" y="44256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97280" y="4453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615184" y="4453128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· Bénéficiaires · Best practices · Erreurs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" y="4791456"/>
            <a:ext cx="8503920" cy="347472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384048" y="4809744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Merci pour votre confiance ! Abonnez-vous · Likez · Partagez — et à bientôt pour de nouvelles formations ! 🙏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8176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83664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5915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SÉRIE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31673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 à Z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4572000" cy="3657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 complets · 18 vidéos · Du débutant au professionnel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5943600" cy="1152144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66928" y="3566160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aimé cette série 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858768"/>
            <a:ext cx="5724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Laisser un like sur chaque vidéo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059936"/>
            <a:ext cx="5724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Commenter pour partager votre avis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261104"/>
            <a:ext cx="5724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S'abonner pour ne pas rater la suite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462272"/>
            <a:ext cx="5724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Partager avec vos collègues terrain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26864"/>
            <a:ext cx="5943600" cy="384048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12064" y="46451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Certifié KoboToolbox de A à Z — Partagez ce badge avec votre réseau 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3256</Words>
  <Application>Microsoft Office PowerPoint</Application>
  <PresentationFormat>Affichage à l'écran (16:9)</PresentationFormat>
  <Paragraphs>516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12 : Cas pratiques &amp; projets réels</dc:title>
  <dc:subject>PptxGenJS Presentation</dc:subject>
  <dc:creator>PptxGenJS</dc:creator>
  <cp:lastModifiedBy>Ahlou Alphonse Euphreme</cp:lastModifiedBy>
  <cp:revision>1</cp:revision>
  <dcterms:created xsi:type="dcterms:W3CDTF">2026-03-22T19:28:13Z</dcterms:created>
  <dcterms:modified xsi:type="dcterms:W3CDTF">2026-03-22T19:34:21Z</dcterms:modified>
</cp:coreProperties>
</file>