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10"/>
  </p:normalViewPr>
  <p:slideViewPr>
    <p:cSldViewPr snapToGrid="0" snapToObjects="1">
      <p:cViewPr>
        <p:scale>
          <a:sx n="80" d="100"/>
          <a:sy n="80" d="100"/>
        </p:scale>
        <p:origin x="1459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modSld">
      <pc:chgData name="Ahlou Alphonse Euphreme" userId="f12afe77-4db7-47e3-b604-bb0d456a5c02" providerId="ADAL" clId="{4890F534-C102-41F9-978A-E7DBDB1CFE02}" dt="2026-04-04T23:07:12.590" v="104" actId="1036"/>
      <pc:docMkLst>
        <pc:docMk/>
      </pc:docMkLst>
      <pc:sldChg chg="modSp mod">
        <pc:chgData name="Ahlou Alphonse Euphreme" userId="f12afe77-4db7-47e3-b604-bb0d456a5c02" providerId="ADAL" clId="{4890F534-C102-41F9-978A-E7DBDB1CFE02}" dt="2026-04-04T23:07:12.590" v="104" actId="1036"/>
        <pc:sldMkLst>
          <pc:docMk/>
          <pc:sldMk cId="0" sldId="256"/>
        </pc:sldMkLst>
        <pc:spChg chg="mod">
          <ac:chgData name="Ahlou Alphonse Euphreme" userId="f12afe77-4db7-47e3-b604-bb0d456a5c02" providerId="ADAL" clId="{4890F534-C102-41F9-978A-E7DBDB1CFE02}" dt="2026-04-04T23:07:04.966" v="95" actId="103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6:39.900" v="65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6:58.840" v="86" actId="10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7:12.590" v="104" actId="10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6:39.900" v="65" actId="10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6:08.619" v="17" actId="1035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23:06:02.271" v="12" actId="1036"/>
          <ac:spMkLst>
            <pc:docMk/>
            <pc:sldMk cId="0" sldId="256"/>
            <ac:spMk id="33" creationId="{00000000-0000-0000-0000-000000000000}"/>
          </ac:spMkLst>
        </pc:spChg>
        <pc:picChg chg="mod">
          <ac:chgData name="Ahlou Alphonse Euphreme" userId="f12afe77-4db7-47e3-b604-bb0d456a5c02" providerId="ADAL" clId="{4890F534-C102-41F9-978A-E7DBDB1CFE02}" dt="2026-04-04T23:06:39.900" v="65" actId="1036"/>
          <ac:picMkLst>
            <pc:docMk/>
            <pc:sldMk cId="0" sldId="256"/>
            <ac:picMk id="13" creationId="{00000000-0000-0000-0000-000000000000}"/>
          </ac:picMkLst>
        </pc:picChg>
        <pc:picChg chg="mod">
          <ac:chgData name="Ahlou Alphonse Euphreme" userId="f12afe77-4db7-47e3-b604-bb0d456a5c02" providerId="ADAL" clId="{4890F534-C102-41F9-978A-E7DBDB1CFE02}" dt="2026-04-04T23:06:39.900" v="65" actId="1036"/>
          <ac:picMkLst>
            <pc:docMk/>
            <pc:sldMk cId="0" sldId="256"/>
            <ac:picMk id="19" creationId="{00000000-0000-0000-0000-000000000000}"/>
          </ac:picMkLst>
        </pc:picChg>
        <pc:picChg chg="mod">
          <ac:chgData name="Ahlou Alphonse Euphreme" userId="f12afe77-4db7-47e3-b604-bb0d456a5c02" providerId="ADAL" clId="{4890F534-C102-41F9-978A-E7DBDB1CFE02}" dt="2026-04-04T23:06:21.281" v="25" actId="1035"/>
          <ac:picMkLst>
            <pc:docMk/>
            <pc:sldMk cId="0" sldId="256"/>
            <ac:picMk id="31" creationId="{00000000-0000-0000-0000-000000000000}"/>
          </ac:picMkLst>
        </pc:picChg>
      </pc:sldChg>
      <pc:sldChg chg="modSp">
        <pc:chgData name="Ahlou Alphonse Euphreme" userId="f12afe77-4db7-47e3-b604-bb0d456a5c02" providerId="ADAL" clId="{4890F534-C102-41F9-978A-E7DBDB1CFE02}" dt="2026-04-04T03:33:18.603" v="0"/>
        <pc:sldMkLst>
          <pc:docMk/>
          <pc:sldMk cId="0" sldId="258"/>
        </pc:sldMkLst>
        <pc:spChg chg="mod">
          <ac:chgData name="Ahlou Alphonse Euphreme" userId="f12afe77-4db7-47e3-b604-bb0d456a5c02" providerId="ADAL" clId="{4890F534-C102-41F9-978A-E7DBDB1CFE02}" dt="2026-04-04T03:33:18.603" v="0"/>
          <ac:spMkLst>
            <pc:docMk/>
            <pc:sldMk cId="0" sldId="258"/>
            <ac:spMk id="12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3:18.603" v="0"/>
        <pc:sldMkLst>
          <pc:docMk/>
          <pc:sldMk cId="0" sldId="263"/>
        </pc:sldMkLst>
        <pc:spChg chg="mod">
          <ac:chgData name="Ahlou Alphonse Euphreme" userId="f12afe77-4db7-47e3-b604-bb0d456a5c02" providerId="ADAL" clId="{4890F534-C102-41F9-978A-E7DBDB1CFE02}" dt="2026-04-04T03:33:18.603" v="0"/>
          <ac:spMkLst>
            <pc:docMk/>
            <pc:sldMk cId="0" sldId="263"/>
            <ac:spMk id="10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22:31:41.748" v="1"/>
        <pc:sldMkLst>
          <pc:docMk/>
          <pc:sldMk cId="0" sldId="266"/>
        </pc:sldMkLst>
        <pc:spChg chg="mod">
          <ac:chgData name="Ahlou Alphonse Euphreme" userId="f12afe77-4db7-47e3-b604-bb0d456a5c02" providerId="ADAL" clId="{4890F534-C102-41F9-978A-E7DBDB1CFE02}" dt="2026-04-04T22:31:41.748" v="1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Ahlou Alphonse Euphreme" userId="f12afe77-4db7-47e3-b604-bb0d456a5c02" providerId="ADAL" clId="{4890F534-C102-41F9-978A-E7DBDB1CFE02}" dt="2026-04-04T22:59:28.119" v="3"/>
        <pc:sldMkLst>
          <pc:docMk/>
          <pc:sldMk cId="0" sldId="267"/>
        </pc:sldMkLst>
        <pc:spChg chg="mod">
          <ac:chgData name="Ahlou Alphonse Euphreme" userId="f12afe77-4db7-47e3-b604-bb0d456a5c02" providerId="ADAL" clId="{4890F534-C102-41F9-978A-E7DBDB1CFE02}" dt="2026-04-04T22:59:28.119" v="3"/>
          <ac:spMkLst>
            <pc:docMk/>
            <pc:sldMk cId="0" sldId="267"/>
            <ac:spMk id="22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3:18.603" v="0"/>
        <pc:sldMkLst>
          <pc:docMk/>
          <pc:sldMk cId="0" sldId="270"/>
        </pc:sldMkLst>
        <pc:spChg chg="mod">
          <ac:chgData name="Ahlou Alphonse Euphreme" userId="f12afe77-4db7-47e3-b604-bb0d456a5c02" providerId="ADAL" clId="{4890F534-C102-41F9-978A-E7DBDB1CFE02}" dt="2026-04-04T03:33:18.603" v="0"/>
          <ac:spMkLst>
            <pc:docMk/>
            <pc:sldMk cId="0" sldId="270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18.603" v="0"/>
          <ac:spMkLst>
            <pc:docMk/>
            <pc:sldMk cId="0" sldId="270"/>
            <ac:spMk id="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18.603" v="0"/>
          <ac:spMkLst>
            <pc:docMk/>
            <pc:sldMk cId="0" sldId="270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52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5–6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  ·  GPS · Photo · Audio · Vidéo · Signature · QR · Matrice · Notation · Calculs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2143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138041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23744" y="374827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38404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86584" y="4118991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90288" y="376732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82143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53128" y="41285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656832" y="374827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38404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19672" y="4195191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389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20040" y="4791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523744" y="431596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6896" y="43891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386584" y="4791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4590288" y="431596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43891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453128" y="4791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6656832" y="4411218"/>
            <a:ext cx="420624" cy="420624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438912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519672" y="4791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5 &amp; 6 : tous les types avancés pas à pas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Géolocalisation (geopoint · geotrace · geoshape)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coordonnées, tracer routes, délimiter zones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— Photo · Audio · Vidéo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visuellement avec contraintes de taille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éclairé signé directement sur écran tactile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Code-barres &amp; QR (barcode)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cartes, tickets, étiquettes produits sans saisie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questions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compacte pour évaluer plusieurs sujets à la fois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(range / rating)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échelle numérique ou système d'étoiles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automatiques (calculate)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XPath : âge, score, concat, IMC, identifiant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Géolocalisation — geopoint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Capturer la position exacte d'un point sur la carte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du ménage enquêté (ex : champ GPS VEZO)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84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d'une structure : école, puits, centre de santé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203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523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 d'une tournée de collecte de données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9626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d'un incident ou d'une observation terrain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sous-types GPS :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803904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548640" y="3803904"/>
            <a:ext cx="45720" cy="2468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640080" y="3831336"/>
            <a:ext cx="822960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640080" y="3831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1536192" y="384048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GPS (lat / lon / altitude / précision)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4078224"/>
            <a:ext cx="4023360" cy="246888"/>
          </a:xfrm>
          <a:prstGeom prst="rect">
            <a:avLst/>
          </a:prstGeom>
          <a:solidFill>
            <a:srgbClr val="E8EA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548640" y="4078224"/>
            <a:ext cx="45720" cy="246888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1"/>
          <p:cNvSpPr/>
          <p:nvPr/>
        </p:nvSpPr>
        <p:spPr>
          <a:xfrm>
            <a:off x="640080" y="4105656"/>
            <a:ext cx="822960" cy="1828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640080" y="4105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geotrace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1536192" y="41148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GPS : série de points reliés (route, chemin)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4352544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548640" y="4352544"/>
            <a:ext cx="45720" cy="2468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640080" y="4379976"/>
            <a:ext cx="822960" cy="18288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640080" y="43799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geoshape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1536192" y="438912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 GPS fermé (parcelle, zone d'intervention)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 — Aperçu terrain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du ménage  *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864608" y="2084832"/>
            <a:ext cx="3749040" cy="21031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4864608" y="2084832"/>
            <a:ext cx="3749040" cy="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5"/>
          <p:cNvSpPr/>
          <p:nvPr/>
        </p:nvSpPr>
        <p:spPr>
          <a:xfrm>
            <a:off x="4864608" y="2505456"/>
            <a:ext cx="3749040" cy="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6"/>
          <p:cNvSpPr/>
          <p:nvPr/>
        </p:nvSpPr>
        <p:spPr>
          <a:xfrm>
            <a:off x="4864608" y="2926080"/>
            <a:ext cx="3749040" cy="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7"/>
          <p:cNvSpPr/>
          <p:nvPr/>
        </p:nvSpPr>
        <p:spPr>
          <a:xfrm>
            <a:off x="4864608" y="3346704"/>
            <a:ext cx="3749040" cy="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38"/>
          <p:cNvSpPr/>
          <p:nvPr/>
        </p:nvSpPr>
        <p:spPr>
          <a:xfrm>
            <a:off x="4864608" y="3767328"/>
            <a:ext cx="3749040" cy="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39"/>
          <p:cNvSpPr/>
          <p:nvPr/>
        </p:nvSpPr>
        <p:spPr>
          <a:xfrm>
            <a:off x="4864608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0"/>
          <p:cNvSpPr/>
          <p:nvPr/>
        </p:nvSpPr>
        <p:spPr>
          <a:xfrm>
            <a:off x="5394960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1"/>
          <p:cNvSpPr/>
          <p:nvPr/>
        </p:nvSpPr>
        <p:spPr>
          <a:xfrm>
            <a:off x="5925312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2"/>
          <p:cNvSpPr/>
          <p:nvPr/>
        </p:nvSpPr>
        <p:spPr>
          <a:xfrm>
            <a:off x="6455664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3"/>
          <p:cNvSpPr/>
          <p:nvPr/>
        </p:nvSpPr>
        <p:spPr>
          <a:xfrm>
            <a:off x="6986016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4"/>
          <p:cNvSpPr/>
          <p:nvPr/>
        </p:nvSpPr>
        <p:spPr>
          <a:xfrm>
            <a:off x="7516368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5"/>
          <p:cNvSpPr/>
          <p:nvPr/>
        </p:nvSpPr>
        <p:spPr>
          <a:xfrm>
            <a:off x="8046720" y="2084832"/>
            <a:ext cx="0" cy="2103120"/>
          </a:xfrm>
          <a:prstGeom prst="line">
            <a:avLst/>
          </a:prstGeom>
          <a:noFill/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46"/>
          <p:cNvSpPr/>
          <p:nvPr/>
        </p:nvSpPr>
        <p:spPr>
          <a:xfrm>
            <a:off x="6400800" y="2834640"/>
            <a:ext cx="329184" cy="32918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7"/>
          <p:cNvSpPr/>
          <p:nvPr/>
        </p:nvSpPr>
        <p:spPr>
          <a:xfrm>
            <a:off x="6355080" y="257860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54" name="Shape 48"/>
          <p:cNvSpPr/>
          <p:nvPr/>
        </p:nvSpPr>
        <p:spPr>
          <a:xfrm>
            <a:off x="5029200" y="4041648"/>
            <a:ext cx="338328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9"/>
          <p:cNvSpPr/>
          <p:nvPr/>
        </p:nvSpPr>
        <p:spPr>
          <a:xfrm>
            <a:off x="5084064" y="4059936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: 7.9004° N  ·  Lon : 1.9817° 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: 312 m  ·  Précision : ±3.2 m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4864608" y="4572000"/>
            <a:ext cx="374904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1"/>
          <p:cNvSpPr/>
          <p:nvPr/>
        </p:nvSpPr>
        <p:spPr>
          <a:xfrm>
            <a:off x="4919472" y="4590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 type = geopoint  ·  name = gps_menage  ·  required = yes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— Bonnes pratiques de terrain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Obtenir des coordonnées précises et fiables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60350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335024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GPS haute précision avant la collecte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" y="1609344"/>
            <a:ext cx="779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Android → Localisation → Mode : Haute précision (GPS + Wi-Fi + réseau). À faire avant de quitter la base.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1975104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20040" y="1975104"/>
            <a:ext cx="64008" cy="60350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214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96112" y="2029968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A-GPS : combiner satellite + réseau mobile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96112" y="2304288"/>
            <a:ext cx="779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L'assistance réseau réduit le temps d'acquisition de 60 s à moins de 5 s. Idéal si connexion disponible au départ.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20040" y="2670048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320040" y="2670048"/>
            <a:ext cx="64008" cy="603504"/>
          </a:xfrm>
          <a:prstGeom prst="rect">
            <a:avLst/>
          </a:prstGeom>
          <a:solidFill>
            <a:srgbClr val="CA6F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1635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" y="2724912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à l'air libre — éviter les bâtiments fermés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6112" y="2999232"/>
            <a:ext cx="779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intérieur, la précision peut dépasser 50 m. Attendre que l'indicateur passe sous 10 m avant de valider la position.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3364992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320040" y="3364992"/>
            <a:ext cx="64008" cy="60350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1129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6112" y="3419856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accuracy_threshold = 10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96112" y="3694176"/>
            <a:ext cx="779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dans les paramètres Kobo de la question : accuracy_threshold = 10 pour bloquer les coordonnées trop imprécises.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" y="4059936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320040" y="4059936"/>
            <a:ext cx="64008" cy="6035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06240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96112" y="4114800"/>
            <a:ext cx="7790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 ligne — synchronisation différée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96112" y="4389120"/>
            <a:ext cx="779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GPS capte les coordonnées sans connexion. Les données se synchronisent avec le serveur à la prochaine connexion réseau.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— Photo · Audio · Vidéo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Documenter visuellement sur le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834640" cy="3547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35478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2834640" cy="42062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9844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(image)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17739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du ménage · Structure · Dommage · Preuve visuelle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523744"/>
            <a:ext cx="26334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11480" y="259689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28163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max-pixels = 1024  ·  appearance = annotate (annotations)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291840"/>
            <a:ext cx="2633472" cy="23774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66344" y="3291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Prendre une photo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3584448"/>
            <a:ext cx="2633472" cy="237744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66344" y="35844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Choisir dans la galerie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3968496"/>
            <a:ext cx="2633472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48056" y="3986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image  ·  name = photo_menage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246120" y="1261872"/>
            <a:ext cx="2834640" cy="3547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3246120" y="1261872"/>
            <a:ext cx="64008" cy="354787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3246120" y="1261872"/>
            <a:ext cx="2834640" cy="42062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98448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0332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(audio)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3337560" y="17739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337560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 oral · Récit · Ambiance sonore terrain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337560" y="2523744"/>
            <a:ext cx="26334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3337560" y="259689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337560" y="28163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= normal  ·  contrainte durée via constraint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337560" y="3291840"/>
            <a:ext cx="2633472" cy="23774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3392424" y="3291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Appuyer pour enregistrer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337560" y="3584448"/>
            <a:ext cx="2633472" cy="237744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3392424" y="35844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 Arrêter l'enregistrement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337560" y="3968496"/>
            <a:ext cx="2633472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6"/>
          <p:cNvSpPr/>
          <p:nvPr/>
        </p:nvSpPr>
        <p:spPr>
          <a:xfrm>
            <a:off x="3374136" y="3986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audio  ·  name = temoignage_audio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6172200" y="1261872"/>
            <a:ext cx="2834640" cy="3547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8"/>
          <p:cNvSpPr/>
          <p:nvPr/>
        </p:nvSpPr>
        <p:spPr>
          <a:xfrm>
            <a:off x="6172200" y="1261872"/>
            <a:ext cx="64008" cy="354787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9"/>
          <p:cNvSpPr/>
          <p:nvPr/>
        </p:nvSpPr>
        <p:spPr>
          <a:xfrm>
            <a:off x="6172200" y="1261872"/>
            <a:ext cx="2834640" cy="42062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298448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62940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(video)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263640" y="17739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263640" y="20116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· Urgence · Preuve vidéo terrain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263640" y="2523744"/>
            <a:ext cx="26334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4"/>
          <p:cNvSpPr/>
          <p:nvPr/>
        </p:nvSpPr>
        <p:spPr>
          <a:xfrm>
            <a:off x="6263640" y="259689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6263640" y="28163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Fichiers lourds — préférer audio si stockage limité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6263640" y="3291840"/>
            <a:ext cx="2633472" cy="23774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7"/>
          <p:cNvSpPr/>
          <p:nvPr/>
        </p:nvSpPr>
        <p:spPr>
          <a:xfrm>
            <a:off x="6318504" y="329184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Démarrer la vidéo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263640" y="3584448"/>
            <a:ext cx="2633472" cy="237744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9"/>
          <p:cNvSpPr/>
          <p:nvPr/>
        </p:nvSpPr>
        <p:spPr>
          <a:xfrm>
            <a:off x="6318504" y="35844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 Arrêter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263640" y="3968496"/>
            <a:ext cx="2633472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1"/>
          <p:cNvSpPr/>
          <p:nvPr/>
        </p:nvSpPr>
        <p:spPr>
          <a:xfrm>
            <a:off x="6300216" y="3986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video  ·  name = video_terrain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(signature)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Consentement éclairé sur écran tactile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consentement éclairé signé par le répondant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66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de réception d'un service ou d'un bien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54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d'un superviseur de terrain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d'un contrat ou accord sur le terrain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438144"/>
            <a:ext cx="4023360" cy="566928"/>
          </a:xfrm>
          <a:prstGeom prst="rect">
            <a:avLst/>
          </a:prstGeom>
          <a:solidFill>
            <a:srgbClr val="F5EE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1129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0976" y="349300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est enregistrée en PNG — exportable et archivable.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4078224"/>
            <a:ext cx="40233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6"/>
          <p:cNvSpPr/>
          <p:nvPr/>
        </p:nvSpPr>
        <p:spPr>
          <a:xfrm>
            <a:off x="603504" y="4096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 type = signature  ·  name = signature_consent  ·  required = yes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— Aperçu formulaire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répondant  *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864608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Signez dans la zone ci-dessous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864608" y="2286000"/>
            <a:ext cx="3749040" cy="1920240"/>
          </a:xfrm>
          <a:prstGeom prst="rect">
            <a:avLst/>
          </a:prstGeom>
          <a:solidFill>
            <a:srgbClr val="F8F8FF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5120640" y="3200400"/>
            <a:ext cx="365760" cy="256032"/>
          </a:xfrm>
          <a:prstGeom prst="line">
            <a:avLst/>
          </a:prstGeom>
          <a:noFill/>
          <a:ln w="254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5486400" y="3456432"/>
            <a:ext cx="457200" cy="0"/>
          </a:xfrm>
          <a:prstGeom prst="line">
            <a:avLst/>
          </a:prstGeom>
          <a:noFill/>
          <a:ln w="254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5"/>
          <p:cNvSpPr/>
          <p:nvPr/>
        </p:nvSpPr>
        <p:spPr>
          <a:xfrm>
            <a:off x="5943600" y="3108960"/>
            <a:ext cx="548640" cy="201168"/>
          </a:xfrm>
          <a:prstGeom prst="line">
            <a:avLst/>
          </a:prstGeom>
          <a:noFill/>
          <a:ln w="254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26"/>
          <p:cNvSpPr/>
          <p:nvPr/>
        </p:nvSpPr>
        <p:spPr>
          <a:xfrm>
            <a:off x="6492240" y="3310128"/>
            <a:ext cx="292608" cy="0"/>
          </a:xfrm>
          <a:prstGeom prst="line">
            <a:avLst/>
          </a:prstGeom>
          <a:noFill/>
          <a:ln w="254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7"/>
          <p:cNvSpPr/>
          <p:nvPr/>
        </p:nvSpPr>
        <p:spPr>
          <a:xfrm>
            <a:off x="5120640" y="3657600"/>
            <a:ext cx="15544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28"/>
          <p:cNvSpPr/>
          <p:nvPr/>
        </p:nvSpPr>
        <p:spPr>
          <a:xfrm>
            <a:off x="512064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Signez ici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864608" y="4279392"/>
            <a:ext cx="1645920" cy="292608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/>
          <p:nvPr/>
        </p:nvSpPr>
        <p:spPr>
          <a:xfrm>
            <a:off x="4864608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Effacer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583680" y="4279392"/>
            <a:ext cx="2029968" cy="29260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2"/>
          <p:cNvSpPr/>
          <p:nvPr/>
        </p:nvSpPr>
        <p:spPr>
          <a:xfrm>
            <a:off x="6583680" y="42793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Code-barres &amp; QR (barcode)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Scanner des identifiants sans saisie manuelle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un code bénéficiaire (carte d'identité, coupon)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66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code produit lors d'un inventaire terrain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54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équipement ou matériel (numéro de série)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un QR code de suivi ou de dossier patient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34015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: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75888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71246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7824" y="370332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arrière Android / iOS (tous appareils)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8640" y="3950208"/>
            <a:ext cx="4023360" cy="24688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98678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7824" y="397764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Bluetooth externe (Zebra, Honeywell…)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48640" y="4224528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261104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77824" y="425196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web Enketo (caméra navigateur requise)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548640" y="4553712"/>
            <a:ext cx="40233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1"/>
          <p:cNvSpPr/>
          <p:nvPr/>
        </p:nvSpPr>
        <p:spPr>
          <a:xfrm>
            <a:off x="603504" y="4572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 type = barcode  ·  name = code_beneficiaire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3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4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— Aperçu scanner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bénéficiaire  *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864608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la caméra vers le code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864608" y="2286000"/>
            <a:ext cx="3749040" cy="18288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28"/>
          <p:cNvSpPr/>
          <p:nvPr/>
        </p:nvSpPr>
        <p:spPr>
          <a:xfrm>
            <a:off x="4901184" y="2450592"/>
            <a:ext cx="237744" cy="5486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29"/>
          <p:cNvSpPr/>
          <p:nvPr/>
        </p:nvSpPr>
        <p:spPr>
          <a:xfrm>
            <a:off x="4974336" y="2322576"/>
            <a:ext cx="54864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0"/>
          <p:cNvSpPr/>
          <p:nvPr/>
        </p:nvSpPr>
        <p:spPr>
          <a:xfrm>
            <a:off x="4901184" y="3749040"/>
            <a:ext cx="237744" cy="5486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4974336" y="3621024"/>
            <a:ext cx="54864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2"/>
          <p:cNvSpPr/>
          <p:nvPr/>
        </p:nvSpPr>
        <p:spPr>
          <a:xfrm>
            <a:off x="8211312" y="2450592"/>
            <a:ext cx="237744" cy="5486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3"/>
          <p:cNvSpPr/>
          <p:nvPr/>
        </p:nvSpPr>
        <p:spPr>
          <a:xfrm>
            <a:off x="8284464" y="2322576"/>
            <a:ext cx="54864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4"/>
          <p:cNvSpPr/>
          <p:nvPr/>
        </p:nvSpPr>
        <p:spPr>
          <a:xfrm>
            <a:off x="8211312" y="3749040"/>
            <a:ext cx="237744" cy="5486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5"/>
          <p:cNvSpPr/>
          <p:nvPr/>
        </p:nvSpPr>
        <p:spPr>
          <a:xfrm>
            <a:off x="8284464" y="3621024"/>
            <a:ext cx="54864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36"/>
          <p:cNvSpPr/>
          <p:nvPr/>
        </p:nvSpPr>
        <p:spPr>
          <a:xfrm>
            <a:off x="5029200" y="3090672"/>
            <a:ext cx="3090672" cy="0"/>
          </a:xfrm>
          <a:prstGeom prst="line">
            <a:avLst/>
          </a:prstGeom>
          <a:noFill/>
          <a:ln w="1905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37"/>
          <p:cNvSpPr/>
          <p:nvPr/>
        </p:nvSpPr>
        <p:spPr>
          <a:xfrm>
            <a:off x="6217920" y="2651760"/>
            <a:ext cx="914400" cy="914400"/>
          </a:xfrm>
          <a:prstGeom prst="rect">
            <a:avLst/>
          </a:prstGeom>
          <a:solidFill>
            <a:srgbClr val="1E1E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38"/>
          <p:cNvSpPr/>
          <p:nvPr/>
        </p:nvSpPr>
        <p:spPr>
          <a:xfrm>
            <a:off x="6272784" y="2706624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39"/>
          <p:cNvSpPr/>
          <p:nvPr/>
        </p:nvSpPr>
        <p:spPr>
          <a:xfrm>
            <a:off x="6272784" y="3108960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0"/>
          <p:cNvSpPr/>
          <p:nvPr/>
        </p:nvSpPr>
        <p:spPr>
          <a:xfrm>
            <a:off x="6473952" y="2907792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1"/>
          <p:cNvSpPr/>
          <p:nvPr/>
        </p:nvSpPr>
        <p:spPr>
          <a:xfrm>
            <a:off x="6473952" y="3310128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2"/>
          <p:cNvSpPr/>
          <p:nvPr/>
        </p:nvSpPr>
        <p:spPr>
          <a:xfrm>
            <a:off x="6675120" y="2706624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43"/>
          <p:cNvSpPr/>
          <p:nvPr/>
        </p:nvSpPr>
        <p:spPr>
          <a:xfrm>
            <a:off x="6675120" y="3108960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4"/>
          <p:cNvSpPr/>
          <p:nvPr/>
        </p:nvSpPr>
        <p:spPr>
          <a:xfrm>
            <a:off x="6876288" y="2907792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5"/>
          <p:cNvSpPr/>
          <p:nvPr/>
        </p:nvSpPr>
        <p:spPr>
          <a:xfrm>
            <a:off x="6876288" y="3310128"/>
            <a:ext cx="164592" cy="16459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6"/>
          <p:cNvSpPr/>
          <p:nvPr/>
        </p:nvSpPr>
        <p:spPr>
          <a:xfrm>
            <a:off x="5029200" y="385876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Scan en cours…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4864608" y="4169664"/>
            <a:ext cx="3749040" cy="29260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48"/>
          <p:cNvSpPr/>
          <p:nvPr/>
        </p:nvSpPr>
        <p:spPr>
          <a:xfrm>
            <a:off x="4919472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BEN-2024-0847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questions (matrix / select_one)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Évaluer plusieurs sujets dans une grille compacte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permet de répéter la même série de réponses pour plusieurs lignes (interventions, membres, activités…) dans un tableau compact.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Satisfaction par intervention ONG VEZO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256032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048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4368" y="2048256"/>
            <a:ext cx="1463040" cy="34747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944368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satisfait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07408" y="2048256"/>
            <a:ext cx="1463040" cy="34747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07408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satisfait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70448" y="2048256"/>
            <a:ext cx="1463040" cy="34747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870448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satisfait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33488" y="2048256"/>
            <a:ext cx="1463040" cy="34747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33488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tout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395728"/>
            <a:ext cx="25603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8912" y="24140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des filles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44368" y="2395728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566160" y="2468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407408" y="2395728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29200" y="2468880"/>
            <a:ext cx="219456" cy="219456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870448" y="2395728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333488" y="2395728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955280" y="2468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5760" y="2798064"/>
            <a:ext cx="256032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38912" y="281635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parents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44368" y="2798064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566160" y="28712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407408" y="2798064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029200" y="28712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870448" y="2798064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492240" y="2871216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7333488" y="2798064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955280" y="2871216"/>
            <a:ext cx="219456" cy="219456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65760" y="3200400"/>
            <a:ext cx="25603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38912" y="321868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animateurs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44368" y="3200400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566160" y="3273552"/>
            <a:ext cx="219456" cy="219456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407408" y="3200400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029200" y="327355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5870448" y="3200400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492240" y="327355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7333488" y="3200400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7955280" y="327355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65760" y="3602736"/>
            <a:ext cx="256032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38912" y="36210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matériel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44368" y="3602736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3566160" y="367588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407408" y="3602736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5029200" y="367588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5870448" y="3602736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6492240" y="3675888"/>
            <a:ext cx="219456" cy="219456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7333488" y="3602736"/>
            <a:ext cx="1463040" cy="36576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955280" y="367588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65760" y="40965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XLSForm :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" y="4370832"/>
            <a:ext cx="219456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402336" y="437083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— type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78608" y="4370832"/>
            <a:ext cx="18288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2615184" y="437083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— name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25696" y="4370832"/>
            <a:ext cx="18288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462272" y="437083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— appearance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72784" y="4370832"/>
            <a:ext cx="237744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6309360" y="43708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— list_name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4626864"/>
            <a:ext cx="219456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2578608" y="4626864"/>
            <a:ext cx="182880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4425696" y="4626864"/>
            <a:ext cx="182880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6272784" y="4626864"/>
            <a:ext cx="237744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65760" y="4626864"/>
            <a:ext cx="219456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2578608" y="4626864"/>
            <a:ext cx="182880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4425696" y="4626864"/>
            <a:ext cx="182880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6272784" y="4626864"/>
            <a:ext cx="237744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65760" y="4626864"/>
            <a:ext cx="219456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2578608" y="4626864"/>
            <a:ext cx="182880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425696" y="4626864"/>
            <a:ext cx="182880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6272784" y="4626864"/>
            <a:ext cx="237744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365760" y="4626864"/>
            <a:ext cx="219456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2578608" y="4626864"/>
            <a:ext cx="182880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4425696" y="4626864"/>
            <a:ext cx="182880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6272784" y="4626864"/>
            <a:ext cx="2377440" cy="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365760" y="4626864"/>
            <a:ext cx="21945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02336" y="464515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begin_group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78608" y="4626864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2615184" y="464515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satisfaction_grp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25696" y="4626864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4462272" y="464515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field-list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272784" y="4626864"/>
            <a:ext cx="23774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6309360" y="464515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65760" y="4864608"/>
            <a:ext cx="2194560" cy="219456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02336" y="488289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 sat_list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578608" y="4864608"/>
            <a:ext cx="1828800" cy="219456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2615184" y="48828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satisfaction_edu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425696" y="4864608"/>
            <a:ext cx="1828800" cy="219456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4462272" y="488289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272784" y="4864608"/>
            <a:ext cx="2377440" cy="219456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6309360" y="48828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sat_list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— range &amp; rating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Évaluation sur une échelle numérique ou étoiles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3547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354787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42062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52728" y="129844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numérique (range)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17922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2029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0 à 10  ·  Intensité  ·  Niveau de confiance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2414016"/>
            <a:ext cx="393192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9768" y="2487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7066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= start=0 end=10 step=1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= rating → affiche des étoiles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3218688"/>
            <a:ext cx="3931920" cy="749808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94360" y="3566160"/>
            <a:ext cx="3602736" cy="73152"/>
          </a:xfrm>
          <a:prstGeom prst="rect">
            <a:avLst/>
          </a:prstGeom>
          <a:solidFill>
            <a:srgbClr val="E0D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94360" y="3566160"/>
            <a:ext cx="2194560" cy="7315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660904" y="3456432"/>
            <a:ext cx="256032" cy="256032"/>
          </a:xfrm>
          <a:prstGeom prst="ellipse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94360" y="33101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60904" y="3291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22776" y="33101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" y="4041648"/>
            <a:ext cx="3931920" cy="5120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" y="4059936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range  ·  name = score_global</a:t>
            </a:r>
            <a:endParaRPr lang="en-US" sz="8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= start=0 end=10 step=1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1261872"/>
            <a:ext cx="4206240" cy="35478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54880" y="1261872"/>
            <a:ext cx="64008" cy="3547872"/>
          </a:xfrm>
          <a:prstGeom prst="rect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54880" y="1261872"/>
            <a:ext cx="4206240" cy="420624"/>
          </a:xfrm>
          <a:prstGeom prst="rect">
            <a:avLst/>
          </a:prstGeom>
          <a:solidFill>
            <a:srgbClr val="C47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28032" y="12618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stars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87568" y="129844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étoiles (rating)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17922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2029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perçue  ·  Satisfaction globale  ·  Note sur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64608" y="2414016"/>
            <a:ext cx="393192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64608" y="2487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64608" y="27066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= rating  ·  La valeur stockée est un entier 1–5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exportée comme nombre dans XLS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64608" y="3218688"/>
            <a:ext cx="3931920" cy="749808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212080" y="3273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5870448" y="3273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528816" y="3273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187184" y="3273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845552" y="3273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864608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4041648"/>
            <a:ext cx="3931920" cy="5120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919472" y="4059936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range  ·  name = note_animateur</a:t>
            </a:r>
            <a:endParaRPr lang="en-US" sz="8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= start=1 end=5 step=1  ·  appearance = rating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560320" cy="38404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calculate exécute une formule XPath automatiquement — invisible pour l'enquêteur sur le terrain.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Calculer l'âge depuis une date de naissance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Sommer des scores partiels en un total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Concaténer des champs (prénom + nom)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Calculer un IMC (poids / taille²)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902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Générer un identifiant unique par soumission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2011680" cy="20116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automatiques — Formules XPath essentielles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Les 5 expressions les plus utilisées sur le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603504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1480" y="1353312"/>
            <a:ext cx="868680" cy="237744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7160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l'âge (depuis date de naissance)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572768"/>
            <a:ext cx="50292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426464" y="1591056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int((decimal-date-time(today()) - decimal-date-time(${</a:t>
            </a:r>
            <a:r>
              <a:rPr lang="en-US" sz="900" dirty="0" err="1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date_naissance</a:t>
            </a: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})) div 365.25)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0528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 = date du jour · résultat en années entières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975104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1975104"/>
            <a:ext cx="64008" cy="60350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1480" y="2048256"/>
            <a:ext cx="868680" cy="23774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20482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7160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total (somme de plusieurs questions)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2267712"/>
            <a:ext cx="50292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426464" y="2286000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${q1} + ${q2} + ${q3} + ${q4}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0528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Additionner des valeurs numériques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670048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670048"/>
            <a:ext cx="64008" cy="60350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11480" y="2743200"/>
            <a:ext cx="868680" cy="23774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11480" y="2743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7160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 (concaténation de champs)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2962656"/>
            <a:ext cx="50292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9"/>
          <p:cNvSpPr/>
          <p:nvPr/>
        </p:nvSpPr>
        <p:spPr>
          <a:xfrm>
            <a:off x="1426464" y="2980944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concat(${prenom}, ' ', ${nom})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0528" y="2798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des textes avec un séparateur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364992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3364992"/>
            <a:ext cx="64008" cy="6035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11480" y="3438144"/>
            <a:ext cx="868680" cy="23774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11480" y="34381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371600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— Indice de Masse Corporelle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0" y="3657600"/>
            <a:ext cx="50292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426464" y="3675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${poids} div (${taille_m} * ${taille_m})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10528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en kg · taille en mètres (ex : 1.65)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059936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20040" y="4059936"/>
            <a:ext cx="64008" cy="60350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11480" y="4133088"/>
            <a:ext cx="868680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11480" y="41330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3716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automatique par ménage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371600" y="4352544"/>
            <a:ext cx="50292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426464" y="4370832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concat(${departement}, '-', ${date_collecte}, '-', position(..))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10528" y="4187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DEPT-DATE-N° unique par soumission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— Afficher et réutiliser le résultat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Combiner calculate avec note, relevant, constraint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calculate est invisible dans le formulaire mais son résultat peut être affiché dans une note ou utilisé dans des conditions et contraintes.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310896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1 — Afficher le résultat dans une note (type = note)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2743200" cy="237744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0624" y="2103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date_naissance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37744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21031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18688" y="2103120"/>
            <a:ext cx="2743200" cy="237744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2377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age_calcule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73552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int((decimal-date-time(today()) - decimal-date-time(${</a:t>
            </a:r>
            <a:r>
              <a:rPr lang="en-US" sz="850" dirty="0" err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date_naissance</a:t>
            </a: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})) div 365.25)</a:t>
            </a:r>
          </a:p>
        </p:txBody>
      </p:sp>
      <p:sp>
        <p:nvSpPr>
          <p:cNvPr id="23" name="Text 21"/>
          <p:cNvSpPr/>
          <p:nvPr/>
        </p:nvSpPr>
        <p:spPr>
          <a:xfrm>
            <a:off x="5961888" y="237744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71616" y="210312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71616" y="2103120"/>
            <a:ext cx="2743200" cy="237744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23774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afficher_age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âge calculé : ${age_calcule} ans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944368"/>
            <a:ext cx="8412480" cy="3108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294436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2 — Réutiliser dans relevant et constraint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310128"/>
            <a:ext cx="265176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" y="3310128"/>
            <a:ext cx="2651760" cy="25603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93776" y="3310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" y="36027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score_total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822192"/>
            <a:ext cx="2651760" cy="201168"/>
          </a:xfrm>
          <a:prstGeom prst="rect">
            <a:avLst/>
          </a:prstGeom>
          <a:solidFill>
            <a:srgbClr val="F0F0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93776" y="384048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${q1} + ${q2} + ${q3}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3310128"/>
            <a:ext cx="265176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91840" y="3310128"/>
            <a:ext cx="2651760" cy="256032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328416" y="3310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36027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affiche_si_haut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822192"/>
            <a:ext cx="2651760" cy="201168"/>
          </a:xfrm>
          <a:prstGeom prst="rect">
            <a:avLst/>
          </a:prstGeom>
          <a:solidFill>
            <a:srgbClr val="F0F0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328416" y="384048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${score_total} &gt; 15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3310128"/>
            <a:ext cx="265176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126480" y="3310128"/>
            <a:ext cx="265176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163056" y="3310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63056" y="36027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validation_entree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822192"/>
            <a:ext cx="2651760" cy="201168"/>
          </a:xfrm>
          <a:prstGeom prst="rect">
            <a:avLst/>
          </a:prstGeom>
          <a:solidFill>
            <a:srgbClr val="F0F0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163056" y="384048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0 and . &lt;= 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5EE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553712"/>
            <a:ext cx="237744" cy="23774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786384" y="451713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appearance = hidden rend un calculate invisible ET exclu de l'export — idéal pour les calculs intermédiaires.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tous les types avancés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· XLSForm type · usage principal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164592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Kobo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29968" y="1261872"/>
            <a:ext cx="164592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029968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4176" y="1261872"/>
            <a:ext cx="49377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94176" y="12618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principal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60934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029968" y="160934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94176" y="1609344"/>
            <a:ext cx="4937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20624" y="1645920"/>
            <a:ext cx="1371600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20624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1655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67328" y="165506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GPS (lat / lon / alt / précision)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2938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029968" y="192938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94176" y="1929384"/>
            <a:ext cx="493776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20624" y="1965960"/>
            <a:ext cx="1371600" cy="219456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20624" y="1965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geotrace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84832" y="1975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geotrace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67328" y="197510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GPS — série de points reliés (route)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24942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029968" y="224942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94176" y="2249424"/>
            <a:ext cx="4937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20624" y="2286000"/>
            <a:ext cx="1371600" cy="219456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20624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geoshape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84832" y="22951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geoshape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67328" y="229514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 GPS fermé (parcelle, zone)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56946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029968" y="256946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694176" y="2569464"/>
            <a:ext cx="493776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20624" y="2606040"/>
            <a:ext cx="1371600" cy="219456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20624" y="2606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(photo)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84832" y="2615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67328" y="261518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PNG/JPG — param max-pixels = 1024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88950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2029968" y="288950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694176" y="2889504"/>
            <a:ext cx="4937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20624" y="2926080"/>
            <a:ext cx="1371600" cy="21945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20624" y="2926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84832" y="29352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67328" y="293522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audio terrain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20954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2029968" y="320954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694176" y="3209544"/>
            <a:ext cx="493776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20624" y="3246120"/>
            <a:ext cx="1371600" cy="21945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20624" y="3246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084832" y="32552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67328" y="325526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vidéo (fichiers lourds — à limiter)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352958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2029968" y="352958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694176" y="3529584"/>
            <a:ext cx="4937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20624" y="3566160"/>
            <a:ext cx="1371600" cy="21945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20624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084832" y="35753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67328" y="357530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numérique → image PNG exportable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84962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2029968" y="384962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694176" y="3849624"/>
            <a:ext cx="493776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420624" y="3886200"/>
            <a:ext cx="1371600" cy="219456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20624" y="3886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084832" y="38953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767328" y="389534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code-barres 1D ou QR 2D via caméra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416966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2029968" y="4169664"/>
            <a:ext cx="164592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694176" y="4169664"/>
            <a:ext cx="4937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420624" y="4206240"/>
            <a:ext cx="1371600" cy="21945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20624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rating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084832" y="4215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767328" y="421538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Curseur ou étoiles — parameters = start end step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5760" y="448970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2029968" y="4489704"/>
            <a:ext cx="164592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3694176" y="4489704"/>
            <a:ext cx="4937760" cy="301752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420624" y="4526280"/>
            <a:ext cx="1371600" cy="219456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20624" y="4526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084832" y="4535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767328" y="453542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XPath invisible et automatique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— KoboCollect vs Enketo vs Hors ligne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 où et dans quelles conditions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237744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70048" y="1261872"/>
            <a:ext cx="1554480" cy="34747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70048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42816" y="1261872"/>
            <a:ext cx="128016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42816" y="1261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(Web)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41264" y="1261872"/>
            <a:ext cx="1097280" cy="347472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41264" y="1261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ligne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6832" y="1261872"/>
            <a:ext cx="2560320" cy="347472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656832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609344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0896" y="164592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(geopoint)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70048" y="1609344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06624" y="1645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42816" y="1609344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279392" y="164592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41264" y="1609344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577840" y="16459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56832" y="1609344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693408" y="16459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variable selon appareil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1938528"/>
            <a:ext cx="237744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10896" y="197510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(image)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70048" y="1938528"/>
            <a:ext cx="15544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06624" y="197510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42816" y="1938528"/>
            <a:ext cx="128016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279392" y="19751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41264" y="1938528"/>
            <a:ext cx="10972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577840" y="197510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56832" y="1938528"/>
            <a:ext cx="256032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93408" y="19751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+ appareil photo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2267712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10896" y="230428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0048" y="2267712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06624" y="23042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42816" y="226771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279392" y="230428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41264" y="2267712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577840" y="23042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56832" y="2267712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693408" y="230428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requis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2596896"/>
            <a:ext cx="237744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10896" y="263347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70048" y="2596896"/>
            <a:ext cx="15544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06624" y="26334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42816" y="2596896"/>
            <a:ext cx="128016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279392" y="26334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541264" y="2596896"/>
            <a:ext cx="10972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5577840" y="2633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656832" y="2596896"/>
            <a:ext cx="256032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693408" y="26334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lourds — limiter l'usage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2926080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10896" y="296265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670048" y="292608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2706624" y="29626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242816" y="2926080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279392" y="29626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41264" y="2926080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5577840" y="29626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656832" y="2926080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693408" y="296265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tactile recommandé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3255264"/>
            <a:ext cx="237744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310896" y="329184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70048" y="3255264"/>
            <a:ext cx="15544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2706624" y="32918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242816" y="3255264"/>
            <a:ext cx="128016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4279392" y="3291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541264" y="3255264"/>
            <a:ext cx="10972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5577840" y="32918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656832" y="3255264"/>
            <a:ext cx="256032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6693408" y="32918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requise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74320" y="3584448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310896" y="362102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670048" y="35844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2706624" y="36210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242816" y="3584448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279392" y="36210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541264" y="3584448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5577840" y="36210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656832" y="3584448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6693408" y="36210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field-list recommandé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74320" y="3913632"/>
            <a:ext cx="237744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310896" y="395020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Rating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670048" y="3913632"/>
            <a:ext cx="15544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2706624" y="39502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242816" y="3913632"/>
            <a:ext cx="128016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4279392" y="395020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541264" y="3913632"/>
            <a:ext cx="109728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5577840" y="395020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656832" y="3913632"/>
            <a:ext cx="2560320" cy="310896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6693408" y="39502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tous supports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74320" y="4242816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310896" y="427939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670048" y="424281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2706624" y="42793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242816" y="4242816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4279392" y="42793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41264" y="4242816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Text 104"/>
          <p:cNvSpPr/>
          <p:nvPr/>
        </p:nvSpPr>
        <p:spPr>
          <a:xfrm>
            <a:off x="5577840" y="42793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656832" y="4242816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6693408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local — pas de serveur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— Enrichir le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types avancés au formulaire du Module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projet Enquête_VEZO_2024 et ajoutez les questions avancées suivantes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64008" cy="40233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11480" y="1700784"/>
            <a:ext cx="1005840" cy="23774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700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(geopoint)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1700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gps_menage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3824" y="17556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73552" y="17007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Localisation — required = yes · accuracy_threshold = 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103120"/>
            <a:ext cx="64008" cy="402336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1480" y="2157984"/>
            <a:ext cx="1005840" cy="2377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2157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(image)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08760" y="2157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photo_menage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22128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73552" y="21579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Localisation — max-pixels = 1024 · non obligatoire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603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64008" cy="40233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11480" y="2615184"/>
            <a:ext cx="1005840" cy="237744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1480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08760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signature_consent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63824" y="26700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73552" y="26151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Identification — consentement éclairé · required = 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0175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64008" cy="402336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11480" y="3072384"/>
            <a:ext cx="1005840" cy="237744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11480" y="3072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50876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code_beneficiaire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63824" y="31272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73552" y="30723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Identification — scanner carte bénéficiaire ONG VEZO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4747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20040" y="3474720"/>
            <a:ext cx="64008" cy="402336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11480" y="3529584"/>
            <a:ext cx="1005840" cy="237744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11480" y="35295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Rating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50876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satisfaction_glob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63824" y="35844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273552" y="35295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Perceptions — étoiles 1–5 · appearance = rating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9319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931920"/>
            <a:ext cx="64008" cy="402336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11480" y="3986784"/>
            <a:ext cx="1005840" cy="237744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11480" y="3986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5087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score_connaissance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63824" y="40416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273552" y="39867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ONG connues (calculate) → réutilisé dans une note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389120"/>
            <a:ext cx="85039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20040" y="4389120"/>
            <a:ext cx="64008" cy="402336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11480" y="4443984"/>
            <a:ext cx="1005840" cy="237744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11480" y="4443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résultat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508760" y="4443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affiche_score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63824" y="4498848"/>
            <a:ext cx="36576" cy="201168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273552" y="44439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note · label = Score connaissance ONG : ${score_connaissance}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901184"/>
            <a:ext cx="8412480" cy="146304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20624" y="4910328"/>
            <a:ext cx="8302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avec Enketo — vérifiez GPS, signature, scanner et le résultat du calculate dans la note.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à éviter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avec les types avancés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8988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816" y="13716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collecté en intérieur fermé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9768" y="17373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précision peut dépasser 50 m. Sortir à l'air libre et attendre l'indicateur &lt; 10 m avant de valider.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754880" y="1280160"/>
            <a:ext cx="64008" cy="1078992"/>
          </a:xfrm>
          <a:prstGeom prst="rect">
            <a:avLst/>
          </a:prstGeom>
          <a:solidFill>
            <a:srgbClr val="CA6F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38988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48656" y="13716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&gt; 5 Mo sans compression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64608" y="173736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max-pixels, les photos 4K bloquent la synchronisation. Toujours définir max-pixels = 1024 ou 2048.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487168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320040" y="2487168"/>
            <a:ext cx="64008" cy="107899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59689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" y="257860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sur connexion 2G / réseau faible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29768" y="294436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vidéo 30 s peut dépasser 50 Mo. Remplacer par audio ou photo sauf si bande passante garantie.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54880" y="2487168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754880" y="2487168"/>
            <a:ext cx="64008" cy="1078992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59689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48656" y="257860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 mode portrait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64608" y="294436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à tracer. Ajouter une instruction : « Tourner l'écran en paysage avant de signer ».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0040" y="3694176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320040" y="3694176"/>
            <a:ext cx="64008" cy="107899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80390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3816" y="3785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circulaire dans calculate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29768" y="415137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${score} = ${score} + 1 provoque une boucle infinie. Un calculate ne peut jamais se référencer lui-même.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54880" y="3694176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4754880" y="3694176"/>
            <a:ext cx="64008" cy="107899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803904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48656" y="3785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sans appearance = field-list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4864608" y="415137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field-list sur le groupe parent, chaque ligne s'affiche sur un écran séparé — perte du contexte.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 / geotrace / geoshape · accuracy_threshold=10 · fonctionne hors ligne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audio / video · max-pixels pour photo · attention taille fichiers vidéo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signature · consentement éclairé · exportée en PNG · écran tactile requis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barcode · scanner caméra · fonctionne web et mobile · hors ligne OK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1B26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 + field-list + appearance=likert · grille compacte multi-lignes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7D660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range · parameters start/end/step · appearance=rating pour étoiles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XPath invisible · concat() · int() · today() · réutilisable partout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VIDÉOS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7–8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&amp;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sauts conditionnels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Skip logic — afficher ou masquer des questions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Relevant — conditions d'affichage XPath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Constraint — valider les réponses à la saisie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Valeurs par défaut dynamiques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Cascading selects — listes de choix liées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2376</Words>
  <Application>Microsoft Office PowerPoint</Application>
  <PresentationFormat>Affichage à l'écran (16:9)</PresentationFormat>
  <Paragraphs>445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4 : Types de questions avancés</dc:title>
  <dc:subject>PptxGenJS Presentation</dc:subject>
  <dc:creator>PptxGenJS</dc:creator>
  <cp:lastModifiedBy>Fabien Nacheley</cp:lastModifiedBy>
  <cp:revision>2</cp:revision>
  <dcterms:created xsi:type="dcterms:W3CDTF">2026-03-22T18:14:51Z</dcterms:created>
  <dcterms:modified xsi:type="dcterms:W3CDTF">2026-04-04T23:07:19Z</dcterms:modified>
</cp:coreProperties>
</file>