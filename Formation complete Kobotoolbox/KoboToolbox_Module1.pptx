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lou Alphonse Euphreme" userId="f12afe77-4db7-47e3-b604-bb0d456a5c02" providerId="ADAL" clId="{4890F534-C102-41F9-978A-E7DBDB1CFE02}"/>
    <pc:docChg chg="modSld">
      <pc:chgData name="Ahlou Alphonse Euphreme" userId="f12afe77-4db7-47e3-b604-bb0d456a5c02" providerId="ADAL" clId="{4890F534-C102-41F9-978A-E7DBDB1CFE02}" dt="2026-04-03T04:37:12.149" v="54" actId="20577"/>
      <pc:docMkLst>
        <pc:docMk/>
      </pc:docMkLst>
      <pc:sldChg chg="modAnim">
        <pc:chgData name="Ahlou Alphonse Euphreme" userId="f12afe77-4db7-47e3-b604-bb0d456a5c02" providerId="ADAL" clId="{4890F534-C102-41F9-978A-E7DBDB1CFE02}" dt="2026-03-30T01:45:51.564" v="4"/>
        <pc:sldMkLst>
          <pc:docMk/>
          <pc:sldMk cId="0" sldId="257"/>
        </pc:sldMkLst>
      </pc:sldChg>
      <pc:sldChg chg="modAnim">
        <pc:chgData name="Ahlou Alphonse Euphreme" userId="f12afe77-4db7-47e3-b604-bb0d456a5c02" providerId="ADAL" clId="{4890F534-C102-41F9-978A-E7DBDB1CFE02}" dt="2026-03-30T01:47:16.742" v="10"/>
        <pc:sldMkLst>
          <pc:docMk/>
          <pc:sldMk cId="0" sldId="259"/>
        </pc:sldMkLst>
      </pc:sldChg>
      <pc:sldChg chg="modAnim">
        <pc:chgData name="Ahlou Alphonse Euphreme" userId="f12afe77-4db7-47e3-b604-bb0d456a5c02" providerId="ADAL" clId="{4890F534-C102-41F9-978A-E7DBDB1CFE02}" dt="2026-03-30T01:48:36.816" v="16"/>
        <pc:sldMkLst>
          <pc:docMk/>
          <pc:sldMk cId="0" sldId="260"/>
        </pc:sldMkLst>
      </pc:sldChg>
      <pc:sldChg chg="modAnim">
        <pc:chgData name="Ahlou Alphonse Euphreme" userId="f12afe77-4db7-47e3-b604-bb0d456a5c02" providerId="ADAL" clId="{4890F534-C102-41F9-978A-E7DBDB1CFE02}" dt="2026-03-30T01:49:12.162" v="23"/>
        <pc:sldMkLst>
          <pc:docMk/>
          <pc:sldMk cId="0" sldId="261"/>
        </pc:sldMkLst>
      </pc:sldChg>
      <pc:sldChg chg="modAnim">
        <pc:chgData name="Ahlou Alphonse Euphreme" userId="f12afe77-4db7-47e3-b604-bb0d456a5c02" providerId="ADAL" clId="{4890F534-C102-41F9-978A-E7DBDB1CFE02}" dt="2026-03-30T01:50:03.183" v="33"/>
        <pc:sldMkLst>
          <pc:docMk/>
          <pc:sldMk cId="0" sldId="262"/>
        </pc:sldMkLst>
      </pc:sldChg>
      <pc:sldChg chg="modAnim">
        <pc:chgData name="Ahlou Alphonse Euphreme" userId="f12afe77-4db7-47e3-b604-bb0d456a5c02" providerId="ADAL" clId="{4890F534-C102-41F9-978A-E7DBDB1CFE02}" dt="2026-03-30T01:51:03.680" v="34"/>
        <pc:sldMkLst>
          <pc:docMk/>
          <pc:sldMk cId="0" sldId="263"/>
        </pc:sldMkLst>
      </pc:sldChg>
      <pc:sldChg chg="modSp mod">
        <pc:chgData name="Ahlou Alphonse Euphreme" userId="f12afe77-4db7-47e3-b604-bb0d456a5c02" providerId="ADAL" clId="{4890F534-C102-41F9-978A-E7DBDB1CFE02}" dt="2026-03-30T01:57:41.646" v="48" actId="20577"/>
        <pc:sldMkLst>
          <pc:docMk/>
          <pc:sldMk cId="0" sldId="264"/>
        </pc:sldMkLst>
        <pc:spChg chg="mod">
          <ac:chgData name="Ahlou Alphonse Euphreme" userId="f12afe77-4db7-47e3-b604-bb0d456a5c02" providerId="ADAL" clId="{4890F534-C102-41F9-978A-E7DBDB1CFE02}" dt="2026-03-30T01:57:24.868" v="37" actId="20577"/>
          <ac:spMkLst>
            <pc:docMk/>
            <pc:sldMk cId="0" sldId="264"/>
            <ac:spMk id="23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3-30T01:57:41.646" v="48" actId="20577"/>
          <ac:spMkLst>
            <pc:docMk/>
            <pc:sldMk cId="0" sldId="264"/>
            <ac:spMk id="24" creationId="{00000000-0000-0000-0000-000000000000}"/>
          </ac:spMkLst>
        </pc:spChg>
      </pc:sldChg>
      <pc:sldChg chg="modSp mod">
        <pc:chgData name="Ahlou Alphonse Euphreme" userId="f12afe77-4db7-47e3-b604-bb0d456a5c02" providerId="ADAL" clId="{4890F534-C102-41F9-978A-E7DBDB1CFE02}" dt="2026-03-30T01:58:45.615" v="51" actId="20577"/>
        <pc:sldMkLst>
          <pc:docMk/>
          <pc:sldMk cId="0" sldId="267"/>
        </pc:sldMkLst>
        <pc:spChg chg="mod">
          <ac:chgData name="Ahlou Alphonse Euphreme" userId="f12afe77-4db7-47e3-b604-bb0d456a5c02" providerId="ADAL" clId="{4890F534-C102-41F9-978A-E7DBDB1CFE02}" dt="2026-03-30T01:58:45.615" v="51" actId="20577"/>
          <ac:spMkLst>
            <pc:docMk/>
            <pc:sldMk cId="0" sldId="267"/>
            <ac:spMk id="14" creationId="{00000000-0000-0000-0000-000000000000}"/>
          </ac:spMkLst>
        </pc:spChg>
      </pc:sldChg>
      <pc:sldChg chg="modSp mod">
        <pc:chgData name="Ahlou Alphonse Euphreme" userId="f12afe77-4db7-47e3-b604-bb0d456a5c02" providerId="ADAL" clId="{4890F534-C102-41F9-978A-E7DBDB1CFE02}" dt="2026-04-03T04:37:12.149" v="54" actId="20577"/>
        <pc:sldMkLst>
          <pc:docMk/>
          <pc:sldMk cId="0" sldId="268"/>
        </pc:sldMkLst>
        <pc:spChg chg="mod">
          <ac:chgData name="Ahlou Alphonse Euphreme" userId="f12afe77-4db7-47e3-b604-bb0d456a5c02" providerId="ADAL" clId="{4890F534-C102-41F9-978A-E7DBDB1CFE02}" dt="2026-04-03T04:37:12.149" v="54" actId="20577"/>
          <ac:spMkLst>
            <pc:docMk/>
            <pc:sldMk cId="0" sldId="268"/>
            <ac:spMk id="42" creationId="{00000000-0000-0000-0000-000000000000}"/>
          </ac:spMkLst>
        </pc:spChg>
      </pc:sldChg>
    </pc:docChg>
  </pc:docChgLst>
  <pc:docChgLst>
    <pc:chgData name="Ahlou Alphonse Euphreme" userId="f12afe77-4db7-47e3-b604-bb0d456a5c02" providerId="ADAL" clId="{5735D98A-5E9D-45E5-9858-B2F8FC0FB54C}"/>
    <pc:docChg chg="custSel modSld">
      <pc:chgData name="Ahlou Alphonse Euphreme" userId="f12afe77-4db7-47e3-b604-bb0d456a5c02" providerId="ADAL" clId="{5735D98A-5E9D-45E5-9858-B2F8FC0FB54C}" dt="2026-03-22T17:46:59.485" v="0" actId="478"/>
      <pc:docMkLst>
        <pc:docMk/>
      </pc:docMkLst>
      <pc:sldChg chg="delSp mod">
        <pc:chgData name="Ahlou Alphonse Euphreme" userId="f12afe77-4db7-47e3-b604-bb0d456a5c02" providerId="ADAL" clId="{5735D98A-5E9D-45E5-9858-B2F8FC0FB54C}" dt="2026-03-22T17:46:59.485" v="0" actId="478"/>
        <pc:sldMkLst>
          <pc:docMk/>
          <pc:sldMk cId="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624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94360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58368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1  ·  Durée estimée : ~15 min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74320" y="4480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web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41148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77440" y="4480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équipe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1148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80560" y="4480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rapide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1148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83680" y="4480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hors ligne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 de cette vidéo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allez apprendre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64008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362456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1362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KoboToolbox 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6367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Origines, mission et cas d'usage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029968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2029968"/>
            <a:ext cx="64008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2066544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20665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l'utiliser 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3408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clés vs Excel / Google Forms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734056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2734056"/>
            <a:ext cx="64008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2770632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2770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plateformes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0449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KoboToolbox.org vs Humanitarian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438144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3438144"/>
            <a:ext cx="64008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3474720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728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son compte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749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d'inscription pas à pas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142232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4142232"/>
            <a:ext cx="64008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4178808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97280" y="4178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— 1ère visite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44531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et découverte de l'interface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2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KoboToolbox 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Présentation générale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de collecte de données gratuit et open-source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 en 2005 par la Harvard Humanitarian Initiative (HHI), KoboToolbox est aujourd'hui géré par Kobo Inc. et l'International Rescue Committee (IRC).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utilisé par +14 000 organisations dans 175+ pays pour collecter, analyser et partager des données sur le terrain.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1371600"/>
            <a:ext cx="3108960" cy="100584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669280" y="14447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669280" y="1993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2560320"/>
            <a:ext cx="3108960" cy="100584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669280" y="263347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66928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couverts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3749040"/>
            <a:ext cx="3108960" cy="100584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669280" y="38221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669280" y="4370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(ONG/recherche)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utilise KoboToolbox 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Secteurs &amp; cas d'usage concrets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64008" cy="14173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0120" y="1417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&amp; humanitaire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1755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Enquêtes nutritionnelles, suivi des bénéficiaires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46120" y="128016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3246120" y="1280160"/>
            <a:ext cx="64008" cy="1417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0020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31920" y="1417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académique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931920" y="1755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 données qualitatives et quantitatives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17920" y="128016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6217920" y="1280160"/>
            <a:ext cx="64008" cy="1417320"/>
          </a:xfrm>
          <a:prstGeom prst="rect">
            <a:avLst/>
          </a:prstGeom>
          <a:solidFill>
            <a:srgbClr val="F76C2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60020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03720" y="1417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évaluation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903720" y="1755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d'indicateurs, rapports de projet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74320" y="283464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0"/>
          <p:cNvSpPr/>
          <p:nvPr/>
        </p:nvSpPr>
        <p:spPr>
          <a:xfrm>
            <a:off x="274320" y="2834640"/>
            <a:ext cx="64008" cy="1417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5468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0120" y="2971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&amp; terrain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60120" y="33101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Cartographie, recensements, inspections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46120" y="283464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4"/>
          <p:cNvSpPr/>
          <p:nvPr/>
        </p:nvSpPr>
        <p:spPr>
          <a:xfrm>
            <a:off x="3246120" y="2834640"/>
            <a:ext cx="64008" cy="141732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15468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31920" y="2971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Sciences sociales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931920" y="33101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Sondages, entretiens structurés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217920" y="283464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28"/>
          <p:cNvSpPr/>
          <p:nvPr/>
        </p:nvSpPr>
        <p:spPr>
          <a:xfrm>
            <a:off x="6217920" y="2834640"/>
            <a:ext cx="64008" cy="141732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154680"/>
            <a:ext cx="411480" cy="4114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903720" y="2971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crise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6903720" y="33101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d'urgence hors connexion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37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choisir KoboToolbox 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Avantages clés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548640" cy="548640"/>
          </a:xfrm>
          <a:prstGeom prst="line">
            <a:avLst/>
          </a:prstGeom>
          <a:solidFill>
            <a:srgbClr val="028090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365760" cy="365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4320" y="128016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11480" y="1463040"/>
            <a:ext cx="548640" cy="54864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gratuit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51560" y="17830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ONG, académiques et usage humanitaire — aucun coût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383280" y="1463040"/>
            <a:ext cx="548640" cy="548640"/>
          </a:xfrm>
          <a:prstGeom prst="line">
            <a:avLst/>
          </a:prstGeom>
          <a:solidFill>
            <a:srgbClr val="F76C2F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554480"/>
            <a:ext cx="365760" cy="3657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246120" y="128016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3383280" y="1463040"/>
            <a:ext cx="548640" cy="548640"/>
          </a:xfrm>
          <a:prstGeom prst="line">
            <a:avLst/>
          </a:prstGeom>
          <a:solidFill>
            <a:srgbClr val="F76C2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5544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02336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hors ligne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023360" y="17830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sans connexion internet sur le terrain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355080" y="1463040"/>
            <a:ext cx="548640" cy="548640"/>
          </a:xfrm>
          <a:prstGeom prst="line">
            <a:avLst/>
          </a:prstGeom>
          <a:solidFill>
            <a:srgbClr val="8E44AD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554480"/>
            <a:ext cx="365760" cy="36576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217920" y="128016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19"/>
          <p:cNvSpPr/>
          <p:nvPr/>
        </p:nvSpPr>
        <p:spPr>
          <a:xfrm>
            <a:off x="6355080" y="1463040"/>
            <a:ext cx="548640" cy="548640"/>
          </a:xfrm>
          <a:prstGeom prst="line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55448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9516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Multi-appareils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995160" y="17830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Tablette, mobile, ordinateur — tous supportés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11480" y="3017520"/>
            <a:ext cx="548640" cy="548640"/>
          </a:xfrm>
          <a:prstGeom prst="line">
            <a:avLst/>
          </a:prstGeom>
          <a:solidFill>
            <a:srgbClr val="27AE60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108960"/>
            <a:ext cx="365760" cy="36576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74320" y="283464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24"/>
          <p:cNvSpPr/>
          <p:nvPr/>
        </p:nvSpPr>
        <p:spPr>
          <a:xfrm>
            <a:off x="411480" y="3017520"/>
            <a:ext cx="548640" cy="548640"/>
          </a:xfrm>
          <a:prstGeom prst="lin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108960"/>
            <a:ext cx="365760" cy="3657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051560" y="29992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avancée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1051560" y="33375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conditionnelles, calculs automatiques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3383280" y="3017520"/>
            <a:ext cx="548640" cy="548640"/>
          </a:xfrm>
          <a:prstGeom prst="line">
            <a:avLst/>
          </a:prstGeom>
          <a:solidFill>
            <a:srgbClr val="E74C3C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108960"/>
            <a:ext cx="365760" cy="365760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3246120" y="283464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29"/>
          <p:cNvSpPr/>
          <p:nvPr/>
        </p:nvSpPr>
        <p:spPr>
          <a:xfrm>
            <a:off x="3383280" y="3017520"/>
            <a:ext cx="548640" cy="548640"/>
          </a:xfrm>
          <a:prstGeom prst="lin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108960"/>
            <a:ext cx="365760" cy="36576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4023360" y="29992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43" name="Text 31"/>
          <p:cNvSpPr/>
          <p:nvPr/>
        </p:nvSpPr>
        <p:spPr>
          <a:xfrm>
            <a:off x="4023360" y="33375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collecteurs sur le même projet simultanément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6355080" y="3017520"/>
            <a:ext cx="548640" cy="548640"/>
          </a:xfrm>
          <a:prstGeom prst="line">
            <a:avLst/>
          </a:prstGeom>
          <a:solidFill>
            <a:srgbClr val="2980B9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108960"/>
            <a:ext cx="365760" cy="365760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6217920" y="283464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34"/>
          <p:cNvSpPr/>
          <p:nvPr/>
        </p:nvSpPr>
        <p:spPr>
          <a:xfrm>
            <a:off x="6355080" y="3017520"/>
            <a:ext cx="548640" cy="548640"/>
          </a:xfrm>
          <a:prstGeom prst="line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108960"/>
            <a:ext cx="365760" cy="365760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6995160" y="29992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intégrée</a:t>
            </a:r>
            <a:endParaRPr lang="en-US" sz="1200" dirty="0"/>
          </a:p>
        </p:txBody>
      </p:sp>
      <p:sp>
        <p:nvSpPr>
          <p:cNvPr id="50" name="Text 36"/>
          <p:cNvSpPr/>
          <p:nvPr/>
        </p:nvSpPr>
        <p:spPr>
          <a:xfrm>
            <a:off x="6995160" y="33375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Rapports, graphiques et cartes directement dans l'outil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8" grpId="0" animBg="1"/>
      <p:bldP spid="21" grpId="0" animBg="1"/>
      <p:bldP spid="22" grpId="0" animBg="1"/>
      <p:bldP spid="25" grpId="0" animBg="1"/>
      <p:bldP spid="28" grpId="0" animBg="1"/>
      <p:bldP spid="29" grpId="0" animBg="1"/>
      <p:bldP spid="32" grpId="0" animBg="1"/>
      <p:bldP spid="35" grpId="0" animBg="1"/>
      <p:bldP spid="36" grpId="0" animBg="1"/>
      <p:bldP spid="39" grpId="0" animBg="1"/>
      <p:bldP spid="42" grpId="0" animBg="1"/>
      <p:bldP spid="43" grpId="0" animBg="1"/>
      <p:bldP spid="46" grpId="0" animBg="1"/>
      <p:bldP spid="49" grpId="0" animBg="1"/>
      <p:bldP spid="5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vs autres outils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Comparaison rapide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3200400" cy="4114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432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1234440"/>
            <a:ext cx="182880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0" y="1234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0" y="1234440"/>
            <a:ext cx="1828800" cy="4114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303520" y="1234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0" y="1234440"/>
            <a:ext cx="1645920" cy="4114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132320" y="1234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645920"/>
            <a:ext cx="32004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" y="16459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hors ligne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45920"/>
            <a:ext cx="1828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474720" y="1645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0" y="1645920"/>
            <a:ext cx="1828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303520" y="1645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32320" y="1645920"/>
            <a:ext cx="164592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132320" y="16459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2075688"/>
            <a:ext cx="3200400" cy="402336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74320" y="20756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conditionnelle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0" y="2075688"/>
            <a:ext cx="1828800" cy="402336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474720" y="20756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03520" y="2075688"/>
            <a:ext cx="1828800" cy="402336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303520" y="20756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132320" y="2075688"/>
            <a:ext cx="1645920" cy="402336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132320" y="207568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74320" y="2505456"/>
            <a:ext cx="32004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25054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&amp; photos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74720" y="2505456"/>
            <a:ext cx="1828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474720" y="25054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303520" y="2505456"/>
            <a:ext cx="1828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303520" y="25054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132320" y="2505456"/>
            <a:ext cx="164592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7132320" y="250545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74320" y="2935224"/>
            <a:ext cx="3200400" cy="402336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74320" y="2935224"/>
            <a:ext cx="320040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intégrée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74720" y="2935224"/>
            <a:ext cx="1828800" cy="402336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474720" y="29352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303520" y="2935224"/>
            <a:ext cx="1828800" cy="402336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5303520" y="29352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Basique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132320" y="2935224"/>
            <a:ext cx="1645920" cy="402336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7132320" y="293522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74320" y="3364992"/>
            <a:ext cx="32004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74320" y="33649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Multi-utilisateurs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474720" y="3364992"/>
            <a:ext cx="1828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3474720" y="33649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303520" y="3364992"/>
            <a:ext cx="1828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5303520" y="33649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132320" y="3364992"/>
            <a:ext cx="164592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7132320" y="33649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Complexe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74320" y="3794760"/>
            <a:ext cx="3200400" cy="402336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274320" y="37947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XLS / CSV / API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474720" y="3794760"/>
            <a:ext cx="1828800" cy="402336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3474720" y="37947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303520" y="3794760"/>
            <a:ext cx="1828800" cy="402336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5303520" y="37947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7132320" y="3794760"/>
            <a:ext cx="1645920" cy="402336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7132320" y="37947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274320" y="4224528"/>
            <a:ext cx="32004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274320" y="42245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(terrain/ONG)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474720" y="4224528"/>
            <a:ext cx="1828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3474720" y="42245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303520" y="4224528"/>
            <a:ext cx="1828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5303520" y="42245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7132320" y="4224528"/>
            <a:ext cx="164592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7132320" y="422452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8" grpId="0" animBg="1"/>
      <p:bldP spid="36" grpId="0" animBg="1"/>
      <p:bldP spid="44" grpId="0" animBg="1"/>
      <p:bldP spid="52" grpId="0" animBg="1"/>
      <p:bldP spid="60" grpId="0" animBg="1"/>
      <p:bldP spid="6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plateformes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Choisir la bonne version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4023360" cy="34290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402336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0040" y="1280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kobo.humanitarianresponse.info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920240"/>
            <a:ext cx="73152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2788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secteur humanitaire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148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Hébergée par OCHA / IRC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3529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Réservée aux ONG et acteurs humanitaires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Serveurs séparés pour sécurité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1480" y="4187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Validation de compte requise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1280160"/>
            <a:ext cx="4023360" cy="342900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846320" y="1280160"/>
            <a:ext cx="4023360" cy="502920"/>
          </a:xfrm>
          <a:prstGeom prst="rect">
            <a:avLst/>
          </a:prstGeom>
          <a:solidFill>
            <a:srgbClr val="F76C2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892040" y="1280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kf.kobotoolbox.org</a:t>
            </a:r>
            <a:endParaRPr lang="en-US" sz="11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920240"/>
            <a:ext cx="731520" cy="7315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892040" y="2788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tout le monde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89204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Ouverte à tous (chercheurs, étudiants…)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892040" y="3529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Accès immédiat à l'inscription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892040" y="3858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Mise à jour en priorité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846320" y="4572000"/>
            <a:ext cx="4023360" cy="292608"/>
          </a:xfrm>
          <a:prstGeom prst="rect">
            <a:avLst/>
          </a:prstGeom>
          <a:solidFill>
            <a:srgbClr val="F76C2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4"/>
          <p:cNvSpPr/>
          <p:nvPr/>
        </p:nvSpPr>
        <p:spPr>
          <a:xfrm>
            <a:off x="4846320" y="4572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Recommandée pour ce cours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son compte — Étape par étape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Inscription sur kf.kobotoolbox.org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1353312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37160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63040" y="13350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sur kf.kobotoolbox.org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463040" y="160934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votre navigateur et tapez l'adresse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426464"/>
            <a:ext cx="256032" cy="256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74320" y="1984248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365760" y="2057400"/>
            <a:ext cx="457200" cy="457200"/>
          </a:xfrm>
          <a:prstGeom prst="line">
            <a:avLst/>
          </a:prstGeom>
          <a:solidFill>
            <a:srgbClr val="F76C2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3657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07568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2039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"Create an account"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463040" y="23134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visible en haut à droite de la page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130552"/>
            <a:ext cx="256032" cy="25603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274320" y="2688336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8"/>
          <p:cNvSpPr/>
          <p:nvPr/>
        </p:nvSpPr>
        <p:spPr>
          <a:xfrm>
            <a:off x="365760" y="2761488"/>
            <a:ext cx="457200" cy="457200"/>
          </a:xfrm>
          <a:prstGeom prst="line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19"/>
          <p:cNvSpPr/>
          <p:nvPr/>
        </p:nvSpPr>
        <p:spPr>
          <a:xfrm>
            <a:off x="36576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2779776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2743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 le formulaire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463040" y="3017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d'utilisateur, e-mail, mot de passe fort</a:t>
            </a:r>
            <a:endParaRPr lang="en-US" sz="11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834640"/>
            <a:ext cx="256032" cy="256032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274320" y="3392424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3"/>
          <p:cNvSpPr/>
          <p:nvPr/>
        </p:nvSpPr>
        <p:spPr>
          <a:xfrm>
            <a:off x="365760" y="3465576"/>
            <a:ext cx="457200" cy="457200"/>
          </a:xfrm>
          <a:prstGeom prst="lin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4"/>
          <p:cNvSpPr/>
          <p:nvPr/>
        </p:nvSpPr>
        <p:spPr>
          <a:xfrm>
            <a:off x="36576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483864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463040" y="34472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l'e-mail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1463040" y="3721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le lien reçu dans votre boîte mail</a:t>
            </a:r>
            <a:endParaRPr lang="en-US" sz="11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3538728"/>
            <a:ext cx="256032" cy="256032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74320" y="4096512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28"/>
          <p:cNvSpPr/>
          <p:nvPr/>
        </p:nvSpPr>
        <p:spPr>
          <a:xfrm>
            <a:off x="365760" y="4169664"/>
            <a:ext cx="457200" cy="457200"/>
          </a:xfrm>
          <a:prstGeom prst="line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29"/>
          <p:cNvSpPr/>
          <p:nvPr/>
        </p:nvSpPr>
        <p:spPr>
          <a:xfrm>
            <a:off x="36576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187952"/>
            <a:ext cx="365760" cy="36576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1463040" y="41513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</a:t>
            </a:r>
            <a:endParaRPr lang="en-US" sz="1300" dirty="0"/>
          </a:p>
        </p:txBody>
      </p:sp>
      <p:sp>
        <p:nvSpPr>
          <p:cNvPr id="42" name="Text 31"/>
          <p:cNvSpPr/>
          <p:nvPr/>
        </p:nvSpPr>
        <p:spPr>
          <a:xfrm>
            <a:off x="1463040" y="44256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Entrer vos identifiants et accéder au tableau de bord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Conseils pour votre compte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Bonnes pratiques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 dès l'inscription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92224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un e-mail professionnel (pas Gmail/Yahoo personnel)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9514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 mot de passe fort de 12+ caractères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9806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7240" y="2743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votre profil (nom, organisation, pays)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00984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la langue de l'interface (FR disponible)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803904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7240" y="3749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les paramètres du compte dès le premier jour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4663440" y="1280160"/>
            <a:ext cx="4114800" cy="3474720"/>
          </a:xfrm>
          <a:prstGeom prst="rect">
            <a:avLst/>
          </a:prstGeom>
          <a:solidFill>
            <a:srgbClr val="FFF8F0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4"/>
          <p:cNvSpPr/>
          <p:nvPr/>
        </p:nvSpPr>
        <p:spPr>
          <a:xfrm>
            <a:off x="4663440" y="1280160"/>
            <a:ext cx="4114800" cy="438912"/>
          </a:xfrm>
          <a:prstGeom prst="rect">
            <a:avLst/>
          </a:prstGeom>
          <a:solidFill>
            <a:srgbClr val="F76C2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5"/>
          <p:cNvSpPr/>
          <p:nvPr/>
        </p:nvSpPr>
        <p:spPr>
          <a:xfrm>
            <a:off x="4709160" y="12801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Points importants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754880" y="182880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4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compte gratuit a une limite de 5 000 soumissions/mois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754880" y="254203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4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 données sont stockées sur les serveurs de Kobo (USA) </a:t>
            </a:r>
            <a:r>
              <a:rPr lang="en-US" sz="1100" dirty="0" err="1">
                <a:solidFill>
                  <a:srgbClr val="7A4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100" dirty="0">
                <a:solidFill>
                  <a:srgbClr val="7A4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UE— vérifier votre politique de confidentialité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754880" y="325526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4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 partagez jamais vos identifiants — créez des comptes séparés pour chaque collecteur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754880" y="396849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4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Activez la vérification en 2 étapes si disponible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— Vue d'ensemble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L'interface après connexion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8595360" cy="50292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3075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KoboToolbox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307592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    Library     Help     [User ▾]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783080"/>
            <a:ext cx="1645920" cy="28803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0040" y="18928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Nouveau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41448"/>
            <a:ext cx="1645920" cy="4754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0040" y="2459736"/>
            <a:ext cx="155448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projets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0266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Partagés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35935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Archivés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1783080"/>
            <a:ext cx="6858000" cy="2880360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103120" y="1828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projets (3)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03120" y="22402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103120" y="2240280"/>
            <a:ext cx="64008" cy="1371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103120" y="2240280"/>
            <a:ext cx="201168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148840" y="22494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nutrition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réponses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9456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 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297680" y="2240280"/>
            <a:ext cx="64008" cy="1371600"/>
          </a:xfrm>
          <a:prstGeom prst="rect">
            <a:avLst/>
          </a:prstGeom>
          <a:solidFill>
            <a:srgbClr val="F76C2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297680" y="2240280"/>
            <a:ext cx="2011680" cy="365760"/>
          </a:xfrm>
          <a:prstGeom prst="rect">
            <a:avLst/>
          </a:prstGeom>
          <a:solidFill>
            <a:srgbClr val="F76C2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343400" y="22494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bénéficiaires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8912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réponses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 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92240" y="22402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492240" y="2240280"/>
            <a:ext cx="64008" cy="137160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492240" y="2240280"/>
            <a:ext cx="2011680" cy="36576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537960" y="22494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test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368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réponse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 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754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Navigation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48920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Menu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011680" y="47548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Projets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sections clés du tableau de bord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Quoi faire où 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64008" cy="1417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51560" y="1783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vos formulaires — créer, déployer, collecter, analyser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46120" y="128016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3246120" y="1280160"/>
            <a:ext cx="64008" cy="1417320"/>
          </a:xfrm>
          <a:prstGeom prst="rect">
            <a:avLst/>
          </a:prstGeom>
          <a:solidFill>
            <a:srgbClr val="F76C2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55448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2336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023360" y="1783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de questions réutilisables entre projets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17920" y="128016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6217920" y="1280160"/>
            <a:ext cx="64008" cy="141732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55448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9516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995160" y="1783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et exporter les soumissions collectées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74320" y="283464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0"/>
          <p:cNvSpPr/>
          <p:nvPr/>
        </p:nvSpPr>
        <p:spPr>
          <a:xfrm>
            <a:off x="274320" y="2834640"/>
            <a:ext cx="64008" cy="1417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0896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29992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051560" y="33375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et statistiques automatiques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46120" y="283464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4"/>
          <p:cNvSpPr/>
          <p:nvPr/>
        </p:nvSpPr>
        <p:spPr>
          <a:xfrm>
            <a:off x="3246120" y="2834640"/>
            <a:ext cx="64008" cy="141732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10896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23360" y="29992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023360" y="33375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votre profil, mot de passe, API token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217920" y="2834640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28"/>
          <p:cNvSpPr/>
          <p:nvPr/>
        </p:nvSpPr>
        <p:spPr>
          <a:xfrm>
            <a:off x="6217920" y="2834640"/>
            <a:ext cx="64008" cy="1417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108960"/>
            <a:ext cx="457200" cy="4572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995160" y="29992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6995160" y="33375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du projet : permissions, médias, webhooks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gratuit vs plan payant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Ce que vous avez dans le plan Free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40233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64008" cy="3520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402336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0040" y="1280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Gratuit (Free)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" y="1874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/ mois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5 000 soumissions / mois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8529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Formulaires illimités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369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Go de stockage médias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6210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Toutes les fonctionnalités de 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Accès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Suffisant pour la formation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280160"/>
            <a:ext cx="4023360" cy="352044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846320" y="1280160"/>
            <a:ext cx="4023360" cy="502920"/>
          </a:xfrm>
          <a:prstGeom prst="rect">
            <a:avLst/>
          </a:prstGeom>
          <a:solidFill>
            <a:srgbClr val="F76C2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92040" y="1280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Community / Pro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1874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76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devis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983480" y="24688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Soumissions illimitées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28529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Stockage étendu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2369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 prioritaire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36210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SSO &amp; authentification avancée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40050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Serveurs privés (data residency)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4389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Pour organisations professionnelles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709160"/>
            <a:ext cx="402336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74320" y="4709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Recommandé pour cette formation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Ce que nous avons vu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64008" cy="5943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1353312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1335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1335024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gratuit, open-source, utilisé par +14 000 organisations dans 175 pays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1389888"/>
            <a:ext cx="36576" cy="384048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1984248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1984248"/>
            <a:ext cx="64008" cy="5943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2057400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657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2039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plateformes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2039112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kf.kobotoolbox.org (général) vs kobo.humanitarianresponse.info (humanitaire)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26080" y="2093976"/>
            <a:ext cx="36576" cy="384048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2688336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2688336"/>
            <a:ext cx="64008" cy="5943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2761488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2743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compte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17520" y="27432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simple sur kf.kobotoolbox.org en 5 étapes, vérification e-mail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26080" y="2798064"/>
            <a:ext cx="36576" cy="384048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274320" y="3392424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3392424"/>
            <a:ext cx="64008" cy="5943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65760" y="3465576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6576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0120" y="3447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17520" y="3447288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: Projects, Library, Data, Reports, Account, Settings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926080" y="3502152"/>
            <a:ext cx="36576" cy="384048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274320" y="4096512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74320" y="4096512"/>
            <a:ext cx="64008" cy="5943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65760" y="4169664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6576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60120" y="4151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gratuit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017520" y="415137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soumissions/mois, stockage 1 Go, toutes fonctionnalités — suffisant pour débuter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926080" y="4206240"/>
            <a:ext cx="36576" cy="384048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94360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2560320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VIDÉO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2 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Formbuilder vs XLSForm — quand utiliser quoi 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7588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Paramètres de projet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5993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Organisation de vos projets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Abonnez-vous pour ne pas manquer la suite 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· Commentaire · Partage — ça aide énormément 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</TotalTime>
  <Words>1136</Words>
  <Application>Microsoft Office PowerPoint</Application>
  <PresentationFormat>Affichage à l'écran (16:9)</PresentationFormat>
  <Paragraphs>262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KoboToolbox de A à Z – Module 1</dc:title>
  <dc:subject>PptxGenJS Presentation</dc:subject>
  <dc:creator>PptxGenJS</dc:creator>
  <cp:lastModifiedBy>Fabien Nacheley</cp:lastModifiedBy>
  <cp:revision>2</cp:revision>
  <dcterms:created xsi:type="dcterms:W3CDTF">2026-03-15T21:52:18Z</dcterms:created>
  <dcterms:modified xsi:type="dcterms:W3CDTF">2026-04-03T04:42:46Z</dcterms:modified>
</cp:coreProperties>
</file>