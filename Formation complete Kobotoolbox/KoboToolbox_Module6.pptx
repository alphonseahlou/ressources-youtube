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70" r:id="rId8"/>
    <p:sldId id="266" r:id="rId9"/>
    <p:sldId id="267" r:id="rId10"/>
    <p:sldId id="268" r:id="rId11"/>
    <p:sldId id="269" r:id="rId12"/>
    <p:sldId id="27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undo custSel addSld delSld modSld sldOrd">
      <pc:chgData name="Ahlou Alphonse Euphreme" userId="f12afe77-4db7-47e3-b604-bb0d456a5c02" providerId="ADAL" clId="{4890F534-C102-41F9-978A-E7DBDB1CFE02}" dt="2026-04-19T13:13:40.115" v="9" actId="2696"/>
      <pc:docMkLst>
        <pc:docMk/>
      </pc:docMkLst>
      <pc:sldChg chg="modSp del mod">
        <pc:chgData name="Ahlou Alphonse Euphreme" userId="f12afe77-4db7-47e3-b604-bb0d456a5c02" providerId="ADAL" clId="{4890F534-C102-41F9-978A-E7DBDB1CFE02}" dt="2026-04-19T13:11:42.971" v="2" actId="2696"/>
        <pc:sldMkLst>
          <pc:docMk/>
          <pc:sldMk cId="0" sldId="258"/>
        </pc:sldMkLst>
      </pc:sldChg>
      <pc:sldChg chg="modSp">
        <pc:chgData name="Ahlou Alphonse Euphreme" userId="f12afe77-4db7-47e3-b604-bb0d456a5c02" providerId="ADAL" clId="{4890F534-C102-41F9-978A-E7DBDB1CFE02}" dt="2026-04-04T03:34:33.416" v="1"/>
        <pc:sldMkLst>
          <pc:docMk/>
          <pc:sldMk cId="0" sldId="262"/>
        </pc:sldMkLst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62"/>
            <ac:spMk id="35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62"/>
            <ac:spMk id="68" creationId="{00000000-0000-0000-0000-000000000000}"/>
          </ac:spMkLst>
        </pc:spChg>
      </pc:sldChg>
      <pc:sldChg chg="del">
        <pc:chgData name="Ahlou Alphonse Euphreme" userId="f12afe77-4db7-47e3-b604-bb0d456a5c02" providerId="ADAL" clId="{4890F534-C102-41F9-978A-E7DBDB1CFE02}" dt="2026-04-19T13:11:56.647" v="3" actId="2696"/>
        <pc:sldMkLst>
          <pc:docMk/>
          <pc:sldMk cId="0" sldId="263"/>
        </pc:sldMkLst>
      </pc:sldChg>
      <pc:sldChg chg="modSp del">
        <pc:chgData name="Ahlou Alphonse Euphreme" userId="f12afe77-4db7-47e3-b604-bb0d456a5c02" providerId="ADAL" clId="{4890F534-C102-41F9-978A-E7DBDB1CFE02}" dt="2026-04-19T13:12:04.777" v="4" actId="2696"/>
        <pc:sldMkLst>
          <pc:docMk/>
          <pc:sldMk cId="0" sldId="264"/>
        </pc:sldMkLst>
      </pc:sldChg>
      <pc:sldChg chg="modSp">
        <pc:chgData name="Ahlou Alphonse Euphreme" userId="f12afe77-4db7-47e3-b604-bb0d456a5c02" providerId="ADAL" clId="{4890F534-C102-41F9-978A-E7DBDB1CFE02}" dt="2026-04-04T03:34:33.416" v="1"/>
        <pc:sldMkLst>
          <pc:docMk/>
          <pc:sldMk cId="0" sldId="266"/>
        </pc:sldMkLst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66"/>
            <ac:spMk id="19" creationId="{00000000-0000-0000-0000-000000000000}"/>
          </ac:spMkLst>
        </pc:spChg>
      </pc:sldChg>
      <pc:sldChg chg="modSp">
        <pc:chgData name="Ahlou Alphonse Euphreme" userId="f12afe77-4db7-47e3-b604-bb0d456a5c02" providerId="ADAL" clId="{4890F534-C102-41F9-978A-E7DBDB1CFE02}" dt="2026-04-04T03:34:33.416" v="1"/>
        <pc:sldMkLst>
          <pc:docMk/>
          <pc:sldMk cId="0" sldId="268"/>
        </pc:sldMkLst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68"/>
            <ac:spMk id="4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68"/>
            <ac:spMk id="9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68"/>
            <ac:spMk id="16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68"/>
            <ac:spMk id="19" creationId="{00000000-0000-0000-0000-000000000000}"/>
          </ac:spMkLst>
        </pc:spChg>
      </pc:sldChg>
      <pc:sldChg chg="modSp ord">
        <pc:chgData name="Ahlou Alphonse Euphreme" userId="f12afe77-4db7-47e3-b604-bb0d456a5c02" providerId="ADAL" clId="{4890F534-C102-41F9-978A-E7DBDB1CFE02}" dt="2026-04-19T13:13:20.277" v="6"/>
        <pc:sldMkLst>
          <pc:docMk/>
          <pc:sldMk cId="0" sldId="270"/>
        </pc:sldMkLst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70"/>
            <ac:spMk id="36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70"/>
            <ac:spMk id="39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4:33.416" v="1"/>
          <ac:spMkLst>
            <pc:docMk/>
            <pc:sldMk cId="0" sldId="270"/>
            <ac:spMk id="40" creationId="{00000000-0000-0000-0000-000000000000}"/>
          </ac:spMkLst>
        </pc:spChg>
      </pc:sldChg>
      <pc:sldChg chg="modSp add del">
        <pc:chgData name="Ahlou Alphonse Euphreme" userId="f12afe77-4db7-47e3-b604-bb0d456a5c02" providerId="ADAL" clId="{4890F534-C102-41F9-978A-E7DBDB1CFE02}" dt="2026-04-19T13:13:40.115" v="9" actId="2696"/>
        <pc:sldMkLst>
          <pc:docMk/>
          <pc:sldMk cId="0" sldId="271"/>
        </pc:sldMkLst>
      </pc:sldChg>
    </pc:docChg>
  </pc:docChgLst>
  <pc:docChgLst>
    <pc:chgData name="Ahlou Alphonse Euphreme" userId="f12afe77-4db7-47e3-b604-bb0d456a5c02" providerId="ADAL" clId="{5735D98A-5E9D-45E5-9858-B2F8FC0FB54C}"/>
    <pc:docChg chg="custSel delSld modSld">
      <pc:chgData name="Ahlou Alphonse Euphreme" userId="f12afe77-4db7-47e3-b604-bb0d456a5c02" providerId="ADAL" clId="{5735D98A-5E9D-45E5-9858-B2F8FC0FB54C}" dt="2026-04-12T18:26:40.627" v="50" actId="478"/>
      <pc:docMkLst>
        <pc:docMk/>
      </pc:docMkLst>
      <pc:sldChg chg="modSp mod">
        <pc:chgData name="Ahlou Alphonse Euphreme" userId="f12afe77-4db7-47e3-b604-bb0d456a5c02" providerId="ADAL" clId="{5735D98A-5E9D-45E5-9858-B2F8FC0FB54C}" dt="2026-04-12T16:22:52.254" v="47" actId="1076"/>
        <pc:sldMkLst>
          <pc:docMk/>
          <pc:sldMk cId="0" sldId="260"/>
        </pc:sldMkLst>
        <pc:spChg chg="mod">
          <ac:chgData name="Ahlou Alphonse Euphreme" userId="f12afe77-4db7-47e3-b604-bb0d456a5c02" providerId="ADAL" clId="{5735D98A-5E9D-45E5-9858-B2F8FC0FB54C}" dt="2026-04-05T23:50:33.047" v="11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23:50:48.942" v="18" actId="103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12T16:22:52.254" v="47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12T16:22:45.867" v="46" actId="14100"/>
          <ac:spMkLst>
            <pc:docMk/>
            <pc:sldMk cId="0" sldId="260"/>
            <ac:spMk id="46" creationId="{00000000-0000-0000-0000-000000000000}"/>
          </ac:spMkLst>
        </pc:spChg>
      </pc:sldChg>
      <pc:sldChg chg="delSp modSp mod">
        <pc:chgData name="Ahlou Alphonse Euphreme" userId="f12afe77-4db7-47e3-b604-bb0d456a5c02" providerId="ADAL" clId="{5735D98A-5E9D-45E5-9858-B2F8FC0FB54C}" dt="2026-04-12T18:26:40.627" v="50" actId="478"/>
        <pc:sldMkLst>
          <pc:docMk/>
          <pc:sldMk cId="0" sldId="262"/>
        </pc:sldMkLst>
        <pc:spChg chg="del">
          <ac:chgData name="Ahlou Alphonse Euphreme" userId="f12afe77-4db7-47e3-b604-bb0d456a5c02" providerId="ADAL" clId="{5735D98A-5E9D-45E5-9858-B2F8FC0FB54C}" dt="2026-04-12T18:26:40.627" v="50" actId="478"/>
          <ac:spMkLst>
            <pc:docMk/>
            <pc:sldMk cId="0" sldId="262"/>
            <ac:spMk id="32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6T00:06:26.129" v="21" actId="1076"/>
          <ac:spMkLst>
            <pc:docMk/>
            <pc:sldMk cId="0" sldId="262"/>
            <ac:spMk id="69" creationId="{00000000-0000-0000-0000-000000000000}"/>
          </ac:spMkLst>
        </pc:spChg>
        <pc:picChg chg="del">
          <ac:chgData name="Ahlou Alphonse Euphreme" userId="f12afe77-4db7-47e3-b604-bb0d456a5c02" providerId="ADAL" clId="{5735D98A-5E9D-45E5-9858-B2F8FC0FB54C}" dt="2026-04-12T18:26:33.693" v="49" actId="478"/>
          <ac:picMkLst>
            <pc:docMk/>
            <pc:sldMk cId="0" sldId="262"/>
            <ac:picMk id="31" creationId="{00000000-0000-0000-0000-000000000000}"/>
          </ac:picMkLst>
        </pc:picChg>
      </pc:sldChg>
      <pc:sldChg chg="del">
        <pc:chgData name="Ahlou Alphonse Euphreme" userId="f12afe77-4db7-47e3-b604-bb0d456a5c02" providerId="ADAL" clId="{5735D98A-5E9D-45E5-9858-B2F8FC0FB54C}" dt="2026-04-12T16:26:37.148" v="48" actId="2696"/>
        <pc:sldMkLst>
          <pc:docMk/>
          <pc:sldMk cId="0" sldId="265"/>
        </pc:sldMkLst>
      </pc:sldChg>
      <pc:sldChg chg="modSp mod">
        <pc:chgData name="Ahlou Alphonse Euphreme" userId="f12afe77-4db7-47e3-b604-bb0d456a5c02" providerId="ADAL" clId="{5735D98A-5E9D-45E5-9858-B2F8FC0FB54C}" dt="2026-04-06T00:09:13.587" v="44" actId="1035"/>
        <pc:sldMkLst>
          <pc:docMk/>
          <pc:sldMk cId="0" sldId="268"/>
        </pc:sldMkLst>
        <pc:spChg chg="mod">
          <ac:chgData name="Ahlou Alphonse Euphreme" userId="f12afe77-4db7-47e3-b604-bb0d456a5c02" providerId="ADAL" clId="{5735D98A-5E9D-45E5-9858-B2F8FC0FB54C}" dt="2026-04-06T00:09:13.587" v="44" actId="1035"/>
          <ac:spMkLst>
            <pc:docMk/>
            <pc:sldMk cId="0" sldId="268"/>
            <ac:spMk id="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27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formulaire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 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min  ·  Déployer · Versions · Partage · QR code · Activer/Désactiver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95020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6656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50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création au terrain : mettre le formulaire en 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vs Déployé — comprendre les états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états d'un formulaire et leurs implications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formulaire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processus pas à pas depuis le Formbuilder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versions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formulaire déjà déployé sans perdre les données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via lien URL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et distribuer un lien de collecte Enketo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via QR code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et collecter en un geste — idéal sur terrain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et désactiver la collecte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et fermer la fenêtre de collecte de données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de déploiement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avant de partir sur le terrain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formulaire — Étape par étape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Du Formbuilder au terrain en 6 clics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548640"/>
          </a:xfrm>
          <a:prstGeom prst="rect">
            <a:avLst/>
          </a:prstGeom>
          <a:solidFill>
            <a:srgbClr val="5E7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02336" y="1353312"/>
            <a:ext cx="420624" cy="420624"/>
          </a:xfrm>
          <a:prstGeom prst="ellipse">
            <a:avLst/>
          </a:prstGeom>
          <a:solidFill>
            <a:srgbClr val="5E7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02336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399032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16736" y="1335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Prévisualiser le formulaire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16736" y="1591056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Preview » dans le Formbuilder. Tester chaque question, vérifier la logique et les contraintes avant tout.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1901952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20040" y="1901952"/>
            <a:ext cx="64008" cy="5486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02336" y="1975104"/>
            <a:ext cx="420624" cy="420624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402336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02082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16736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Deploy »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316736" y="2212848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bleu en haut à droite du Formbuilder. Si c'est la 1ère fois : création de la version v1. Si déjà déployé : nouvelle version.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0040" y="2523744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523744"/>
            <a:ext cx="64008" cy="54864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402336" y="2596896"/>
            <a:ext cx="420624" cy="42062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402336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642616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16736" y="2578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le déploiement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316736" y="2834640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 de dialogue demande confirmation. Lire l'avertissement sur les données existantes puis cliquer « Deploy ».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20040" y="3145536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320040" y="3145536"/>
            <a:ext cx="64008" cy="54864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402336" y="3218688"/>
            <a:ext cx="420624" cy="420624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8"/>
          <p:cNvSpPr/>
          <p:nvPr/>
        </p:nvSpPr>
        <p:spPr>
          <a:xfrm>
            <a:off x="402336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264408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316736" y="3200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lien Enketo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316736" y="3456432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l'onglet « Collect Data », copier l'URL Enketo Online ou Enketo Offline. Ce lien est permanent pour cette version.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767328"/>
            <a:ext cx="64008" cy="54864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402336" y="3840480"/>
            <a:ext cx="420624" cy="420624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4"/>
          <p:cNvSpPr/>
          <p:nvPr/>
        </p:nvSpPr>
        <p:spPr>
          <a:xfrm>
            <a:off x="402336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3886200"/>
            <a:ext cx="292608" cy="2926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316736" y="38221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le QR code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1316736" y="407822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l'icône QR pour télécharger l'image. Imprimer et distribuer aux enquêteurs ou afficher sur un écran.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320040" y="4389120"/>
            <a:ext cx="64008" cy="54864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39"/>
          <p:cNvSpPr/>
          <p:nvPr/>
        </p:nvSpPr>
        <p:spPr>
          <a:xfrm>
            <a:off x="402336" y="4462272"/>
            <a:ext cx="420624" cy="42062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0"/>
          <p:cNvSpPr/>
          <p:nvPr/>
        </p:nvSpPr>
        <p:spPr>
          <a:xfrm>
            <a:off x="402336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4507992"/>
            <a:ext cx="292608" cy="29260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316736" y="4443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KoboCollect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1316736" y="4700016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KoboCollect, aller dans Paramètres → URL du serveur → Entrer l'URL Kobo. Puis « Télécharger le formulaire ».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versions d'un formulaire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Modifier sans perdre les données existantes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déploiement crée une nouvelle version. KoboToolbox conserve toutes les versions et associe chaque soumission à la version qui était active au moment de la collecte.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2706624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773936"/>
            <a:ext cx="64008" cy="1993392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2706624" cy="38404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792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" y="1792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janv.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2172" y="1974424"/>
            <a:ext cx="1097280" cy="20116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87552" y="193852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2311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initial — 18 questions, 3 sections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soumissions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associées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72384" y="24688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8688" y="1773936"/>
            <a:ext cx="2706624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18688" y="1773936"/>
            <a:ext cx="64008" cy="1993392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18688" y="1767163"/>
            <a:ext cx="2706624" cy="38404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10128" y="1792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22192" y="1792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janv.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22192" y="1920240"/>
            <a:ext cx="1097280" cy="20116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840480" y="193852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10128" y="22311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question GPS · Correction orthographe commune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27432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soumissions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10128" y="299923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associées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25312" y="24688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71616" y="1773936"/>
            <a:ext cx="2706624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071616" y="1773936"/>
            <a:ext cx="64008" cy="19933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071616" y="1773936"/>
            <a:ext cx="2706624" cy="38404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163056" y="1792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675120" y="1792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fév.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75120" y="1920240"/>
            <a:ext cx="109728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93408" y="193852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63056" y="22311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contrainte âge · Nouveau choix de religion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63056" y="27432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soumissions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63056" y="299923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associées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858768"/>
            <a:ext cx="8412480" cy="493776"/>
          </a:xfrm>
          <a:prstGeom prst="rect">
            <a:avLst/>
          </a:prstGeom>
          <a:solidFill>
            <a:srgbClr val="FFF3CD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931920"/>
            <a:ext cx="256032" cy="256032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22960" y="391363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modifier un formulaire déjà déployé ne supprime PAS les données existantes. Chaque soumission reste liée à sa version d'origine. Cependant les nouvelles questions n'apparaîtront pas dans les anciennes soumissions.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88620" y="4553712"/>
            <a:ext cx="841248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457200" y="4425696"/>
            <a:ext cx="8275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modifier un formulaire déjà déployé ?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57200" y="4773168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Ouvrir le Formbuilder  →  2. Faire les modifications  →  3. Cliquer « Deploy » à nouveau  →  Nouvelle version créée automatiquement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via lien URL — Enketo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Collecter via navigateur web sur tout appareil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liens disponibles 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4114800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64008" cy="96926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1907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6112" y="170078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Enketo Online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" y="193852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· Supervision · Collecte connectée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" y="213969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avec connexion internet requise. Soumission immédiate au serveur. Idéal pour Enketo web depuis un ordinateur ou tablette.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2670048"/>
            <a:ext cx="4114800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65760" y="2670048"/>
            <a:ext cx="64008" cy="96926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6148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2743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Enketo Offline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96112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· Zone sans réseau · Tablette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488" y="318211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hors connexion dans le navigateur (Service Worker). Les données sont stockées localement et synchronisées à la prochaine connexion.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65760" y="3712464"/>
            <a:ext cx="4114800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365760" y="3712464"/>
            <a:ext cx="64008" cy="969264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80390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6112" y="378561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unique à usage unique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96112" y="402336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individuelles · Contrôle doublons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75488" y="422452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soumission ne peut être faite qu'une seule fois par lien. Idéal pour des enquêtes contrôlées (1 répondant = 1 lien).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709160" y="1261872"/>
            <a:ext cx="4114800" cy="22311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4709160" y="1261872"/>
            <a:ext cx="4114800" cy="3474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4782312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trouver le lien ?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773168" y="1682496"/>
            <a:ext cx="3986784" cy="1664208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4773168" y="1682496"/>
            <a:ext cx="3986784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8"/>
          <p:cNvSpPr/>
          <p:nvPr/>
        </p:nvSpPr>
        <p:spPr>
          <a:xfrm>
            <a:off x="4864608" y="1682496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846320" y="2029968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4901184" y="2066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Enketo Online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144768" y="20848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https://ee.kobotoolbox.org/x/AbCdEf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8339328" y="2084832"/>
            <a:ext cx="274320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3"/>
          <p:cNvSpPr/>
          <p:nvPr/>
        </p:nvSpPr>
        <p:spPr>
          <a:xfrm>
            <a:off x="8339328" y="20848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846320" y="2432304"/>
            <a:ext cx="3840480" cy="347472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5"/>
          <p:cNvSpPr/>
          <p:nvPr/>
        </p:nvSpPr>
        <p:spPr>
          <a:xfrm>
            <a:off x="4901184" y="2468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Enketo Offline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144768" y="24871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https://ee.kobotoolbox.org/x/AbCd...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8339328" y="2487168"/>
            <a:ext cx="274320" cy="21945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8"/>
          <p:cNvSpPr/>
          <p:nvPr/>
        </p:nvSpPr>
        <p:spPr>
          <a:xfrm>
            <a:off x="8339328" y="24871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846320" y="2834640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0"/>
          <p:cNvSpPr/>
          <p:nvPr/>
        </p:nvSpPr>
        <p:spPr>
          <a:xfrm>
            <a:off x="4901184" y="2871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6144768" y="28895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https://ee.kobotoolbox.org/single/AbCd...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8339328" y="2889504"/>
            <a:ext cx="274320" cy="219456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3"/>
          <p:cNvSpPr/>
          <p:nvPr/>
        </p:nvSpPr>
        <p:spPr>
          <a:xfrm>
            <a:off x="8339328" y="28895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709160" y="3566160"/>
            <a:ext cx="4114800" cy="1188720"/>
          </a:xfrm>
          <a:prstGeom prst="rect">
            <a:avLst/>
          </a:prstGeom>
          <a:solidFill>
            <a:srgbClr val="EBF5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5"/>
          <p:cNvSpPr/>
          <p:nvPr/>
        </p:nvSpPr>
        <p:spPr>
          <a:xfrm>
            <a:off x="4709160" y="3566160"/>
            <a:ext cx="64008" cy="118872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639312"/>
            <a:ext cx="237744" cy="237744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102352" y="36027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de partage :</a:t>
            </a:r>
            <a:endParaRPr lang="en-US" sz="1100" dirty="0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877056"/>
            <a:ext cx="182880" cy="18288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047488" y="385876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Raccourcir le lien avec bit.ly ou tinyurl.com</a:t>
            </a:r>
            <a:endParaRPr lang="en-US" sz="95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133088"/>
            <a:ext cx="182880" cy="18288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5047488" y="411480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par WhatsApp ou email aux enquêteurs</a:t>
            </a:r>
            <a:endParaRPr lang="en-US" sz="950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389120"/>
            <a:ext cx="182880" cy="18288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047488" y="4370832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dans un groupe WhatsApp d'équipe</a:t>
            </a:r>
            <a:endParaRPr lang="en-US" sz="95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645152"/>
            <a:ext cx="182880" cy="18288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5047488" y="462686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lien sur mobile avant la collecte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via QR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Scanner et collecter en un geste sur le terrain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obtenir le QR code 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682496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170078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projet déployé dans KoboToolbox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39696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215798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l'onglet « Collect Data 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596896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261518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l'icône QR (📱) à côté du lien Enketo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864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7824" y="307238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l'image PNG du QR 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11296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" y="352958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Imprimer, envoyer par WhatsApp ou afficher sur écran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sur le terrain :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0832"/>
            <a:ext cx="182880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6384" y="4352544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: Paramètres → Scanner QR code du projet</a:t>
            </a:r>
            <a:endParaRPr lang="en-US" sz="9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26864"/>
            <a:ext cx="182880" cy="1828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86384" y="4608576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smartphone : ouvre directement Enketo dans le navigateur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9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— Enquête ONG VEZO 2024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5394960" y="1792224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2"/>
          <p:cNvSpPr/>
          <p:nvPr/>
        </p:nvSpPr>
        <p:spPr>
          <a:xfrm>
            <a:off x="5486400" y="1883664"/>
            <a:ext cx="493776" cy="493776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3"/>
          <p:cNvSpPr/>
          <p:nvPr/>
        </p:nvSpPr>
        <p:spPr>
          <a:xfrm>
            <a:off x="5577840" y="1975104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4"/>
          <p:cNvSpPr/>
          <p:nvPr/>
        </p:nvSpPr>
        <p:spPr>
          <a:xfrm>
            <a:off x="5650992" y="2048256"/>
            <a:ext cx="164592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5"/>
          <p:cNvSpPr/>
          <p:nvPr/>
        </p:nvSpPr>
        <p:spPr>
          <a:xfrm>
            <a:off x="5486400" y="3255264"/>
            <a:ext cx="493776" cy="493776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6"/>
          <p:cNvSpPr/>
          <p:nvPr/>
        </p:nvSpPr>
        <p:spPr>
          <a:xfrm>
            <a:off x="5577840" y="3346704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7"/>
          <p:cNvSpPr/>
          <p:nvPr/>
        </p:nvSpPr>
        <p:spPr>
          <a:xfrm>
            <a:off x="5650992" y="3419856"/>
            <a:ext cx="164592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8"/>
          <p:cNvSpPr/>
          <p:nvPr/>
        </p:nvSpPr>
        <p:spPr>
          <a:xfrm>
            <a:off x="6949440" y="1883664"/>
            <a:ext cx="493776" cy="493776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9"/>
          <p:cNvSpPr/>
          <p:nvPr/>
        </p:nvSpPr>
        <p:spPr>
          <a:xfrm>
            <a:off x="7040880" y="1975104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0"/>
          <p:cNvSpPr/>
          <p:nvPr/>
        </p:nvSpPr>
        <p:spPr>
          <a:xfrm>
            <a:off x="7114032" y="2048256"/>
            <a:ext cx="164592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1"/>
          <p:cNvSpPr/>
          <p:nvPr/>
        </p:nvSpPr>
        <p:spPr>
          <a:xfrm>
            <a:off x="6144768" y="1883664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2"/>
          <p:cNvSpPr/>
          <p:nvPr/>
        </p:nvSpPr>
        <p:spPr>
          <a:xfrm>
            <a:off x="6400800" y="1883664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3"/>
          <p:cNvSpPr/>
          <p:nvPr/>
        </p:nvSpPr>
        <p:spPr>
          <a:xfrm>
            <a:off x="6656832" y="1883664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4"/>
          <p:cNvSpPr/>
          <p:nvPr/>
        </p:nvSpPr>
        <p:spPr>
          <a:xfrm>
            <a:off x="6144768" y="20848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5"/>
          <p:cNvSpPr/>
          <p:nvPr/>
        </p:nvSpPr>
        <p:spPr>
          <a:xfrm>
            <a:off x="6528816" y="20848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6"/>
          <p:cNvSpPr/>
          <p:nvPr/>
        </p:nvSpPr>
        <p:spPr>
          <a:xfrm>
            <a:off x="6254496" y="2286000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47"/>
          <p:cNvSpPr/>
          <p:nvPr/>
        </p:nvSpPr>
        <p:spPr>
          <a:xfrm>
            <a:off x="6675120" y="2286000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48"/>
          <p:cNvSpPr/>
          <p:nvPr/>
        </p:nvSpPr>
        <p:spPr>
          <a:xfrm>
            <a:off x="5486400" y="25420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9"/>
          <p:cNvSpPr/>
          <p:nvPr/>
        </p:nvSpPr>
        <p:spPr>
          <a:xfrm>
            <a:off x="5742432" y="25420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0"/>
          <p:cNvSpPr/>
          <p:nvPr/>
        </p:nvSpPr>
        <p:spPr>
          <a:xfrm>
            <a:off x="5998464" y="25420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1"/>
          <p:cNvSpPr/>
          <p:nvPr/>
        </p:nvSpPr>
        <p:spPr>
          <a:xfrm>
            <a:off x="6400800" y="25420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2"/>
          <p:cNvSpPr/>
          <p:nvPr/>
        </p:nvSpPr>
        <p:spPr>
          <a:xfrm>
            <a:off x="6784848" y="25420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3"/>
          <p:cNvSpPr/>
          <p:nvPr/>
        </p:nvSpPr>
        <p:spPr>
          <a:xfrm>
            <a:off x="5614416" y="2743200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4"/>
          <p:cNvSpPr/>
          <p:nvPr/>
        </p:nvSpPr>
        <p:spPr>
          <a:xfrm>
            <a:off x="6126480" y="2743200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5"/>
          <p:cNvSpPr/>
          <p:nvPr/>
        </p:nvSpPr>
        <p:spPr>
          <a:xfrm>
            <a:off x="6656832" y="2798064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6"/>
          <p:cNvSpPr/>
          <p:nvPr/>
        </p:nvSpPr>
        <p:spPr>
          <a:xfrm>
            <a:off x="5742432" y="29992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57"/>
          <p:cNvSpPr/>
          <p:nvPr/>
        </p:nvSpPr>
        <p:spPr>
          <a:xfrm>
            <a:off x="5998464" y="29992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58"/>
          <p:cNvSpPr/>
          <p:nvPr/>
        </p:nvSpPr>
        <p:spPr>
          <a:xfrm>
            <a:off x="6254496" y="29992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59"/>
          <p:cNvSpPr/>
          <p:nvPr/>
        </p:nvSpPr>
        <p:spPr>
          <a:xfrm>
            <a:off x="6528816" y="2999232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0"/>
          <p:cNvSpPr/>
          <p:nvPr/>
        </p:nvSpPr>
        <p:spPr>
          <a:xfrm>
            <a:off x="6784848" y="3255264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1"/>
          <p:cNvSpPr/>
          <p:nvPr/>
        </p:nvSpPr>
        <p:spPr>
          <a:xfrm>
            <a:off x="5486400" y="3255264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2"/>
          <p:cNvSpPr/>
          <p:nvPr/>
        </p:nvSpPr>
        <p:spPr>
          <a:xfrm>
            <a:off x="6949440" y="3255264"/>
            <a:ext cx="182880" cy="1828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3"/>
          <p:cNvSpPr/>
          <p:nvPr/>
        </p:nvSpPr>
        <p:spPr>
          <a:xfrm>
            <a:off x="5321808" y="4480560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ONG VEZO 2024</a:t>
            </a:r>
            <a:endParaRPr lang="en-US" sz="1000" dirty="0"/>
          </a:p>
        </p:txBody>
      </p:sp>
      <p:sp>
        <p:nvSpPr>
          <p:cNvPr id="69" name="Text 64"/>
          <p:cNvSpPr/>
          <p:nvPr/>
        </p:nvSpPr>
        <p:spPr>
          <a:xfrm>
            <a:off x="5349240" y="4753864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avec KoboCollect ou appareil photo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8229600" y="1719072"/>
            <a:ext cx="548640" cy="40233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6"/>
          <p:cNvSpPr/>
          <p:nvPr/>
        </p:nvSpPr>
        <p:spPr>
          <a:xfrm>
            <a:off x="8229600" y="175564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</a:t>
            </a:r>
            <a:endParaRPr lang="en-US" sz="750" dirty="0"/>
          </a:p>
        </p:txBody>
      </p:sp>
      <p:sp>
        <p:nvSpPr>
          <p:cNvPr id="72" name="Shape 67"/>
          <p:cNvSpPr/>
          <p:nvPr/>
        </p:nvSpPr>
        <p:spPr>
          <a:xfrm>
            <a:off x="8229600" y="2231136"/>
            <a:ext cx="548640" cy="40233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68"/>
          <p:cNvSpPr/>
          <p:nvPr/>
        </p:nvSpPr>
        <p:spPr>
          <a:xfrm>
            <a:off x="8229600" y="22677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750" dirty="0"/>
          </a:p>
        </p:txBody>
      </p:sp>
      <p:sp>
        <p:nvSpPr>
          <p:cNvPr id="74" name="Shape 69"/>
          <p:cNvSpPr/>
          <p:nvPr/>
        </p:nvSpPr>
        <p:spPr>
          <a:xfrm>
            <a:off x="8229600" y="2743200"/>
            <a:ext cx="548640" cy="40233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0"/>
          <p:cNvSpPr/>
          <p:nvPr/>
        </p:nvSpPr>
        <p:spPr>
          <a:xfrm>
            <a:off x="8229600" y="27797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— Intégrer Enketo dans un site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Le formulaire directement dans votre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génère un code d'intégration (iframe) pour embarquer directement le formulaire Enketo dans n'importe quel site web ou application.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d'intégration (iframe) 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4114800" cy="137160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210312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&lt;iframe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2402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src="https://ee.kobotoolbox.org/x/AbCdEf"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23774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width="800"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251460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height="600"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265176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frameborder="0"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278892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marginheight="0"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29260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marginwidth="0"&gt;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" y="30632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Chargement…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320040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&lt;/iframe&gt;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5295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22192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3504" y="380390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institutionnel ONG — formulaire de contact/don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78224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03504" y="405993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interne de gestion terrain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3425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3504" y="431596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hybride (WebView)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590288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03504" y="457200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collecte sectorielle dédiée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709160" y="1737360"/>
            <a:ext cx="41148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5"/>
          <p:cNvSpPr/>
          <p:nvPr/>
        </p:nvSpPr>
        <p:spPr>
          <a:xfrm>
            <a:off x="4709160" y="1737360"/>
            <a:ext cx="4114800" cy="32918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4791456" y="1828800"/>
            <a:ext cx="164592" cy="164592"/>
          </a:xfrm>
          <a:prstGeom prst="ellipse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7"/>
          <p:cNvSpPr/>
          <p:nvPr/>
        </p:nvSpPr>
        <p:spPr>
          <a:xfrm>
            <a:off x="5010912" y="1828800"/>
            <a:ext cx="164592" cy="164592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5230368" y="1828800"/>
            <a:ext cx="164592" cy="16459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5486400" y="1792224"/>
            <a:ext cx="30175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5522976" y="1810512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www.ong-VEZO.org/enquete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4709160" y="2066544"/>
            <a:ext cx="4114800" cy="2596896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4773168" y="2121408"/>
            <a:ext cx="3986784" cy="31089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3"/>
          <p:cNvSpPr/>
          <p:nvPr/>
        </p:nvSpPr>
        <p:spPr>
          <a:xfrm>
            <a:off x="4864608" y="2121408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ONG VEZO 2024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846320" y="250545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Connaissez-vous </a:t>
            </a:r>
            <a:r>
              <a:rPr lang="en-US" sz="1000" b="1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</a:t>
            </a: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?  *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919472" y="2834640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6"/>
          <p:cNvSpPr/>
          <p:nvPr/>
        </p:nvSpPr>
        <p:spPr>
          <a:xfrm>
            <a:off x="5175504" y="281635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4919472" y="31455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8"/>
          <p:cNvSpPr/>
          <p:nvPr/>
        </p:nvSpPr>
        <p:spPr>
          <a:xfrm>
            <a:off x="5175504" y="312724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4773168" y="3493008"/>
            <a:ext cx="3986784" cy="31089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0"/>
          <p:cNvSpPr/>
          <p:nvPr/>
        </p:nvSpPr>
        <p:spPr>
          <a:xfrm>
            <a:off x="4773168" y="3493008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Suivant →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EBF5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636008"/>
            <a:ext cx="201168" cy="20116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49808" y="46268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utiliser l'iframe en mode « Single » pour empêcher les réponses multiples depuis un même navigateur.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pré-déploiement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Avant de partir sur le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vérifier systématiquement avant de déployer et de distribuer le formulaire aux enquêteurs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84048" y="1700784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" y="17007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Formulaire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61872" y="17190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Prévisualiser avec Enketo et tester toutes les questions, la logique et les contraintes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93392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84048" y="2029968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029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Nommage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61872" y="204825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projet clair : « Enquête_VEZO_Bénin_2026 » — sans espace ni accent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22576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2322576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84048" y="2359152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84048" y="2359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61872" y="23774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type geopoint en extérieur — vérifier accuracy &lt; 10 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651760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651760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84048" y="2688336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84048" y="26883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Médias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61872" y="270662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photo/audio : confirmer max-pixels = 1024 et tester sur l'appareil terrain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980944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2980944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84048" y="3017520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Langues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61872" y="30358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multi-langue : vérifier que toutes les questions sont traduites dans l'onglet Labels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310128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20040" y="3310128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84048" y="3346704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84048" y="3346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Lien/QR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61872" y="336499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le lien Enketo et tester sur mobile. Télécharger et imprimer le QR code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639312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20040" y="3639312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84048" y="3675888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84048" y="3675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KoboCollect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61872" y="369417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l'URL serveur sur chaque tablette. Télécharger le formulaire v. déployée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968496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3968496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84048" y="4005072"/>
            <a:ext cx="82296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84048" y="40050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Équipe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61872" y="40233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lien / QR aux enquêteurs. Former sur KoboCollect si besoin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297680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20040" y="4297680"/>
            <a:ext cx="45720" cy="29260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84048" y="4334256"/>
            <a:ext cx="822960" cy="20116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84048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Collecte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261872" y="435254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déployer en production qu'après validation superviseur — désactiver si test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4626864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20040" y="4626864"/>
            <a:ext cx="4572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84048" y="4663440"/>
            <a:ext cx="822960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84048" y="4663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À éviter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61872" y="46817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partager un lien de brouillon — collecter en brouillon = données perdues 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lors du déploiement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fréquents à éviter absolument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en brouillon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de prévisualisation (Preview) n'est pas un lien de collecte. Les données saisies en prévisualisation sont perdues.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utiliser le lien « Collect Data » après déploiement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64008" cy="11338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 formulaire sans créer une nouvelle version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84632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formulaire déployé directement dans Kobo remplace la version actuelle. Les collecteurs sur l'ancienne version peuvent avoir des conflits.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Cliquer « Deploy » après chaque modification — une nouvelle version est créée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487168"/>
            <a:ext cx="64008" cy="1133856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7860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de désactiver après la collecte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1148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le formulaire actif après la fin de campagne expose à des soumissions non désirées ou à des doublons tardifs.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Désactiver la collecte (Pause) dès que la campagne est terminée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487168"/>
            <a:ext cx="64008" cy="1133856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78608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036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projet sans exporter les données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84632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d'un projet est irréversible. Toutes les soumissions et le formulaire sont définitivement perdus.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exporter en XLS avant toute suppression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694176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8561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9552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mauvais lien (Online au lieu d'Offline)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41148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 sans connexion, le lien Online-Only ne fonctionne pas. Les enquêteurs ne peuvent pas soumettre.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Vérifier le type de lien : Offline pour les zones sans réseau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694176"/>
            <a:ext cx="64008" cy="113385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85616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3036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non synchronisé avec la dernière version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84632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 re-déploiement (v2, v3…), les collecteurs doivent re-télécharger le formulaire mis à jour dans KoboCollect.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Rappeler à l'équipe de télécharger la nouvelle version avant la collecte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Déployer le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complète du déploiement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ces étapes pour déployer le formulaire Enquête_VEZO_2024 et le distribuer à votre équipe terrain.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64008" cy="3090672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64208"/>
            <a:ext cx="2029968" cy="329184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16642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066544"/>
            <a:ext cx="219456" cy="219456"/>
          </a:xfrm>
          <a:prstGeom prst="ellipse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066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04825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Prévisualiser avec Enketo — tester GPS, photo, saut logique ONG VEZO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761488"/>
            <a:ext cx="219456" cy="219456"/>
          </a:xfrm>
          <a:prstGeom prst="ellipse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1480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274320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nom : Enquête_VEZO_2024 (pas d'espace)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456432"/>
            <a:ext cx="219456" cy="219456"/>
          </a:xfrm>
          <a:prstGeom prst="ellipse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3456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43814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que le champ date = today() est bien pré-rempli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96312" y="1664208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496312" y="1664208"/>
            <a:ext cx="64008" cy="30906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496312" y="1664208"/>
            <a:ext cx="2029968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587752" y="16642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87752" y="2066544"/>
            <a:ext cx="219456" cy="219456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87752" y="2066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62072" y="204825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Deploy » → Confirmer → Version v1 créée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87752" y="2761488"/>
            <a:ext cx="219456" cy="219456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587752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62072" y="274320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le lien Enketo Offline dans un mémo WhatsApp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87752" y="3456432"/>
            <a:ext cx="219456" cy="219456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587752" y="3456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62072" y="343814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et imprimer le QR code (A4, 1 par enquêteur)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72584" y="1664208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672584" y="1664208"/>
            <a:ext cx="64008" cy="309067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672584" y="1664208"/>
            <a:ext cx="2029968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764024" y="16642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64024" y="2066544"/>
            <a:ext cx="219456" cy="219456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64024" y="2066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38344" y="204825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enquêteur configure KoboCollect : URL serveur + télécharger formulaire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64024" y="2761488"/>
            <a:ext cx="219456" cy="219456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64024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38344" y="274320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: scanner le QR code avec le navigateur pour Enketo Offline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64024" y="3456432"/>
            <a:ext cx="219456" cy="219456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764024" y="3456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38344" y="343814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une soumission test — vérifier qu'elle arrive dans les données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48856" y="1664208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848856" y="1664208"/>
            <a:ext cx="64008" cy="309067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848856" y="1664208"/>
            <a:ext cx="2029968" cy="32918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940296" y="16642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CAMPAGNE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0296" y="2066544"/>
            <a:ext cx="219456" cy="219456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940296" y="2066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14616" y="204825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la collecte (Pause) dès le dernier jour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0296" y="2761488"/>
            <a:ext cx="219456" cy="219456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940296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14616" y="274320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données en XLS pour analyse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40296" y="3456432"/>
            <a:ext cx="219456" cy="219456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6940296" y="3456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214616" y="343814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 le projet dans KoboToolbox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350008" y="1666247"/>
            <a:ext cx="4498848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avancée des versions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Stratégies pour les formulaires en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et comment gérer plusieurs versions d'un même formulaire sur le terrain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64008" cy="10058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64208"/>
            <a:ext cx="85039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7190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mineure (faute de frappe, libellé)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En cours de collecte — quelques soumissions déjà reçues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048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Modifier dans le Formbuilder → Déployer → Nouvelle 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0016" y="2029968"/>
            <a:ext cx="4041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Les anciennes soumissions restent valides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Les collecteurs doivent re-télécharger le formulaire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Les corrections ne rétroagissent pas sur l'ancienne version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8503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64008" cy="100584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850392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7980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nouvelles questions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81635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Après 50+ soumissions — modification structurelle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127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Ajouter les questions → Déployer → Documenter le changement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3108960"/>
            <a:ext cx="4041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Nouvelles soumissions auront les nouvelles questions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Anciennes soumissions n'auront pas ces champs (vides)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Exporter séparément les 2 versions si analyse mixte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8503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64008" cy="10058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8503920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d'une question existante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89534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Avec précaution — perte de données potentielle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Archiver d'abord les données → Supprimer → Re-déployer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0016" y="4187952"/>
            <a:ext cx="4041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Données de la question supprimée perdues dans les futures soumissions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Données existantes conservées dans leur version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À éviter en cours de campagne active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états : Brouillon → Déployé → Actif → Désactivé → Archivé · chacun avec ses droits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 → Preview → Deploy · lien Enketo + QR code générés automatiquement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Deploy = nouvelle version · données liées à leur version · modifier sans crainte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URL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(connecté) · Offline (hors ligne) · Once (usage unique) · via Collect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depuis Collect Data · scanner avec KoboCollect ou appareil photo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Désactiver = ouvrir / fermer la collecte · données conservées dans les 2 cas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en brouillon · supprimer sans export · lien Online sur terrain sans réseau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1983</Words>
  <Application>Microsoft Office PowerPoint</Application>
  <PresentationFormat>Affichage à l'écran (16:9)</PresentationFormat>
  <Paragraphs>304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6 : Déploiement du formulaire</dc:title>
  <dc:subject>PptxGenJS Presentation</dc:subject>
  <dc:creator>PptxGenJS</dc:creator>
  <cp:lastModifiedBy>Fabien Nacheley</cp:lastModifiedBy>
  <cp:revision>1</cp:revision>
  <dcterms:created xsi:type="dcterms:W3CDTF">2026-03-22T18:34:26Z</dcterms:created>
  <dcterms:modified xsi:type="dcterms:W3CDTF">2026-04-19T13:14:09Z</dcterms:modified>
</cp:coreProperties>
</file>