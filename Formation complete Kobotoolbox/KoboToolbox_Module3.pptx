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96" autoAdjust="0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67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lou Alphonse Euphreme" userId="f12afe77-4db7-47e3-b604-bb0d456a5c02" providerId="ADAL" clId="{4890F534-C102-41F9-978A-E7DBDB1CFE02}"/>
    <pc:docChg chg="undo custSel delSld modSld">
      <pc:chgData name="Ahlou Alphonse Euphreme" userId="f12afe77-4db7-47e3-b604-bb0d456a5c02" providerId="ADAL" clId="{4890F534-C102-41F9-978A-E7DBDB1CFE02}" dt="2026-04-03T17:11:51.530" v="81" actId="47"/>
      <pc:docMkLst>
        <pc:docMk/>
      </pc:docMkLst>
      <pc:sldChg chg="addSp delSp modSp mod">
        <pc:chgData name="Ahlou Alphonse Euphreme" userId="f12afe77-4db7-47e3-b604-bb0d456a5c02" providerId="ADAL" clId="{4890F534-C102-41F9-978A-E7DBDB1CFE02}" dt="2026-04-03T16:37:53.901" v="80" actId="478"/>
        <pc:sldMkLst>
          <pc:docMk/>
          <pc:sldMk cId="0" sldId="258"/>
        </pc:sldMkLst>
        <pc:spChg chg="add del">
          <ac:chgData name="Ahlou Alphonse Euphreme" userId="f12afe77-4db7-47e3-b604-bb0d456a5c02" providerId="ADAL" clId="{4890F534-C102-41F9-978A-E7DBDB1CFE02}" dt="2026-04-03T16:32:10.917" v="77" actId="478"/>
          <ac:spMkLst>
            <pc:docMk/>
            <pc:sldMk cId="0" sldId="258"/>
            <ac:spMk id="9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4-03T16:30:42.521" v="74" actId="103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4-03T16:30:42.521" v="74" actId="1036"/>
          <ac:spMkLst>
            <pc:docMk/>
            <pc:sldMk cId="0" sldId="258"/>
            <ac:spMk id="27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4-03T16:30:42.521" v="74" actId="1036"/>
          <ac:spMkLst>
            <pc:docMk/>
            <pc:sldMk cId="0" sldId="258"/>
            <ac:spMk id="45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4-03T16:30:42.521" v="74" actId="1036"/>
          <ac:spMkLst>
            <pc:docMk/>
            <pc:sldMk cId="0" sldId="258"/>
            <ac:spMk id="61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4-03T16:30:42.521" v="74" actId="1036"/>
          <ac:spMkLst>
            <pc:docMk/>
            <pc:sldMk cId="0" sldId="258"/>
            <ac:spMk id="68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4-03T16:30:42.521" v="74" actId="1036"/>
          <ac:spMkLst>
            <pc:docMk/>
            <pc:sldMk cId="0" sldId="258"/>
            <ac:spMk id="73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4-03T16:30:42.521" v="74" actId="1036"/>
          <ac:spMkLst>
            <pc:docMk/>
            <pc:sldMk cId="0" sldId="258"/>
            <ac:spMk id="76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4-03T16:30:42.521" v="74" actId="1036"/>
          <ac:spMkLst>
            <pc:docMk/>
            <pc:sldMk cId="0" sldId="258"/>
            <ac:spMk id="81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4-03T16:30:42.521" v="74" actId="1036"/>
          <ac:spMkLst>
            <pc:docMk/>
            <pc:sldMk cId="0" sldId="258"/>
            <ac:spMk id="96" creationId="{00000000-0000-0000-0000-000000000000}"/>
          </ac:spMkLst>
        </pc:spChg>
        <pc:spChg chg="mod">
          <ac:chgData name="Ahlou Alphonse Euphreme" userId="f12afe77-4db7-47e3-b604-bb0d456a5c02" providerId="ADAL" clId="{4890F534-C102-41F9-978A-E7DBDB1CFE02}" dt="2026-04-03T16:30:42.521" v="74" actId="1036"/>
          <ac:spMkLst>
            <pc:docMk/>
            <pc:sldMk cId="0" sldId="258"/>
            <ac:spMk id="97" creationId="{00000000-0000-0000-0000-000000000000}"/>
          </ac:spMkLst>
        </pc:spChg>
      </pc:sldChg>
    </pc:docChg>
  </pc:docChgLst>
  <pc:docChgLst>
    <pc:chgData name="Ahlou Alphonse Euphreme" userId="f12afe77-4db7-47e3-b604-bb0d456a5c02" providerId="ADAL" clId="{5735D98A-5E9D-45E5-9858-B2F8FC0FB54C}"/>
    <pc:docChg chg="modSld">
      <pc:chgData name="Ahlou Alphonse Euphreme" userId="f12afe77-4db7-47e3-b604-bb0d456a5c02" providerId="ADAL" clId="{5735D98A-5E9D-45E5-9858-B2F8FC0FB54C}" dt="2026-03-22T17:59:52.117" v="6"/>
      <pc:docMkLst>
        <pc:docMk/>
      </pc:docMkLst>
      <pc:sldChg chg="modSp">
        <pc:chgData name="Ahlou Alphonse Euphreme" userId="f12afe77-4db7-47e3-b604-bb0d456a5c02" providerId="ADAL" clId="{5735D98A-5E9D-45E5-9858-B2F8FC0FB54C}" dt="2026-03-22T17:52:21.048" v="0"/>
        <pc:sldMkLst>
          <pc:docMk/>
          <pc:sldMk cId="0" sldId="256"/>
        </pc:sldMkLst>
        <pc:spChg chg="mod">
          <ac:chgData name="Ahlou Alphonse Euphreme" userId="f12afe77-4db7-47e3-b604-bb0d456a5c02" providerId="ADAL" clId="{5735D98A-5E9D-45E5-9858-B2F8FC0FB54C}" dt="2026-03-22T17:52:21.048" v="0"/>
          <ac:spMkLst>
            <pc:docMk/>
            <pc:sldMk cId="0" sldId="256"/>
            <ac:spMk id="11" creationId="{00000000-0000-0000-0000-000000000000}"/>
          </ac:spMkLst>
        </pc:spChg>
      </pc:sldChg>
      <pc:sldChg chg="modSp">
        <pc:chgData name="Ahlou Alphonse Euphreme" userId="f12afe77-4db7-47e3-b604-bb0d456a5c02" providerId="ADAL" clId="{5735D98A-5E9D-45E5-9858-B2F8FC0FB54C}" dt="2026-03-22T17:52:21.048" v="0"/>
        <pc:sldMkLst>
          <pc:docMk/>
          <pc:sldMk cId="0" sldId="257"/>
        </pc:sldMkLst>
        <pc:spChg chg="mod">
          <ac:chgData name="Ahlou Alphonse Euphreme" userId="f12afe77-4db7-47e3-b604-bb0d456a5c02" providerId="ADAL" clId="{5735D98A-5E9D-45E5-9858-B2F8FC0FB54C}" dt="2026-03-22T17:52:21.048" v="0"/>
          <ac:spMkLst>
            <pc:docMk/>
            <pc:sldMk cId="0" sldId="257"/>
            <ac:spMk id="12" creationId="{00000000-0000-0000-0000-000000000000}"/>
          </ac:spMkLst>
        </pc:spChg>
      </pc:sldChg>
      <pc:sldChg chg="modSp">
        <pc:chgData name="Ahlou Alphonse Euphreme" userId="f12afe77-4db7-47e3-b604-bb0d456a5c02" providerId="ADAL" clId="{5735D98A-5E9D-45E5-9858-B2F8FC0FB54C}" dt="2026-03-22T17:59:52.117" v="6"/>
        <pc:sldMkLst>
          <pc:docMk/>
          <pc:sldMk cId="0" sldId="258"/>
        </pc:sldMkLst>
        <pc:spChg chg="mod">
          <ac:chgData name="Ahlou Alphonse Euphreme" userId="f12afe77-4db7-47e3-b604-bb0d456a5c02" providerId="ADAL" clId="{5735D98A-5E9D-45E5-9858-B2F8FC0FB54C}" dt="2026-03-22T17:52:21.048" v="0"/>
          <ac:spMkLst>
            <pc:docMk/>
            <pc:sldMk cId="0" sldId="258"/>
            <ac:spMk id="4" creationId="{00000000-0000-0000-0000-000000000000}"/>
          </ac:spMkLst>
        </pc:spChg>
        <pc:spChg chg="mod">
          <ac:chgData name="Ahlou Alphonse Euphreme" userId="f12afe77-4db7-47e3-b604-bb0d456a5c02" providerId="ADAL" clId="{5735D98A-5E9D-45E5-9858-B2F8FC0FB54C}" dt="2026-03-22T17:52:21.048" v="0"/>
          <ac:spMkLst>
            <pc:docMk/>
            <pc:sldMk cId="0" sldId="258"/>
            <ac:spMk id="88" creationId="{00000000-0000-0000-0000-000000000000}"/>
          </ac:spMkLst>
        </pc:spChg>
        <pc:spChg chg="mod">
          <ac:chgData name="Ahlou Alphonse Euphreme" userId="f12afe77-4db7-47e3-b604-bb0d456a5c02" providerId="ADAL" clId="{5735D98A-5E9D-45E5-9858-B2F8FC0FB54C}" dt="2026-03-22T17:59:52.117" v="6"/>
          <ac:spMkLst>
            <pc:docMk/>
            <pc:sldMk cId="0" sldId="258"/>
            <ac:spMk id="92" creationId="{00000000-0000-0000-0000-000000000000}"/>
          </ac:spMkLst>
        </pc:spChg>
      </pc:sldChg>
      <pc:sldChg chg="modSp">
        <pc:chgData name="Ahlou Alphonse Euphreme" userId="f12afe77-4db7-47e3-b604-bb0d456a5c02" providerId="ADAL" clId="{5735D98A-5E9D-45E5-9858-B2F8FC0FB54C}" dt="2026-03-22T17:52:21.048" v="0"/>
        <pc:sldMkLst>
          <pc:docMk/>
          <pc:sldMk cId="0" sldId="259"/>
        </pc:sldMkLst>
        <pc:spChg chg="mod">
          <ac:chgData name="Ahlou Alphonse Euphreme" userId="f12afe77-4db7-47e3-b604-bb0d456a5c02" providerId="ADAL" clId="{5735D98A-5E9D-45E5-9858-B2F8FC0FB54C}" dt="2026-03-22T17:52:21.048" v="0"/>
          <ac:spMkLst>
            <pc:docMk/>
            <pc:sldMk cId="0" sldId="259"/>
            <ac:spMk id="35" creationId="{00000000-0000-0000-0000-000000000000}"/>
          </ac:spMkLst>
        </pc:spChg>
      </pc:sldChg>
      <pc:sldChg chg="modSp mod">
        <pc:chgData name="Ahlou Alphonse Euphreme" userId="f12afe77-4db7-47e3-b604-bb0d456a5c02" providerId="ADAL" clId="{5735D98A-5E9D-45E5-9858-B2F8FC0FB54C}" dt="2026-03-22T17:53:16.044" v="4" actId="20577"/>
        <pc:sldMkLst>
          <pc:docMk/>
          <pc:sldMk cId="0" sldId="260"/>
        </pc:sldMkLst>
        <pc:spChg chg="mod">
          <ac:chgData name="Ahlou Alphonse Euphreme" userId="f12afe77-4db7-47e3-b604-bb0d456a5c02" providerId="ADAL" clId="{5735D98A-5E9D-45E5-9858-B2F8FC0FB54C}" dt="2026-03-22T17:53:16.044" v="4" actId="20577"/>
          <ac:spMkLst>
            <pc:docMk/>
            <pc:sldMk cId="0" sldId="260"/>
            <ac:spMk id="20" creationId="{00000000-0000-0000-0000-000000000000}"/>
          </ac:spMkLst>
        </pc:spChg>
      </pc:sldChg>
      <pc:sldChg chg="modSp">
        <pc:chgData name="Ahlou Alphonse Euphreme" userId="f12afe77-4db7-47e3-b604-bb0d456a5c02" providerId="ADAL" clId="{5735D98A-5E9D-45E5-9858-B2F8FC0FB54C}" dt="2026-03-22T17:53:39.680" v="5"/>
        <pc:sldMkLst>
          <pc:docMk/>
          <pc:sldMk cId="0" sldId="263"/>
        </pc:sldMkLst>
        <pc:spChg chg="mod">
          <ac:chgData name="Ahlou Alphonse Euphreme" userId="f12afe77-4db7-47e3-b604-bb0d456a5c02" providerId="ADAL" clId="{5735D98A-5E9D-45E5-9858-B2F8FC0FB54C}" dt="2026-03-22T17:53:39.680" v="5"/>
          <ac:spMkLst>
            <pc:docMk/>
            <pc:sldMk cId="0" sldId="263"/>
            <ac:spMk id="18" creationId="{00000000-0000-0000-0000-000000000000}"/>
          </ac:spMkLst>
        </pc:spChg>
        <pc:spChg chg="mod">
          <ac:chgData name="Ahlou Alphonse Euphreme" userId="f12afe77-4db7-47e3-b604-bb0d456a5c02" providerId="ADAL" clId="{5735D98A-5E9D-45E5-9858-B2F8FC0FB54C}" dt="2026-03-22T17:53:39.680" v="5"/>
          <ac:spMkLst>
            <pc:docMk/>
            <pc:sldMk cId="0" sldId="263"/>
            <ac:spMk id="35" creationId="{00000000-0000-0000-0000-000000000000}"/>
          </ac:spMkLst>
        </pc:spChg>
      </pc:sldChg>
      <pc:sldChg chg="modSp">
        <pc:chgData name="Ahlou Alphonse Euphreme" userId="f12afe77-4db7-47e3-b604-bb0d456a5c02" providerId="ADAL" clId="{5735D98A-5E9D-45E5-9858-B2F8FC0FB54C}" dt="2026-03-22T17:52:21.048" v="0"/>
        <pc:sldMkLst>
          <pc:docMk/>
          <pc:sldMk cId="0" sldId="264"/>
        </pc:sldMkLst>
        <pc:spChg chg="mod">
          <ac:chgData name="Ahlou Alphonse Euphreme" userId="f12afe77-4db7-47e3-b604-bb0d456a5c02" providerId="ADAL" clId="{5735D98A-5E9D-45E5-9858-B2F8FC0FB54C}" dt="2026-03-22T17:52:21.048" v="0"/>
          <ac:spMkLst>
            <pc:docMk/>
            <pc:sldMk cId="0" sldId="264"/>
            <ac:spMk id="16" creationId="{00000000-0000-0000-0000-000000000000}"/>
          </ac:spMkLst>
        </pc:spChg>
      </pc:sldChg>
      <pc:sldChg chg="modSp">
        <pc:chgData name="Ahlou Alphonse Euphreme" userId="f12afe77-4db7-47e3-b604-bb0d456a5c02" providerId="ADAL" clId="{5735D98A-5E9D-45E5-9858-B2F8FC0FB54C}" dt="2026-03-22T17:59:52.117" v="6"/>
        <pc:sldMkLst>
          <pc:docMk/>
          <pc:sldMk cId="0" sldId="265"/>
        </pc:sldMkLst>
        <pc:spChg chg="mod">
          <ac:chgData name="Ahlou Alphonse Euphreme" userId="f12afe77-4db7-47e3-b604-bb0d456a5c02" providerId="ADAL" clId="{5735D98A-5E9D-45E5-9858-B2F8FC0FB54C}" dt="2026-03-22T17:59:52.117" v="6"/>
          <ac:spMkLst>
            <pc:docMk/>
            <pc:sldMk cId="0" sldId="265"/>
            <ac:spMk id="18" creationId="{00000000-0000-0000-0000-000000000000}"/>
          </ac:spMkLst>
        </pc:spChg>
      </pc:sldChg>
      <pc:sldChg chg="modSp">
        <pc:chgData name="Ahlou Alphonse Euphreme" userId="f12afe77-4db7-47e3-b604-bb0d456a5c02" providerId="ADAL" clId="{5735D98A-5E9D-45E5-9858-B2F8FC0FB54C}" dt="2026-03-22T17:53:39.680" v="5"/>
        <pc:sldMkLst>
          <pc:docMk/>
          <pc:sldMk cId="0" sldId="266"/>
        </pc:sldMkLst>
        <pc:spChg chg="mod">
          <ac:chgData name="Ahlou Alphonse Euphreme" userId="f12afe77-4db7-47e3-b604-bb0d456a5c02" providerId="ADAL" clId="{5735D98A-5E9D-45E5-9858-B2F8FC0FB54C}" dt="2026-03-22T17:53:39.680" v="5"/>
          <ac:spMkLst>
            <pc:docMk/>
            <pc:sldMk cId="0" sldId="266"/>
            <ac:spMk id="12" creationId="{00000000-0000-0000-0000-000000000000}"/>
          </ac:spMkLst>
        </pc:spChg>
      </pc:sldChg>
      <pc:sldChg chg="modSp">
        <pc:chgData name="Ahlou Alphonse Euphreme" userId="f12afe77-4db7-47e3-b604-bb0d456a5c02" providerId="ADAL" clId="{5735D98A-5E9D-45E5-9858-B2F8FC0FB54C}" dt="2026-03-22T17:52:21.048" v="0"/>
        <pc:sldMkLst>
          <pc:docMk/>
          <pc:sldMk cId="0" sldId="267"/>
        </pc:sldMkLst>
        <pc:spChg chg="mod">
          <ac:chgData name="Ahlou Alphonse Euphreme" userId="f12afe77-4db7-47e3-b604-bb0d456a5c02" providerId="ADAL" clId="{5735D98A-5E9D-45E5-9858-B2F8FC0FB54C}" dt="2026-03-22T17:52:21.048" v="0"/>
          <ac:spMkLst>
            <pc:docMk/>
            <pc:sldMk cId="0" sldId="267"/>
            <ac:spMk id="51" creationId="{00000000-0000-0000-0000-000000000000}"/>
          </ac:spMkLst>
        </pc:spChg>
      </pc:sldChg>
      <pc:sldChg chg="modSp">
        <pc:chgData name="Ahlou Alphonse Euphreme" userId="f12afe77-4db7-47e3-b604-bb0d456a5c02" providerId="ADAL" clId="{5735D98A-5E9D-45E5-9858-B2F8FC0FB54C}" dt="2026-03-22T17:53:39.680" v="5"/>
        <pc:sldMkLst>
          <pc:docMk/>
          <pc:sldMk cId="0" sldId="269"/>
        </pc:sldMkLst>
        <pc:spChg chg="mod">
          <ac:chgData name="Ahlou Alphonse Euphreme" userId="f12afe77-4db7-47e3-b604-bb0d456a5c02" providerId="ADAL" clId="{5735D98A-5E9D-45E5-9858-B2F8FC0FB54C}" dt="2026-03-22T17:53:39.680" v="5"/>
          <ac:spMkLst>
            <pc:docMk/>
            <pc:sldMk cId="0" sldId="269"/>
            <ac:spMk id="44" creationId="{00000000-0000-0000-0000-000000000000}"/>
          </ac:spMkLst>
        </pc:spChg>
      </pc:sldChg>
      <pc:sldChg chg="modSp">
        <pc:chgData name="Ahlou Alphonse Euphreme" userId="f12afe77-4db7-47e3-b604-bb0d456a5c02" providerId="ADAL" clId="{5735D98A-5E9D-45E5-9858-B2F8FC0FB54C}" dt="2026-03-22T17:52:21.048" v="0"/>
        <pc:sldMkLst>
          <pc:docMk/>
          <pc:sldMk cId="0" sldId="270"/>
        </pc:sldMkLst>
        <pc:spChg chg="mod">
          <ac:chgData name="Ahlou Alphonse Euphreme" userId="f12afe77-4db7-47e3-b604-bb0d456a5c02" providerId="ADAL" clId="{5735D98A-5E9D-45E5-9858-B2F8FC0FB54C}" dt="2026-03-22T17:52:21.048" v="0"/>
          <ac:spMkLst>
            <pc:docMk/>
            <pc:sldMk cId="0" sldId="270"/>
            <ac:spMk id="12" creationId="{00000000-0000-0000-0000-000000000000}"/>
          </ac:spMkLst>
        </pc:spChg>
      </pc:sldChg>
      <pc:sldChg chg="modSp">
        <pc:chgData name="Ahlou Alphonse Euphreme" userId="f12afe77-4db7-47e3-b604-bb0d456a5c02" providerId="ADAL" clId="{5735D98A-5E9D-45E5-9858-B2F8FC0FB54C}" dt="2026-03-22T17:53:39.680" v="5"/>
        <pc:sldMkLst>
          <pc:docMk/>
          <pc:sldMk cId="0" sldId="271"/>
        </pc:sldMkLst>
        <pc:spChg chg="mod">
          <ac:chgData name="Ahlou Alphonse Euphreme" userId="f12afe77-4db7-47e3-b604-bb0d456a5c02" providerId="ADAL" clId="{5735D98A-5E9D-45E5-9858-B2F8FC0FB54C}" dt="2026-03-22T17:53:39.680" v="5"/>
          <ac:spMkLst>
            <pc:docMk/>
            <pc:sldMk cId="0" sldId="271"/>
            <ac:spMk id="4" creationId="{00000000-0000-0000-0000-000000000000}"/>
          </ac:spMkLst>
        </pc:spChg>
        <pc:spChg chg="mod">
          <ac:chgData name="Ahlou Alphonse Euphreme" userId="f12afe77-4db7-47e3-b604-bb0d456a5c02" providerId="ADAL" clId="{5735D98A-5E9D-45E5-9858-B2F8FC0FB54C}" dt="2026-03-22T17:53:39.680" v="5"/>
          <ac:spMkLst>
            <pc:docMk/>
            <pc:sldMk cId="0" sldId="271"/>
            <ac:spMk id="14" creationId="{00000000-0000-0000-0000-000000000000}"/>
          </ac:spMkLst>
        </pc:spChg>
        <pc:spChg chg="mod">
          <ac:chgData name="Ahlou Alphonse Euphreme" userId="f12afe77-4db7-47e3-b604-bb0d456a5c02" providerId="ADAL" clId="{5735D98A-5E9D-45E5-9858-B2F8FC0FB54C}" dt="2026-03-22T17:52:21.048" v="0"/>
          <ac:spMkLst>
            <pc:docMk/>
            <pc:sldMk cId="0" sldId="271"/>
            <ac:spMk id="3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6363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4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217920" y="-457200"/>
            <a:ext cx="4114800" cy="68580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 rot="900000">
            <a:off x="6858000" y="-457200"/>
            <a:ext cx="4114800" cy="6858000"/>
          </a:xfrm>
          <a:prstGeom prst="rect">
            <a:avLst/>
          </a:prstGeom>
          <a:solidFill>
            <a:srgbClr val="0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2194560" cy="384048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son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formulaire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457200" y="2505456"/>
            <a:ext cx="3200400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 ·  Vidéos 3–4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0540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 min  ·  Cas réel : </a:t>
            </a:r>
            <a:r>
              <a:rPr lang="en-US" sz="1200" dirty="0" err="1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</a:t>
            </a:r>
            <a:r>
              <a:rPr lang="en-US" sz="12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ONG VEZO — Bénin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096512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97096"/>
            <a:ext cx="256032" cy="25603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01168" y="46360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projet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542032" y="4096512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4197096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286000" y="46360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questions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626864" y="4096512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4197096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370832" y="46360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711696" y="4096512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1424" y="4197096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55664" y="46360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Prévisualiser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 — Module 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Vidéos 3 &amp; 4 : du projet vide au formulaire complet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8503920" cy="5212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80160"/>
            <a:ext cx="64008" cy="521208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1307592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8992" y="130759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 réel — ONG VEZO, Bénin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78992" y="156362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un vrai formulaire de terrain avant de le saisir dans Kobo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874520"/>
            <a:ext cx="8503920" cy="5212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1874520"/>
            <a:ext cx="64008" cy="521208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" y="1901952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78992" y="190195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nouveau projet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" y="21579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Nommer, paramétrer et ouvrir le Formbuilder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468880"/>
            <a:ext cx="8503920" cy="5212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0040" y="2468880"/>
            <a:ext cx="64008" cy="521208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7200" y="2496312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78992" y="249631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questions essentiels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78992" y="275234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· Nombre · Choix unique · Choix multiple · Date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063240"/>
            <a:ext cx="8503920" cy="5212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0040" y="3063240"/>
            <a:ext cx="64008" cy="521208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7200" y="3090672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78992" y="309067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Organiser en sections (Groups)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78992" y="334670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 · Caractéristiques socio-démo · Perceptions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657600"/>
            <a:ext cx="8503920" cy="5212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20040" y="3657600"/>
            <a:ext cx="64008" cy="521208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57200" y="3685032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78992" y="368503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Paramétrer chaque question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78992" y="394106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Libellé · Nom interne · Obligatoire · Aide · Contrainte · Condition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251960"/>
            <a:ext cx="8503920" cy="5212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20040" y="4251960"/>
            <a:ext cx="64008" cy="521208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57200" y="4279392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78992" y="427939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Prévisualiser et tester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78992" y="453542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 Enketo (web) + KoboCollect (mobile) avant déploiement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788066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-788066"/>
            <a:ext cx="109728" cy="118872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-650906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questionnaire de départ — ONG VEZO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-7483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Enquête sur la scolarisation des filles · Bénin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411311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11311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47380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formulaire réel (fourni ci-dessus) est notre fil conducteur pour tout le Module 3.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821278"/>
            <a:ext cx="8412480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821278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— 5 questions isolées (non groupées)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187038"/>
            <a:ext cx="84124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65760" y="1187038"/>
            <a:ext cx="45720" cy="2743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57200" y="1223614"/>
            <a:ext cx="658368" cy="1828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57200" y="122361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188720" y="123275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(2022, 2023)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488790"/>
            <a:ext cx="8412480" cy="274320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65760" y="1488790"/>
            <a:ext cx="45720" cy="2743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57200" y="1525366"/>
            <a:ext cx="658368" cy="1828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57200" y="152536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188720" y="1534510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(Janvier, Février, Mars, Avril…)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1790542"/>
            <a:ext cx="84124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65760" y="1790542"/>
            <a:ext cx="45720" cy="274320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57200" y="1827118"/>
            <a:ext cx="658368" cy="182880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57200" y="182711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188720" y="1836262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— format JJ/MM/AA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2092294"/>
            <a:ext cx="8412480" cy="274320"/>
          </a:xfrm>
          <a:prstGeom prst="rect">
            <a:avLst/>
          </a:prstGeom>
          <a:solidFill>
            <a:srgbClr val="F0F7F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65760" y="2092294"/>
            <a:ext cx="45720" cy="2743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57200" y="2128870"/>
            <a:ext cx="658368" cy="1828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57200" y="212887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188720" y="2138014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de l'Agent (défini au préalable si possible)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394046"/>
            <a:ext cx="84124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365760" y="2394046"/>
            <a:ext cx="45720" cy="2743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457200" y="2430622"/>
            <a:ext cx="658368" cy="18288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57200" y="243062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188720" y="243976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Département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2741518"/>
            <a:ext cx="4069080" cy="310896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57200" y="274151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 (8 questions)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3098134"/>
            <a:ext cx="40690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457200" y="3125566"/>
            <a:ext cx="658368" cy="164592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57200" y="312556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select_one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1170432" y="3134710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Commune de résidence *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5760" y="3354166"/>
            <a:ext cx="4069080" cy="237744"/>
          </a:xfrm>
          <a:prstGeom prst="rect">
            <a:avLst/>
          </a:prstGeom>
          <a:solidFill>
            <a:srgbClr val="EAF7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457200" y="3381598"/>
            <a:ext cx="658368" cy="164592"/>
          </a:xfrm>
          <a:prstGeom prst="rect">
            <a:avLst/>
          </a:prstGeom>
          <a:solidFill>
            <a:srgbClr val="6A057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457200" y="338159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1170432" y="3390742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*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5760" y="3610198"/>
            <a:ext cx="40690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457200" y="3637630"/>
            <a:ext cx="658368" cy="164592"/>
          </a:xfrm>
          <a:prstGeom prst="rect">
            <a:avLst/>
          </a:prstGeom>
          <a:solidFill>
            <a:srgbClr val="6A057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457200" y="363763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1170432" y="3646774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personnes ménage *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65760" y="3866230"/>
            <a:ext cx="4069080" cy="237744"/>
          </a:xfrm>
          <a:prstGeom prst="rect">
            <a:avLst/>
          </a:prstGeom>
          <a:solidFill>
            <a:srgbClr val="EAF7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457200" y="3893662"/>
            <a:ext cx="658368" cy="164592"/>
          </a:xfrm>
          <a:prstGeom prst="rect">
            <a:avLst/>
          </a:prstGeom>
          <a:solidFill>
            <a:srgbClr val="6A057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457200" y="389366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1170432" y="3902806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personnes &gt; 16 ans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65760" y="4122262"/>
            <a:ext cx="40690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457200" y="4149694"/>
            <a:ext cx="658368" cy="16459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457200" y="414969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1170432" y="4158838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du ménage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65760" y="4378294"/>
            <a:ext cx="4069080" cy="237744"/>
          </a:xfrm>
          <a:prstGeom prst="rect">
            <a:avLst/>
          </a:prstGeom>
          <a:solidFill>
            <a:srgbClr val="EAF7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457200" y="4405726"/>
            <a:ext cx="658368" cy="164592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457200" y="440572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geopoint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1170432" y="4414870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 GPS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5760" y="4634326"/>
            <a:ext cx="40690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Shape 62"/>
          <p:cNvSpPr/>
          <p:nvPr/>
        </p:nvSpPr>
        <p:spPr>
          <a:xfrm>
            <a:off x="457200" y="4661758"/>
            <a:ext cx="658368" cy="164592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Text 63"/>
          <p:cNvSpPr/>
          <p:nvPr/>
        </p:nvSpPr>
        <p:spPr>
          <a:xfrm>
            <a:off x="457200" y="466175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select_one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1170432" y="4670902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Sexe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65760" y="4890358"/>
            <a:ext cx="4069080" cy="237744"/>
          </a:xfrm>
          <a:prstGeom prst="rect">
            <a:avLst/>
          </a:prstGeom>
          <a:solidFill>
            <a:srgbClr val="EAF7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8" name="Shape 66"/>
          <p:cNvSpPr/>
          <p:nvPr/>
        </p:nvSpPr>
        <p:spPr>
          <a:xfrm>
            <a:off x="457200" y="4917790"/>
            <a:ext cx="658368" cy="164592"/>
          </a:xfrm>
          <a:prstGeom prst="rect">
            <a:avLst/>
          </a:prstGeom>
          <a:solidFill>
            <a:srgbClr val="6A057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9" name="Text 67"/>
          <p:cNvSpPr/>
          <p:nvPr/>
        </p:nvSpPr>
        <p:spPr>
          <a:xfrm>
            <a:off x="457200" y="491779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1170432" y="4926934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617720" y="2741518"/>
            <a:ext cx="4160520" cy="310896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2" name="Text 70"/>
          <p:cNvSpPr/>
          <p:nvPr/>
        </p:nvSpPr>
        <p:spPr>
          <a:xfrm>
            <a:off x="4709160" y="274151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Caractéristiques socio-démo (7 questions)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617720" y="3098134"/>
            <a:ext cx="41605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4" name="Shape 72"/>
          <p:cNvSpPr/>
          <p:nvPr/>
        </p:nvSpPr>
        <p:spPr>
          <a:xfrm>
            <a:off x="4690872" y="3125566"/>
            <a:ext cx="822960" cy="164592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5" name="Text 73"/>
          <p:cNvSpPr/>
          <p:nvPr/>
        </p:nvSpPr>
        <p:spPr>
          <a:xfrm>
            <a:off x="4690872" y="312556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select_multiple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5577840" y="313471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votre religion ?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617720" y="3354166"/>
            <a:ext cx="4160520" cy="237744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8" name="Shape 76"/>
          <p:cNvSpPr/>
          <p:nvPr/>
        </p:nvSpPr>
        <p:spPr>
          <a:xfrm>
            <a:off x="4690872" y="3381598"/>
            <a:ext cx="822960" cy="164592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9" name="Text 77"/>
          <p:cNvSpPr/>
          <p:nvPr/>
        </p:nvSpPr>
        <p:spPr>
          <a:xfrm>
            <a:off x="4690872" y="338159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select_multiple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5577840" y="339074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votre niveau d'étude ?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617720" y="3610198"/>
            <a:ext cx="41605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2" name="Shape 80"/>
          <p:cNvSpPr/>
          <p:nvPr/>
        </p:nvSpPr>
        <p:spPr>
          <a:xfrm>
            <a:off x="4690872" y="3637630"/>
            <a:ext cx="822960" cy="164592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3" name="Text 81"/>
          <p:cNvSpPr/>
          <p:nvPr/>
        </p:nvSpPr>
        <p:spPr>
          <a:xfrm>
            <a:off x="4690872" y="363763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select_multiple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5577840" y="364677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votre statut matrimonial ?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4617720" y="3866230"/>
            <a:ext cx="4160520" cy="237744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6" name="Shape 84"/>
          <p:cNvSpPr/>
          <p:nvPr/>
        </p:nvSpPr>
        <p:spPr>
          <a:xfrm>
            <a:off x="4690872" y="3893662"/>
            <a:ext cx="822960" cy="164592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7" name="Text 85"/>
          <p:cNvSpPr/>
          <p:nvPr/>
        </p:nvSpPr>
        <p:spPr>
          <a:xfrm>
            <a:off x="4690872" y="389366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select_one</a:t>
            </a:r>
            <a:endParaRPr lang="en-US" sz="650" dirty="0"/>
          </a:p>
        </p:txBody>
      </p:sp>
      <p:sp>
        <p:nvSpPr>
          <p:cNvPr id="88" name="Text 86"/>
          <p:cNvSpPr/>
          <p:nvPr/>
        </p:nvSpPr>
        <p:spPr>
          <a:xfrm>
            <a:off x="5577840" y="390280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Connaissez</a:t>
            </a: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-vous </a:t>
            </a:r>
            <a:r>
              <a:rPr lang="en-US" sz="950" dirty="0" err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l'ONG</a:t>
            </a: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VEZO ?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4617720" y="4122262"/>
            <a:ext cx="41605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0" name="Shape 88"/>
          <p:cNvSpPr/>
          <p:nvPr/>
        </p:nvSpPr>
        <p:spPr>
          <a:xfrm>
            <a:off x="4690872" y="4149694"/>
            <a:ext cx="822960" cy="164592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1" name="Text 89"/>
          <p:cNvSpPr/>
          <p:nvPr/>
        </p:nvSpPr>
        <p:spPr>
          <a:xfrm>
            <a:off x="4690872" y="414969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select_multiple</a:t>
            </a:r>
            <a:endParaRPr lang="en-US" sz="650" dirty="0"/>
          </a:p>
        </p:txBody>
      </p:sp>
      <p:sp>
        <p:nvSpPr>
          <p:cNvPr id="92" name="Text 90"/>
          <p:cNvSpPr/>
          <p:nvPr/>
        </p:nvSpPr>
        <p:spPr>
          <a:xfrm>
            <a:off x="5577840" y="4158838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ONG (DEDRA, ABPF, JAE…)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4617720" y="4378294"/>
            <a:ext cx="4160520" cy="237744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4" name="Shape 92"/>
          <p:cNvSpPr/>
          <p:nvPr/>
        </p:nvSpPr>
        <p:spPr>
          <a:xfrm>
            <a:off x="4690872" y="4405726"/>
            <a:ext cx="822960" cy="164592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5" name="Text 93"/>
          <p:cNvSpPr/>
          <p:nvPr/>
        </p:nvSpPr>
        <p:spPr>
          <a:xfrm>
            <a:off x="4690872" y="440572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select_one</a:t>
            </a:r>
            <a:endParaRPr lang="en-US" sz="650" dirty="0"/>
          </a:p>
        </p:txBody>
      </p:sp>
      <p:sp>
        <p:nvSpPr>
          <p:cNvPr id="96" name="Text 94"/>
          <p:cNvSpPr/>
          <p:nvPr/>
        </p:nvSpPr>
        <p:spPr>
          <a:xfrm>
            <a:off x="5577840" y="441487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Avez-vous été entretenu sur l'éducation ?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4617720" y="4634326"/>
            <a:ext cx="41605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8" name="Shape 96"/>
          <p:cNvSpPr/>
          <p:nvPr/>
        </p:nvSpPr>
        <p:spPr>
          <a:xfrm>
            <a:off x="4690872" y="4661758"/>
            <a:ext cx="822960" cy="164592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9" name="Text 97"/>
          <p:cNvSpPr/>
          <p:nvPr/>
        </p:nvSpPr>
        <p:spPr>
          <a:xfrm>
            <a:off x="4690872" y="466175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select_one</a:t>
            </a:r>
            <a:endParaRPr lang="en-US" sz="650" dirty="0"/>
          </a:p>
        </p:txBody>
      </p:sp>
      <p:sp>
        <p:nvSpPr>
          <p:cNvPr id="100" name="Text 98"/>
          <p:cNvSpPr/>
          <p:nvPr/>
        </p:nvSpPr>
        <p:spPr>
          <a:xfrm>
            <a:off x="5577840" y="467090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des interventions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questions dans ce formulaire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5 types essentiels à maîtriser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850392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80160"/>
            <a:ext cx="64008" cy="603504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11480" y="1353312"/>
            <a:ext cx="1371600" cy="4572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11480" y="13533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01952" y="1444752"/>
            <a:ext cx="1280160" cy="25603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901952" y="1444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XLS: text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310128" y="1426464"/>
            <a:ext cx="960120" cy="274320"/>
          </a:xfrm>
          <a:prstGeom prst="rect">
            <a:avLst/>
          </a:prstGeom>
          <a:solidFill>
            <a:srgbClr val="1565C0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310128" y="14264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07408" y="1389888"/>
            <a:ext cx="4334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agent, Année, Mois, Département, témoignage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1975104"/>
            <a:ext cx="850392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20040" y="1975104"/>
            <a:ext cx="64008" cy="603504"/>
          </a:xfrm>
          <a:prstGeom prst="rect">
            <a:avLst/>
          </a:prstGeom>
          <a:solidFill>
            <a:srgbClr val="6A057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11480" y="2048256"/>
            <a:ext cx="1371600" cy="457200"/>
          </a:xfrm>
          <a:prstGeom prst="rect">
            <a:avLst/>
          </a:prstGeom>
          <a:solidFill>
            <a:srgbClr val="6A057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11480" y="20482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/ decimal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901952" y="2139696"/>
            <a:ext cx="1280160" cy="25603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1901952" y="21396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XLS: integer · decimal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310128" y="2121408"/>
            <a:ext cx="960120" cy="274320"/>
          </a:xfrm>
          <a:prstGeom prst="rect">
            <a:avLst/>
          </a:prstGeom>
          <a:solidFill>
            <a:srgbClr val="6A0572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310128" y="212140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A0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questions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07408" y="2084832"/>
            <a:ext cx="4334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Âge, Nb personnes ménage, Nb &gt;16 ans, Taille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2670048"/>
            <a:ext cx="850392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320040" y="2670048"/>
            <a:ext cx="64008" cy="603504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11480" y="2743200"/>
            <a:ext cx="1371600" cy="45720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11480" y="2743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select_one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901952" y="2834640"/>
            <a:ext cx="1280160" cy="25603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1901952" y="28346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XLS: select_one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310128" y="2816352"/>
            <a:ext cx="960120" cy="274320"/>
          </a:xfrm>
          <a:prstGeom prst="rect">
            <a:avLst/>
          </a:prstGeom>
          <a:solidFill>
            <a:srgbClr val="B71C1C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310128" y="281635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407408" y="2779776"/>
            <a:ext cx="4334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Commune, Sexe, ONG VEZO ?, Satisfaction, Éducation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3364992"/>
            <a:ext cx="850392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320040" y="3364992"/>
            <a:ext cx="64008" cy="603504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411480" y="3438144"/>
            <a:ext cx="1371600" cy="45720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11480" y="34381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select_multiple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901952" y="3529584"/>
            <a:ext cx="1280160" cy="25603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1901952" y="35295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XLS: select_multiple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310128" y="3511296"/>
            <a:ext cx="960120" cy="274320"/>
          </a:xfrm>
          <a:prstGeom prst="rect">
            <a:avLst/>
          </a:prstGeom>
          <a:solidFill>
            <a:srgbClr val="E65100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3310128" y="351129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questions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407408" y="3474720"/>
            <a:ext cx="4334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Religion, Niveau d'étude, Statut matrimonial, Autres ONG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20040" y="4059936"/>
            <a:ext cx="850392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320040" y="4059936"/>
            <a:ext cx="64008" cy="603504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411480" y="4133088"/>
            <a:ext cx="1371600" cy="457200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411480" y="41330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901952" y="4224528"/>
            <a:ext cx="1280160" cy="25603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1901952" y="42245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XLS: date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310128" y="4206240"/>
            <a:ext cx="960120" cy="274320"/>
          </a:xfrm>
          <a:prstGeom prst="rect">
            <a:avLst/>
          </a:prstGeom>
          <a:solidFill>
            <a:srgbClr val="00695C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3310128" y="42062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question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407408" y="4169664"/>
            <a:ext cx="4334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de la collecte (format JJ/MM/AA)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nouveau projet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De la page d'accueil au Formbuilder en 5 clics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850392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02336" y="1371600"/>
            <a:ext cx="438912" cy="438912"/>
          </a:xfrm>
          <a:prstGeom prst="ellipse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02336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426464"/>
            <a:ext cx="310896" cy="31089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89888" y="13533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« + New »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89888" y="1618488"/>
            <a:ext cx="7022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en haut du menu latéral Projects. Choisir « Build from scratch ».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0040" y="1975104"/>
            <a:ext cx="850392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402336" y="2048256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402336" y="2048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103120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389888" y="2029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Nommer le projet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389888" y="2295144"/>
            <a:ext cx="7022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Enquête_VEZO_2024 — sans espace ni accents pour le nom interne.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20040" y="2651760"/>
            <a:ext cx="850392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8"/>
          <p:cNvSpPr/>
          <p:nvPr/>
        </p:nvSpPr>
        <p:spPr>
          <a:xfrm>
            <a:off x="402336" y="2724912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19"/>
          <p:cNvSpPr/>
          <p:nvPr/>
        </p:nvSpPr>
        <p:spPr>
          <a:xfrm>
            <a:off x="402336" y="27249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2779776"/>
            <a:ext cx="310896" cy="31089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389888" y="2706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le secteur et la langue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1389888" y="2971800"/>
            <a:ext cx="7022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: Humanitarian. Langue principale du formulaire : Français.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320040" y="3328416"/>
            <a:ext cx="850392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3"/>
          <p:cNvSpPr/>
          <p:nvPr/>
        </p:nvSpPr>
        <p:spPr>
          <a:xfrm>
            <a:off x="402336" y="3401568"/>
            <a:ext cx="438912" cy="438912"/>
          </a:xfrm>
          <a:prstGeom prst="ellipse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4"/>
          <p:cNvSpPr/>
          <p:nvPr/>
        </p:nvSpPr>
        <p:spPr>
          <a:xfrm>
            <a:off x="402336" y="34015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456432"/>
            <a:ext cx="310896" cy="31089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389888" y="3383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— le Formbuilder s'ouvre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1389888" y="3648456"/>
            <a:ext cx="7022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panneaux : Types de questions (gauche) · Canvas (centre) · Propriétés (droite).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320040" y="4005072"/>
            <a:ext cx="850392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28"/>
          <p:cNvSpPr/>
          <p:nvPr/>
        </p:nvSpPr>
        <p:spPr>
          <a:xfrm>
            <a:off x="402336" y="4078224"/>
            <a:ext cx="438912" cy="438912"/>
          </a:xfrm>
          <a:prstGeom prst="ellipse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29"/>
          <p:cNvSpPr/>
          <p:nvPr/>
        </p:nvSpPr>
        <p:spPr>
          <a:xfrm>
            <a:off x="402336" y="4078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4133088"/>
            <a:ext cx="310896" cy="31089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389888" y="40599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Sauvegarder régulièrement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1389888" y="4325112"/>
            <a:ext cx="7022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 sauvegarde automatiquement, mais cliquez « Save » après chaque section.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Texte (text)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Réponses libres · courtes ou longues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61872"/>
            <a:ext cx="64008" cy="349300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utiliser ?</a:t>
            </a:r>
            <a:endParaRPr lang="en-US" sz="1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64208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77824" y="16459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de l'Agent, Département</a:t>
            </a:r>
            <a:endParaRPr lang="en-US" sz="11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66544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77824" y="20482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Année, Mois (liste ou texte libre)</a:t>
            </a:r>
            <a:endParaRPr lang="en-US" sz="11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6888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7824" y="24505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Témoignage libre sur le rôle de la femme</a:t>
            </a:r>
            <a:endParaRPr lang="en-US" sz="11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7121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77824" y="28529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 unique du ménage</a:t>
            </a:r>
            <a:endParaRPr lang="en-US" sz="11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73552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77824" y="32552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Commentaires et remarques du terrain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548640" y="37490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 clé :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548640" y="40050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 = multiline  → champ texte multi-lignes (témoignages)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548640" y="4334256"/>
            <a:ext cx="4023360" cy="40233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17"/>
          <p:cNvSpPr/>
          <p:nvPr/>
        </p:nvSpPr>
        <p:spPr>
          <a:xfrm>
            <a:off x="603504" y="4352544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XLSForm : type = text  ·  name = nom_agent  ·  required = yes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4754880" y="1261872"/>
            <a:ext cx="4114800" cy="3493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19"/>
          <p:cNvSpPr/>
          <p:nvPr/>
        </p:nvSpPr>
        <p:spPr>
          <a:xfrm>
            <a:off x="4754880" y="1261872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0"/>
          <p:cNvSpPr/>
          <p:nvPr/>
        </p:nvSpPr>
        <p:spPr>
          <a:xfrm>
            <a:off x="4828032" y="12618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— Aperçu dans le formulaire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4864608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de l'Agent  *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864608" y="2048256"/>
            <a:ext cx="3749040" cy="365760"/>
          </a:xfrm>
          <a:prstGeom prst="rect">
            <a:avLst/>
          </a:prstGeom>
          <a:solidFill>
            <a:srgbClr val="EA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3"/>
          <p:cNvSpPr/>
          <p:nvPr/>
        </p:nvSpPr>
        <p:spPr>
          <a:xfrm>
            <a:off x="4864608" y="2414016"/>
            <a:ext cx="374904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4"/>
          <p:cNvSpPr/>
          <p:nvPr/>
        </p:nvSpPr>
        <p:spPr>
          <a:xfrm>
            <a:off x="4937760" y="2084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Saisissez votre réponse…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4864608" y="2578608"/>
            <a:ext cx="3749040" cy="0"/>
          </a:xfrm>
          <a:prstGeom prst="line">
            <a:avLst/>
          </a:prstGeom>
          <a:noFill/>
          <a:ln w="6350">
            <a:solidFill>
              <a:srgbClr val="D0E8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26"/>
          <p:cNvSpPr/>
          <p:nvPr/>
        </p:nvSpPr>
        <p:spPr>
          <a:xfrm>
            <a:off x="4864608" y="268833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Avez-vous un témoignage sur le rôle de la femme dans la société ?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4864608" y="30906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 : multiline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4864608" y="3328416"/>
            <a:ext cx="3749040" cy="768096"/>
          </a:xfrm>
          <a:prstGeom prst="rect">
            <a:avLst/>
          </a:prstGeom>
          <a:solidFill>
            <a:srgbClr val="EAF2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29"/>
          <p:cNvSpPr/>
          <p:nvPr/>
        </p:nvSpPr>
        <p:spPr>
          <a:xfrm>
            <a:off x="4864608" y="4096512"/>
            <a:ext cx="374904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0"/>
          <p:cNvSpPr/>
          <p:nvPr/>
        </p:nvSpPr>
        <p:spPr>
          <a:xfrm>
            <a:off x="4937760" y="3401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Saisissez votre réponse…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Nombre (integer · decimal)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Valeurs numériques entières ou décimales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61872"/>
            <a:ext cx="4187952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65760" y="1261872"/>
            <a:ext cx="64008" cy="3520440"/>
          </a:xfrm>
          <a:prstGeom prst="rect">
            <a:avLst/>
          </a:prstGeom>
          <a:solidFill>
            <a:srgbClr val="6A057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4187952" cy="402336"/>
          </a:xfrm>
          <a:prstGeom prst="rect">
            <a:avLst/>
          </a:prstGeom>
          <a:solidFill>
            <a:srgbClr val="6A057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57200" y="126187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16736" y="12984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Entier (integer)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" y="17739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pour 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20299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· Nb personnes ménage · Nb &gt; 16 ans · Comptages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" y="2340864"/>
            <a:ext cx="3931920" cy="0"/>
          </a:xfrm>
          <a:prstGeom prst="line">
            <a:avLst/>
          </a:prstGeom>
          <a:noFill/>
          <a:ln w="6350">
            <a:solidFill>
              <a:srgbClr val="D0E8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75488" y="24140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 recommandée 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" y="26517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 err="1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</a:t>
            </a:r>
            <a:r>
              <a:rPr lang="en-US" sz="950" i="1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VEZO — âge : . &gt;= 5 and . &lt;= 99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" y="2962656"/>
            <a:ext cx="3931920" cy="0"/>
          </a:xfrm>
          <a:prstGeom prst="line">
            <a:avLst/>
          </a:prstGeom>
          <a:noFill/>
          <a:ln w="6350">
            <a:solidFill>
              <a:srgbClr val="D0E8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75488" y="30358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votre Âge ?  *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" y="3364992"/>
            <a:ext cx="2286000" cy="384048"/>
          </a:xfrm>
          <a:prstGeom prst="rect">
            <a:avLst/>
          </a:prstGeom>
          <a:solidFill>
            <a:srgbClr val="F3E5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75488" y="3749040"/>
            <a:ext cx="2286000" cy="0"/>
          </a:xfrm>
          <a:prstGeom prst="line">
            <a:avLst/>
          </a:prstGeom>
          <a:noFill/>
          <a:ln w="25400">
            <a:solidFill>
              <a:srgbClr val="6A057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48640" y="3401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A0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5488" y="3913632"/>
            <a:ext cx="3931920" cy="51206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30352" y="3931920"/>
            <a:ext cx="3822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XLSForm :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= integer  ·  required = yes  ·  constraint = . &gt;= 0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800600" y="1261872"/>
            <a:ext cx="4187952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800600" y="1261872"/>
            <a:ext cx="64008" cy="3520440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800600" y="1261872"/>
            <a:ext cx="4187952" cy="402336"/>
          </a:xfrm>
          <a:prstGeom prst="rect">
            <a:avLst/>
          </a:prstGeom>
          <a:solidFill>
            <a:srgbClr val="7B1FA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892040" y="126187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51576" y="12984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Décimal (decimal)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910328" y="17739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pour 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10328" y="20299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(cm) · Poids · Surface · Prix · Mesures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910328" y="2340864"/>
            <a:ext cx="3931920" cy="0"/>
          </a:xfrm>
          <a:prstGeom prst="line">
            <a:avLst/>
          </a:prstGeom>
          <a:noFill/>
          <a:ln w="6350">
            <a:solidFill>
              <a:srgbClr val="D0E8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910328" y="24140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 recommandée 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10328" y="26517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 err="1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</a:t>
            </a:r>
            <a:r>
              <a:rPr lang="en-US" sz="950" i="1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VEZO — taille : . &gt; 50 and . &lt; 250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910328" y="2962656"/>
            <a:ext cx="3931920" cy="0"/>
          </a:xfrm>
          <a:prstGeom prst="line">
            <a:avLst/>
          </a:prstGeom>
          <a:noFill/>
          <a:ln w="6350">
            <a:solidFill>
              <a:srgbClr val="D0E8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910328" y="30358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du répondant (cm)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910328" y="3364992"/>
            <a:ext cx="2286000" cy="384048"/>
          </a:xfrm>
          <a:prstGeom prst="rect">
            <a:avLst/>
          </a:prstGeom>
          <a:solidFill>
            <a:srgbClr val="F3E5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4910328" y="3749040"/>
            <a:ext cx="2286000" cy="0"/>
          </a:xfrm>
          <a:prstGeom prst="line">
            <a:avLst/>
          </a:prstGeom>
          <a:noFill/>
          <a:ln w="254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983480" y="3401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165.5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910328" y="3913632"/>
            <a:ext cx="3931920" cy="51206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4965192" y="3931920"/>
            <a:ext cx="3822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XLSForm :</a:t>
            </a:r>
            <a:endParaRPr lang="en-US" sz="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= decimal  ·  required = yes  ·  constraint = . &gt;= 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Choix unique (select_one)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Une seule réponse parmi une liste prédéfinie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61872"/>
            <a:ext cx="64008" cy="3493008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utiliser ?</a:t>
            </a:r>
            <a:endParaRPr lang="en-US" sz="1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64208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96112" y="164592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Commune de résidence (Dassa-Zoumé, Glazoué, Savalou, Bantè, Savè, Ouèssè)</a:t>
            </a:r>
            <a:endParaRPr lang="en-US" sz="10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9456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96112" y="217627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Sexe du répondant (Masculin / Féminin)</a:t>
            </a:r>
            <a:endParaRPr lang="en-US" sz="10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2491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96112" y="270662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 err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Connaissez</a:t>
            </a: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-vous </a:t>
            </a:r>
            <a:r>
              <a:rPr lang="en-US" sz="1050" dirty="0" err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l'ONG</a:t>
            </a: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VEZO ? (Oui / Non)</a:t>
            </a:r>
            <a:endParaRPr lang="en-US" sz="10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55264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96112" y="323697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des interventions (Très / Plutôt / Peu / Pas du tout satisfait)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548640" y="3913632"/>
            <a:ext cx="4023360" cy="51206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4"/>
          <p:cNvSpPr/>
          <p:nvPr/>
        </p:nvSpPr>
        <p:spPr>
          <a:xfrm>
            <a:off x="603504" y="3931920"/>
            <a:ext cx="3913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XLSForm :</a:t>
            </a:r>
            <a:endParaRPr lang="en-US" sz="80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= select_one list_commune</a:t>
            </a:r>
            <a:endParaRPr lang="en-US" sz="80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= commune   required = yes   label = Commune de résidence</a:t>
            </a:r>
            <a:endParaRPr lang="en-US" sz="800" dirty="0"/>
          </a:p>
        </p:txBody>
      </p:sp>
      <p:sp>
        <p:nvSpPr>
          <p:cNvPr id="21" name="Shape 15"/>
          <p:cNvSpPr/>
          <p:nvPr/>
        </p:nvSpPr>
        <p:spPr>
          <a:xfrm>
            <a:off x="4754880" y="1261872"/>
            <a:ext cx="4114800" cy="3493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6"/>
          <p:cNvSpPr/>
          <p:nvPr/>
        </p:nvSpPr>
        <p:spPr>
          <a:xfrm>
            <a:off x="4754880" y="1261872"/>
            <a:ext cx="4114800" cy="384048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17"/>
          <p:cNvSpPr/>
          <p:nvPr/>
        </p:nvSpPr>
        <p:spPr>
          <a:xfrm>
            <a:off x="4828032" y="12618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select_one — Commune de résidence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4864608" y="1755648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votre Commune de résidence ?  *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864608" y="2157984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Liée au département sélectionné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4864608" y="248716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1"/>
          <p:cNvSpPr/>
          <p:nvPr/>
        </p:nvSpPr>
        <p:spPr>
          <a:xfrm>
            <a:off x="5138928" y="2450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Dassa-Zoumé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864608" y="2825496"/>
            <a:ext cx="201168" cy="201168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3"/>
          <p:cNvSpPr/>
          <p:nvPr/>
        </p:nvSpPr>
        <p:spPr>
          <a:xfrm>
            <a:off x="5138928" y="2788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Glazoué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864608" y="3163824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5"/>
          <p:cNvSpPr/>
          <p:nvPr/>
        </p:nvSpPr>
        <p:spPr>
          <a:xfrm>
            <a:off x="5138928" y="31272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Savalou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864608" y="350215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27"/>
          <p:cNvSpPr/>
          <p:nvPr/>
        </p:nvSpPr>
        <p:spPr>
          <a:xfrm>
            <a:off x="5138928" y="34655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Bantè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4864608" y="384048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29"/>
          <p:cNvSpPr/>
          <p:nvPr/>
        </p:nvSpPr>
        <p:spPr>
          <a:xfrm>
            <a:off x="5138928" y="38039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Savè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4864608" y="417880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1"/>
          <p:cNvSpPr/>
          <p:nvPr/>
        </p:nvSpPr>
        <p:spPr>
          <a:xfrm>
            <a:off x="5138928" y="41422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Ouèssè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Choix multiple (select_multiple)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Plusieurs réponses possibles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61872"/>
            <a:ext cx="64008" cy="3493008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utiliser ?</a:t>
            </a:r>
            <a:endParaRPr lang="en-US" sz="1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64208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96112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 (Chrétienne, Musulmane, Animiste et autres)</a:t>
            </a:r>
            <a:endParaRPr lang="en-US" sz="10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7627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96112" y="215798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d'étude (Non scolarisé, Primaire, Secondaire, Universitaire)</a:t>
            </a:r>
            <a:endParaRPr lang="en-US" sz="10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8833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96112" y="26700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matrimonial (Célibataire, Mariée, Concubinage, Divorcé, Veuve/Veuf)</a:t>
            </a:r>
            <a:endParaRPr lang="en-US" sz="10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0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96112" y="31821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ONG </a:t>
            </a:r>
            <a:r>
              <a:rPr lang="en-US" sz="1050" dirty="0" err="1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connues</a:t>
            </a: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(DEDRA, ABPF, JAE, PLAN BENIN, AUTRE)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548640" y="3767328"/>
            <a:ext cx="4023360" cy="658368"/>
          </a:xfrm>
          <a:prstGeom prst="rect">
            <a:avLst/>
          </a:prstGeom>
          <a:solidFill>
            <a:srgbClr val="FFF8F0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4"/>
          <p:cNvSpPr/>
          <p:nvPr/>
        </p:nvSpPr>
        <p:spPr>
          <a:xfrm>
            <a:off x="548640" y="3767328"/>
            <a:ext cx="64008" cy="658368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5"/>
          <p:cNvSpPr/>
          <p:nvPr/>
        </p:nvSpPr>
        <p:spPr>
          <a:xfrm>
            <a:off x="676656" y="38039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Différence clé :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676656" y="40233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select_one = boutons radio (1 seul choix) · select_multiple = cases à cocher (1 ou N choix)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754880" y="1261872"/>
            <a:ext cx="4114800" cy="3493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18"/>
          <p:cNvSpPr/>
          <p:nvPr/>
        </p:nvSpPr>
        <p:spPr>
          <a:xfrm>
            <a:off x="4754880" y="1261872"/>
            <a:ext cx="4114800" cy="384048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19"/>
          <p:cNvSpPr/>
          <p:nvPr/>
        </p:nvSpPr>
        <p:spPr>
          <a:xfrm>
            <a:off x="4828032" y="12618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select_multiple — Religion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864608" y="173736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votre religion ?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864608" y="2011680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(Plusieurs réponses possibles)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864608" y="2331720"/>
            <a:ext cx="201168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3"/>
          <p:cNvSpPr/>
          <p:nvPr/>
        </p:nvSpPr>
        <p:spPr>
          <a:xfrm>
            <a:off x="4864608" y="23225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138928" y="23042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Chrétienne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4864608" y="2679192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6"/>
          <p:cNvSpPr/>
          <p:nvPr/>
        </p:nvSpPr>
        <p:spPr>
          <a:xfrm>
            <a:off x="5138928" y="2651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Musulmane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4864608" y="3026664"/>
            <a:ext cx="201168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28"/>
          <p:cNvSpPr/>
          <p:nvPr/>
        </p:nvSpPr>
        <p:spPr>
          <a:xfrm>
            <a:off x="4864608" y="301752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5138928" y="29992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Animiste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4864608" y="3374136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1"/>
          <p:cNvSpPr/>
          <p:nvPr/>
        </p:nvSpPr>
        <p:spPr>
          <a:xfrm>
            <a:off x="5138928" y="33467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4864608" y="3749040"/>
            <a:ext cx="3749040" cy="47548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3"/>
          <p:cNvSpPr/>
          <p:nvPr/>
        </p:nvSpPr>
        <p:spPr>
          <a:xfrm>
            <a:off x="4919472" y="3767328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XLSForm :</a:t>
            </a:r>
            <a:endParaRPr lang="en-US" sz="80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= select_multiple list_religion  ·  name = religion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Date (date)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Calendrier natif sur tous les appareils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61872"/>
            <a:ext cx="64008" cy="3493008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utiliser ?</a:t>
            </a:r>
            <a:endParaRPr lang="en-US" sz="1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82496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96112" y="16642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collecte (JJ/MM/AA) — le Jour dans VEZO</a:t>
            </a:r>
            <a:endParaRPr lang="en-US" sz="11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3969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96112" y="21214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naissance du répondant</a:t>
            </a:r>
            <a:endParaRPr lang="en-US" sz="11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9689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96112" y="25786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d'un événement déclaré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548640" y="30723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disponibles :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3401568"/>
            <a:ext cx="402336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4"/>
          <p:cNvSpPr/>
          <p:nvPr/>
        </p:nvSpPr>
        <p:spPr>
          <a:xfrm>
            <a:off x="548640" y="3401568"/>
            <a:ext cx="45720" cy="246888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5"/>
          <p:cNvSpPr/>
          <p:nvPr/>
        </p:nvSpPr>
        <p:spPr>
          <a:xfrm>
            <a:off x="658368" y="343814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2450592" y="343814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visuel (défaut)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48640" y="3675888"/>
            <a:ext cx="4023360" cy="246888"/>
          </a:xfrm>
          <a:prstGeom prst="rect">
            <a:avLst/>
          </a:prstGeom>
          <a:solidFill>
            <a:srgbClr val="EAF4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18"/>
          <p:cNvSpPr/>
          <p:nvPr/>
        </p:nvSpPr>
        <p:spPr>
          <a:xfrm>
            <a:off x="548640" y="3675888"/>
            <a:ext cx="45720" cy="246888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19"/>
          <p:cNvSpPr/>
          <p:nvPr/>
        </p:nvSpPr>
        <p:spPr>
          <a:xfrm>
            <a:off x="658368" y="371246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no-calendar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2450592" y="371246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manuelle (terrain sans écran)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548640" y="3950208"/>
            <a:ext cx="402336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2"/>
          <p:cNvSpPr/>
          <p:nvPr/>
        </p:nvSpPr>
        <p:spPr>
          <a:xfrm>
            <a:off x="548640" y="3950208"/>
            <a:ext cx="45720" cy="246888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3"/>
          <p:cNvSpPr/>
          <p:nvPr/>
        </p:nvSpPr>
        <p:spPr>
          <a:xfrm>
            <a:off x="658368" y="398678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year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2450592" y="398678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seulement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548640" y="4224528"/>
            <a:ext cx="4023360" cy="246888"/>
          </a:xfrm>
          <a:prstGeom prst="rect">
            <a:avLst/>
          </a:prstGeom>
          <a:solidFill>
            <a:srgbClr val="EAF4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6"/>
          <p:cNvSpPr/>
          <p:nvPr/>
        </p:nvSpPr>
        <p:spPr>
          <a:xfrm>
            <a:off x="548640" y="4224528"/>
            <a:ext cx="45720" cy="246888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27"/>
          <p:cNvSpPr/>
          <p:nvPr/>
        </p:nvSpPr>
        <p:spPr>
          <a:xfrm>
            <a:off x="658368" y="426110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month-year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2450592" y="426110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+ Année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548640" y="4517136"/>
            <a:ext cx="4023360" cy="3657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0"/>
          <p:cNvSpPr/>
          <p:nvPr/>
        </p:nvSpPr>
        <p:spPr>
          <a:xfrm>
            <a:off x="603504" y="4535424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XLSForm : type = date  ·  name = date_collecte  ·  required = yes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4754880" y="1261872"/>
            <a:ext cx="4114800" cy="3493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Shape 32"/>
          <p:cNvSpPr/>
          <p:nvPr/>
        </p:nvSpPr>
        <p:spPr>
          <a:xfrm>
            <a:off x="4754880" y="1261872"/>
            <a:ext cx="4114800" cy="384048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3"/>
          <p:cNvSpPr/>
          <p:nvPr/>
        </p:nvSpPr>
        <p:spPr>
          <a:xfrm>
            <a:off x="4828032" y="12618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— Aperçu — Date de collecte</a:t>
            </a:r>
            <a:endParaRPr lang="en-US" sz="950" dirty="0"/>
          </a:p>
        </p:txBody>
      </p:sp>
      <p:sp>
        <p:nvSpPr>
          <p:cNvPr id="39" name="Text 34"/>
          <p:cNvSpPr/>
          <p:nvPr/>
        </p:nvSpPr>
        <p:spPr>
          <a:xfrm>
            <a:off x="4864608" y="175564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: Date de collecte (JJ/MM/AA)  *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4864608" y="2176272"/>
            <a:ext cx="3749040" cy="2377440"/>
          </a:xfrm>
          <a:prstGeom prst="rect">
            <a:avLst/>
          </a:prstGeom>
          <a:solidFill>
            <a:srgbClr val="F0FB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6"/>
          <p:cNvSpPr/>
          <p:nvPr/>
        </p:nvSpPr>
        <p:spPr>
          <a:xfrm>
            <a:off x="4864608" y="2176272"/>
            <a:ext cx="3749040" cy="329184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37"/>
          <p:cNvSpPr/>
          <p:nvPr/>
        </p:nvSpPr>
        <p:spPr>
          <a:xfrm>
            <a:off x="4864608" y="21762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 Octobre 2024   ▶</a:t>
            </a:r>
            <a:endParaRPr lang="en-US" sz="1100" dirty="0"/>
          </a:p>
        </p:txBody>
      </p:sp>
      <p:sp>
        <p:nvSpPr>
          <p:cNvPr id="43" name="Text 38"/>
          <p:cNvSpPr/>
          <p:nvPr/>
        </p:nvSpPr>
        <p:spPr>
          <a:xfrm>
            <a:off x="4901184" y="25420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5413248" y="25420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850" dirty="0"/>
          </a:p>
        </p:txBody>
      </p:sp>
      <p:sp>
        <p:nvSpPr>
          <p:cNvPr id="45" name="Text 40"/>
          <p:cNvSpPr/>
          <p:nvPr/>
        </p:nvSpPr>
        <p:spPr>
          <a:xfrm>
            <a:off x="5925312" y="25420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</a:t>
            </a:r>
            <a:endParaRPr lang="en-US" sz="850" dirty="0"/>
          </a:p>
        </p:txBody>
      </p:sp>
      <p:sp>
        <p:nvSpPr>
          <p:cNvPr id="46" name="Text 41"/>
          <p:cNvSpPr/>
          <p:nvPr/>
        </p:nvSpPr>
        <p:spPr>
          <a:xfrm>
            <a:off x="6437376" y="25420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</a:t>
            </a:r>
            <a:endParaRPr lang="en-US" sz="850" dirty="0"/>
          </a:p>
        </p:txBody>
      </p:sp>
      <p:sp>
        <p:nvSpPr>
          <p:cNvPr id="47" name="Text 42"/>
          <p:cNvSpPr/>
          <p:nvPr/>
        </p:nvSpPr>
        <p:spPr>
          <a:xfrm>
            <a:off x="6949440" y="25420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</a:t>
            </a:r>
            <a:endParaRPr lang="en-US" sz="850" dirty="0"/>
          </a:p>
        </p:txBody>
      </p:sp>
      <p:sp>
        <p:nvSpPr>
          <p:cNvPr id="48" name="Text 43"/>
          <p:cNvSpPr/>
          <p:nvPr/>
        </p:nvSpPr>
        <p:spPr>
          <a:xfrm>
            <a:off x="7461504" y="25420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850" dirty="0"/>
          </a:p>
        </p:txBody>
      </p:sp>
      <p:sp>
        <p:nvSpPr>
          <p:cNvPr id="49" name="Text 44"/>
          <p:cNvSpPr/>
          <p:nvPr/>
        </p:nvSpPr>
        <p:spPr>
          <a:xfrm>
            <a:off x="7973568" y="25420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</a:t>
            </a:r>
            <a:endParaRPr lang="en-US" sz="850" dirty="0"/>
          </a:p>
        </p:txBody>
      </p:sp>
      <p:sp>
        <p:nvSpPr>
          <p:cNvPr id="50" name="Text 45"/>
          <p:cNvSpPr/>
          <p:nvPr/>
        </p:nvSpPr>
        <p:spPr>
          <a:xfrm>
            <a:off x="5431536" y="283464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1" name="Text 46"/>
          <p:cNvSpPr/>
          <p:nvPr/>
        </p:nvSpPr>
        <p:spPr>
          <a:xfrm>
            <a:off x="5943600" y="283464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2" name="Text 47"/>
          <p:cNvSpPr/>
          <p:nvPr/>
        </p:nvSpPr>
        <p:spPr>
          <a:xfrm>
            <a:off x="6455664" y="283464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3" name="Text 48"/>
          <p:cNvSpPr/>
          <p:nvPr/>
        </p:nvSpPr>
        <p:spPr>
          <a:xfrm>
            <a:off x="6967728" y="283464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4" name="Text 49"/>
          <p:cNvSpPr/>
          <p:nvPr/>
        </p:nvSpPr>
        <p:spPr>
          <a:xfrm>
            <a:off x="7479792" y="283464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5" name="Text 50"/>
          <p:cNvSpPr/>
          <p:nvPr/>
        </p:nvSpPr>
        <p:spPr>
          <a:xfrm>
            <a:off x="7991856" y="283464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6" name="Text 51"/>
          <p:cNvSpPr/>
          <p:nvPr/>
        </p:nvSpPr>
        <p:spPr>
          <a:xfrm>
            <a:off x="4919472" y="327355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2"/>
          <p:cNvSpPr/>
          <p:nvPr/>
        </p:nvSpPr>
        <p:spPr>
          <a:xfrm>
            <a:off x="5431536" y="327355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8" name="Text 53"/>
          <p:cNvSpPr/>
          <p:nvPr/>
        </p:nvSpPr>
        <p:spPr>
          <a:xfrm>
            <a:off x="5943600" y="327355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9" name="Text 54"/>
          <p:cNvSpPr/>
          <p:nvPr/>
        </p:nvSpPr>
        <p:spPr>
          <a:xfrm>
            <a:off x="6455664" y="327355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0" name="Text 55"/>
          <p:cNvSpPr/>
          <p:nvPr/>
        </p:nvSpPr>
        <p:spPr>
          <a:xfrm>
            <a:off x="6967728" y="327355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1" name="Text 56"/>
          <p:cNvSpPr/>
          <p:nvPr/>
        </p:nvSpPr>
        <p:spPr>
          <a:xfrm>
            <a:off x="7479792" y="327355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2" name="Text 57"/>
          <p:cNvSpPr/>
          <p:nvPr/>
        </p:nvSpPr>
        <p:spPr>
          <a:xfrm>
            <a:off x="7991856" y="327355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3" name="Text 58"/>
          <p:cNvSpPr/>
          <p:nvPr/>
        </p:nvSpPr>
        <p:spPr>
          <a:xfrm>
            <a:off x="4919472" y="371246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431536" y="3675888"/>
            <a:ext cx="329184" cy="329184"/>
          </a:xfrm>
          <a:prstGeom prst="ellipse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Text 60"/>
          <p:cNvSpPr/>
          <p:nvPr/>
        </p:nvSpPr>
        <p:spPr>
          <a:xfrm>
            <a:off x="5431536" y="371246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6" name="Text 61"/>
          <p:cNvSpPr/>
          <p:nvPr/>
        </p:nvSpPr>
        <p:spPr>
          <a:xfrm>
            <a:off x="5943600" y="371246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7" name="Text 62"/>
          <p:cNvSpPr/>
          <p:nvPr/>
        </p:nvSpPr>
        <p:spPr>
          <a:xfrm>
            <a:off x="6455664" y="371246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8" name="Text 63"/>
          <p:cNvSpPr/>
          <p:nvPr/>
        </p:nvSpPr>
        <p:spPr>
          <a:xfrm>
            <a:off x="6967728" y="371246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9" name="Text 64"/>
          <p:cNvSpPr/>
          <p:nvPr/>
        </p:nvSpPr>
        <p:spPr>
          <a:xfrm>
            <a:off x="7479792" y="371246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0" name="Text 65"/>
          <p:cNvSpPr/>
          <p:nvPr/>
        </p:nvSpPr>
        <p:spPr>
          <a:xfrm>
            <a:off x="7991856" y="371246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Organiser le formulaire en sections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Groups = blocs logiques de questions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section (« Group » dans Kobo) = un bloc de questions liées. Elle s'affiche comme un en-tête coloré dans le formulaire.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691640"/>
            <a:ext cx="8412480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1691640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 (questions isolées, non groupées)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057400"/>
            <a:ext cx="1217981" cy="237744"/>
          </a:xfrm>
          <a:prstGeom prst="rect">
            <a:avLst/>
          </a:prstGeom>
          <a:solidFill>
            <a:srgbClr val="0F3460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02336" y="2084832"/>
            <a:ext cx="11448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(text)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675181" y="2057400"/>
            <a:ext cx="1139342" cy="237744"/>
          </a:xfrm>
          <a:prstGeom prst="rect">
            <a:avLst/>
          </a:prstGeom>
          <a:solidFill>
            <a:srgbClr val="0F3460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711757" y="2084832"/>
            <a:ext cx="10661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(text)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905963" y="2057400"/>
            <a:ext cx="1139342" cy="237744"/>
          </a:xfrm>
          <a:prstGeom prst="rect">
            <a:avLst/>
          </a:prstGeom>
          <a:solidFill>
            <a:srgbClr val="0F3460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942539" y="2084832"/>
            <a:ext cx="10661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(date)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36746" y="2057400"/>
            <a:ext cx="1532534" cy="237744"/>
          </a:xfrm>
          <a:prstGeom prst="rect">
            <a:avLst/>
          </a:prstGeom>
          <a:solidFill>
            <a:srgbClr val="0F3460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173322" y="2084832"/>
            <a:ext cx="14593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Agent (text)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760720" y="2057400"/>
            <a:ext cx="1689811" cy="237744"/>
          </a:xfrm>
          <a:prstGeom prst="rect">
            <a:avLst/>
          </a:prstGeom>
          <a:solidFill>
            <a:srgbClr val="0F3460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797296" y="2084832"/>
            <a:ext cx="16166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Département (text)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" y="238658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 groupe Kobo — ils précèdent les sections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65760" y="2542032"/>
            <a:ext cx="8412480" cy="310896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57200" y="2542032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: Localisation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907792"/>
            <a:ext cx="1847088" cy="237744"/>
          </a:xfrm>
          <a:prstGeom prst="rect">
            <a:avLst/>
          </a:prstGeom>
          <a:solidFill>
            <a:srgbClr val="0B6E4F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02336" y="2935224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Commune (select_one)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304288" y="2907792"/>
            <a:ext cx="1296619" cy="237744"/>
          </a:xfrm>
          <a:prstGeom prst="rect">
            <a:avLst/>
          </a:prstGeom>
          <a:solidFill>
            <a:srgbClr val="0B6E4F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2340864" y="2935224"/>
            <a:ext cx="12234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(integer)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92347" y="2907792"/>
            <a:ext cx="1768450" cy="237744"/>
          </a:xfrm>
          <a:prstGeom prst="rect">
            <a:avLst/>
          </a:prstGeom>
          <a:solidFill>
            <a:srgbClr val="0B6E4F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728923" y="2935224"/>
            <a:ext cx="169529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ménage (integer)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552237" y="2907792"/>
            <a:ext cx="1532534" cy="237744"/>
          </a:xfrm>
          <a:prstGeom prst="rect">
            <a:avLst/>
          </a:prstGeom>
          <a:solidFill>
            <a:srgbClr val="0B6E4F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588813" y="2935224"/>
            <a:ext cx="14593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&gt;16 (integer)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176211" y="2907792"/>
            <a:ext cx="1296619" cy="237744"/>
          </a:xfrm>
          <a:prstGeom prst="rect">
            <a:avLst/>
          </a:prstGeom>
          <a:solidFill>
            <a:srgbClr val="0B6E4F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7212787" y="2935224"/>
            <a:ext cx="12234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(image)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" y="3209544"/>
            <a:ext cx="1375258" cy="237744"/>
          </a:xfrm>
          <a:prstGeom prst="rect">
            <a:avLst/>
          </a:prstGeom>
          <a:solidFill>
            <a:srgbClr val="0B6E4F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02336" y="3236976"/>
            <a:ext cx="130210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(geopoint)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832458" y="3209544"/>
            <a:ext cx="1611173" cy="237744"/>
          </a:xfrm>
          <a:prstGeom prst="rect">
            <a:avLst/>
          </a:prstGeom>
          <a:solidFill>
            <a:srgbClr val="0B6E4F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1869034" y="3236976"/>
            <a:ext cx="15380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Sexe (select_one)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535070" y="3209544"/>
            <a:ext cx="1532534" cy="237744"/>
          </a:xfrm>
          <a:prstGeom prst="rect">
            <a:avLst/>
          </a:prstGeom>
          <a:solidFill>
            <a:srgbClr val="0B6E4F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3571646" y="3236976"/>
            <a:ext cx="14593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(decimal)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65760" y="323697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name : localisation  ·  appearance : field-list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65760" y="3493008"/>
            <a:ext cx="8412480" cy="310896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457200" y="3493008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: Caractéristiques socio-démographiques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3858768"/>
            <a:ext cx="2318918" cy="237744"/>
          </a:xfrm>
          <a:prstGeom prst="rect">
            <a:avLst/>
          </a:prstGeom>
          <a:solidFill>
            <a:srgbClr val="E67E22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402336" y="3886200"/>
            <a:ext cx="22457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 (select_multiple)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776118" y="3858768"/>
            <a:ext cx="2468880" cy="237744"/>
          </a:xfrm>
          <a:prstGeom prst="rect">
            <a:avLst/>
          </a:prstGeom>
          <a:solidFill>
            <a:srgbClr val="E67E22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2812694" y="3886200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d'étude (select_multiple)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336438" y="3858768"/>
            <a:ext cx="2468880" cy="237744"/>
          </a:xfrm>
          <a:prstGeom prst="rect">
            <a:avLst/>
          </a:prstGeom>
          <a:solidFill>
            <a:srgbClr val="E67E22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5373014" y="3886200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matrimonial (select_multiple)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65760" y="4160520"/>
            <a:ext cx="2318918" cy="237744"/>
          </a:xfrm>
          <a:prstGeom prst="rect">
            <a:avLst/>
          </a:prstGeom>
          <a:solidFill>
            <a:srgbClr val="E67E22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402336" y="4187952"/>
            <a:ext cx="22457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 VEZO ? (select_one)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776118" y="4160520"/>
            <a:ext cx="2468880" cy="237744"/>
          </a:xfrm>
          <a:prstGeom prst="rect">
            <a:avLst/>
          </a:prstGeom>
          <a:solidFill>
            <a:srgbClr val="E67E22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2812694" y="4187952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ONG (select_multiple)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336438" y="4160520"/>
            <a:ext cx="2468880" cy="237744"/>
          </a:xfrm>
          <a:prstGeom prst="rect">
            <a:avLst/>
          </a:prstGeom>
          <a:solidFill>
            <a:srgbClr val="E67E22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5373014" y="4187952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Éducation enfants (select_one)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65760" y="4462272"/>
            <a:ext cx="2240280" cy="237744"/>
          </a:xfrm>
          <a:prstGeom prst="rect">
            <a:avLst/>
          </a:prstGeom>
          <a:solidFill>
            <a:srgbClr val="E67E22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402336" y="4489704"/>
            <a:ext cx="2167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(select_one)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697480" y="4462272"/>
            <a:ext cx="1611173" cy="237744"/>
          </a:xfrm>
          <a:prstGeom prst="rect">
            <a:avLst/>
          </a:prstGeom>
          <a:solidFill>
            <a:srgbClr val="E67E22">
              <a:alpha val="2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2734056" y="4489704"/>
            <a:ext cx="15380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Témoignage (text)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65760" y="418795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name : socio_demo  ·  appearance : field-list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section — pas à pas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Exemple : section Localisation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649224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02336" y="1371600"/>
            <a:ext cx="438912" cy="438912"/>
          </a:xfrm>
          <a:prstGeom prst="ellipse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02336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426464"/>
            <a:ext cx="310896" cy="31089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89888" y="1353312"/>
            <a:ext cx="5340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"+ Section" dans le panneau gauche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389888" y="1627632"/>
            <a:ext cx="5340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bloc coloré vide apparaît sur le canvas avec un label à remplir.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0040" y="1975104"/>
            <a:ext cx="649224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402336" y="2048256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402336" y="2048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2103120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389888" y="2029968"/>
            <a:ext cx="5340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Nommer : label = « Localisation »  ·  name = localisation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389888" y="2304288"/>
            <a:ext cx="5340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nom interne ne doit pas contenir d'espace, de tiret ou d'accent.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20040" y="2651760"/>
            <a:ext cx="649224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8"/>
          <p:cNvSpPr/>
          <p:nvPr/>
        </p:nvSpPr>
        <p:spPr>
          <a:xfrm>
            <a:off x="402336" y="2724912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19"/>
          <p:cNvSpPr/>
          <p:nvPr/>
        </p:nvSpPr>
        <p:spPr>
          <a:xfrm>
            <a:off x="402336" y="27249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2779776"/>
            <a:ext cx="310896" cy="31089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389888" y="2706624"/>
            <a:ext cx="5340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Glisser les questions dans la section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389888" y="2980944"/>
            <a:ext cx="5340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questions deviennent enfants du groupe — elles s'affichent en retrait.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320040" y="3328416"/>
            <a:ext cx="649224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3"/>
          <p:cNvSpPr/>
          <p:nvPr/>
        </p:nvSpPr>
        <p:spPr>
          <a:xfrm>
            <a:off x="402336" y="3401568"/>
            <a:ext cx="438912" cy="438912"/>
          </a:xfrm>
          <a:prstGeom prst="ellipse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4"/>
          <p:cNvSpPr/>
          <p:nvPr/>
        </p:nvSpPr>
        <p:spPr>
          <a:xfrm>
            <a:off x="402336" y="34015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3456432"/>
            <a:ext cx="310896" cy="31089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389888" y="3383280"/>
            <a:ext cx="5340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Apparence : saisir « field-list »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1389888" y="3657600"/>
            <a:ext cx="5340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questions de la section s'affichent sur un seul écran mobile.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320040" y="4005072"/>
            <a:ext cx="649224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28"/>
          <p:cNvSpPr/>
          <p:nvPr/>
        </p:nvSpPr>
        <p:spPr>
          <a:xfrm>
            <a:off x="402336" y="4078224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29"/>
          <p:cNvSpPr/>
          <p:nvPr/>
        </p:nvSpPr>
        <p:spPr>
          <a:xfrm>
            <a:off x="402336" y="4078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" y="4133088"/>
            <a:ext cx="310896" cy="31089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389888" y="4059936"/>
            <a:ext cx="5340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Répéter pour les 2 autres sections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1389888" y="4334256"/>
            <a:ext cx="5340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Caractéristiques socio-démographiques · Perception sur la scolarisation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6949440" y="1298448"/>
            <a:ext cx="1965960" cy="34015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3"/>
          <p:cNvSpPr/>
          <p:nvPr/>
        </p:nvSpPr>
        <p:spPr>
          <a:xfrm>
            <a:off x="7004304" y="1353312"/>
            <a:ext cx="1847088" cy="310896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4"/>
          <p:cNvSpPr/>
          <p:nvPr/>
        </p:nvSpPr>
        <p:spPr>
          <a:xfrm>
            <a:off x="7095744" y="13533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7004304" y="1737360"/>
            <a:ext cx="1847088" cy="402336"/>
          </a:xfrm>
          <a:prstGeom prst="rect">
            <a:avLst/>
          </a:prstGeom>
          <a:solidFill>
            <a:srgbClr val="F0FB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36"/>
          <p:cNvSpPr/>
          <p:nvPr/>
        </p:nvSpPr>
        <p:spPr>
          <a:xfrm>
            <a:off x="7004304" y="1737360"/>
            <a:ext cx="45720" cy="402336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Shape 37"/>
          <p:cNvSpPr/>
          <p:nvPr/>
        </p:nvSpPr>
        <p:spPr>
          <a:xfrm>
            <a:off x="7077456" y="1792224"/>
            <a:ext cx="658368" cy="18288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38"/>
          <p:cNvSpPr/>
          <p:nvPr/>
        </p:nvSpPr>
        <p:spPr>
          <a:xfrm>
            <a:off x="7077456" y="179222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select_one</a:t>
            </a:r>
            <a:endParaRPr lang="en-US" sz="700" dirty="0"/>
          </a:p>
        </p:txBody>
      </p:sp>
      <p:sp>
        <p:nvSpPr>
          <p:cNvPr id="46" name="Text 39"/>
          <p:cNvSpPr/>
          <p:nvPr/>
        </p:nvSpPr>
        <p:spPr>
          <a:xfrm>
            <a:off x="7790688" y="182880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Commune *</a:t>
            </a:r>
            <a:endParaRPr lang="en-US" sz="900" dirty="0"/>
          </a:p>
        </p:txBody>
      </p:sp>
      <p:sp>
        <p:nvSpPr>
          <p:cNvPr id="47" name="Shape 40"/>
          <p:cNvSpPr/>
          <p:nvPr/>
        </p:nvSpPr>
        <p:spPr>
          <a:xfrm>
            <a:off x="7004304" y="2212848"/>
            <a:ext cx="1847088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Shape 41"/>
          <p:cNvSpPr/>
          <p:nvPr/>
        </p:nvSpPr>
        <p:spPr>
          <a:xfrm>
            <a:off x="7004304" y="2212848"/>
            <a:ext cx="45720" cy="402336"/>
          </a:xfrm>
          <a:prstGeom prst="rect">
            <a:avLst/>
          </a:prstGeom>
          <a:solidFill>
            <a:srgbClr val="6A057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Shape 42"/>
          <p:cNvSpPr/>
          <p:nvPr/>
        </p:nvSpPr>
        <p:spPr>
          <a:xfrm>
            <a:off x="7077456" y="2267712"/>
            <a:ext cx="658368" cy="182880"/>
          </a:xfrm>
          <a:prstGeom prst="rect">
            <a:avLst/>
          </a:prstGeom>
          <a:solidFill>
            <a:srgbClr val="6A057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3"/>
          <p:cNvSpPr/>
          <p:nvPr/>
        </p:nvSpPr>
        <p:spPr>
          <a:xfrm>
            <a:off x="7077456" y="226771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700" dirty="0"/>
          </a:p>
        </p:txBody>
      </p:sp>
      <p:sp>
        <p:nvSpPr>
          <p:cNvPr id="51" name="Text 44"/>
          <p:cNvSpPr/>
          <p:nvPr/>
        </p:nvSpPr>
        <p:spPr>
          <a:xfrm>
            <a:off x="7790688" y="230428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*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7004304" y="2688336"/>
            <a:ext cx="1847088" cy="402336"/>
          </a:xfrm>
          <a:prstGeom prst="rect">
            <a:avLst/>
          </a:prstGeom>
          <a:solidFill>
            <a:srgbClr val="F0FB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46"/>
          <p:cNvSpPr/>
          <p:nvPr/>
        </p:nvSpPr>
        <p:spPr>
          <a:xfrm>
            <a:off x="7004304" y="2688336"/>
            <a:ext cx="45720" cy="402336"/>
          </a:xfrm>
          <a:prstGeom prst="rect">
            <a:avLst/>
          </a:prstGeom>
          <a:solidFill>
            <a:srgbClr val="6A057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Shape 47"/>
          <p:cNvSpPr/>
          <p:nvPr/>
        </p:nvSpPr>
        <p:spPr>
          <a:xfrm>
            <a:off x="7077456" y="2743200"/>
            <a:ext cx="658368" cy="182880"/>
          </a:xfrm>
          <a:prstGeom prst="rect">
            <a:avLst/>
          </a:prstGeom>
          <a:solidFill>
            <a:srgbClr val="6A057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Text 48"/>
          <p:cNvSpPr/>
          <p:nvPr/>
        </p:nvSpPr>
        <p:spPr>
          <a:xfrm>
            <a:off x="7077456" y="274320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700" dirty="0"/>
          </a:p>
        </p:txBody>
      </p:sp>
      <p:sp>
        <p:nvSpPr>
          <p:cNvPr id="56" name="Text 49"/>
          <p:cNvSpPr/>
          <p:nvPr/>
        </p:nvSpPr>
        <p:spPr>
          <a:xfrm>
            <a:off x="7790688" y="277977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personnes</a:t>
            </a:r>
            <a:endParaRPr lang="en-US" sz="900" dirty="0"/>
          </a:p>
        </p:txBody>
      </p:sp>
      <p:sp>
        <p:nvSpPr>
          <p:cNvPr id="57" name="Shape 50"/>
          <p:cNvSpPr/>
          <p:nvPr/>
        </p:nvSpPr>
        <p:spPr>
          <a:xfrm>
            <a:off x="7004304" y="3163824"/>
            <a:ext cx="1847088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Shape 51"/>
          <p:cNvSpPr/>
          <p:nvPr/>
        </p:nvSpPr>
        <p:spPr>
          <a:xfrm>
            <a:off x="7004304" y="3163824"/>
            <a:ext cx="45720" cy="402336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Shape 52"/>
          <p:cNvSpPr/>
          <p:nvPr/>
        </p:nvSpPr>
        <p:spPr>
          <a:xfrm>
            <a:off x="7077456" y="3218688"/>
            <a:ext cx="658368" cy="18288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Text 53"/>
          <p:cNvSpPr/>
          <p:nvPr/>
        </p:nvSpPr>
        <p:spPr>
          <a:xfrm>
            <a:off x="7077456" y="32186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geopoint</a:t>
            </a:r>
            <a:endParaRPr lang="en-US" sz="700" dirty="0"/>
          </a:p>
        </p:txBody>
      </p:sp>
      <p:sp>
        <p:nvSpPr>
          <p:cNvPr id="61" name="Text 54"/>
          <p:cNvSpPr/>
          <p:nvPr/>
        </p:nvSpPr>
        <p:spPr>
          <a:xfrm>
            <a:off x="7790688" y="325526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900" dirty="0"/>
          </a:p>
        </p:txBody>
      </p:sp>
      <p:sp>
        <p:nvSpPr>
          <p:cNvPr id="62" name="Shape 55"/>
          <p:cNvSpPr/>
          <p:nvPr/>
        </p:nvSpPr>
        <p:spPr>
          <a:xfrm>
            <a:off x="7004304" y="3639312"/>
            <a:ext cx="1847088" cy="402336"/>
          </a:xfrm>
          <a:prstGeom prst="rect">
            <a:avLst/>
          </a:prstGeom>
          <a:solidFill>
            <a:srgbClr val="F0FB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Shape 56"/>
          <p:cNvSpPr/>
          <p:nvPr/>
        </p:nvSpPr>
        <p:spPr>
          <a:xfrm>
            <a:off x="7004304" y="3639312"/>
            <a:ext cx="45720" cy="402336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Shape 57"/>
          <p:cNvSpPr/>
          <p:nvPr/>
        </p:nvSpPr>
        <p:spPr>
          <a:xfrm>
            <a:off x="7077456" y="3694176"/>
            <a:ext cx="658368" cy="18288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Text 58"/>
          <p:cNvSpPr/>
          <p:nvPr/>
        </p:nvSpPr>
        <p:spPr>
          <a:xfrm>
            <a:off x="7077456" y="36941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select_one</a:t>
            </a:r>
            <a:endParaRPr lang="en-US" sz="700" dirty="0"/>
          </a:p>
        </p:txBody>
      </p:sp>
      <p:sp>
        <p:nvSpPr>
          <p:cNvPr id="66" name="Text 59"/>
          <p:cNvSpPr/>
          <p:nvPr/>
        </p:nvSpPr>
        <p:spPr>
          <a:xfrm>
            <a:off x="7790688" y="373075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Paramétrer chaque question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Les 6 champs du panneau de propriétés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2697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64008" cy="137160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389888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8680" y="135331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(libellé)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29768" y="1792224"/>
            <a:ext cx="24871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affiché à l'enquêteur. Peut être traduit en plusieurs langues depuis l'onglet Labels.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29768" y="230428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« Quelle est votre Commune de résidence ? »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200400" y="1261872"/>
            <a:ext cx="2697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3200400" y="1261872"/>
            <a:ext cx="64008" cy="13716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389888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749040" y="135331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(nom interne)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3310128" y="1792224"/>
            <a:ext cx="24871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 unique sans espaces ni accents. Utilisé dans les exports et formules XPath.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3310128" y="230428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commune_residence (snake_case)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080760" y="1261872"/>
            <a:ext cx="2697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8"/>
          <p:cNvSpPr/>
          <p:nvPr/>
        </p:nvSpPr>
        <p:spPr>
          <a:xfrm>
            <a:off x="6080760" y="1261872"/>
            <a:ext cx="64008" cy="13716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1389888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629400" y="135331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(obligatoire)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6190488" y="1792224"/>
            <a:ext cx="24871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la soumission si la question reste sans réponse. À activer sur les questions critiques.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6190488" y="230428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Obligatoire : Commune, Âge, Nom de l'Agent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320040" y="2779776"/>
            <a:ext cx="2697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3"/>
          <p:cNvSpPr/>
          <p:nvPr/>
        </p:nvSpPr>
        <p:spPr>
          <a:xfrm>
            <a:off x="320040" y="2779776"/>
            <a:ext cx="64008" cy="1371600"/>
          </a:xfrm>
          <a:prstGeom prst="rect">
            <a:avLst/>
          </a:prstGeom>
          <a:solidFill>
            <a:srgbClr val="D4AC0D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2907792"/>
            <a:ext cx="329184" cy="32918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68680" y="2871216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 (message d'aide)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429768" y="3310128"/>
            <a:ext cx="24871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grisé sous la question pour guider le collecteur sur le terrain.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429768" y="382219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« Choisir parmi les 6 communes du département »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3200400" y="2779776"/>
            <a:ext cx="2697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28"/>
          <p:cNvSpPr/>
          <p:nvPr/>
        </p:nvSpPr>
        <p:spPr>
          <a:xfrm>
            <a:off x="3200400" y="2779776"/>
            <a:ext cx="64008" cy="13716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0128" y="2907792"/>
            <a:ext cx="329184" cy="32918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3749040" y="2871216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(contrainte)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3310128" y="3310128"/>
            <a:ext cx="24871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XPath bloquant une valeur incorrecte. Message d'erreur personnalisable.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3310128" y="382219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. &gt;= 5 and . &lt;= 99  pour l'âge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6080760" y="2779776"/>
            <a:ext cx="2697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3"/>
          <p:cNvSpPr/>
          <p:nvPr/>
        </p:nvSpPr>
        <p:spPr>
          <a:xfrm>
            <a:off x="6080760" y="2779776"/>
            <a:ext cx="64008" cy="137160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0488" y="2907792"/>
            <a:ext cx="329184" cy="329184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629400" y="2871216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(condition d'affichage)</a:t>
            </a:r>
            <a:endParaRPr lang="en-US" sz="1150" dirty="0"/>
          </a:p>
        </p:txBody>
      </p:sp>
      <p:sp>
        <p:nvSpPr>
          <p:cNvPr id="43" name="Text 35"/>
          <p:cNvSpPr/>
          <p:nvPr/>
        </p:nvSpPr>
        <p:spPr>
          <a:xfrm>
            <a:off x="6190488" y="3310128"/>
            <a:ext cx="24871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n'apparaît que si une condition est vraie — base des sauts logiques (Module 5).</a:t>
            </a:r>
            <a:endParaRPr lang="en-US" sz="950" dirty="0"/>
          </a:p>
        </p:txBody>
      </p:sp>
      <p:sp>
        <p:nvSpPr>
          <p:cNvPr id="44" name="Text 36"/>
          <p:cNvSpPr/>
          <p:nvPr/>
        </p:nvSpPr>
        <p:spPr>
          <a:xfrm>
            <a:off x="6190488" y="382219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${</a:t>
            </a:r>
            <a:r>
              <a:rPr lang="en-US" sz="900" i="1" dirty="0" err="1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ong_VEZO</a:t>
            </a:r>
            <a:r>
              <a:rPr lang="en-US" sz="900" i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 = 'non'  → affiche « Autres ONG »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Prévisualiser le formulaire — Enketo &amp; KoboCollect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Tester avant de déployer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234440"/>
            <a:ext cx="2423160" cy="3749040"/>
          </a:xfrm>
          <a:prstGeom prst="rect">
            <a:avLst/>
          </a:prstGeom>
          <a:solidFill>
            <a:srgbClr val="1C1C1E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530352" y="1408176"/>
            <a:ext cx="2176272" cy="3383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530352" y="1408176"/>
            <a:ext cx="2176272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30352" y="1408176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</a:t>
            </a: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ONG VEZO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530352" y="1609344"/>
            <a:ext cx="2176272" cy="91440"/>
          </a:xfrm>
          <a:prstGeom prst="rect">
            <a:avLst/>
          </a:prstGeom>
          <a:solidFill>
            <a:srgbClr val="D0E8E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530352" y="1609344"/>
            <a:ext cx="1371600" cy="9144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530352" y="1700784"/>
            <a:ext cx="2176272" cy="310896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21792" y="1700784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2048256"/>
            <a:ext cx="2084832" cy="603504"/>
          </a:xfrm>
          <a:prstGeom prst="rect">
            <a:avLst/>
          </a:prstGeom>
          <a:solidFill>
            <a:srgbClr val="F9FFF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566928" y="2048256"/>
            <a:ext cx="36576" cy="603504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40080" y="2084832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Commune *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0080" y="2340864"/>
            <a:ext cx="1920240" cy="237744"/>
          </a:xfrm>
          <a:prstGeom prst="rect">
            <a:avLst/>
          </a:prstGeom>
          <a:solidFill>
            <a:srgbClr val="EAF6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94944" y="23591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Glazoué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66928" y="2724912"/>
            <a:ext cx="2084832" cy="603504"/>
          </a:xfrm>
          <a:prstGeom prst="rect">
            <a:avLst/>
          </a:prstGeom>
          <a:solidFill>
            <a:srgbClr val="F9FFF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36576" cy="603504"/>
          </a:xfrm>
          <a:prstGeom prst="rect">
            <a:avLst/>
          </a:prstGeom>
          <a:solidFill>
            <a:srgbClr val="6A057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40080" y="2761488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*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40080" y="3017520"/>
            <a:ext cx="1920240" cy="237744"/>
          </a:xfrm>
          <a:prstGeom prst="rect">
            <a:avLst/>
          </a:prstGeom>
          <a:solidFill>
            <a:srgbClr val="EAF6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94944" y="30358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66928" y="3401568"/>
            <a:ext cx="2084832" cy="603504"/>
          </a:xfrm>
          <a:prstGeom prst="rect">
            <a:avLst/>
          </a:prstGeom>
          <a:solidFill>
            <a:srgbClr val="F9FFF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566928" y="3401568"/>
            <a:ext cx="36576" cy="603504"/>
          </a:xfrm>
          <a:prstGeom prst="rect">
            <a:avLst/>
          </a:prstGeom>
          <a:solidFill>
            <a:srgbClr val="6A057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40080" y="3438144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personnes *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40080" y="3694176"/>
            <a:ext cx="1920240" cy="237744"/>
          </a:xfrm>
          <a:prstGeom prst="rect">
            <a:avLst/>
          </a:prstGeom>
          <a:solidFill>
            <a:srgbClr val="EAF6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94944" y="37124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66928" y="4078224"/>
            <a:ext cx="2084832" cy="603504"/>
          </a:xfrm>
          <a:prstGeom prst="rect">
            <a:avLst/>
          </a:prstGeom>
          <a:solidFill>
            <a:srgbClr val="F9FFF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566928" y="4078224"/>
            <a:ext cx="36576" cy="603504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40080" y="4114800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40080" y="4370832"/>
            <a:ext cx="1920240" cy="237744"/>
          </a:xfrm>
          <a:prstGeom prst="rect">
            <a:avLst/>
          </a:prstGeom>
          <a:solidFill>
            <a:srgbClr val="EAF6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94944" y="43891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Féminin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30352" y="4645152"/>
            <a:ext cx="2176272" cy="201168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530352" y="4645152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SOUMETTRE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090672" y="126187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prévisualiser ?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3090672" y="1682496"/>
            <a:ext cx="56692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3090672" y="1682496"/>
            <a:ext cx="64008" cy="64008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688" y="1847088"/>
            <a:ext cx="292608" cy="292608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3621024" y="1737360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Aperçu dans le Formbuilder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3621024" y="2011680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Enketo s'ouvre dans un onglet — simulation exacte du formulaire sur navigateur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3090672" y="2432304"/>
            <a:ext cx="56692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6" name="Shape 43"/>
          <p:cNvSpPr/>
          <p:nvPr/>
        </p:nvSpPr>
        <p:spPr>
          <a:xfrm>
            <a:off x="3090672" y="2432304"/>
            <a:ext cx="64008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2596896"/>
            <a:ext cx="292608" cy="292608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3621024" y="2487168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KoboCollect sur Android</a:t>
            </a:r>
            <a:endParaRPr lang="en-US" sz="1200" dirty="0"/>
          </a:p>
        </p:txBody>
      </p:sp>
      <p:sp>
        <p:nvSpPr>
          <p:cNvPr id="49" name="Text 45"/>
          <p:cNvSpPr/>
          <p:nvPr/>
        </p:nvSpPr>
        <p:spPr>
          <a:xfrm>
            <a:off x="3621024" y="2761488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l'appli, scanner le QR code du projet, tester hors ligne sur mobile</a:t>
            </a:r>
            <a:endParaRPr lang="en-US" sz="1000" dirty="0"/>
          </a:p>
        </p:txBody>
      </p:sp>
      <p:sp>
        <p:nvSpPr>
          <p:cNvPr id="50" name="Shape 46"/>
          <p:cNvSpPr/>
          <p:nvPr/>
        </p:nvSpPr>
        <p:spPr>
          <a:xfrm>
            <a:off x="3090672" y="3182112"/>
            <a:ext cx="56692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1" name="Shape 47"/>
          <p:cNvSpPr/>
          <p:nvPr/>
        </p:nvSpPr>
        <p:spPr>
          <a:xfrm>
            <a:off x="3090672" y="3182112"/>
            <a:ext cx="64008" cy="64008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688" y="3346704"/>
            <a:ext cx="292608" cy="292608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3621024" y="3236976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tous les types de réponses</a:t>
            </a:r>
            <a:endParaRPr lang="en-US" sz="1200" dirty="0"/>
          </a:p>
        </p:txBody>
      </p:sp>
      <p:sp>
        <p:nvSpPr>
          <p:cNvPr id="54" name="Text 49"/>
          <p:cNvSpPr/>
          <p:nvPr/>
        </p:nvSpPr>
        <p:spPr>
          <a:xfrm>
            <a:off x="3621024" y="3511296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Parcourir chaque question, tester les listes déroulantes, cases à cocher</a:t>
            </a:r>
            <a:endParaRPr lang="en-US" sz="1000" dirty="0"/>
          </a:p>
        </p:txBody>
      </p:sp>
      <p:sp>
        <p:nvSpPr>
          <p:cNvPr id="55" name="Shape 50"/>
          <p:cNvSpPr/>
          <p:nvPr/>
        </p:nvSpPr>
        <p:spPr>
          <a:xfrm>
            <a:off x="3090672" y="3931920"/>
            <a:ext cx="56692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6" name="Shape 51"/>
          <p:cNvSpPr/>
          <p:nvPr/>
        </p:nvSpPr>
        <p:spPr>
          <a:xfrm>
            <a:off x="3090672" y="3931920"/>
            <a:ext cx="64008" cy="64008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8688" y="4096512"/>
            <a:ext cx="292608" cy="292608"/>
          </a:xfrm>
          <a:prstGeom prst="rect">
            <a:avLst/>
          </a:prstGeom>
        </p:spPr>
      </p:pic>
      <p:sp>
        <p:nvSpPr>
          <p:cNvPr id="58" name="Text 52"/>
          <p:cNvSpPr/>
          <p:nvPr/>
        </p:nvSpPr>
        <p:spPr>
          <a:xfrm>
            <a:off x="3621024" y="3986784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Contrôler les sections</a:t>
            </a:r>
            <a:endParaRPr lang="en-US" sz="1200" dirty="0"/>
          </a:p>
        </p:txBody>
      </p:sp>
      <p:sp>
        <p:nvSpPr>
          <p:cNvPr id="59" name="Text 53"/>
          <p:cNvSpPr/>
          <p:nvPr/>
        </p:nvSpPr>
        <p:spPr>
          <a:xfrm>
            <a:off x="3621024" y="4261104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que field-list affiche bien un écran complet par section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A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pratique — Reproduire le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VEZO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mission pour cette vidéo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KoboToolbox et reproduisez ce formulaire réel étape par étape.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627632"/>
            <a:ext cx="841248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65760" y="1627632"/>
            <a:ext cx="45720" cy="292608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75488" y="1664208"/>
            <a:ext cx="219456" cy="219456"/>
          </a:xfrm>
          <a:prstGeom prst="rect">
            <a:avLst/>
          </a:prstGeom>
          <a:solidFill>
            <a:srgbClr val="E0F2E8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749808" y="166420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60704" y="1673352"/>
            <a:ext cx="7479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projet « Enquête_VEZO_2024 » — Build from scratch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1956816"/>
            <a:ext cx="8412480" cy="292608"/>
          </a:xfrm>
          <a:prstGeom prst="rect">
            <a:avLst/>
          </a:prstGeom>
          <a:solidFill>
            <a:srgbClr val="F0FBF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65760" y="1956816"/>
            <a:ext cx="45720" cy="292608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75488" y="1993392"/>
            <a:ext cx="219456" cy="219456"/>
          </a:xfrm>
          <a:prstGeom prst="rect">
            <a:avLst/>
          </a:prstGeom>
          <a:solidFill>
            <a:srgbClr val="E0F2E8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49808" y="199339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60704" y="2002536"/>
            <a:ext cx="7479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les 5 questions d'identification (text + date)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286000"/>
            <a:ext cx="841248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65760" y="2286000"/>
            <a:ext cx="45720" cy="292608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75488" y="2322576"/>
            <a:ext cx="219456" cy="219456"/>
          </a:xfrm>
          <a:prstGeom prst="rect">
            <a:avLst/>
          </a:prstGeom>
          <a:solidFill>
            <a:srgbClr val="E0F2E8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49808" y="232257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60704" y="2331720"/>
            <a:ext cx="7479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la section « Localisation » (Group) — apparence : field-list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2615184"/>
            <a:ext cx="8412480" cy="292608"/>
          </a:xfrm>
          <a:prstGeom prst="rect">
            <a:avLst/>
          </a:prstGeom>
          <a:solidFill>
            <a:srgbClr val="F0FBF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65760" y="2615184"/>
            <a:ext cx="45720" cy="292608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75488" y="2651760"/>
            <a:ext cx="219456" cy="219456"/>
          </a:xfrm>
          <a:prstGeom prst="rect">
            <a:avLst/>
          </a:prstGeom>
          <a:solidFill>
            <a:srgbClr val="E0F2E8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749808" y="265176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60704" y="2660904"/>
            <a:ext cx="7479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: Commune (select_one, required), Âge (integer, contrainte 5–99), Sexe (select_one), GPS (geopoint)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2944368"/>
            <a:ext cx="841248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365760" y="2944368"/>
            <a:ext cx="45720" cy="292608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475488" y="2980944"/>
            <a:ext cx="219456" cy="219456"/>
          </a:xfrm>
          <a:prstGeom prst="rect">
            <a:avLst/>
          </a:prstGeom>
          <a:solidFill>
            <a:srgbClr val="E0F2E8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749808" y="298094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60704" y="2990088"/>
            <a:ext cx="7479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la section « Caractéristiques_socio_demo »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3273552"/>
            <a:ext cx="8412480" cy="292608"/>
          </a:xfrm>
          <a:prstGeom prst="rect">
            <a:avLst/>
          </a:prstGeom>
          <a:solidFill>
            <a:srgbClr val="F0FBF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365760" y="3273552"/>
            <a:ext cx="45720" cy="292608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475488" y="3310128"/>
            <a:ext cx="219456" cy="219456"/>
          </a:xfrm>
          <a:prstGeom prst="rect">
            <a:avLst/>
          </a:prstGeom>
          <a:solidFill>
            <a:srgbClr val="E0F2E8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749808" y="331012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60704" y="3319272"/>
            <a:ext cx="7479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: Religion (select_multiple), Niveau d'étude, Statut matrimonial, ONG VEZO ? (select_one)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5760" y="3602736"/>
            <a:ext cx="841248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365760" y="3602736"/>
            <a:ext cx="45720" cy="292608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475488" y="3639312"/>
            <a:ext cx="219456" cy="219456"/>
          </a:xfrm>
          <a:prstGeom prst="rect">
            <a:avLst/>
          </a:prstGeom>
          <a:solidFill>
            <a:srgbClr val="E0F2E8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749808" y="363931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60704" y="3648456"/>
            <a:ext cx="7479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la section « Perceptions_scolarisation »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65760" y="3931920"/>
            <a:ext cx="8412480" cy="292608"/>
          </a:xfrm>
          <a:prstGeom prst="rect">
            <a:avLst/>
          </a:prstGeom>
          <a:solidFill>
            <a:srgbClr val="F0FBF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365760" y="3931920"/>
            <a:ext cx="45720" cy="292608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475488" y="3968496"/>
            <a:ext cx="219456" cy="219456"/>
          </a:xfrm>
          <a:prstGeom prst="rect">
            <a:avLst/>
          </a:prstGeom>
          <a:solidFill>
            <a:srgbClr val="E0F2E8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749808" y="39684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60704" y="3977640"/>
            <a:ext cx="7479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: Avez-vous été entretenu (select_one), Satisfaction (select_one), Témoignage (text, multiline)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65760" y="4261104"/>
            <a:ext cx="841248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365760" y="4261104"/>
            <a:ext cx="45720" cy="292608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475488" y="4297680"/>
            <a:ext cx="219456" cy="219456"/>
          </a:xfrm>
          <a:prstGeom prst="rect">
            <a:avLst/>
          </a:prstGeom>
          <a:solidFill>
            <a:srgbClr val="E0F2E8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749808" y="429768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060704" y="4306824"/>
            <a:ext cx="7479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toutes les listes de choix (onglet Choices ou panneau select_one/multiple)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65760" y="4590288"/>
            <a:ext cx="8412480" cy="292608"/>
          </a:xfrm>
          <a:prstGeom prst="rect">
            <a:avLst/>
          </a:prstGeom>
          <a:solidFill>
            <a:srgbClr val="F0FBF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365760" y="4590288"/>
            <a:ext cx="45720" cy="292608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Shape 55"/>
          <p:cNvSpPr/>
          <p:nvPr/>
        </p:nvSpPr>
        <p:spPr>
          <a:xfrm>
            <a:off x="475488" y="4626864"/>
            <a:ext cx="219456" cy="219456"/>
          </a:xfrm>
          <a:prstGeom prst="rect">
            <a:avLst/>
          </a:prstGeom>
          <a:solidFill>
            <a:srgbClr val="E0F2E8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749808" y="462686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60704" y="4636008"/>
            <a:ext cx="7479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Prévisualiser avec Enketo et tester chaque question sur mobile si possible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365760" y="4919472"/>
            <a:ext cx="8412480" cy="146304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420624" y="4919472"/>
            <a:ext cx="8302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comparez votre formulaire aux images du questionnaire fourni — chaque question doit correspondre !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A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— Module 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retenir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64008" cy="438912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47472" y="1280160"/>
            <a:ext cx="438912" cy="438912"/>
          </a:xfrm>
          <a:prstGeom prst="ellipse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47472" y="1280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129844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projet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51760" y="1371600"/>
            <a:ext cx="36576" cy="274320"/>
          </a:xfrm>
          <a:prstGeom prst="rect">
            <a:avLst/>
          </a:prstGeom>
          <a:solidFill>
            <a:srgbClr val="D0E8E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761488" y="1316736"/>
            <a:ext cx="6016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→ nommer → Build from scratch → Formbuilder avec 3 panneaux (types · canvas · propriétés)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792224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1792224"/>
            <a:ext cx="64008" cy="43891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47472" y="1792224"/>
            <a:ext cx="438912" cy="438912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47472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181051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51760" y="1883664"/>
            <a:ext cx="36576" cy="274320"/>
          </a:xfrm>
          <a:prstGeom prst="rect">
            <a:avLst/>
          </a:prstGeom>
          <a:solidFill>
            <a:srgbClr val="D0E8E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761488" y="1828800"/>
            <a:ext cx="6016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Noms, commentaires, identifiants · apparence multiline pour les réponses longues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304288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274320" y="2304288"/>
            <a:ext cx="64008" cy="438912"/>
          </a:xfrm>
          <a:prstGeom prst="rect">
            <a:avLst/>
          </a:prstGeom>
          <a:solidFill>
            <a:srgbClr val="6A057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47472" y="2304288"/>
            <a:ext cx="438912" cy="438912"/>
          </a:xfrm>
          <a:prstGeom prst="ellipse">
            <a:avLst/>
          </a:prstGeom>
          <a:solidFill>
            <a:srgbClr val="6A057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47472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232257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0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integer/decimal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51760" y="2395728"/>
            <a:ext cx="36576" cy="274320"/>
          </a:xfrm>
          <a:prstGeom prst="rect">
            <a:avLst/>
          </a:prstGeom>
          <a:solidFill>
            <a:srgbClr val="D0E8E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761488" y="2340864"/>
            <a:ext cx="6016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Comptages et mesures · toujours ajouter une contrainte (. &gt;= 5 and . &lt;= 99 pour l'âge)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816352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274320" y="2816352"/>
            <a:ext cx="64008" cy="438912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47472" y="2816352"/>
            <a:ext cx="438912" cy="438912"/>
          </a:xfrm>
          <a:prstGeom prst="ellipse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47472" y="28163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283464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select_one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651760" y="2907792"/>
            <a:ext cx="36576" cy="274320"/>
          </a:xfrm>
          <a:prstGeom prst="rect">
            <a:avLst/>
          </a:prstGeom>
          <a:solidFill>
            <a:srgbClr val="D0E8E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2761488" y="2852928"/>
            <a:ext cx="6016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Boutons radio (1 choix) · Commune, Sexe, Satisfaction · liste dans l'onglet Choices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328416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274320" y="3328416"/>
            <a:ext cx="64008" cy="438912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347472" y="3328416"/>
            <a:ext cx="438912" cy="438912"/>
          </a:xfrm>
          <a:prstGeom prst="ellipse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347472" y="3328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14400" y="334670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select_multiple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651760" y="3419856"/>
            <a:ext cx="36576" cy="274320"/>
          </a:xfrm>
          <a:prstGeom prst="rect">
            <a:avLst/>
          </a:prstGeom>
          <a:solidFill>
            <a:srgbClr val="D0E8E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2761488" y="3364992"/>
            <a:ext cx="6016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à cocher (N choix) · Religion, Niveau d'étude, ONG connues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3840480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274320" y="3840480"/>
            <a:ext cx="64008" cy="438912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347472" y="3840480"/>
            <a:ext cx="438912" cy="438912"/>
          </a:xfrm>
          <a:prstGeom prst="ellipse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347472" y="3840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14400" y="385876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651760" y="3931920"/>
            <a:ext cx="36576" cy="274320"/>
          </a:xfrm>
          <a:prstGeom prst="rect">
            <a:avLst/>
          </a:prstGeom>
          <a:solidFill>
            <a:srgbClr val="D0E8E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2761488" y="3877056"/>
            <a:ext cx="6016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natif · apparence no-calendar si terrain sans écran tactile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74320" y="4352544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274320" y="4352544"/>
            <a:ext cx="64008" cy="438912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347472" y="4352544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347472" y="4352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14400" y="437083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(Groups)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651760" y="4443984"/>
            <a:ext cx="36576" cy="274320"/>
          </a:xfrm>
          <a:prstGeom prst="rect">
            <a:avLst/>
          </a:prstGeom>
          <a:solidFill>
            <a:srgbClr val="D0E8E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2761488" y="4389120"/>
            <a:ext cx="6016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field-list = 1 section par écran · name snake_case · logique de découpage : Identification · Localisation · Socio-démo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217920" y="-457200"/>
            <a:ext cx="4114800" cy="68580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 rot="900000">
            <a:off x="6858000" y="-457200"/>
            <a:ext cx="4114800" cy="6858000"/>
          </a:xfrm>
          <a:prstGeom prst="rect">
            <a:avLst/>
          </a:prstGeom>
          <a:solidFill>
            <a:srgbClr val="0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2926080" cy="384048"/>
          </a:xfrm>
          <a:prstGeom prst="rect">
            <a:avLst/>
          </a:prstGeom>
          <a:solidFill>
            <a:srgbClr val="0B6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VIDÉOS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Vidéos 5–6 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questions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avancés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457200" y="3090672"/>
            <a:ext cx="3200400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321868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GPS &amp; géolocalisation sur le terrain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352958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Photo, audio, vidéo, signature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Code-barres et QR code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415137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Calculs automatiques (calculate)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446227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Notation et matrices de questions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Abonnez-vous pour ne pas manquer la suite !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49194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· Commentaire · Partage — ça aide vraiment 🙌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2389</Words>
  <Application>Microsoft Office PowerPoint</Application>
  <PresentationFormat>Affichage à l'écran (16:9)</PresentationFormat>
  <Paragraphs>443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KoboToolbox de A à Z – Module 3</dc:title>
  <dc:subject>PptxGenJS Presentation</dc:subject>
  <dc:creator>PptxGenJS</dc:creator>
  <cp:lastModifiedBy>Ahlou Alphonse Euphreme</cp:lastModifiedBy>
  <cp:revision>1</cp:revision>
  <dcterms:created xsi:type="dcterms:W3CDTF">2026-03-15T22:25:23Z</dcterms:created>
  <dcterms:modified xsi:type="dcterms:W3CDTF">2026-04-05T15:41:07Z</dcterms:modified>
</cp:coreProperties>
</file>