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lou Alphonse Euphreme" userId="f12afe77-4db7-47e3-b604-bb0d456a5c02" providerId="ADAL" clId="{4890F534-C102-41F9-978A-E7DBDB1CFE02}"/>
    <pc:docChg chg="modSld">
      <pc:chgData name="Ahlou Alphonse Euphreme" userId="f12afe77-4db7-47e3-b604-bb0d456a5c02" providerId="ADAL" clId="{4890F534-C102-41F9-978A-E7DBDB1CFE02}" dt="2026-04-04T03:35:57.662" v="0"/>
      <pc:docMkLst>
        <pc:docMk/>
      </pc:docMkLst>
      <pc:sldChg chg="modSp">
        <pc:chgData name="Ahlou Alphonse Euphreme" userId="f12afe77-4db7-47e3-b604-bb0d456a5c02" providerId="ADAL" clId="{4890F534-C102-41F9-978A-E7DBDB1CFE02}" dt="2026-04-04T03:35:57.662" v="0"/>
        <pc:sldMkLst>
          <pc:docMk/>
          <pc:sldMk cId="0" sldId="270"/>
        </pc:sldMkLst>
        <pc:spChg chg="mod">
          <ac:chgData name="Ahlou Alphonse Euphreme" userId="f12afe77-4db7-47e3-b604-bb0d456a5c02" providerId="ADAL" clId="{4890F534-C102-41F9-978A-E7DBDB1CFE02}" dt="2026-04-04T03:35:57.662" v="0"/>
          <ac:spMkLst>
            <pc:docMk/>
            <pc:sldMk cId="0" sldId="270"/>
            <ac:spMk id="4" creationId="{00000000-0000-0000-0000-000000000000}"/>
          </ac:spMkLst>
        </pc:spChg>
      </pc:sldChg>
    </pc:docChg>
  </pc:docChgLst>
  <pc:docChgLst>
    <pc:chgData name="Ahlou Alphonse Euphreme" userId="f12afe77-4db7-47e3-b604-bb0d456a5c02" providerId="ADAL" clId="{5735D98A-5E9D-45E5-9858-B2F8FC0FB54C}"/>
    <pc:docChg chg="delSld">
      <pc:chgData name="Ahlou Alphonse Euphreme" userId="f12afe77-4db7-47e3-b604-bb0d456a5c02" providerId="ADAL" clId="{5735D98A-5E9D-45E5-9858-B2F8FC0FB54C}" dt="2026-04-19T16:33:37.661" v="0" actId="2696"/>
      <pc:docMkLst>
        <pc:docMk/>
      </pc:docMkLst>
      <pc:sldChg chg="del">
        <pc:chgData name="Ahlou Alphonse Euphreme" userId="f12afe77-4db7-47e3-b604-bb0d456a5c02" providerId="ADAL" clId="{5735D98A-5E9D-45E5-9858-B2F8FC0FB54C}" dt="2026-04-19T16:33:37.661" v="0" actId="2696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618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&amp;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168249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soumissions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67004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 ·  Vidéo 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  ·  Voir · Modifier · Supprimer · Médias · Filtrer · Doublons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5020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2004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données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56032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950208"/>
            <a:ext cx="292608" cy="2926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2316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9502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2628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66560" y="3858768"/>
            <a:ext cx="475488" cy="475488"/>
          </a:xfrm>
          <a:prstGeom prst="ellipse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95020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29400" y="438912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 — Module 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qu'on peut faire avec les données collectées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47548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13075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Data — vue d'ensemble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15361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soumissions, colonnes, navigation et métriques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8288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1828800"/>
            <a:ext cx="64008" cy="47548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18470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18562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soumission existante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20848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une erreur de saisie après l'envoi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7744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64008" cy="47548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39572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78992" y="240487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soumission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26334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définitivement une entrée incorrecte ou doublon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92608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64008" cy="4754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294436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78992" y="295351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et consulter des médias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78992" y="318211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audio, vidéo et signatures dans les soumissions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20040" y="347472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49300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78992" y="35021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et rechercher des réponses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" y="37307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des soumissions selon des critères précis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02336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320040" y="4023360"/>
            <a:ext cx="64008" cy="47548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57200" y="404164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78992" y="40507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et personnaliser la vue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78992" y="4279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Réorganiser les colonnes, changer l'ordre d'affichage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320040" y="4572000"/>
            <a:ext cx="64008" cy="475488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57200" y="4590288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1078992" y="459943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gérer les doublons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78992" y="482803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les soumissions en double et les résoudre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Data — Vue d'ensemble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tableau de bord des soumissions collectées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Data centralise toutes les soumissions reçues. Chaque ligne = une soumission, chaque colonne = une question du formulaire.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82496"/>
            <a:ext cx="841248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682496"/>
            <a:ext cx="8412480" cy="3657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048256" y="16824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1682496"/>
            <a:ext cx="1682496" cy="36576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730752" y="16824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13248" y="16824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095744" y="168249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048256"/>
            <a:ext cx="8412480" cy="3291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75488" y="20848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soumissions  ·  Dernière : il y a 3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2103120"/>
            <a:ext cx="530352" cy="2194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583680" y="21031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187184" y="2103120"/>
            <a:ext cx="530352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187184" y="21031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790688" y="2103120"/>
            <a:ext cx="530352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790688" y="210312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5760" y="2377440"/>
            <a:ext cx="3657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20624" y="243230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2377440"/>
            <a:ext cx="10058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86384" y="243230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737360" y="2377440"/>
            <a:ext cx="11887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1792224" y="2432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926080" y="2377440"/>
            <a:ext cx="10972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980944" y="243230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23360" y="2377440"/>
            <a:ext cx="5486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4078224" y="24323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2377440"/>
            <a:ext cx="64008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626864" y="24323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212080" y="2377440"/>
            <a:ext cx="82296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5266944" y="24323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2377440"/>
            <a:ext cx="91440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089904" y="24323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2688336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20624" y="27432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2688336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86384" y="2743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22/03/2026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688336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792224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926080" y="2688336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980944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023360" y="2688336"/>
            <a:ext cx="5486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4078224" y="27432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0" y="2688336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4626864" y="2743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212080" y="2688336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266944" y="27432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35040" y="2688336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089904" y="27432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2999232"/>
            <a:ext cx="3657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420624" y="305409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" y="2999232"/>
            <a:ext cx="10058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786384" y="30540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22/03/2026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737360" y="2999232"/>
            <a:ext cx="11887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1792224" y="30540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926080" y="2999232"/>
            <a:ext cx="10972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2980944" y="30540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023360" y="2999232"/>
            <a:ext cx="5486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4078224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2999232"/>
            <a:ext cx="6400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Text 67"/>
          <p:cNvSpPr/>
          <p:nvPr/>
        </p:nvSpPr>
        <p:spPr>
          <a:xfrm>
            <a:off x="4626864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212080" y="2999232"/>
            <a:ext cx="8229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5266944" y="3054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2999232"/>
            <a:ext cx="91440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6089904" y="30540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3310128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20624" y="33649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31520" y="3310128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786384" y="33649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22/03/2026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737360" y="3310128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1792224" y="33649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K.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26080" y="3310128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2980944" y="3364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023360" y="3310128"/>
            <a:ext cx="5486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4078224" y="336499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72000" y="3310128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5" name="Text 83"/>
          <p:cNvSpPr/>
          <p:nvPr/>
        </p:nvSpPr>
        <p:spPr>
          <a:xfrm>
            <a:off x="4626864" y="33649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212080" y="3310128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5266944" y="33649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035040" y="3310128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6089904" y="3364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65760" y="3621024"/>
            <a:ext cx="3657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420624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31520" y="3621024"/>
            <a:ext cx="10058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786384" y="3675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21/03/2026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737360" y="3621024"/>
            <a:ext cx="11887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5" name="Text 93"/>
          <p:cNvSpPr/>
          <p:nvPr/>
        </p:nvSpPr>
        <p:spPr>
          <a:xfrm>
            <a:off x="1792224" y="3675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A.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2926080" y="3621024"/>
            <a:ext cx="10972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2980944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4023360" y="3621024"/>
            <a:ext cx="5486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9" name="Text 97"/>
          <p:cNvSpPr/>
          <p:nvPr/>
        </p:nvSpPr>
        <p:spPr>
          <a:xfrm>
            <a:off x="4078224" y="36758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572000" y="3621024"/>
            <a:ext cx="6400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1" name="Text 99"/>
          <p:cNvSpPr/>
          <p:nvPr/>
        </p:nvSpPr>
        <p:spPr>
          <a:xfrm>
            <a:off x="4626864" y="36758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212080" y="3621024"/>
            <a:ext cx="8229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5266944" y="36758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035040" y="3621024"/>
            <a:ext cx="91440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5" name="Text 103"/>
          <p:cNvSpPr/>
          <p:nvPr/>
        </p:nvSpPr>
        <p:spPr>
          <a:xfrm>
            <a:off x="6089904" y="3675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365760" y="3931920"/>
            <a:ext cx="3657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420624" y="39867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31520" y="3931920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9" name="Text 107"/>
          <p:cNvSpPr/>
          <p:nvPr/>
        </p:nvSpPr>
        <p:spPr>
          <a:xfrm>
            <a:off x="786384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21/03/2026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737360" y="3931920"/>
            <a:ext cx="11887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1" name="Text 109"/>
          <p:cNvSpPr/>
          <p:nvPr/>
        </p:nvSpPr>
        <p:spPr>
          <a:xfrm>
            <a:off x="1792224" y="3986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A.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926080" y="3931920"/>
            <a:ext cx="10972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2980944" y="39867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4023360" y="3931920"/>
            <a:ext cx="5486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5" name="Text 113"/>
          <p:cNvSpPr/>
          <p:nvPr/>
        </p:nvSpPr>
        <p:spPr>
          <a:xfrm>
            <a:off x="4078224" y="39867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572000" y="3931920"/>
            <a:ext cx="6400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7" name="Text 115"/>
          <p:cNvSpPr/>
          <p:nvPr/>
        </p:nvSpPr>
        <p:spPr>
          <a:xfrm>
            <a:off x="4626864" y="39867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212080" y="3931920"/>
            <a:ext cx="8229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9" name="Text 117"/>
          <p:cNvSpPr/>
          <p:nvPr/>
        </p:nvSpPr>
        <p:spPr>
          <a:xfrm>
            <a:off x="5266944" y="3986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Envoyé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035040" y="3931920"/>
            <a:ext cx="914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1" name="Text 119"/>
          <p:cNvSpPr/>
          <p:nvPr/>
        </p:nvSpPr>
        <p:spPr>
          <a:xfrm>
            <a:off x="6089904" y="3986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365760" y="16276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Barre d'onglets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365760" y="19933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Compteur + outils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365760" y="232257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En-têtes colonnes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Lignes soumissions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une soumission en détail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Consulter toutes les réponses d'un ménage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l'icône ⋮ → « Voir » pour ouvrir la fiche complète d'une soumission avec toutes ses réponses, médias et métadonnées.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682496"/>
            <a:ext cx="411480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65760" y="1682496"/>
            <a:ext cx="64008" cy="30906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1682496"/>
            <a:ext cx="4114800" cy="38404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38912" y="170078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#1 — 22/03/2026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41148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1214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377440"/>
            <a:ext cx="4114800" cy="23774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57200" y="24140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792224" y="24140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22/03/2026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Agent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92224" y="267004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Dupont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889504"/>
            <a:ext cx="4114800" cy="23774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92224" y="292608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45536"/>
            <a:ext cx="4114800" cy="23774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4114800" cy="23774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57200" y="34381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92224" y="3438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57200" y="36941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792224" y="369417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13632"/>
            <a:ext cx="4114800" cy="23774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57200" y="3950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ménage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92224" y="395020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personnes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169664"/>
            <a:ext cx="4114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57200" y="42062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792224" y="420624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Féminin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425696"/>
            <a:ext cx="4114800" cy="23774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7200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792224" y="446227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7.9004°N, 1.9817°E ±3.2m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1682496"/>
            <a:ext cx="4114800" cy="138988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663440" y="1682496"/>
            <a:ext cx="64008" cy="138988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4663440" y="1682496"/>
            <a:ext cx="4114800" cy="3291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736592" y="1700784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 attachés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736592" y="2084832"/>
            <a:ext cx="1280160" cy="914400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047488" y="22860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4736592" y="29992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photo_menage.jpg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 Ko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44768" y="2084832"/>
            <a:ext cx="1280160" cy="9144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364224" y="2286000"/>
            <a:ext cx="841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6144768" y="29992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capturé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±3.2m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552944" y="2084832"/>
            <a:ext cx="1097280" cy="91440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7772400" y="22860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7552944" y="29992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signature.png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Ko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63440" y="3145536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663440" y="3145536"/>
            <a:ext cx="64008" cy="157276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4663440" y="3145536"/>
            <a:ext cx="4114800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736592" y="314553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Métadonnées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736592" y="3511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soumission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54496" y="351129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uuid:a1b2c3d4…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36592" y="3749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 soumission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254496" y="3749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22/03/2026 — 09h42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36592" y="39867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entretien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254496" y="39867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 33 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736592" y="42245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formulaire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254496" y="4224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736592" y="44622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Appareil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254496" y="44622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A32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soumission existante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Corriger une erreur de saisie après l'envoi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64008" cy="349300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modifier ?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82496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7824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frappe dans un champ texte (ex: âge = 340 au lieu de 34)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20848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GPS incorrecte (capture en intérieur)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3744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77824" y="25054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commune sélectionnée lors de la saisie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443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7824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manquante relevée lors de la vérification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3401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modifier ?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511296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5"/>
          <p:cNvSpPr/>
          <p:nvPr/>
        </p:nvSpPr>
        <p:spPr>
          <a:xfrm>
            <a:off x="548640" y="35112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822960" y="3493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Data → trouver la soumission à modifier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48640" y="3785616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8"/>
          <p:cNvSpPr/>
          <p:nvPr/>
        </p:nvSpPr>
        <p:spPr>
          <a:xfrm>
            <a:off x="548640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822960" y="3767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⋮ → « Modifier »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4059936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1"/>
          <p:cNvSpPr/>
          <p:nvPr/>
        </p:nvSpPr>
        <p:spPr>
          <a:xfrm>
            <a:off x="548640" y="4059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822960" y="4041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formulaire s'ouvre avec les réponses pré-remplies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4334256"/>
            <a:ext cx="201168" cy="201168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548640" y="4334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22960" y="43159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la ou les valeurs → Soumettre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75488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27"/>
          <p:cNvSpPr/>
          <p:nvPr/>
        </p:nvSpPr>
        <p:spPr>
          <a:xfrm>
            <a:off x="4754880" y="1261872"/>
            <a:ext cx="4114800" cy="38404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8"/>
          <p:cNvSpPr/>
          <p:nvPr/>
        </p:nvSpPr>
        <p:spPr>
          <a:xfrm>
            <a:off x="482803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/ Après modification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828032" y="1719072"/>
            <a:ext cx="3968496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919472" y="1719072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(soumission originale)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4828032" y="2066544"/>
            <a:ext cx="3968496" cy="34747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2"/>
          <p:cNvSpPr/>
          <p:nvPr/>
        </p:nvSpPr>
        <p:spPr>
          <a:xfrm>
            <a:off x="4901184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: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5760720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6766560" y="2103120"/>
            <a:ext cx="1901952" cy="25603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5"/>
          <p:cNvSpPr/>
          <p:nvPr/>
        </p:nvSpPr>
        <p:spPr>
          <a:xfrm>
            <a:off x="6803136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Valeur suspecte</a:t>
            </a:r>
            <a:endParaRPr lang="en-US" sz="850" dirty="0"/>
          </a:p>
        </p:txBody>
      </p:sp>
      <p:sp>
        <p:nvSpPr>
          <p:cNvPr id="42" name="Text 36"/>
          <p:cNvSpPr/>
          <p:nvPr/>
        </p:nvSpPr>
        <p:spPr>
          <a:xfrm>
            <a:off x="5230368" y="2487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Correction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4828032" y="2798064"/>
            <a:ext cx="3968496" cy="310896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8"/>
          <p:cNvSpPr/>
          <p:nvPr/>
        </p:nvSpPr>
        <p:spPr>
          <a:xfrm>
            <a:off x="4919472" y="2798064"/>
            <a:ext cx="3831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(soumission corrigée)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828032" y="3145536"/>
            <a:ext cx="3968496" cy="347472"/>
          </a:xfrm>
          <a:prstGeom prst="rect">
            <a:avLst/>
          </a:prstGeom>
          <a:solidFill>
            <a:srgbClr val="E9F7E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0"/>
          <p:cNvSpPr/>
          <p:nvPr/>
        </p:nvSpPr>
        <p:spPr>
          <a:xfrm>
            <a:off x="4901184" y="3182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 :</a:t>
            </a:r>
            <a:endParaRPr lang="en-US" sz="1000" dirty="0"/>
          </a:p>
        </p:txBody>
      </p:sp>
      <p:sp>
        <p:nvSpPr>
          <p:cNvPr id="47" name="Text 41"/>
          <p:cNvSpPr/>
          <p:nvPr/>
        </p:nvSpPr>
        <p:spPr>
          <a:xfrm>
            <a:off x="5760720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6766560" y="3182112"/>
            <a:ext cx="1901952" cy="25603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3"/>
          <p:cNvSpPr/>
          <p:nvPr/>
        </p:nvSpPr>
        <p:spPr>
          <a:xfrm>
            <a:off x="6803136" y="31821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Valeur corrigée</a:t>
            </a:r>
            <a:endParaRPr lang="en-US" sz="850" dirty="0"/>
          </a:p>
        </p:txBody>
      </p:sp>
      <p:sp>
        <p:nvSpPr>
          <p:cNvPr id="50" name="Shape 44"/>
          <p:cNvSpPr/>
          <p:nvPr/>
        </p:nvSpPr>
        <p:spPr>
          <a:xfrm>
            <a:off x="4828032" y="3584448"/>
            <a:ext cx="3968496" cy="512064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639312"/>
            <a:ext cx="219456" cy="219456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5175504" y="3621024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modification crée un historique — l'heure, l'auteur et la valeur précédente sont conservés dans les métadonnées.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4828032" y="4169664"/>
            <a:ext cx="3968496" cy="566928"/>
          </a:xfrm>
          <a:prstGeom prst="rect">
            <a:avLst/>
          </a:prstGeom>
          <a:solidFill>
            <a:srgbClr val="FFF5F5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47"/>
          <p:cNvSpPr/>
          <p:nvPr/>
        </p:nvSpPr>
        <p:spPr>
          <a:xfrm>
            <a:off x="4828032" y="4169664"/>
            <a:ext cx="64008" cy="56692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8"/>
          <p:cNvSpPr/>
          <p:nvPr/>
        </p:nvSpPr>
        <p:spPr>
          <a:xfrm>
            <a:off x="4901184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modifier ?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4901184" y="4407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et Editor du projet · Lecteur (Viewer) ne peut que consulter · voir Module 11 pour les rôles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soumission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Action irréversible — à utiliser avec précaution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8412480" cy="51206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533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1316736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suppression d'une soumission est DÉFINITIVE et IRRÉVERSIBLE. Il n'existe pas de corbeille dans KoboToolbox. Toujours exporter les données avant de supprimer.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1865376"/>
            <a:ext cx="64008" cy="2889504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48640" y="1883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légitimes de suppression :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4942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7824" y="22311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de test effectuée avant la vraie collecte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" y="26334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 identifié : deux soumissions pour le même ménage</a:t>
            </a:r>
            <a:endParaRPr lang="en-US" sz="11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540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30358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vide ou accidentelle envoyée sans données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45643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77824" y="34381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 non consentie ou hors de la zone d'étude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8640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supprimer ?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4206240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03504" y="4242816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18"/>
          <p:cNvSpPr/>
          <p:nvPr/>
        </p:nvSpPr>
        <p:spPr>
          <a:xfrm>
            <a:off x="603504" y="42428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841248" y="42245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Data → trouver la soumission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548640" y="4480560"/>
            <a:ext cx="402336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1"/>
          <p:cNvSpPr/>
          <p:nvPr/>
        </p:nvSpPr>
        <p:spPr>
          <a:xfrm>
            <a:off x="603504" y="4517136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603504" y="4517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841248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⋮ → « Supprimer »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48640" y="4754880"/>
            <a:ext cx="40233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25"/>
          <p:cNvSpPr/>
          <p:nvPr/>
        </p:nvSpPr>
        <p:spPr>
          <a:xfrm>
            <a:off x="603504" y="4791456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6"/>
          <p:cNvSpPr/>
          <p:nvPr/>
        </p:nvSpPr>
        <p:spPr>
          <a:xfrm>
            <a:off x="603504" y="47914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841248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Confirmer dans la boîte de dialogue de confirmation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5029200"/>
            <a:ext cx="4023360" cy="25603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29"/>
          <p:cNvSpPr/>
          <p:nvPr/>
        </p:nvSpPr>
        <p:spPr>
          <a:xfrm>
            <a:off x="603504" y="5065776"/>
            <a:ext cx="182880" cy="182880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/>
          <p:nvPr/>
        </p:nvSpPr>
        <p:spPr>
          <a:xfrm>
            <a:off x="603504" y="5065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841248" y="5047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soumission disparaît immédiatement et définitivement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754880" y="1865376"/>
            <a:ext cx="4114800" cy="288950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3"/>
          <p:cNvSpPr/>
          <p:nvPr/>
        </p:nvSpPr>
        <p:spPr>
          <a:xfrm>
            <a:off x="4754880" y="1865376"/>
            <a:ext cx="4114800" cy="34747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4"/>
          <p:cNvSpPr/>
          <p:nvPr/>
        </p:nvSpPr>
        <p:spPr>
          <a:xfrm>
            <a:off x="4828032" y="1865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de suppression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4828032" y="2286000"/>
            <a:ext cx="3968496" cy="204825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828032" y="2359152"/>
            <a:ext cx="3968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3600" dirty="0"/>
          </a:p>
        </p:txBody>
      </p:sp>
      <p:sp>
        <p:nvSpPr>
          <p:cNvPr id="44" name="Text 37"/>
          <p:cNvSpPr/>
          <p:nvPr/>
        </p:nvSpPr>
        <p:spPr>
          <a:xfrm>
            <a:off x="4828032" y="287121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la soumission #1 ?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4828032" y="3163824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Ménage Glazoué · Jean Dupont · 22/03/2026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4828032" y="3419856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action est irréversible.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seront définitivement perdues.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4919472" y="3858768"/>
            <a:ext cx="1645920" cy="329184"/>
          </a:xfrm>
          <a:prstGeom prst="rect">
            <a:avLst/>
          </a:prstGeom>
          <a:solidFill>
            <a:srgbClr val="EBF5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1"/>
          <p:cNvSpPr/>
          <p:nvPr/>
        </p:nvSpPr>
        <p:spPr>
          <a:xfrm>
            <a:off x="4919472" y="3858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Annuler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6656832" y="3858768"/>
            <a:ext cx="1956816" cy="329184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3"/>
          <p:cNvSpPr/>
          <p:nvPr/>
        </p:nvSpPr>
        <p:spPr>
          <a:xfrm>
            <a:off x="6656832" y="3858768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définitivement</a:t>
            </a:r>
            <a:endParaRPr lang="en-US" sz="950" dirty="0"/>
          </a:p>
        </p:txBody>
      </p:sp>
      <p:sp>
        <p:nvSpPr>
          <p:cNvPr id="51" name="Shape 44"/>
          <p:cNvSpPr/>
          <p:nvPr/>
        </p:nvSpPr>
        <p:spPr>
          <a:xfrm>
            <a:off x="4754880" y="4828032"/>
            <a:ext cx="4114800" cy="310896"/>
          </a:xfrm>
          <a:prstGeom prst="rect">
            <a:avLst/>
          </a:prstGeom>
          <a:solidFill>
            <a:srgbClr val="FFF8E1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882896"/>
            <a:ext cx="182880" cy="182880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5065776" y="48646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groupée possible : cocher plusieurs soumissions → bouton « Supprimer la sélection ».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et télécharger les médias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Photos, audio, vidéo et signatures dans les soumissions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médias (photos, audio, vidéo, signatures) sont stockés sur les serveurs KoboToolbox et accessibles depuis l'onglet Data.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64008" cy="30906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82496"/>
            <a:ext cx="2029968" cy="40233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73736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" y="171907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(image)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21579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1480" y="2359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cliquable dans la fiche soumission → ouverture plein écran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11480" y="2852928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11480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480" y="3108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individuel ou export groupé en ZIP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11480" y="3529584"/>
            <a:ext cx="1847088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448056" y="35478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PNG/JPG · Taille réduite si max-pixels configuré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496312" y="1682496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2496312" y="1682496"/>
            <a:ext cx="64008" cy="30906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2496312" y="1682496"/>
            <a:ext cx="2029968" cy="40233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73736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916936" y="171907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(audio)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587752" y="21579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: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2587752" y="2359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 audio intégré dans la fiche soumission → écouter en ligne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2587752" y="2852928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2587752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: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587752" y="3108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en .m4a ou .mp4 selon l'appareil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587752" y="3529584"/>
            <a:ext cx="1847088" cy="25603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9"/>
          <p:cNvSpPr/>
          <p:nvPr/>
        </p:nvSpPr>
        <p:spPr>
          <a:xfrm>
            <a:off x="2624328" y="35478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variable selon durée · Format dépend de l'OS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4672584" y="1682496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1"/>
          <p:cNvSpPr/>
          <p:nvPr/>
        </p:nvSpPr>
        <p:spPr>
          <a:xfrm>
            <a:off x="4672584" y="1682496"/>
            <a:ext cx="64008" cy="309067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Shape 32"/>
          <p:cNvSpPr/>
          <p:nvPr/>
        </p:nvSpPr>
        <p:spPr>
          <a:xfrm>
            <a:off x="4672584" y="1682496"/>
            <a:ext cx="2029968" cy="40233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1737360"/>
            <a:ext cx="274320" cy="27432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093208" y="171907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(video)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764024" y="21579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: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764024" y="2359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téléchargement (pas de lecture en ligne) → ouvrir hors Kobo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764024" y="2852928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37"/>
          <p:cNvSpPr/>
          <p:nvPr/>
        </p:nvSpPr>
        <p:spPr>
          <a:xfrm>
            <a:off x="4764024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: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4764024" y="3108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direct en .mp4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4764024" y="3529584"/>
            <a:ext cx="1847088" cy="25603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0"/>
          <p:cNvSpPr/>
          <p:nvPr/>
        </p:nvSpPr>
        <p:spPr>
          <a:xfrm>
            <a:off x="4800600" y="35478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souvent lourds · vérifier quota stockage</a:t>
            </a:r>
            <a:endParaRPr lang="en-US" sz="800" dirty="0"/>
          </a:p>
        </p:txBody>
      </p:sp>
      <p:sp>
        <p:nvSpPr>
          <p:cNvPr id="46" name="Shape 41"/>
          <p:cNvSpPr/>
          <p:nvPr/>
        </p:nvSpPr>
        <p:spPr>
          <a:xfrm>
            <a:off x="6848856" y="1682496"/>
            <a:ext cx="2029968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2"/>
          <p:cNvSpPr/>
          <p:nvPr/>
        </p:nvSpPr>
        <p:spPr>
          <a:xfrm>
            <a:off x="6848856" y="1682496"/>
            <a:ext cx="64008" cy="30906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3"/>
          <p:cNvSpPr/>
          <p:nvPr/>
        </p:nvSpPr>
        <p:spPr>
          <a:xfrm>
            <a:off x="6848856" y="1682496"/>
            <a:ext cx="2029968" cy="40233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1737360"/>
            <a:ext cx="274320" cy="274320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7269480" y="171907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(signature)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6940296" y="215798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:</a:t>
            </a:r>
            <a:endParaRPr lang="en-US" sz="900" dirty="0"/>
          </a:p>
        </p:txBody>
      </p:sp>
      <p:sp>
        <p:nvSpPr>
          <p:cNvPr id="52" name="Text 46"/>
          <p:cNvSpPr/>
          <p:nvPr/>
        </p:nvSpPr>
        <p:spPr>
          <a:xfrm>
            <a:off x="6940296" y="23591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PNG cliquable dans la fiche → voir la signature</a:t>
            </a:r>
            <a:endParaRPr lang="en-US" sz="900" dirty="0"/>
          </a:p>
        </p:txBody>
      </p:sp>
      <p:sp>
        <p:nvSpPr>
          <p:cNvPr id="53" name="Shape 47"/>
          <p:cNvSpPr/>
          <p:nvPr/>
        </p:nvSpPr>
        <p:spPr>
          <a:xfrm>
            <a:off x="6940296" y="2852928"/>
            <a:ext cx="1847088" cy="0"/>
          </a:xfrm>
          <a:prstGeom prst="line">
            <a:avLst/>
          </a:prstGeom>
          <a:noFill/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48"/>
          <p:cNvSpPr/>
          <p:nvPr/>
        </p:nvSpPr>
        <p:spPr>
          <a:xfrm>
            <a:off x="6940296" y="29077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: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6940296" y="31089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Téléchargeable individuellement ou en export ZIP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6940296" y="3529584"/>
            <a:ext cx="1847088" cy="25603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1"/>
          <p:cNvSpPr/>
          <p:nvPr/>
        </p:nvSpPr>
        <p:spPr>
          <a:xfrm>
            <a:off x="6976872" y="354787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Exportée comme image PNG · Utile pour archivage légal</a:t>
            </a:r>
            <a:endParaRPr lang="en-US" sz="800" dirty="0"/>
          </a:p>
        </p:txBody>
      </p:sp>
      <p:sp>
        <p:nvSpPr>
          <p:cNvPr id="58" name="Shape 52"/>
          <p:cNvSpPr/>
          <p:nvPr/>
        </p:nvSpPr>
        <p:spPr>
          <a:xfrm>
            <a:off x="320040" y="4828032"/>
            <a:ext cx="8503920" cy="310896"/>
          </a:xfrm>
          <a:prstGeom prst="rect">
            <a:avLst/>
          </a:prstGeom>
          <a:solidFill>
            <a:srgbClr val="FFF8E1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4882896"/>
            <a:ext cx="201168" cy="201168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694944" y="4864608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groupé : Télécharger les données → cocher « Inclure les médias » → un ZIP est généré avec toutes les photos, signatures et audios.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et rechercher des soumissions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Trouver rapidement des données précises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261872"/>
            <a:ext cx="4114800" cy="38404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filtres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" y="1719072"/>
            <a:ext cx="3968496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3776" y="1719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soumission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38912" y="1938528"/>
            <a:ext cx="3968496" cy="201168"/>
          </a:xfrm>
          <a:prstGeom prst="rect">
            <a:avLst/>
          </a:prstGeom>
          <a:solidFill>
            <a:srgbClr val="F5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93776" y="1975104"/>
            <a:ext cx="146304" cy="146304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93776" y="19659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94944" y="197510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139696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93776" y="217627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94944" y="217627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semaine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" y="2340864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93776" y="237744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94944" y="237744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mois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38912" y="2542032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93776" y="257860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94944" y="2578608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personnalisée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" y="2798064"/>
            <a:ext cx="3968496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93776" y="2798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8912" y="3017520"/>
            <a:ext cx="3968496" cy="201168"/>
          </a:xfrm>
          <a:prstGeom prst="rect">
            <a:avLst/>
          </a:prstGeom>
          <a:solidFill>
            <a:srgbClr val="F5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93776" y="3054096"/>
            <a:ext cx="146304" cy="146304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93776" y="30449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94944" y="3054096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3218688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493776" y="325526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94944" y="325526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8912" y="3419856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93776" y="345643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94944" y="345643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38912" y="3621024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93776" y="3657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94944" y="365760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Bantè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" y="3822192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493776" y="38587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94944" y="3858768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8912" y="4078224"/>
            <a:ext cx="3968496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93776" y="40782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Enquêteur (Agent)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38912" y="4297680"/>
            <a:ext cx="3968496" cy="201168"/>
          </a:xfrm>
          <a:prstGeom prst="rect">
            <a:avLst/>
          </a:prstGeom>
          <a:solidFill>
            <a:srgbClr val="F5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93776" y="4334256"/>
            <a:ext cx="146304" cy="146304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93776" y="43251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4944" y="4334256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Dupont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38912" y="4498848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493776" y="4535424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94944" y="4535424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Kouassi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8912" y="4700016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93776" y="4736592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94944" y="4736592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Adé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8912" y="4956048"/>
            <a:ext cx="3968496" cy="20116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93776" y="4956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soumission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38912" y="5175504"/>
            <a:ext cx="3968496" cy="201168"/>
          </a:xfrm>
          <a:prstGeom prst="rect">
            <a:avLst/>
          </a:prstGeom>
          <a:solidFill>
            <a:srgbClr val="F5F5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93776" y="5212080"/>
            <a:ext cx="146304" cy="146304"/>
          </a:xfrm>
          <a:prstGeom prst="ellipse">
            <a:avLst/>
          </a:prstGeom>
          <a:solidFill>
            <a:srgbClr val="BA4A00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493776" y="52029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94944" y="5212080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38912" y="5376672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493776" y="541324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694944" y="5413248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38912" y="5577840"/>
            <a:ext cx="39684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493776" y="5614416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94944" y="5614416"/>
            <a:ext cx="3621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Marquée doublon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38912" y="4462272"/>
            <a:ext cx="3968496" cy="2743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38912" y="4462272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filtres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663440" y="1261872"/>
            <a:ext cx="4114800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4663440" y="1261872"/>
            <a:ext cx="4114800" cy="384048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4736592" y="1261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filtrés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736592" y="1719072"/>
            <a:ext cx="39684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BA4A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4791456" y="17556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Rechercher dans les résultats…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736592" y="2103120"/>
            <a:ext cx="195681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4773168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Commune: Glazoué  ✕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6784848" y="2103120"/>
            <a:ext cx="1956816" cy="2194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6821424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Jean D.  ✕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736592" y="2395728"/>
            <a:ext cx="3968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soumissions trouvées sur 216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736592" y="2651760"/>
            <a:ext cx="3968496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4773168" y="270662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5065776" y="27066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614416" y="27066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510528" y="2706624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51776" y="2706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54112" y="270662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736592" y="2999232"/>
            <a:ext cx="3968496" cy="32918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9" name="Text 87"/>
          <p:cNvSpPr/>
          <p:nvPr/>
        </p:nvSpPr>
        <p:spPr>
          <a:xfrm>
            <a:off x="4773168" y="3054096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065776" y="3054096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614416" y="3054096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510528" y="305409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351776" y="30540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754112" y="305409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736592" y="3346704"/>
            <a:ext cx="3968496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4773168" y="3401568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5065776" y="3401568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5614416" y="3401568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6510528" y="3401568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7351776" y="34015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7754112" y="340156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736592" y="4096512"/>
            <a:ext cx="3968496" cy="256032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4736592" y="4096512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Effacer tous les filtres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et personnaliser la vue tableau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Réorganiser et adapter l'affichage à vos besoins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435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8988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210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les colonnes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l'en-tête d'une colonne pour trier par ordre croissant ou décroissant. Deuxième clic = inverse. Ex : trier par date, par âge, par commune.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2311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249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trier par date décroissante pour voir les dernières soumissions en premier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61872"/>
            <a:ext cx="64008" cy="12435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38988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66944" y="13533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Afficher/masquer des colonnes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46320" y="17556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Colonnes » → cocher/décocher les questions à afficher. Masquer les colonnes non essentielles pour plus de lisibilité.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2311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2494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n'afficher que Date + Agent + Commune + Age pour une revue rapide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633472"/>
            <a:ext cx="64008" cy="12435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6148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2104" y="27249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Redimensionner les colonnes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11480" y="31272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Glisser les bordures d'en-tête pour ajuster la largeur de chaque colonne. La mise en page est conservée pendant la session.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6027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621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élargir la colonne « Commentaires » pour lire les réponses texte longues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633472"/>
            <a:ext cx="64008" cy="12435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761488"/>
            <a:ext cx="329184" cy="3291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66944" y="27249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galerie (photos)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4846320" y="31272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formulaire contient des photos, un bouton « Galerie » permet d'afficher les miniatures de toutes les photos côte à côte.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6027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6210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vérifier visuellement que toutes les photos de ménages ont bien été prises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4005072"/>
            <a:ext cx="64008" cy="12435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133088"/>
            <a:ext cx="329184" cy="32918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32104" y="4096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Grouper par valeur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411480" y="44988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une valeur de colonne → option « Grouper par cette valeur ». Regrouper par commune, par agent ou par date.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9743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9926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grouper par commune pour comparer la progression de collecte par zone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4005072"/>
            <a:ext cx="64008" cy="12435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133088"/>
            <a:ext cx="329184" cy="329184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66944" y="4096512"/>
            <a:ext cx="3602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tags/étiquettes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846320" y="4498848"/>
            <a:ext cx="4005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une soumission avec une étiquette personnalisée (ex : « À vérifier », « Doublon probable »). Non visible dans l'export.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974336"/>
            <a:ext cx="4005072" cy="201168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9926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: marquer les soumissions à valider avec le superviseur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et gérer les doublons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Détecter les soumissions en double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doublon = deux soumissions ou plus qui correspondent au même ménage ou répondant. Ils arrivent quand un enquêteur soumet deux fois accidentellement.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détecter les doublons 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65760" y="2084832"/>
            <a:ext cx="64008" cy="548640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249424"/>
            <a:ext cx="237744" cy="237744"/>
          </a:xfrm>
          <a:prstGeom prst="ellipse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249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" y="215798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par date + agent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" y="237744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par date puis par nom d'agent → les doublons apparaissent côte à côte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65760" y="2706624"/>
            <a:ext cx="64008" cy="54864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237744" cy="237744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2871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" y="277977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nom d'agent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" y="299923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sur un agent puis chercher des lignes similaires (même commune, même âge)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328416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65760" y="3328416"/>
            <a:ext cx="64008" cy="54864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237744" cy="237744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34930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340156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un identifiant unique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86384" y="362102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formulaire a un champ ID unique (ex: code_beneficiaire), trier par ce champ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950208"/>
            <a:ext cx="41148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64008" cy="54864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237744" cy="237744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" y="402336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depuis l'export XLS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6384" y="4242816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→ COUNTIF dans Excel pour compter les occurrences d'un identifiant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1737360"/>
            <a:ext cx="4114800" cy="202996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663440" y="1737360"/>
            <a:ext cx="4114800" cy="329184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36592" y="17373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— doublons détectés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36592" y="2103120"/>
            <a:ext cx="329184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791456" y="215798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65776" y="2103120"/>
            <a:ext cx="10058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120640" y="2157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71616" y="2103120"/>
            <a:ext cx="877824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6126480" y="215798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9440" y="2103120"/>
            <a:ext cx="475488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7004304" y="215798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24928" y="2103120"/>
            <a:ext cx="841248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479792" y="215798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36592" y="2414016"/>
            <a:ext cx="329184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791456" y="246888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065776" y="2414016"/>
            <a:ext cx="100584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9"/>
          <p:cNvSpPr/>
          <p:nvPr/>
        </p:nvSpPr>
        <p:spPr>
          <a:xfrm>
            <a:off x="5120640" y="2468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71616" y="2414016"/>
            <a:ext cx="877824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126480" y="2468880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49440" y="2414016"/>
            <a:ext cx="475488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7004304" y="24688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424928" y="2414016"/>
            <a:ext cx="841248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7479792" y="2468880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 09:12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58784" y="2450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36592" y="2743200"/>
            <a:ext cx="329184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4791456" y="27980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065776" y="2743200"/>
            <a:ext cx="1005840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120640" y="27980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071616" y="2743200"/>
            <a:ext cx="877824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126480" y="27980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49440" y="2743200"/>
            <a:ext cx="475488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004304" y="279806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24928" y="2743200"/>
            <a:ext cx="841248" cy="31089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7479792" y="279806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 09:48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558784" y="27797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36592" y="3072384"/>
            <a:ext cx="32918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69"/>
          <p:cNvSpPr/>
          <p:nvPr/>
        </p:nvSpPr>
        <p:spPr>
          <a:xfrm>
            <a:off x="4791456" y="31272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065776" y="3072384"/>
            <a:ext cx="10058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5120640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D.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071616" y="3072384"/>
            <a:ext cx="877824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5" name="Text 73"/>
          <p:cNvSpPr/>
          <p:nvPr/>
        </p:nvSpPr>
        <p:spPr>
          <a:xfrm>
            <a:off x="6126480" y="31272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949440" y="3072384"/>
            <a:ext cx="475488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7004304" y="312724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24928" y="3072384"/>
            <a:ext cx="841248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479792" y="31272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22/03 10:15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736592" y="3730752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#1 et #7 : même agent, même commune, même âge, horaires proches → doublon probable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4736592" y="4151376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faire avec un doublon ?</a:t>
            </a:r>
            <a:endParaRPr lang="en-US" sz="1200" dirty="0"/>
          </a:p>
        </p:txBody>
      </p:sp>
      <p:pic>
        <p:nvPicPr>
          <p:cNvPr id="8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462272"/>
            <a:ext cx="182880" cy="182880"/>
          </a:xfrm>
          <a:prstGeom prst="rect">
            <a:avLst/>
          </a:prstGeom>
        </p:spPr>
      </p:pic>
      <p:sp>
        <p:nvSpPr>
          <p:cNvPr id="83" name="Text 80"/>
          <p:cNvSpPr/>
          <p:nvPr/>
        </p:nvSpPr>
        <p:spPr>
          <a:xfrm>
            <a:off x="4974336" y="44439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deux soumissions côte à côte</a:t>
            </a:r>
            <a:endParaRPr lang="en-US" sz="1000" dirty="0"/>
          </a:p>
        </p:txBody>
      </p:sp>
      <p:pic>
        <p:nvPicPr>
          <p:cNvPr id="8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718304"/>
            <a:ext cx="182880" cy="182880"/>
          </a:xfrm>
          <a:prstGeom prst="rect">
            <a:avLst/>
          </a:prstGeom>
        </p:spPr>
      </p:pic>
      <p:sp>
        <p:nvSpPr>
          <p:cNvPr id="85" name="Text 81"/>
          <p:cNvSpPr/>
          <p:nvPr/>
        </p:nvSpPr>
        <p:spPr>
          <a:xfrm>
            <a:off x="4974336" y="4700016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la plus complète / la plus récente</a:t>
            </a:r>
            <a:endParaRPr lang="en-US" sz="1000" dirty="0"/>
          </a:p>
        </p:txBody>
      </p:sp>
      <p:pic>
        <p:nvPicPr>
          <p:cNvPr id="8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4974336"/>
            <a:ext cx="182880" cy="182880"/>
          </a:xfrm>
          <a:prstGeom prst="rect">
            <a:avLst/>
          </a:prstGeom>
        </p:spPr>
      </p:pic>
      <p:sp>
        <p:nvSpPr>
          <p:cNvPr id="87" name="Text 82"/>
          <p:cNvSpPr/>
          <p:nvPr/>
        </p:nvSpPr>
        <p:spPr>
          <a:xfrm>
            <a:off x="4974336" y="49560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le doublon après vérification</a:t>
            </a:r>
            <a:endParaRPr lang="en-US" sz="1000" dirty="0"/>
          </a:p>
        </p:txBody>
      </p:sp>
      <p:pic>
        <p:nvPicPr>
          <p:cNvPr id="8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5230368"/>
            <a:ext cx="182880" cy="182880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4974336" y="5212080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l'incident dans un fichier de suivi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collectées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avant analyse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d'analyser ou d'exporter les données, une phase de validation permet de détecter les erreurs et incohérences.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82496"/>
            <a:ext cx="274320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82496"/>
            <a:ext cx="64008" cy="309067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20040" y="1682496"/>
            <a:ext cx="2743200" cy="384048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11480" y="1719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" y="177393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quantitative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39696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67512" y="21214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soumissions = objectif terrain ?</a:t>
            </a:r>
            <a:endParaRPr lang="en-US" sz="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23744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67512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zones géographiques sont couvertes ?</a:t>
            </a:r>
            <a:endParaRPr lang="en-US" sz="9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90779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" y="28895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par enquêteur homogènes ?</a:t>
            </a:r>
            <a:endParaRPr lang="en-US" sz="95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91840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" y="32735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cohérentes avec la période de collecte ?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00400" y="1682496"/>
            <a:ext cx="274320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3200400" y="1682496"/>
            <a:ext cx="64008" cy="309067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0"/>
          <p:cNvSpPr/>
          <p:nvPr/>
        </p:nvSpPr>
        <p:spPr>
          <a:xfrm>
            <a:off x="3200400" y="1682496"/>
            <a:ext cx="2743200" cy="38404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1"/>
          <p:cNvSpPr/>
          <p:nvPr/>
        </p:nvSpPr>
        <p:spPr>
          <a:xfrm>
            <a:off x="3291840" y="1719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2"/>
          <p:cNvSpPr/>
          <p:nvPr/>
        </p:nvSpPr>
        <p:spPr>
          <a:xfrm>
            <a:off x="329184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3694176" y="177393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qualitative</a:t>
            </a:r>
            <a:endParaRPr lang="en-US" sz="11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139696"/>
            <a:ext cx="201168" cy="20116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547872" y="21214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 (âge = 340, taille = 12…) ?</a:t>
            </a:r>
            <a:endParaRPr lang="en-US" sz="95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523744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47872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dans la zone attendue ?</a:t>
            </a:r>
            <a:endParaRPr lang="en-US" sz="9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90779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47872" y="28895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manquantes ou floues ?</a:t>
            </a:r>
            <a:endParaRPr lang="en-US" sz="9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3291840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547872" y="32735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Soumissions trop rapides (&lt; 2 min) ?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080760" y="1682496"/>
            <a:ext cx="2743200" cy="309067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9" name="Shape 29"/>
          <p:cNvSpPr/>
          <p:nvPr/>
        </p:nvSpPr>
        <p:spPr>
          <a:xfrm>
            <a:off x="6080760" y="1682496"/>
            <a:ext cx="64008" cy="309067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Shape 30"/>
          <p:cNvSpPr/>
          <p:nvPr/>
        </p:nvSpPr>
        <p:spPr>
          <a:xfrm>
            <a:off x="6080760" y="1682496"/>
            <a:ext cx="2743200" cy="38404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Shape 31"/>
          <p:cNvSpPr/>
          <p:nvPr/>
        </p:nvSpPr>
        <p:spPr>
          <a:xfrm>
            <a:off x="6172200" y="171907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2"/>
          <p:cNvSpPr/>
          <p:nvPr/>
        </p:nvSpPr>
        <p:spPr>
          <a:xfrm>
            <a:off x="617220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6574536" y="1773936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logique</a:t>
            </a:r>
            <a:endParaRPr lang="en-US" sz="1100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39696"/>
            <a:ext cx="201168" cy="20116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428232" y="2121408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personnes &gt; 16 ans ≤ nb total ménage ?</a:t>
            </a:r>
            <a:endParaRPr lang="en-US" sz="950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523744"/>
            <a:ext cx="201168" cy="20116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428232" y="2505456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matrimoniaux cohérents avec l'âge ?</a:t>
            </a:r>
            <a:endParaRPr lang="en-US" sz="950" dirty="0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907792"/>
            <a:ext cx="201168" cy="201168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6428232" y="2889504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sur identifiants ou GPS ?</a:t>
            </a:r>
            <a:endParaRPr lang="en-US" sz="95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91840"/>
            <a:ext cx="201168" cy="201168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428232" y="3273552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obligatoires toutes remplies ?</a:t>
            </a:r>
            <a:endParaRPr lang="en-US" sz="950" dirty="0"/>
          </a:p>
        </p:txBody>
      </p:sp>
      <p:sp>
        <p:nvSpPr>
          <p:cNvPr id="52" name="Shape 38"/>
          <p:cNvSpPr/>
          <p:nvPr/>
        </p:nvSpPr>
        <p:spPr>
          <a:xfrm>
            <a:off x="320040" y="4828032"/>
            <a:ext cx="850392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Text 39"/>
          <p:cNvSpPr/>
          <p:nvPr/>
        </p:nvSpPr>
        <p:spPr>
          <a:xfrm>
            <a:off x="411480" y="4828032"/>
            <a:ext cx="8366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disponibles dans KoboToolbox pour la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courantes — Gestion des soumissions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Pièges à éviter lors du suivi des données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64008" cy="1133856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9552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soumission sans noter la correction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1148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sans documenter la raison et la valeur originale rend l'audit impossible. L'historique Kobo garde l'heure mais pas la justification.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4805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Tenir un journal de corrections (Excel ou Google Sheets) avec : #soumission · champ · valeur avant · valeur après · raison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64008" cy="1133856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35331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des données sans exporter d'abord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846320" y="1700784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suppression est irréversible. Si une erreur survient, il n'y a aucun moyen de récupérer les données supprimées.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846320" y="2157984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4882896" y="217627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Toujours exporter en XLS avant toute suppression · Conserver l'export dans un dossier sécurisé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2004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0"/>
          <p:cNvSpPr/>
          <p:nvPr/>
        </p:nvSpPr>
        <p:spPr>
          <a:xfrm>
            <a:off x="320040" y="2487168"/>
            <a:ext cx="64008" cy="11338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7860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9552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Confondre « Vue » et « Données brutes »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41148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filtres actifs dans l'onglet Data n'affectent pas l'export. L'export contient toujours toutes les soumissions sauf suppression.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41148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44805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que le filtre est désactivé avant d'analyser le nombre total de soumissions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4754880" y="2487168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6"/>
          <p:cNvSpPr/>
          <p:nvPr/>
        </p:nvSpPr>
        <p:spPr>
          <a:xfrm>
            <a:off x="4754880" y="2487168"/>
            <a:ext cx="64008" cy="1133856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578608"/>
            <a:ext cx="292608" cy="29260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30368" y="2560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vérifier les doublons avant l'analyse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846320" y="2907792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doublons non détectés faussent tous les calculs statistiques (moyennes, totaux, proportions).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4846320" y="3364992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0"/>
          <p:cNvSpPr/>
          <p:nvPr/>
        </p:nvSpPr>
        <p:spPr>
          <a:xfrm>
            <a:off x="4882896" y="338328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Vérifier les doublons AVANT tout export d'analyse · Créer un champ ID unique dans le formulaire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32004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2"/>
          <p:cNvSpPr/>
          <p:nvPr/>
        </p:nvSpPr>
        <p:spPr>
          <a:xfrm>
            <a:off x="320040" y="3694176"/>
            <a:ext cx="64008" cy="1133856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85616"/>
            <a:ext cx="292608" cy="29260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9552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des données sans autorisation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41148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les données collectées sans protocole validé peut compromettre l'intégrité scientifique de l'enquête.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41148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6"/>
          <p:cNvSpPr/>
          <p:nvPr/>
        </p:nvSpPr>
        <p:spPr>
          <a:xfrm>
            <a:off x="44805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Établir un protocole clair : qui peut modifier, quand, avec quelle validation superviseur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4754880" y="3694176"/>
            <a:ext cx="4206240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38"/>
          <p:cNvSpPr/>
          <p:nvPr/>
        </p:nvSpPr>
        <p:spPr>
          <a:xfrm>
            <a:off x="4754880" y="3694176"/>
            <a:ext cx="64008" cy="113385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785616"/>
            <a:ext cx="292608" cy="29260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230368" y="3767328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Ignorer les métadonnées de soumission</a:t>
            </a:r>
            <a:endParaRPr lang="en-US" sz="1150" dirty="0"/>
          </a:p>
        </p:txBody>
      </p:sp>
      <p:sp>
        <p:nvSpPr>
          <p:cNvPr id="48" name="Text 40"/>
          <p:cNvSpPr/>
          <p:nvPr/>
        </p:nvSpPr>
        <p:spPr>
          <a:xfrm>
            <a:off x="4846320" y="4114800"/>
            <a:ext cx="4005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durée d'entretien et l'heure sont des indicateurs de qualité. Une soumission de 30 secondes pour 20 questions est suspecte.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4846320" y="4572000"/>
            <a:ext cx="4005072" cy="201168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4882896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Exporter les colonnes de métadonnées et vérifier la durée et l'heure pour chaque enquêteur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avancées de l'onglet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plus loin dans la gestion des soumissions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64008" cy="12435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261872"/>
            <a:ext cx="4206240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11480" y="1298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données (XLSForm)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16093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champ « validation_status » dans le formulaire pour marquer chaque soumission comme Approuvée / En révision / Rejetée depuis l'onglet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1396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48056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dans les paramètres du projet → colonne Validation apparaît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2618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1261872"/>
            <a:ext cx="64008" cy="124358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754880" y="1261872"/>
            <a:ext cx="4206240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846320" y="1298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 sur une soumission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093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commentaire textuel sur une soumission spécifique sans modifier les données. Visible par toute l'équipe ayant accès au projet.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21396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82896" y="21579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soumission → bouton Commentaire → écrire et enregistrer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20040" y="2633472"/>
            <a:ext cx="64008" cy="1243584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20040" y="2633472"/>
            <a:ext cx="4206240" cy="2743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2670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d'une soumission unique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29809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lien direct vers une soumission spécifique à partager avec un superviseur ou partenaire pour révision.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5112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48056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soumission → bouton Partager → copier le lien direct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6334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754880" y="2633472"/>
            <a:ext cx="64008" cy="124358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54880" y="2633472"/>
            <a:ext cx="4206240" cy="27432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46320" y="2670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en temps réel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29809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L'onglet Data affiche des mini-statistiques par colonne (min, max, moyenne, nb valeurs). Cliquer sur l'en-tête d'une colonne numérique.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5112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82896" y="35295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le nom de colonne → panneau statistiques s'ouvre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4005072"/>
            <a:ext cx="64008" cy="124358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20040" y="4005072"/>
            <a:ext cx="4206240" cy="2743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11480" y="40416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filtré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1480" y="43525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des filtres dans l'onglet Data AVANT d'exporter. L'export ne contiendra que les soumissions filtrées.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8828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48056" y="4901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actifs → Télécharger → XLS contient seulement les lignes filtrées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4005072"/>
            <a:ext cx="4206240" cy="124358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754880" y="4005072"/>
            <a:ext cx="64008" cy="1243584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754880" y="4005072"/>
            <a:ext cx="4206240" cy="274320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846320" y="40416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validation en équipe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352544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éditeurs peuvent marquer des soumissions simultanément. Chaque modification est horodatée et associée à l'utilisateur.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46320" y="4882896"/>
            <a:ext cx="4005072" cy="292608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82896" y="4901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A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des éditeurs dans les paramètres du projet → chacun voit les modifications des autres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 — Supervision VEZO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d'une journée de collecte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61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journée J1 — 5 enquêteurs · 3 communes · Objectif : 50 soumissions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0934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1609344"/>
            <a:ext cx="64008" cy="155448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29768" y="168249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Dupont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2121408"/>
            <a:ext cx="2523744" cy="1463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29768" y="2121408"/>
            <a:ext cx="2523744" cy="14630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29768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12 ménages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" y="2560320"/>
            <a:ext cx="2523744" cy="2011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29768" y="25603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 soumission à vérifier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27832" y="160934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27832" y="1609344"/>
            <a:ext cx="64008" cy="155448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337560" y="168249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 Kouassi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Glazoué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121408"/>
            <a:ext cx="2523744" cy="1463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3337560" y="2121408"/>
            <a:ext cx="2313432" cy="14630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337560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 ménages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560320"/>
            <a:ext cx="2523744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337560" y="25603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Qualité OK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135624" y="160934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135624" y="1609344"/>
            <a:ext cx="64008" cy="15544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45352" y="168249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Adé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45352" y="1883664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Savalou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45352" y="2121408"/>
            <a:ext cx="2523744" cy="1463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6245352" y="2121408"/>
            <a:ext cx="2018995" cy="14630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6245352" y="2304288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 ménages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45352" y="2560320"/>
            <a:ext cx="2523744" cy="2011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245352" y="2560320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2 soumissions à vérifier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291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320040" y="3291840"/>
            <a:ext cx="64008" cy="1554480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29768" y="33649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Fatou Diallo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9768" y="3566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9768" y="3803904"/>
            <a:ext cx="2523744" cy="1463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429768" y="3803904"/>
            <a:ext cx="2271370" cy="146304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429768" y="3986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 ménages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" y="4242816"/>
            <a:ext cx="2523744" cy="201168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29768" y="42428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Qualité OK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27832" y="3291840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3227832" y="3291840"/>
            <a:ext cx="64008" cy="1554480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3337560" y="336499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Kofi Mensah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337560" y="356616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Dassa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37560" y="3803904"/>
            <a:ext cx="2523744" cy="14630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3337560" y="3803904"/>
            <a:ext cx="1682496" cy="146304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337560" y="398678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 ménages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37560" y="4242816"/>
            <a:ext cx="2523744" cy="20116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337560" y="424281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 soumission à vérifier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0040" y="4791456"/>
            <a:ext cx="850392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411480" y="48280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J1 : 46 / 50 soumissions  ·  3 à vérifier  ·  0 doublon confirmé  ·  Photos OK : 43/46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rapide — Actions dans l'onglet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qu'on peut faire et comment y accéder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2377440" cy="310896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74904" y="1280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1261872"/>
            <a:ext cx="1737360" cy="310896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70632" y="1280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71416" y="1261872"/>
            <a:ext cx="1554480" cy="310896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26280" y="1280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peut faire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261872"/>
            <a:ext cx="2560320" cy="310896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099048" y="12801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591056"/>
            <a:ext cx="23774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74904" y="160934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une soumission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15768" y="1591056"/>
            <a:ext cx="17373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70632" y="16093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→ Voir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71416" y="1591056"/>
            <a:ext cx="15544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26280" y="16093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44184" y="1591056"/>
            <a:ext cx="25603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099048" y="16093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— lecture seule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920240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74904" y="193852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une soumission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15768" y="1920240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70632" y="19385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→ Modifier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71416" y="1920240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26280" y="1938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Éditeur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44184" y="1920240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099048" y="19385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 les données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249424"/>
            <a:ext cx="23774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374904" y="2267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soumission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15768" y="2249424"/>
            <a:ext cx="17373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770632" y="22677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→ Supprimer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71416" y="2249424"/>
            <a:ext cx="15544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26280" y="22677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Éditeur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44184" y="2249424"/>
            <a:ext cx="25603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6099048" y="22677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Irréversible !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2578608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74904" y="259689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les médias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15768" y="2578608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770632" y="2596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→ Cliquer photo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471416" y="2578608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526280" y="25968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44184" y="2578608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6099048" y="2596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— export local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2907792"/>
            <a:ext cx="23774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374904" y="29260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les soumissions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15768" y="2907792"/>
            <a:ext cx="17373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70632" y="2926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Filtres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471416" y="2907792"/>
            <a:ext cx="15544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526280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044184" y="2907792"/>
            <a:ext cx="25603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099048" y="292608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temporaire uniquement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0040" y="3236976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74904" y="32552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les colonnes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715768" y="3236976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770632" y="32552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en-tête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471416" y="3236976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526280" y="32552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044184" y="3236976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6099048" y="32552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temporaire uniquement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3566160"/>
            <a:ext cx="23774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374904" y="35844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Masquer des colonnes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15768" y="3566160"/>
            <a:ext cx="17373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2770632" y="3584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Colonnes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471416" y="3566160"/>
            <a:ext cx="15544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526280" y="3584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044184" y="3566160"/>
            <a:ext cx="25603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6099048" y="35844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temporaire uniquement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20040" y="3895344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374904" y="39136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status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15768" y="3895344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2770632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 Validation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471416" y="3895344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526280" y="39136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Éditeur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6044184" y="3895344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6099048" y="391363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Marquage persistent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20040" y="4224528"/>
            <a:ext cx="237744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374904" y="42428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données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715768" y="4224528"/>
            <a:ext cx="173736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2770632" y="42428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471416" y="4224528"/>
            <a:ext cx="155448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4526280" y="42428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Éditeur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044184" y="4224528"/>
            <a:ext cx="2560320" cy="310896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6099048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un fichier XLS/CSV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20040" y="4553712"/>
            <a:ext cx="237744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374904" y="4572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commentaire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715768" y="4553712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Text 90"/>
          <p:cNvSpPr/>
          <p:nvPr/>
        </p:nvSpPr>
        <p:spPr>
          <a:xfrm>
            <a:off x="2770632" y="45720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→ Commentaire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471416" y="4553712"/>
            <a:ext cx="15544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4526280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rôles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6044184" y="4553712"/>
            <a:ext cx="256032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6099048" y="4572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· non exporté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ED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118872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128016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— Module 8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qu'il faut retenir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KoboToolbox de A à Z — Module 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901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64008" cy="438912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438912" cy="438912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280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984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31673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toutes les soumissions · colonnes personnalisables · 216 lignes en temps réel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79222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1792224"/>
            <a:ext cx="64008" cy="438912"/>
          </a:xfrm>
          <a:prstGeom prst="rect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47472" y="1792224"/>
            <a:ext cx="438912" cy="438912"/>
          </a:xfrm>
          <a:prstGeom prst="ellipse">
            <a:avLst/>
          </a:prstGeom>
          <a:solidFill>
            <a:srgbClr val="0E66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18105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0" y="188366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95728" y="18288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 → Modifier · formulaire pré-rempli · historique conservé · Admin ou Éditeur uniquement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304288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2304288"/>
            <a:ext cx="64008" cy="438912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2304288"/>
            <a:ext cx="438912" cy="438912"/>
          </a:xfrm>
          <a:prstGeom prst="ellipse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32257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2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95728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395728" y="2340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IRRÉVERSIBLE · toujours exporter avant · doublon ou test uniquement · confirmation requise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16352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74320" y="2816352"/>
            <a:ext cx="64008" cy="43891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347472" y="2816352"/>
            <a:ext cx="438912" cy="438912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47472" y="28163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283464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0" y="2907792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95728" y="285292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cliquables · audio streamé · signatures PNG · export groupé en ZIP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328416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74320" y="3328416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347472" y="3328416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347472" y="33284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334670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286000" y="3419856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395728" y="33649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date/agent/commune · chips visuels · réinitialisation facile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840480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74320" y="3840480"/>
            <a:ext cx="64008" cy="438912"/>
          </a:xfrm>
          <a:prstGeom prst="rect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347472" y="3840480"/>
            <a:ext cx="438912" cy="438912"/>
          </a:xfrm>
          <a:prstGeom prst="ellipse">
            <a:avLst/>
          </a:prstGeom>
          <a:solidFill>
            <a:srgbClr val="BA4A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347472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385876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Trier/Colonnes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286000" y="3931920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395728" y="387705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sur en-tête pour trier · bouton Colonnes pour masquer · vue galerie pour photos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4320" y="4352544"/>
            <a:ext cx="8595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74320" y="4352544"/>
            <a:ext cx="64008" cy="438912"/>
          </a:xfrm>
          <a:prstGeom prst="rect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347472" y="4352544"/>
            <a:ext cx="438912" cy="438912"/>
          </a:xfrm>
          <a:prstGeom prst="ellipse">
            <a:avLst/>
          </a:prstGeom>
          <a:solidFill>
            <a:srgbClr val="9A7D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347472" y="4352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A7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286000" y="4443984"/>
            <a:ext cx="36576" cy="274320"/>
          </a:xfrm>
          <a:prstGeom prst="rect">
            <a:avLst/>
          </a:prstGeom>
          <a:solidFill>
            <a:srgbClr val="D0D8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95728" y="43891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Trier par agent+date · vérifier GPS similaire · garder la plus complète · documenter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6217920" y="-457200"/>
            <a:ext cx="4114800" cy="68580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 rot="900000">
            <a:off x="6858000" y="-457200"/>
            <a:ext cx="4114800" cy="6858000"/>
          </a:xfrm>
          <a:prstGeom prst="rect">
            <a:avLst/>
          </a:prstGeom>
          <a:solidFill>
            <a:srgbClr val="0A274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solidFill>
            <a:srgbClr val="922B2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VIDÉOS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19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13–14 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57200" y="3072384"/>
            <a:ext cx="32004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Rapports automatiques — graphiques et statistiques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51129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Personnaliser les rapports par question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822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Vue carte pour les données GPS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Partager un rapport public avec un lien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4439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Télécharger les graphiques en PNG/PDF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Abonnez-vous pour ne pas manquer la suite !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7200" y="491947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· Commentaire · Partage — ça aide vraiment 🙌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2742</Words>
  <Application>Microsoft Office PowerPoint</Application>
  <PresentationFormat>Affichage à l'écran (16:9)</PresentationFormat>
  <Paragraphs>551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KoboToolbox – Module 8 : Gestion &amp; suivi des soumissions</dc:title>
  <dc:subject>PptxGenJS Presentation</dc:subject>
  <dc:creator>PptxGenJS</dc:creator>
  <cp:lastModifiedBy>Ahlou Alphonse Euphreme</cp:lastModifiedBy>
  <cp:revision>1</cp:revision>
  <dcterms:created xsi:type="dcterms:W3CDTF">2026-03-22T18:50:41Z</dcterms:created>
  <dcterms:modified xsi:type="dcterms:W3CDTF">2026-04-19T16:33:48Z</dcterms:modified>
</cp:coreProperties>
</file>