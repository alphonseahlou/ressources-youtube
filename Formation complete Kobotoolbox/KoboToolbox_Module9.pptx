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2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77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lou Alphonse Euphreme" userId="f12afe77-4db7-47e3-b604-bb0d456a5c02" providerId="ADAL" clId="{4890F534-C102-41F9-978A-E7DBDB1CFE02}"/>
    <pc:docChg chg="undo custSel addSld delSld modSld">
      <pc:chgData name="Ahlou Alphonse Euphreme" userId="f12afe77-4db7-47e3-b604-bb0d456a5c02" providerId="ADAL" clId="{4890F534-C102-41F9-978A-E7DBDB1CFE02}" dt="2026-06-20T19:23:49.086" v="5" actId="47"/>
      <pc:docMkLst>
        <pc:docMk/>
      </pc:docMkLst>
      <pc:sldChg chg="modSp del">
        <pc:chgData name="Ahlou Alphonse Euphreme" userId="f12afe77-4db7-47e3-b604-bb0d456a5c02" providerId="ADAL" clId="{4890F534-C102-41F9-978A-E7DBDB1CFE02}" dt="2026-06-20T19:23:49.086" v="5" actId="47"/>
        <pc:sldMkLst>
          <pc:docMk/>
          <pc:sldMk cId="0" sldId="268"/>
        </pc:sldMkLst>
      </pc:sldChg>
      <pc:sldChg chg="modSp add del">
        <pc:chgData name="Ahlou Alphonse Euphreme" userId="f12afe77-4db7-47e3-b604-bb0d456a5c02" providerId="ADAL" clId="{4890F534-C102-41F9-978A-E7DBDB1CFE02}" dt="2026-06-20T19:23:20.793" v="4" actId="47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436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 ·  Vidéos 13–14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min  ·  Rapports · Graphiques · Cartes GPS · Partage public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50208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95020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2316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GPS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5020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2628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6656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9502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2940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Module 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brutes aux visualisations partageables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475488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8992" y="13075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L'onglet Reports — vue d'ensemble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1536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et statistiques automatiques par question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64008" cy="47548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8470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78992" y="1856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graphiques disponibles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2084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Barres · Secteurs · Lignes · Tableau de fréquences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64008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78992" y="24048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Personnaliser un rapport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2633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Filtrer, regrouper, modifier les couleurs et les titres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64008" cy="4754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29443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78992" y="29535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vue carte — données GPS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8992" y="318211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les soumissions avec les coordonnées GPS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64008" cy="4754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49300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78992" y="35021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un rapport public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" y="37307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 lien public accessible sans compte Kobo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0233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4023360"/>
            <a:ext cx="64008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40416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78992" y="40507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les graphiques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78992" y="4279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en PNG, PDF ou imprimer directement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" y="4572000"/>
            <a:ext cx="64008" cy="475488"/>
          </a:xfrm>
          <a:prstGeom prst="rect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7200" y="45902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078992" y="45994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compléments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78992" y="48280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exporter vers Excel, Power BI ou Google Data Studio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L'onglet Reports — Vue d'ensemble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Rapports automatiques générés par KoboToolbox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L'onglet Reports génère automatiquement un graphique ou une statistique pour chaque question du formulaire. Aucune configuration nécessaire — les rapports sont disponibles dès la première soumission.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8412480" cy="2999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773936"/>
            <a:ext cx="841248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7739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48256" y="17739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30752" y="17739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13248" y="1773936"/>
            <a:ext cx="1682496" cy="34747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13248" y="17739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95744" y="1773936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8412480" cy="31089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21579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: Enquête_VEZO_2024 — 216 soumissions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52160" y="2139696"/>
            <a:ext cx="585216" cy="25603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852160" y="213969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510528" y="2139696"/>
            <a:ext cx="585216" cy="25603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510528" y="213969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168896" y="2139696"/>
            <a:ext cx="585216" cy="25603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168896" y="213969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827264" y="2139696"/>
            <a:ext cx="585216" cy="25603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827264" y="213969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38912" y="2487168"/>
            <a:ext cx="2633472" cy="310896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30352" y="2487168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de résidence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" y="2615184"/>
            <a:ext cx="365760" cy="91440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93776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1005840" y="2821661"/>
            <a:ext cx="365760" cy="707923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987552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Savalou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499616" y="2733171"/>
            <a:ext cx="365760" cy="796413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481328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Dassa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993392" y="3101881"/>
            <a:ext cx="365760" cy="427703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975104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Bantè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487168" y="3190371"/>
            <a:ext cx="365760" cy="339213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468880" y="398678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Savè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512064" y="25968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291840" y="2487168"/>
            <a:ext cx="2633472" cy="3108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383280" y="2487168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du répondant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67328" y="2798064"/>
            <a:ext cx="1097280" cy="109728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3767328" y="2798064"/>
            <a:ext cx="640080" cy="1097280"/>
          </a:xfrm>
          <a:prstGeom prst="ellipse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3767328" y="279806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3767328" y="29443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Féminin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084064" y="307238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Féminin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742432" y="3072384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84064" y="334670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Masculin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742432" y="3346704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44768" y="2487168"/>
            <a:ext cx="2560320" cy="3108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236208" y="24871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interventions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36208" y="2798064"/>
            <a:ext cx="438912" cy="9144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6217920" y="398678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6821424" y="2965332"/>
            <a:ext cx="438912" cy="747132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6803136" y="398678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406640" y="3255264"/>
            <a:ext cx="438912" cy="45720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7388352" y="398678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7991856" y="3422532"/>
            <a:ext cx="438912" cy="2899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7973568" y="398678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38912" y="4828032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rapport est généré automatiquement pour chacune des 18 questions — faire défiler pour tout voir.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graphiques disponibles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Kobo choisit automatiquement selon le type de question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225296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8176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04" y="1353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en barres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177393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Choix unique (select_one) · Choix multiple · Variables catégorielles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197510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 nombre et le pourcentage de répondants pour chaque choix. Barres horizontales ou verticales selon le nb de modalités.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2322576"/>
            <a:ext cx="4005072" cy="109728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48056" y="2340864"/>
            <a:ext cx="3931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Commune · Sexe · Religion · Niveau d'étude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54880" y="1261872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754880" y="1261872"/>
            <a:ext cx="64008" cy="12252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08176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66944" y="1353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en secteurs (camembert)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46320" y="177393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Variables binaires ou à peu de modalités (2–5 valeurs)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846320" y="197510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visualiser la répartition proportionnelle. Affiche les % sur chaque secteur.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846320" y="2322576"/>
            <a:ext cx="4005072" cy="10972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4882896" y="2340864"/>
            <a:ext cx="3931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Connaissez-vous ONG VEZO ? · Sexe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320040" y="2615184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320040" y="2615184"/>
            <a:ext cx="64008" cy="12252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61488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2104" y="270662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Histogramme / Distribution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11480" y="312724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Variables numériques : âge, taille, nombre de personnes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11480" y="332841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 la distribution des valeurs : moyenne, médiane, min, max, quartiles.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11480" y="3675888"/>
            <a:ext cx="4005072" cy="10972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7"/>
          <p:cNvSpPr/>
          <p:nvPr/>
        </p:nvSpPr>
        <p:spPr>
          <a:xfrm>
            <a:off x="448056" y="3694176"/>
            <a:ext cx="3931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Âge · Nb personnes ménage · Taille · Score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4754880" y="2615184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29"/>
          <p:cNvSpPr/>
          <p:nvPr/>
        </p:nvSpPr>
        <p:spPr>
          <a:xfrm>
            <a:off x="4754880" y="2615184"/>
            <a:ext cx="64008" cy="122529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61488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266944" y="270662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fréquences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846320" y="3127248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Toutes les questions — vue complémentaire aux graphiques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4846320" y="332841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avec colonne Valeur · Fréquence · Pourcentage. Exportable en XLS.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4846320" y="3675888"/>
            <a:ext cx="4005072" cy="1097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4"/>
          <p:cNvSpPr/>
          <p:nvPr/>
        </p:nvSpPr>
        <p:spPr>
          <a:xfrm>
            <a:off x="4882896" y="3694176"/>
            <a:ext cx="3931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Toutes les questions — tableau de bord textuel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320040" y="3968496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36"/>
          <p:cNvSpPr/>
          <p:nvPr/>
        </p:nvSpPr>
        <p:spPr>
          <a:xfrm>
            <a:off x="320040" y="3968496"/>
            <a:ext cx="64008" cy="122529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114800"/>
            <a:ext cx="329184" cy="32918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832104" y="405993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 points (geopoint)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411480" y="448056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Questions de type geopoint uniquement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411480" y="468172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chaque soumission comme un point sur une carte interactive. Cluster automatique selon le zoom.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411480" y="5029200"/>
            <a:ext cx="4005072" cy="1097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1"/>
          <p:cNvSpPr/>
          <p:nvPr/>
        </p:nvSpPr>
        <p:spPr>
          <a:xfrm>
            <a:off x="448056" y="5047488"/>
            <a:ext cx="3931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Localisation GPS des ménages enquêtés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4754880" y="3968496"/>
            <a:ext cx="4206240" cy="12252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43"/>
          <p:cNvSpPr/>
          <p:nvPr/>
        </p:nvSpPr>
        <p:spPr>
          <a:xfrm>
            <a:off x="4754880" y="3968496"/>
            <a:ext cx="64008" cy="12252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114800"/>
            <a:ext cx="329184" cy="329184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266944" y="405993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— Nuage de mots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4846320" y="448056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Questions texte ouvertes (type text)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4846320" y="468172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Nuage de mots-clés des réponses libres. Fréquence = taille du mot.</a:t>
            </a:r>
            <a:endParaRPr lang="en-US" sz="950" dirty="0"/>
          </a:p>
        </p:txBody>
      </p:sp>
      <p:sp>
        <p:nvSpPr>
          <p:cNvPr id="55" name="Shape 47"/>
          <p:cNvSpPr/>
          <p:nvPr/>
        </p:nvSpPr>
        <p:spPr>
          <a:xfrm>
            <a:off x="4846320" y="5029200"/>
            <a:ext cx="4005072" cy="10972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48"/>
          <p:cNvSpPr/>
          <p:nvPr/>
        </p:nvSpPr>
        <p:spPr>
          <a:xfrm>
            <a:off x="4882896" y="5047488"/>
            <a:ext cx="39319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Témoignages sur le rôle de la femme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rapport — Enquête ONG VEZO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 4 questions clés du formulaire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17739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773936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02336" y="1298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de résidence (n=216)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" y="1572768"/>
            <a:ext cx="3657600" cy="201168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02336" y="15910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0" y="15910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 (29%)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2336" y="1847088"/>
            <a:ext cx="2831690" cy="201168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02336" y="18653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Savalou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88890" y="18653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 (22%)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02336" y="2121408"/>
            <a:ext cx="3185652" cy="201168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02336" y="21396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42852" y="2139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 (25%)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02336" y="2395728"/>
            <a:ext cx="1710813" cy="201168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02336" y="24140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Bantè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68013" y="24140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(13%)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2336" y="2670048"/>
            <a:ext cx="1356852" cy="201168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02336" y="268833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Savè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14052" y="26883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(11%)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1261872"/>
            <a:ext cx="4114800" cy="177393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663440" y="1261872"/>
            <a:ext cx="64008" cy="177393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36592" y="1298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du répondant (n=216)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74336" y="1572768"/>
            <a:ext cx="1316736" cy="1316736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5230368" y="1828800"/>
            <a:ext cx="804672" cy="8046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303520" y="19568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55664" y="1664208"/>
            <a:ext cx="182880" cy="18288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693408" y="166420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Féminin — 63%  (136 rép.)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55664" y="2121408"/>
            <a:ext cx="182880" cy="182880"/>
          </a:xfrm>
          <a:prstGeom prst="ellipse">
            <a:avLst/>
          </a:prstGeom>
          <a:solidFill>
            <a:srgbClr val="AAAA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693408" y="212140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Masculin — 37%  (80 rép.)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108960"/>
            <a:ext cx="4114800" cy="16824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0040" y="3108960"/>
            <a:ext cx="64008" cy="16824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02336" y="3145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des interventions (n=216)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02336" y="3419856"/>
            <a:ext cx="3474720" cy="1828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02336" y="343814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satisfait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31920" y="34381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(38%)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" y="3657600"/>
            <a:ext cx="2839100" cy="18288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02336" y="367588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satisfait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96300" y="36758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(31%)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2336" y="3895344"/>
            <a:ext cx="1737360" cy="18288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02336" y="39136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satisfait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194560" y="39136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(19%)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02336" y="4133088"/>
            <a:ext cx="1101740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02336" y="415137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du tout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558940" y="41513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(12%)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63440" y="3108960"/>
            <a:ext cx="4114800" cy="16824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4663440" y="3108960"/>
            <a:ext cx="64008" cy="168249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736592" y="3145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 l'âge (n=216)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09744" y="4288536"/>
            <a:ext cx="457200" cy="2468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791456" y="457200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376672" y="3959352"/>
            <a:ext cx="457200" cy="57607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5358384" y="457200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20-29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943600" y="3712464"/>
            <a:ext cx="457200" cy="8229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5925312" y="457200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30-39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510528" y="3877056"/>
            <a:ext cx="457200" cy="65836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6492240" y="457200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40-49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077456" y="4123944"/>
            <a:ext cx="457200" cy="4114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7059168" y="457200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50-59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644384" y="4329684"/>
            <a:ext cx="457200" cy="2057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7626096" y="457200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736592" y="46085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 : 34 ans  ·  Min : 15  ·  Max : 78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Personnaliser un rapport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Filtres, regroupements et mise en forme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par défaut montre toutes les soumissions. On peut le personnaliser pour filtrer, comparer des sous-groupes ou modifier l'apparence.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64008" cy="107899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0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13816" y="1792224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les données du rapport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" y="2176272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« Filtres » → sélectionner une question et une valeur. Le rapport se recalcule instantanément avec les données filtrées.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2578608"/>
            <a:ext cx="4005072" cy="16459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48056" y="259689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Filtrer par Commune = Glazoué → voir seulement les 62 soumissions de Glazoué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54880" y="1719072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754880" y="1719072"/>
            <a:ext cx="64008" cy="1078992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28800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48656" y="1792224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par variable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46320" y="2176272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Personnaliser » → « Grouper par » → choisir une question catégorielle. Les graphiques sont divisés par sous-groupe.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846320" y="2578608"/>
            <a:ext cx="4005072" cy="16459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4882896" y="259689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Regrouper par Sexe → voir la satisfaction séparément pour Femmes et Hommes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20040" y="292608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320040" y="2926080"/>
            <a:ext cx="64008" cy="107899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35808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3816" y="299923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les couleurs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11480" y="338328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un graphique → palette de couleurs → choisir un thème ou des couleurs personnalisées pour chaque barre/secteur.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11480" y="3785616"/>
            <a:ext cx="4005072" cy="16459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448056" y="38039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Barres en vert pour les résultats positifs, rouge pour les négatifs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4754880" y="2926080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7"/>
          <p:cNvSpPr/>
          <p:nvPr/>
        </p:nvSpPr>
        <p:spPr>
          <a:xfrm>
            <a:off x="4754880" y="2926080"/>
            <a:ext cx="64008" cy="107899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35808"/>
            <a:ext cx="310896" cy="31089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248656" y="299923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le type de graphique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846320" y="338328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l'icône de type de graphique (barres/camembert/tableau) pour basculer entre les représentations disponibles.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4846320" y="3785616"/>
            <a:ext cx="4005072" cy="16459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1"/>
          <p:cNvSpPr/>
          <p:nvPr/>
        </p:nvSpPr>
        <p:spPr>
          <a:xfrm>
            <a:off x="4882896" y="38039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Passer de barres verticales à barres horizontales pour les libellés longs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320040" y="4133088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3"/>
          <p:cNvSpPr/>
          <p:nvPr/>
        </p:nvSpPr>
        <p:spPr>
          <a:xfrm>
            <a:off x="320040" y="4133088"/>
            <a:ext cx="64008" cy="107899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242816"/>
            <a:ext cx="310896" cy="31089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13816" y="420624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Masquer/Afficher des questions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11480" y="4590288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« Personnaliser » → décocher les questions à masquer dans le rapport. Garder seulement les questions pertinentes.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411480" y="4992624"/>
            <a:ext cx="4005072" cy="16459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7"/>
          <p:cNvSpPr/>
          <p:nvPr/>
        </p:nvSpPr>
        <p:spPr>
          <a:xfrm>
            <a:off x="448056" y="501091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Masquer les questions de métadonnées (date, agent) du rapport public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4754880" y="4133088"/>
            <a:ext cx="420624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39"/>
          <p:cNvSpPr/>
          <p:nvPr/>
        </p:nvSpPr>
        <p:spPr>
          <a:xfrm>
            <a:off x="4754880" y="4133088"/>
            <a:ext cx="64008" cy="107899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242816"/>
            <a:ext cx="310896" cy="31089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248656" y="420624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titre et une description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4846320" y="4590288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Editer le titre du rapport et ajouter une description ou note méthodologique visible par les lecteurs du rapport partagé.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4846320" y="4992624"/>
            <a:ext cx="4005072" cy="164592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3"/>
          <p:cNvSpPr/>
          <p:nvPr/>
        </p:nvSpPr>
        <p:spPr>
          <a:xfrm>
            <a:off x="4882896" y="501091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« Rapport Enquête ONG VEZO — Bénin — Mars 2026 »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comparatif — Filtré et regroupé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Satisfaction par Commune (filtre appliqué)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personnalisé : Satisfaction des interventions — regroupé par Commune — filtre : Glazoué et Savalou uniquement.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8503920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02336" y="17007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des interventions par Commune (n=110)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56816"/>
            <a:ext cx="164592" cy="16459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8368" y="195681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satisfait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05456" y="1956816"/>
            <a:ext cx="164592" cy="164592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06624" y="195681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satisfait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53712" y="1956816"/>
            <a:ext cx="164592" cy="16459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0" y="195681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satisfait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01968" y="1956816"/>
            <a:ext cx="164592" cy="1645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803136" y="195681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du tout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176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 (n=62)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432304"/>
            <a:ext cx="749808" cy="109728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22311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353312" y="3216075"/>
            <a:ext cx="749808" cy="313509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1353312" y="3014907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49424" y="3372830"/>
            <a:ext cx="749808" cy="15675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249424" y="317166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145536" y="3477333"/>
            <a:ext cx="749808" cy="52251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145536" y="3276165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0" y="2176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Savalou (n=48)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798064"/>
            <a:ext cx="749808" cy="73152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0" y="259689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68112" y="3163824"/>
            <a:ext cx="749808" cy="365760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468112" y="296265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64224" y="3398955"/>
            <a:ext cx="749808" cy="130629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364224" y="3197787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60336" y="3503458"/>
            <a:ext cx="749808" cy="2612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260336" y="330229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2336" y="3584448"/>
            <a:ext cx="8357616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57200" y="36027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72000" y="36027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353312" y="36027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468112" y="36027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249424" y="36027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364224" y="36027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145536" y="36027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du tout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260336" y="360273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du tout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02336" y="3858768"/>
            <a:ext cx="8357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 Glazoué montre une satisfaction plus élevée (68% très satisfait vs 58% à Savalou). La satisfaction faible reste marginale dans les deux communes (&lt; 10%).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4279392"/>
            <a:ext cx="8503920" cy="438912"/>
          </a:xfrm>
          <a:prstGeom prst="rect">
            <a:avLst/>
          </a:prstGeom>
          <a:solidFill>
            <a:srgbClr val="EBF5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320040" y="4279392"/>
            <a:ext cx="64008" cy="43891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352544"/>
            <a:ext cx="219456" cy="219456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694944" y="4334256"/>
            <a:ext cx="8119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type de comparaison est impossible directement dans Kobo si les groupes sont complexes. Pour les analyses avancées : exporter en XLS et utiliser Excel / R / Python / Power BI.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Carte — Données GPS sur une carte interactive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Visualiser la distribution géographique des soumissions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formulaire contient un champ geopoint, KoboToolbox affiche automatiquement une carte avec un point par soumission. La vue carte est accessible depuis l'onglet Reports.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et fonctionnalités 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66544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64008" cy="47548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6272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212140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Reports → bouton « Carte 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234086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automatique si geopoint présent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2615184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365760" y="2615184"/>
            <a:ext cx="64008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2491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" y="267004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les points sur la carte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22960" y="288950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agent, commune ou date pour isoler des zones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65760" y="3163824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365760" y="3163824"/>
            <a:ext cx="64008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7355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2960" y="32186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et navigation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22960" y="343814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Zoomer par geste ou molette · déplacer par glisser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65760" y="3712464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365760" y="3712464"/>
            <a:ext cx="64008" cy="4754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2219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2960" y="376732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un point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2960" y="398678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un popup avec les données de la soumission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365760" y="4261104"/>
            <a:ext cx="41148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6"/>
          <p:cNvSpPr/>
          <p:nvPr/>
        </p:nvSpPr>
        <p:spPr>
          <a:xfrm>
            <a:off x="365760" y="4261104"/>
            <a:ext cx="64008" cy="4754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70832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22960" y="431596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la carte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822960" y="453542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d'écran ou export PNG du fond de carte avec points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4663440" y="1737360"/>
            <a:ext cx="41148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0"/>
          <p:cNvSpPr/>
          <p:nvPr/>
        </p:nvSpPr>
        <p:spPr>
          <a:xfrm>
            <a:off x="4663440" y="1737360"/>
            <a:ext cx="4114800" cy="3291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1"/>
          <p:cNvSpPr/>
          <p:nvPr/>
        </p:nvSpPr>
        <p:spPr>
          <a:xfrm>
            <a:off x="4736592" y="17373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— Localisation ménages enquêtés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4736592" y="2121408"/>
            <a:ext cx="3968496" cy="2395728"/>
          </a:xfrm>
          <a:prstGeom prst="rect">
            <a:avLst/>
          </a:prstGeom>
          <a:solidFill>
            <a:srgbClr val="D4EDD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3"/>
          <p:cNvSpPr/>
          <p:nvPr/>
        </p:nvSpPr>
        <p:spPr>
          <a:xfrm>
            <a:off x="4736592" y="2999232"/>
            <a:ext cx="3968496" cy="0"/>
          </a:xfrm>
          <a:prstGeom prst="line">
            <a:avLst/>
          </a:prstGeom>
          <a:noFill/>
          <a:ln w="19050">
            <a:solidFill>
              <a:srgbClr val="A8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4"/>
          <p:cNvSpPr/>
          <p:nvPr/>
        </p:nvSpPr>
        <p:spPr>
          <a:xfrm>
            <a:off x="5943600" y="2121408"/>
            <a:ext cx="0" cy="2395728"/>
          </a:xfrm>
          <a:prstGeom prst="line">
            <a:avLst/>
          </a:prstGeom>
          <a:noFill/>
          <a:ln w="19050">
            <a:solidFill>
              <a:srgbClr val="A8C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35"/>
          <p:cNvSpPr/>
          <p:nvPr/>
        </p:nvSpPr>
        <p:spPr>
          <a:xfrm>
            <a:off x="7132320" y="2121408"/>
            <a:ext cx="0" cy="2395728"/>
          </a:xfrm>
          <a:prstGeom prst="line">
            <a:avLst/>
          </a:prstGeom>
          <a:noFill/>
          <a:ln w="12700">
            <a:solidFill>
              <a:srgbClr val="B8D0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36"/>
          <p:cNvSpPr/>
          <p:nvPr/>
        </p:nvSpPr>
        <p:spPr>
          <a:xfrm>
            <a:off x="5212080" y="237744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37"/>
          <p:cNvSpPr/>
          <p:nvPr/>
        </p:nvSpPr>
        <p:spPr>
          <a:xfrm>
            <a:off x="5248656" y="241401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5029200" y="274320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39"/>
          <p:cNvSpPr/>
          <p:nvPr/>
        </p:nvSpPr>
        <p:spPr>
          <a:xfrm>
            <a:off x="5065776" y="277977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0"/>
          <p:cNvSpPr/>
          <p:nvPr/>
        </p:nvSpPr>
        <p:spPr>
          <a:xfrm>
            <a:off x="5486400" y="228600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1"/>
          <p:cNvSpPr/>
          <p:nvPr/>
        </p:nvSpPr>
        <p:spPr>
          <a:xfrm>
            <a:off x="5522976" y="232257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2"/>
          <p:cNvSpPr/>
          <p:nvPr/>
        </p:nvSpPr>
        <p:spPr>
          <a:xfrm>
            <a:off x="5669280" y="283464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3"/>
          <p:cNvSpPr/>
          <p:nvPr/>
        </p:nvSpPr>
        <p:spPr>
          <a:xfrm>
            <a:off x="5705856" y="287121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4"/>
          <p:cNvSpPr/>
          <p:nvPr/>
        </p:nvSpPr>
        <p:spPr>
          <a:xfrm>
            <a:off x="5852160" y="256032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45"/>
          <p:cNvSpPr/>
          <p:nvPr/>
        </p:nvSpPr>
        <p:spPr>
          <a:xfrm>
            <a:off x="5888736" y="259689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46"/>
          <p:cNvSpPr/>
          <p:nvPr/>
        </p:nvSpPr>
        <p:spPr>
          <a:xfrm>
            <a:off x="6217920" y="301752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47"/>
          <p:cNvSpPr/>
          <p:nvPr/>
        </p:nvSpPr>
        <p:spPr>
          <a:xfrm>
            <a:off x="6254496" y="305409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48"/>
          <p:cNvSpPr/>
          <p:nvPr/>
        </p:nvSpPr>
        <p:spPr>
          <a:xfrm>
            <a:off x="6492240" y="246888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49"/>
          <p:cNvSpPr/>
          <p:nvPr/>
        </p:nvSpPr>
        <p:spPr>
          <a:xfrm>
            <a:off x="6528816" y="250545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0"/>
          <p:cNvSpPr/>
          <p:nvPr/>
        </p:nvSpPr>
        <p:spPr>
          <a:xfrm>
            <a:off x="6766560" y="274320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1"/>
          <p:cNvSpPr/>
          <p:nvPr/>
        </p:nvSpPr>
        <p:spPr>
          <a:xfrm>
            <a:off x="6803136" y="277977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2"/>
          <p:cNvSpPr/>
          <p:nvPr/>
        </p:nvSpPr>
        <p:spPr>
          <a:xfrm>
            <a:off x="6949440" y="228600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3"/>
          <p:cNvSpPr/>
          <p:nvPr/>
        </p:nvSpPr>
        <p:spPr>
          <a:xfrm>
            <a:off x="6986016" y="232257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4"/>
          <p:cNvSpPr/>
          <p:nvPr/>
        </p:nvSpPr>
        <p:spPr>
          <a:xfrm>
            <a:off x="7223760" y="292608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Shape 55"/>
          <p:cNvSpPr/>
          <p:nvPr/>
        </p:nvSpPr>
        <p:spPr>
          <a:xfrm>
            <a:off x="7260336" y="296265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56"/>
          <p:cNvSpPr/>
          <p:nvPr/>
        </p:nvSpPr>
        <p:spPr>
          <a:xfrm>
            <a:off x="7406640" y="265176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57"/>
          <p:cNvSpPr/>
          <p:nvPr/>
        </p:nvSpPr>
        <p:spPr>
          <a:xfrm>
            <a:off x="7443216" y="268833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58"/>
          <p:cNvSpPr/>
          <p:nvPr/>
        </p:nvSpPr>
        <p:spPr>
          <a:xfrm>
            <a:off x="7680960" y="320040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59"/>
          <p:cNvSpPr/>
          <p:nvPr/>
        </p:nvSpPr>
        <p:spPr>
          <a:xfrm>
            <a:off x="7717536" y="323697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0"/>
          <p:cNvSpPr/>
          <p:nvPr/>
        </p:nvSpPr>
        <p:spPr>
          <a:xfrm>
            <a:off x="5394960" y="329184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1"/>
          <p:cNvSpPr/>
          <p:nvPr/>
        </p:nvSpPr>
        <p:spPr>
          <a:xfrm>
            <a:off x="5431536" y="332841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2"/>
          <p:cNvSpPr/>
          <p:nvPr/>
        </p:nvSpPr>
        <p:spPr>
          <a:xfrm>
            <a:off x="6035040" y="219456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Shape 63"/>
          <p:cNvSpPr/>
          <p:nvPr/>
        </p:nvSpPr>
        <p:spPr>
          <a:xfrm>
            <a:off x="6071616" y="223113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Shape 64"/>
          <p:cNvSpPr/>
          <p:nvPr/>
        </p:nvSpPr>
        <p:spPr>
          <a:xfrm>
            <a:off x="6583680" y="3474720"/>
            <a:ext cx="146304" cy="146304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Shape 65"/>
          <p:cNvSpPr/>
          <p:nvPr/>
        </p:nvSpPr>
        <p:spPr>
          <a:xfrm>
            <a:off x="6620256" y="351129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66"/>
          <p:cNvSpPr/>
          <p:nvPr/>
        </p:nvSpPr>
        <p:spPr>
          <a:xfrm>
            <a:off x="5943600" y="2633472"/>
            <a:ext cx="329184" cy="329184"/>
          </a:xfrm>
          <a:prstGeom prst="ellipse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Text 67"/>
          <p:cNvSpPr/>
          <p:nvPr/>
        </p:nvSpPr>
        <p:spPr>
          <a:xfrm>
            <a:off x="594360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5" name="Shape 68"/>
          <p:cNvSpPr/>
          <p:nvPr/>
        </p:nvSpPr>
        <p:spPr>
          <a:xfrm>
            <a:off x="6492240" y="1993392"/>
            <a:ext cx="21031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6" name="Shape 69"/>
          <p:cNvSpPr/>
          <p:nvPr/>
        </p:nvSpPr>
        <p:spPr>
          <a:xfrm>
            <a:off x="6492240" y="1993392"/>
            <a:ext cx="2103120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0"/>
          <p:cNvSpPr/>
          <p:nvPr/>
        </p:nvSpPr>
        <p:spPr>
          <a:xfrm>
            <a:off x="6528816" y="199339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#1</a:t>
            </a:r>
            <a:endParaRPr lang="en-US" sz="800" dirty="0"/>
          </a:p>
        </p:txBody>
      </p:sp>
      <p:sp>
        <p:nvSpPr>
          <p:cNvPr id="78" name="Text 71"/>
          <p:cNvSpPr/>
          <p:nvPr/>
        </p:nvSpPr>
        <p:spPr>
          <a:xfrm>
            <a:off x="6528816" y="221284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D. · Glazoué · 22/03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Âge: 34 · Sexe: F</a:t>
            </a:r>
            <a:endParaRPr lang="en-US" sz="750" dirty="0"/>
          </a:p>
        </p:txBody>
      </p:sp>
      <p:sp>
        <p:nvSpPr>
          <p:cNvPr id="79" name="Text 72"/>
          <p:cNvSpPr/>
          <p:nvPr/>
        </p:nvSpPr>
        <p:spPr>
          <a:xfrm>
            <a:off x="4736592" y="4553712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Point = 1 soumission   ⬤ Cluster = plusieurs points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un rapport public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Rendre le rapport accessible sans compte Kobo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partager ?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664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les résultats préliminaires à des partenaires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83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7824" y="2066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au superviseur de consulter sans accès admin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871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Diffuser les données à la communauté ou aux bénéficiaires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950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7824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dans un rapport institutionnel avec lien live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7824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tableau de bord accessible publiquement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3767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créer un lien public ?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48640" y="4078224"/>
            <a:ext cx="201168" cy="201168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6"/>
          <p:cNvSpPr/>
          <p:nvPr/>
        </p:nvSpPr>
        <p:spPr>
          <a:xfrm>
            <a:off x="548640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822960" y="40599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Reports → bouton « Partager »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48640" y="4334256"/>
            <a:ext cx="201168" cy="201168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19"/>
          <p:cNvSpPr/>
          <p:nvPr/>
        </p:nvSpPr>
        <p:spPr>
          <a:xfrm>
            <a:off x="548640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822960" y="4315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« Rendre public »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48640" y="4590288"/>
            <a:ext cx="201168" cy="201168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2"/>
          <p:cNvSpPr/>
          <p:nvPr/>
        </p:nvSpPr>
        <p:spPr>
          <a:xfrm>
            <a:off x="548640" y="4590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822960" y="45720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le lien généré (URL permanente)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48640" y="4846320"/>
            <a:ext cx="201168" cy="201168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5"/>
          <p:cNvSpPr/>
          <p:nvPr/>
        </p:nvSpPr>
        <p:spPr>
          <a:xfrm>
            <a:off x="548640" y="4846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822960" y="4828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se met à jour automatiquement avec les nouvelles soumissions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28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29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 rapport — Interface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4864608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public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7534656" y="1773936"/>
            <a:ext cx="1060704" cy="23774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2"/>
          <p:cNvSpPr/>
          <p:nvPr/>
        </p:nvSpPr>
        <p:spPr>
          <a:xfrm>
            <a:off x="7534656" y="177393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Activé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4864608" y="20848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du rapport :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4864608" y="2304288"/>
            <a:ext cx="3749040" cy="329184"/>
          </a:xfrm>
          <a:prstGeom prst="rect">
            <a:avLst/>
          </a:prstGeom>
          <a:solidFill>
            <a:srgbClr val="F0EF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5"/>
          <p:cNvSpPr/>
          <p:nvPr/>
        </p:nvSpPr>
        <p:spPr>
          <a:xfrm>
            <a:off x="4919472" y="2340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https://kf.kobotoolbox.org/reports/AbCdEf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8101584" y="2322576"/>
            <a:ext cx="493776" cy="29260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7"/>
          <p:cNvSpPr/>
          <p:nvPr/>
        </p:nvSpPr>
        <p:spPr>
          <a:xfrm>
            <a:off x="8101584" y="2322576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4864608" y="2743200"/>
            <a:ext cx="374904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39"/>
          <p:cNvSpPr/>
          <p:nvPr/>
        </p:nvSpPr>
        <p:spPr>
          <a:xfrm>
            <a:off x="4864608" y="28163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du lien partagé :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4864608" y="3072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Rapport visible par tous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7461504" y="307238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compte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4864608" y="3401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Mise à jour en temps réel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7461504" y="340156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soumissions visibles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4864608" y="3730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Filtres personnalisables</a:t>
            </a:r>
            <a:endParaRPr lang="en-US" sz="1000" dirty="0"/>
          </a:p>
        </p:txBody>
      </p:sp>
      <p:sp>
        <p:nvSpPr>
          <p:cNvPr id="52" name="Text 45"/>
          <p:cNvSpPr/>
          <p:nvPr/>
        </p:nvSpPr>
        <p:spPr>
          <a:xfrm>
            <a:off x="7461504" y="373075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lecteur peut filtrer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4864608" y="4059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Données brutes masquées</a:t>
            </a:r>
            <a:endParaRPr lang="en-US" sz="1000" dirty="0"/>
          </a:p>
        </p:txBody>
      </p:sp>
      <p:sp>
        <p:nvSpPr>
          <p:cNvPr id="54" name="Text 47"/>
          <p:cNvSpPr/>
          <p:nvPr/>
        </p:nvSpPr>
        <p:spPr>
          <a:xfrm>
            <a:off x="7461504" y="40599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 non accessible publiquement</a:t>
            </a:r>
            <a:endParaRPr lang="en-US" sz="850" dirty="0"/>
          </a:p>
        </p:txBody>
      </p:sp>
      <p:sp>
        <p:nvSpPr>
          <p:cNvPr id="55" name="Shape 48"/>
          <p:cNvSpPr/>
          <p:nvPr/>
        </p:nvSpPr>
        <p:spPr>
          <a:xfrm>
            <a:off x="4864608" y="4425696"/>
            <a:ext cx="3749040" cy="256032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4480560"/>
            <a:ext cx="182880" cy="182880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5157216" y="446227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: Protéger avec un mot de passe (plan payant)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et exporter les graphiques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PNG, PDF, impression et intégration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243584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8988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04" y="1353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en PNG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17556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les 3 points (⋮) du graphique → « Télécharger en PNG ». Image haute résolution pour insertion dans Word, PowerPoint ou rapport.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249424"/>
            <a:ext cx="4005072" cy="1828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2677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: Rapport institutionnel · Présentation PowerPoint · Email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2618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61872"/>
            <a:ext cx="64008" cy="124358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8988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66944" y="1353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le rapport en PDF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46320" y="17556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Télécharger » → « PDF ». Génère un PDF multi-pages avec tous les graphiques du rapport dans l'ordre d'affichage.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249424"/>
            <a:ext cx="4005072" cy="1828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2677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: Archivage · Impression · Envoi par email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0040" y="26334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633472"/>
            <a:ext cx="64008" cy="124358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61488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2104" y="27249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le tableau de fréquences en XLS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11480" y="31272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graphique a un onglet « Tableau » avec les données brutes. Télécharger → XLS pour manipuler dans Excel ou Google Sheets.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621024"/>
            <a:ext cx="4005072" cy="1828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6393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: Analyse approfondie · Tableaux croisés · Calculs personnalisés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754880" y="26334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633472"/>
            <a:ext cx="64008" cy="124358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61488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66944" y="27249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Imprimer directement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846320" y="31272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Imprimer » → dialogue d'impression du navigateur. Impression optimisée avec les graphiques en mode paysage.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621024"/>
            <a:ext cx="4005072" cy="1828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6393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: Réunion de restitution · Affichage mural · Formation équipe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40050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4005072"/>
            <a:ext cx="64008" cy="124358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133088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32104" y="40965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dans un site web (iframe)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411480" y="44988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partagé peut être intégré dans n'importe quelle page web via iframe, comme pour le formulaire Enketo.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4992624"/>
            <a:ext cx="4005072" cy="1828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50109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: Site institutionnel · Portail projet · Dashboard en ligne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754880" y="40050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4005072"/>
            <a:ext cx="64008" cy="12435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133088"/>
            <a:ext cx="329184" cy="32918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66944" y="40965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accès programmatique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4846320" y="44988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des rapports sont accessibles via l'API Kobo. Utiliser pour alimenter un dashboard externe (Power BI, Tableau, Google DS).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4992624"/>
            <a:ext cx="4005072" cy="1828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501091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: Dashboard professionnel · Monitoring automatisé · Données live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l'onglet Reports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Quand aller plus loin avec des outils externes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L'onglet Reports est suffisant pour une vue rapide et opérationnelle. Pour une analyse statistique avancée, utiliser des outils dédiés.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4023360" cy="30723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82496"/>
            <a:ext cx="64008" cy="307238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682496"/>
            <a:ext cx="4023360" cy="34747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02336" y="170078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 que Kobo Reports fait bien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103120"/>
            <a:ext cx="201168" cy="2011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8368" y="208483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rapide question par question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43230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8368" y="2414016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simple par une seule variable</a:t>
            </a:r>
            <a:endParaRPr lang="en-US" sz="10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761488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" y="274320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public partageable sans install</a:t>
            </a:r>
            <a:endParaRPr lang="en-US" sz="10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09067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8368" y="307238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carte GPS des soumissions</a:t>
            </a:r>
            <a:endParaRPr lang="en-US" sz="10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419856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8368" y="3401568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descriptives de base (count, %)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749040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8368" y="373075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PNG/PDF pour reporting institutionnel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617720" y="1682496"/>
            <a:ext cx="4206240" cy="30723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19"/>
          <p:cNvSpPr/>
          <p:nvPr/>
        </p:nvSpPr>
        <p:spPr>
          <a:xfrm>
            <a:off x="4617720" y="1682496"/>
            <a:ext cx="64008" cy="307238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0"/>
          <p:cNvSpPr/>
          <p:nvPr/>
        </p:nvSpPr>
        <p:spPr>
          <a:xfrm>
            <a:off x="4617720" y="1682496"/>
            <a:ext cx="4206240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1"/>
          <p:cNvSpPr/>
          <p:nvPr/>
        </p:nvSpPr>
        <p:spPr>
          <a:xfrm>
            <a:off x="4700016" y="1700784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Les limites à connaître</a:t>
            </a:r>
            <a:endParaRPr lang="en-US" sz="11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103120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956048" y="2084832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croisés (cross-tabulation) impossibles</a:t>
            </a:r>
            <a:endParaRPr lang="en-US" sz="10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432304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956048" y="2414016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bivariées ou multivariées absentes</a:t>
            </a:r>
            <a:endParaRPr lang="en-US" sz="105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761488"/>
            <a:ext cx="201168" cy="20116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956048" y="27432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Régression, corrélations — non disponibles</a:t>
            </a:r>
            <a:endParaRPr lang="en-US" sz="10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3090672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4956048" y="3072384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de tendance temporelle limités</a:t>
            </a:r>
            <a:endParaRPr lang="en-US" sz="105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3419856"/>
            <a:ext cx="201168" cy="20116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956048" y="3401568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segmentation multi-variables simultanées</a:t>
            </a:r>
            <a:endParaRPr lang="en-US" sz="105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3749040"/>
            <a:ext cx="201168" cy="20116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4956048" y="3730752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graphique limitée (couleurs basiques)</a:t>
            </a:r>
            <a:endParaRPr lang="en-US" sz="1050" dirty="0"/>
          </a:p>
        </p:txBody>
      </p:sp>
      <p:sp>
        <p:nvSpPr>
          <p:cNvPr id="42" name="Shape 28"/>
          <p:cNvSpPr/>
          <p:nvPr/>
        </p:nvSpPr>
        <p:spPr>
          <a:xfrm>
            <a:off x="320040" y="4828032"/>
            <a:ext cx="850392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29"/>
          <p:cNvSpPr/>
          <p:nvPr/>
        </p:nvSpPr>
        <p:spPr>
          <a:xfrm>
            <a:off x="411480" y="4828032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aller plus loin — outils recommandés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d'analyse complémentaires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Exporter et analyser avec des outils professionnels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les données depuis Kobo (XLS/CSV) puis les analyser dans un outil spécialisé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85039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27632"/>
            <a:ext cx="64008" cy="7680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627632"/>
            <a:ext cx="85039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1682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/ Google Sheets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664208"/>
            <a:ext cx="1901952" cy="21945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894576" y="16824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Débutant — Intermédiaire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197510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 Tableaux croisés dynamiques · Graphiques avancés · Filtres multi-critères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15798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: Export Kobo → XLS → Ouvrir dans Excel → Tableau croisé dynamique → Insérer graphique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82512" y="1975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Analyse standard, rapport institutionnel, équipe sans compétences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468880"/>
            <a:ext cx="85039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468880"/>
            <a:ext cx="64008" cy="7680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2468880"/>
            <a:ext cx="8503920" cy="29260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25237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(Microsoft)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2505456"/>
            <a:ext cx="1901952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94576" y="2523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 — Avancé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2816352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 Dashboard interactif · Connexion directe API Kobo · Mise à jour auto · Partage sécurisé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2999232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: Power BI → Connecteur Web → URL API Kobo avec token → Rafraîchissement automatique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82512" y="2816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Monitoring continu, dashboard professionnel, équipe IT disponible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310128"/>
            <a:ext cx="85039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3310128"/>
            <a:ext cx="64008" cy="76809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310128"/>
            <a:ext cx="8503920" cy="29260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364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Studio (Looker Studio)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346704"/>
            <a:ext cx="1901952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894576" y="3364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365760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 Dashboard en ligne · Gratuit · Connexion Google Sheets · Partage facile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384048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: Export Kobo → Google Sheets → Connecter Looker Studio → Créer rapport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82512" y="3657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Budget limité, équipe Google, rapport en ligne partageable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151376"/>
            <a:ext cx="85039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0040" y="4151376"/>
            <a:ext cx="64008" cy="7680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20040" y="4151376"/>
            <a:ext cx="8503920" cy="2926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57200" y="4206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/ Python (pandas + matplotlib)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0" y="4187952"/>
            <a:ext cx="1901952" cy="2194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894576" y="4206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 — Expert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7200" y="4498848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 Analyses statistiques complètes · Régression · Cartographie avancée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681728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: API Kobo → pandas DataFrame → analyse → visualisation avec ggplot2/seaborn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82512" y="4498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: Équipe de chercheurs, analyse académique, publication scientifique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courantes — Analyse &amp; visualisation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à éviter lors de la production de rapports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11338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 rapport avant validation des données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148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doublons ou erreurs dans les données vont apparaître dans le rapport public. Les partenaires verront des chiffres incorrects.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Toujours valider et nettoyer les données (Module 8) avant de partager le rapport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80160"/>
            <a:ext cx="64008" cy="11338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036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Confondre % de répondants et % de soumissions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84632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select_multiple, un répondant peut cocher plusieurs valeurs → la somme des % dépasse 100%. Cela est normal mais doit être expliqué.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Ajouter une note dans le rapport : « Question à réponse multiple — total &gt; 100% »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004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487168"/>
            <a:ext cx="64008" cy="11338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7860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9552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sans filtrer les soumissions de test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1148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soumissions de test effectuées avant la collecte réelle faussent tous les graphiques.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36499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Supprimer les soumissions test (Module 8) AVANT d'analyser et de partager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75488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487168"/>
            <a:ext cx="64008" cy="11338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78608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3036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 filtre actif lors de l'export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84632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filtre est actif dans Reports, le PDF et le PNG exportés montrent seulement les données filtrées — sans avertissement visible.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36499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Vérifier les filtres actifs (chips en haut) avant tout export ou partage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3694176"/>
            <a:ext cx="64008" cy="11338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85616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9552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public sans contrôle de mise à jour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41148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public se met à jour en temps réel. Si de nouvelles soumissions arrivent après la restitution, les chiffres changent.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457200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Pour un rapport figé : exporter en PDF à la date de restitution plutôt que partager le lien live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75488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3694176"/>
            <a:ext cx="64008" cy="1133856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85616"/>
            <a:ext cx="292608" cy="29260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3036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des pourcentages sur un petit échantillon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484632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75% de satisfaction sur 4 répondants n'est pas significatif. Kobo ne le signale pas automatiquement.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457200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Toujours indiquer le n= à côté des pourcentages · Mentionner les limites de l'échantillon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— Produire un rapport de qualité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partager ou présenter vos résultats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vérifier systématiquement avant toute diffusion de rapport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09344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09344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84048" y="1645920"/>
            <a:ext cx="8046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4048" y="164592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Données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43584" y="1664208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soumissions terrain reçues et synchronisées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38528"/>
            <a:ext cx="8503920" cy="292608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1938528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84048" y="1975104"/>
            <a:ext cx="8046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197510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Nettoyage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43584" y="1993392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supprimés · Valeurs aberrantes corrigées ou exclues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267712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2267712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84048" y="2304288"/>
            <a:ext cx="8046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84048" y="23042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Tests supprimés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43584" y="2322576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Soumissions de test retirées de l'onglet Data avant analyse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596896"/>
            <a:ext cx="8503920" cy="292608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" y="2596896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84048" y="2633472"/>
            <a:ext cx="8046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84048" y="263347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Filtres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43584" y="2651760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qu'aucun filtre involontaire n'est actif dans Reports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926080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" y="2926080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84048" y="2962656"/>
            <a:ext cx="8046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84048" y="29626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Titre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43584" y="2980944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titré avec : Nom projet · Date · N total de soumissions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255264"/>
            <a:ext cx="8503920" cy="292608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20040" y="3255264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84048" y="3291840"/>
            <a:ext cx="8046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84048" y="329184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 visible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243584" y="3310128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 affiché sur chaque graphique · Pas de % sur &lt; 10 répondants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584448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20040" y="3584448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384048" y="3621024"/>
            <a:ext cx="8046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84048" y="362102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Carte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43584" y="3639312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GPS : vérifier que tous les points sont dans la zone attendue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913632"/>
            <a:ext cx="8503920" cy="292608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20040" y="3913632"/>
            <a:ext cx="4572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84048" y="3950208"/>
            <a:ext cx="8046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84048" y="39502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Partage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243584" y="3968496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public testé depuis un navigateur sans compte Kobo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242816"/>
            <a:ext cx="8503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320040" y="4242816"/>
            <a:ext cx="45720" cy="29260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384048" y="4279392"/>
            <a:ext cx="804672" cy="20116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384048" y="42793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PNG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243584" y="4297680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export PNG : résolution suffisante pour insertion dans PowerPoint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0040" y="4572000"/>
            <a:ext cx="8503920" cy="292608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320040" y="4572000"/>
            <a:ext cx="45720" cy="2926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384048" y="4608576"/>
            <a:ext cx="804672" cy="2011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84048" y="460857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Brut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243584" y="4626864"/>
            <a:ext cx="7516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partager les données brutes XLS sans accord de l'équipe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Module 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438912"/>
          </a:xfrm>
          <a:prstGeom prst="rect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280160"/>
            <a:ext cx="438912" cy="438912"/>
          </a:xfrm>
          <a:prstGeom prst="ellipse">
            <a:avLst/>
          </a:prstGeom>
          <a:solidFill>
            <a:srgbClr val="2E86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298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95728" y="13167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automatique par question · graphiques barres/camembert/distribution · aucune config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64008" cy="43891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7472" y="1792224"/>
            <a:ext cx="438912" cy="438912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1810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graphes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188366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95728" y="1828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Barres (select) · Secteurs (binaire) · Histogramme (numérique) · Carte (geopoint)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2304288"/>
            <a:ext cx="64008" cy="43891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2304288"/>
            <a:ext cx="438912" cy="438912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2395728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395728" y="2340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→ sous-groupe · Regrouper par variable · Couleurs · Masquer questions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16352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64008" cy="43891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7472" y="2816352"/>
            <a:ext cx="438912" cy="438912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47472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28346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2907792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395728" y="28529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Carte · cluster automatique · popup par point · export PNG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328416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3328416"/>
            <a:ext cx="64008" cy="43891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47472" y="3328416"/>
            <a:ext cx="438912" cy="438912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47472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33467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0" y="3419856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395728" y="33649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public → URL permanente · MAJ temps réel · Pas de compte requis · iframe possible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84048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74320" y="3840480"/>
            <a:ext cx="64008" cy="43891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47472" y="3840480"/>
            <a:ext cx="438912" cy="438912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4747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0" y="393192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95728" y="387705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par graphique · PDF du rapport complet · XLS des tableaux · Print natif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35254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74320" y="4352544"/>
            <a:ext cx="64008" cy="438912"/>
          </a:xfrm>
          <a:prstGeom prst="rect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47472" y="4352544"/>
            <a:ext cx="438912" cy="438912"/>
          </a:xfrm>
          <a:prstGeom prst="ellipse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47472" y="4352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4370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0" y="444398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395728" y="4389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tableaux croisés · pas de régression → exporter XLS pour Excel/Power BI/R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VIDÉO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15 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Exporter en XLS, CSV, KML, GeoJSON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REST avec token d'authentification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Connecter à Power BI ou Google Sheets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Configurer des webhooks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Automatisation avec Zapier ou Make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Abonnez-vous pour ne pas manquer la suite !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9194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Commentaire · Partage — ça aide vraiment 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2773</Words>
  <Application>Microsoft Office PowerPoint</Application>
  <PresentationFormat>Affichage à l'écran (16:9)</PresentationFormat>
  <Paragraphs>409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– Module 9 : Analyse &amp; visualisation</dc:title>
  <dc:subject>PptxGenJS Presentation</dc:subject>
  <dc:creator>PptxGenJS</dc:creator>
  <cp:lastModifiedBy>Fabien Nacheley</cp:lastModifiedBy>
  <cp:revision>1</cp:revision>
  <dcterms:created xsi:type="dcterms:W3CDTF">2026-03-22T19:01:40Z</dcterms:created>
  <dcterms:modified xsi:type="dcterms:W3CDTF">2026-06-20T19:56:41Z</dcterms:modified>
</cp:coreProperties>
</file>