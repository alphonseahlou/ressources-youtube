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3646F-FA51-4968-BFF4-CCFCC9AAD34B}" v="5" dt="2026-04-12T02:32:26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modSld">
      <pc:chgData name="Ahlou Alphonse Euphreme" userId="f12afe77-4db7-47e3-b604-bb0d456a5c02" providerId="ADAL" clId="{4890F534-C102-41F9-978A-E7DBDB1CFE02}" dt="2026-04-04T03:33:58.128" v="7"/>
      <pc:docMkLst>
        <pc:docMk/>
      </pc:docMkLst>
      <pc:sldChg chg="modSp">
        <pc:chgData name="Ahlou Alphonse Euphreme" userId="f12afe77-4db7-47e3-b604-bb0d456a5c02" providerId="ADAL" clId="{4890F534-C102-41F9-978A-E7DBDB1CFE02}" dt="2026-04-04T03:33:58.128" v="7"/>
        <pc:sldMkLst>
          <pc:docMk/>
          <pc:sldMk cId="0" sldId="257"/>
        </pc:sldMkLst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57"/>
            <ac:spMk id="42" creationId="{00000000-0000-0000-0000-000000000000}"/>
          </ac:spMkLst>
        </pc:spChg>
      </pc:sldChg>
      <pc:sldChg chg="modSp mod">
        <pc:chgData name="Ahlou Alphonse Euphreme" userId="f12afe77-4db7-47e3-b604-bb0d456a5c02" providerId="ADAL" clId="{4890F534-C102-41F9-978A-E7DBDB1CFE02}" dt="2026-04-04T03:33:58.128" v="7"/>
        <pc:sldMkLst>
          <pc:docMk/>
          <pc:sldMk cId="0" sldId="259"/>
        </pc:sldMkLst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05:37:43.766" v="6" actId="1038"/>
          <ac:spMkLst>
            <pc:docMk/>
            <pc:sldMk cId="0" sldId="259"/>
            <ac:spMk id="4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59"/>
            <ac:spMk id="55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3:58.128" v="7"/>
        <pc:sldMkLst>
          <pc:docMk/>
          <pc:sldMk cId="0" sldId="261"/>
        </pc:sldMkLst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1"/>
            <ac:spMk id="25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3:58.128" v="7"/>
        <pc:sldMkLst>
          <pc:docMk/>
          <pc:sldMk cId="0" sldId="264"/>
        </pc:sldMkLst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4"/>
            <ac:spMk id="9" creationId="{00000000-0000-0000-0000-000000000000}"/>
          </ac:spMkLst>
        </pc:spChg>
      </pc:sldChg>
      <pc:sldChg chg="modSp">
        <pc:chgData name="Ahlou Alphonse Euphreme" userId="f12afe77-4db7-47e3-b604-bb0d456a5c02" providerId="ADAL" clId="{4890F534-C102-41F9-978A-E7DBDB1CFE02}" dt="2026-04-04T03:33:58.128" v="7"/>
        <pc:sldMkLst>
          <pc:docMk/>
          <pc:sldMk cId="0" sldId="269"/>
        </pc:sldMkLst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9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9"/>
            <ac:spMk id="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4T03:33:58.128" v="7"/>
          <ac:spMkLst>
            <pc:docMk/>
            <pc:sldMk cId="0" sldId="269"/>
            <ac:spMk id="18" creationId="{00000000-0000-0000-0000-000000000000}"/>
          </ac:spMkLst>
        </pc:spChg>
      </pc:sldChg>
    </pc:docChg>
  </pc:docChgLst>
  <pc:docChgLst>
    <pc:chgData name="Ahlou Alphonse Euphreme" userId="f12afe77-4db7-47e3-b604-bb0d456a5c02" providerId="ADAL" clId="{5735D98A-5E9D-45E5-9858-B2F8FC0FB54C}"/>
    <pc:docChg chg="undo custSel addSld delSld modSld sldOrd">
      <pc:chgData name="Ahlou Alphonse Euphreme" userId="f12afe77-4db7-47e3-b604-bb0d456a5c02" providerId="ADAL" clId="{5735D98A-5E9D-45E5-9858-B2F8FC0FB54C}" dt="2026-04-12T02:32:26.577" v="1197" actId="680"/>
      <pc:docMkLst>
        <pc:docMk/>
      </pc:docMkLst>
      <pc:sldChg chg="ord">
        <pc:chgData name="Ahlou Alphonse Euphreme" userId="f12afe77-4db7-47e3-b604-bb0d456a5c02" providerId="ADAL" clId="{5735D98A-5E9D-45E5-9858-B2F8FC0FB54C}" dt="2026-04-11T18:02:36.518" v="1193"/>
        <pc:sldMkLst>
          <pc:docMk/>
          <pc:sldMk cId="0" sldId="259"/>
        </pc:sldMkLst>
      </pc:sldChg>
      <pc:sldChg chg="modNotesTx">
        <pc:chgData name="Ahlou Alphonse Euphreme" userId="f12afe77-4db7-47e3-b604-bb0d456a5c02" providerId="ADAL" clId="{5735D98A-5E9D-45E5-9858-B2F8FC0FB54C}" dt="2026-04-05T23:25:42.174" v="1076" actId="20577"/>
        <pc:sldMkLst>
          <pc:docMk/>
          <pc:sldMk cId="0" sldId="260"/>
        </pc:sldMkLst>
      </pc:sldChg>
      <pc:sldChg chg="modNotesTx">
        <pc:chgData name="Ahlou Alphonse Euphreme" userId="f12afe77-4db7-47e3-b604-bb0d456a5c02" providerId="ADAL" clId="{5735D98A-5E9D-45E5-9858-B2F8FC0FB54C}" dt="2026-04-05T23:25:29.189" v="1062" actId="20577"/>
        <pc:sldMkLst>
          <pc:docMk/>
          <pc:sldMk cId="0" sldId="261"/>
        </pc:sldMkLst>
      </pc:sldChg>
      <pc:sldChg chg="modSp mod modNotesTx">
        <pc:chgData name="Ahlou Alphonse Euphreme" userId="f12afe77-4db7-47e3-b604-bb0d456a5c02" providerId="ADAL" clId="{5735D98A-5E9D-45E5-9858-B2F8FC0FB54C}" dt="2026-04-05T23:33:52.143" v="1189" actId="400"/>
        <pc:sldMkLst>
          <pc:docMk/>
          <pc:sldMk cId="0" sldId="262"/>
        </pc:sldMkLst>
        <pc:spChg chg="mod">
          <ac:chgData name="Ahlou Alphonse Euphreme" userId="f12afe77-4db7-47e3-b604-bb0d456a5c02" providerId="ADAL" clId="{5735D98A-5E9D-45E5-9858-B2F8FC0FB54C}" dt="2026-04-05T23:31:47.252" v="112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23:31:57.891" v="1128" actId="4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23:33:11.937" v="1187" actId="4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23:33:35.296" v="1188" actId="400"/>
          <ac:spMkLst>
            <pc:docMk/>
            <pc:sldMk cId="0" sldId="262"/>
            <ac:spMk id="42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23:33:52.143" v="1189" actId="400"/>
          <ac:spMkLst>
            <pc:docMk/>
            <pc:sldMk cId="0" sldId="262"/>
            <ac:spMk id="60" creationId="{00000000-0000-0000-0000-000000000000}"/>
          </ac:spMkLst>
        </pc:spChg>
      </pc:sldChg>
      <pc:sldChg chg="modSp mod">
        <pc:chgData name="Ahlou Alphonse Euphreme" userId="f12afe77-4db7-47e3-b604-bb0d456a5c02" providerId="ADAL" clId="{5735D98A-5E9D-45E5-9858-B2F8FC0FB54C}" dt="2026-04-05T23:39:06.689" v="1190" actId="400"/>
        <pc:sldMkLst>
          <pc:docMk/>
          <pc:sldMk cId="0" sldId="266"/>
        </pc:sldMkLst>
        <pc:spChg chg="mod">
          <ac:chgData name="Ahlou Alphonse Euphreme" userId="f12afe77-4db7-47e3-b604-bb0d456a5c02" providerId="ADAL" clId="{5735D98A-5E9D-45E5-9858-B2F8FC0FB54C}" dt="2026-04-05T23:39:06.689" v="1190" actId="4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18:20:23.292" v="1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18:20:18.542" v="0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18:20:28.982" v="2" actId="14100"/>
          <ac:spMkLst>
            <pc:docMk/>
            <pc:sldMk cId="0" sldId="266"/>
            <ac:spMk id="31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18:20:37.372" v="3" actId="14100"/>
          <ac:spMkLst>
            <pc:docMk/>
            <pc:sldMk cId="0" sldId="266"/>
            <ac:spMk id="39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4-05T18:20:47.687" v="5" actId="14100"/>
          <ac:spMkLst>
            <pc:docMk/>
            <pc:sldMk cId="0" sldId="266"/>
            <ac:spMk id="47" creationId="{00000000-0000-0000-0000-000000000000}"/>
          </ac:spMkLst>
        </pc:spChg>
      </pc:sldChg>
      <pc:sldChg chg="modSp mod">
        <pc:chgData name="Ahlou Alphonse Euphreme" userId="f12afe77-4db7-47e3-b604-bb0d456a5c02" providerId="ADAL" clId="{5735D98A-5E9D-45E5-9858-B2F8FC0FB54C}" dt="2026-04-05T18:22:04.950" v="7" actId="14100"/>
        <pc:sldMkLst>
          <pc:docMk/>
          <pc:sldMk cId="0" sldId="267"/>
        </pc:sldMkLst>
        <pc:spChg chg="mod">
          <ac:chgData name="Ahlou Alphonse Euphreme" userId="f12afe77-4db7-47e3-b604-bb0d456a5c02" providerId="ADAL" clId="{5735D98A-5E9D-45E5-9858-B2F8FC0FB54C}" dt="2026-04-05T18:22:04.950" v="7" actId="14100"/>
          <ac:spMkLst>
            <pc:docMk/>
            <pc:sldMk cId="0" sldId="267"/>
            <ac:spMk id="40" creationId="{00000000-0000-0000-0000-000000000000}"/>
          </ac:spMkLst>
        </pc:spChg>
      </pc:sldChg>
      <pc:sldChg chg="new del ord">
        <pc:chgData name="Ahlou Alphonse Euphreme" userId="f12afe77-4db7-47e3-b604-bb0d456a5c02" providerId="ADAL" clId="{5735D98A-5E9D-45E5-9858-B2F8FC0FB54C}" dt="2026-04-12T02:32:26.577" v="1197" actId="680"/>
        <pc:sldMkLst>
          <pc:docMk/>
          <pc:sldMk cId="1156246857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78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 femme </a:t>
            </a:r>
            <a:r>
              <a:rPr lang="en-US" err="1"/>
              <a:t>Utilisez</a:t>
            </a:r>
            <a:r>
              <a:rPr lang="en-US"/>
              <a:t>-vous des </a:t>
            </a:r>
            <a:r>
              <a:rPr lang="en-US" err="1"/>
              <a:t>méthodes</a:t>
            </a:r>
            <a:r>
              <a:rPr lang="en-US"/>
              <a:t> contraceptive modern </a:t>
            </a:r>
            <a:r>
              <a:rPr lang="en-US" err="1"/>
              <a:t>actuellement</a:t>
            </a:r>
            <a:endParaRPr lang="en-US"/>
          </a:p>
          <a:p>
            <a:r>
              <a:rPr lang="en-US"/>
              <a:t>Si </a:t>
            </a:r>
            <a:r>
              <a:rPr lang="en-US" err="1"/>
              <a:t>statut</a:t>
            </a:r>
            <a:r>
              <a:rPr lang="en-US"/>
              <a:t> </a:t>
            </a:r>
            <a:r>
              <a:rPr lang="en-US" err="1"/>
              <a:t>matrimo</a:t>
            </a:r>
            <a:r>
              <a:rPr lang="en-US"/>
              <a:t> different de </a:t>
            </a:r>
            <a:r>
              <a:rPr lang="en-US" err="1"/>
              <a:t>celibataire</a:t>
            </a:r>
            <a:r>
              <a:rPr lang="en-US"/>
              <a:t>, </a:t>
            </a:r>
            <a:r>
              <a:rPr lang="en-US" err="1"/>
              <a:t>allaitez</a:t>
            </a:r>
            <a:r>
              <a:rPr lang="en-US"/>
              <a:t> -vous </a:t>
            </a:r>
            <a:r>
              <a:rPr lang="en-US" err="1"/>
              <a:t>actuellement</a:t>
            </a:r>
            <a:r>
              <a:rPr lang="en-US"/>
              <a:t> un enfant</a:t>
            </a:r>
          </a:p>
          <a:p>
            <a:r>
              <a:rPr lang="en-US"/>
              <a:t>Si age </a:t>
            </a:r>
            <a:r>
              <a:rPr lang="en-US" err="1"/>
              <a:t>superieur</a:t>
            </a:r>
            <a:r>
              <a:rPr lang="en-US"/>
              <a:t> a 18 </a:t>
            </a:r>
            <a:r>
              <a:rPr lang="en-US" err="1"/>
              <a:t>ans</a:t>
            </a:r>
            <a:r>
              <a:rPr lang="en-US"/>
              <a:t>, </a:t>
            </a:r>
            <a:r>
              <a:rPr lang="en-US" err="1"/>
              <a:t>vivez</a:t>
            </a:r>
            <a:r>
              <a:rPr lang="en-US"/>
              <a:t>-vous </a:t>
            </a:r>
            <a:r>
              <a:rPr lang="en-US" err="1"/>
              <a:t>actuellement</a:t>
            </a:r>
            <a:r>
              <a:rPr lang="en-US"/>
              <a:t> </a:t>
            </a:r>
            <a:r>
              <a:rPr lang="en-US" err="1"/>
              <a:t>aupres</a:t>
            </a:r>
            <a:r>
              <a:rPr lang="en-US"/>
              <a:t> de </a:t>
            </a:r>
            <a:r>
              <a:rPr lang="en-US" err="1"/>
              <a:t>vos</a:t>
            </a:r>
            <a:r>
              <a:rPr lang="en-US"/>
              <a:t> parents</a:t>
            </a:r>
          </a:p>
          <a:p>
            <a:r>
              <a:rPr lang="en-US"/>
              <a:t>Si age </a:t>
            </a:r>
            <a:r>
              <a:rPr lang="en-US" err="1"/>
              <a:t>inferieur</a:t>
            </a:r>
            <a:r>
              <a:rPr lang="en-US"/>
              <a:t> a 16 </a:t>
            </a:r>
            <a:r>
              <a:rPr lang="en-US" err="1"/>
              <a:t>ans</a:t>
            </a:r>
            <a:r>
              <a:rPr lang="en-US"/>
              <a:t>, combine </a:t>
            </a:r>
            <a:r>
              <a:rPr lang="en-US" err="1"/>
              <a:t>recevez</a:t>
            </a:r>
            <a:r>
              <a:rPr lang="en-US"/>
              <a:t>-vous </a:t>
            </a:r>
            <a:r>
              <a:rPr lang="en-US" err="1"/>
              <a:t>comme</a:t>
            </a:r>
            <a:r>
              <a:rPr lang="en-US"/>
              <a:t> petit </a:t>
            </a:r>
            <a:r>
              <a:rPr lang="en-US" err="1"/>
              <a:t>dej</a:t>
            </a:r>
            <a:endParaRPr lang="en-US"/>
          </a:p>
          <a:p>
            <a:r>
              <a:rPr lang="en-US"/>
              <a:t>Si score IMC </a:t>
            </a:r>
            <a:r>
              <a:rPr lang="en-US" err="1"/>
              <a:t>superieur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egal a 25, </a:t>
            </a:r>
            <a:r>
              <a:rPr lang="en-US" err="1"/>
              <a:t>savez</a:t>
            </a:r>
            <a:r>
              <a:rPr lang="en-US"/>
              <a:t>-vous </a:t>
            </a:r>
            <a:r>
              <a:rPr lang="en-US" err="1"/>
              <a:t>que</a:t>
            </a:r>
            <a:r>
              <a:rPr lang="en-US"/>
              <a:t> vous-</a:t>
            </a:r>
            <a:r>
              <a:rPr lang="en-US" err="1"/>
              <a:t>etes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surpoids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obesite</a:t>
            </a:r>
            <a:endParaRPr lang="en-US"/>
          </a:p>
          <a:p>
            <a:r>
              <a:rPr lang="en-US"/>
              <a:t>Si </a:t>
            </a:r>
            <a:r>
              <a:rPr lang="en-US" err="1"/>
              <a:t>votre</a:t>
            </a:r>
            <a:r>
              <a:rPr lang="en-US"/>
              <a:t> religion est Chretienne Quelle est </a:t>
            </a:r>
            <a:r>
              <a:rPr lang="en-US" err="1"/>
              <a:t>votre</a:t>
            </a:r>
            <a:r>
              <a:rPr lang="en-US"/>
              <a:t> </a:t>
            </a:r>
            <a:r>
              <a:rPr lang="en-US" err="1"/>
              <a:t>eglise</a:t>
            </a:r>
            <a:endParaRPr lang="en-US"/>
          </a:p>
          <a:p>
            <a:r>
              <a:rPr lang="en-US"/>
              <a:t>Si non  </a:t>
            </a:r>
            <a:r>
              <a:rPr lang="en-US" err="1"/>
              <a:t>autre</a:t>
            </a:r>
            <a:r>
              <a:rPr lang="en-US"/>
              <a:t> religions, est vous </a:t>
            </a:r>
            <a:r>
              <a:rPr lang="en-US" err="1"/>
              <a:t>vraiment</a:t>
            </a:r>
            <a:r>
              <a:rPr lang="en-US"/>
              <a:t> un </a:t>
            </a:r>
            <a:r>
              <a:rPr lang="en-US" err="1"/>
              <a:t>pratiquant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 femme et age </a:t>
            </a:r>
            <a:r>
              <a:rPr lang="en-US" err="1"/>
              <a:t>superieur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egale</a:t>
            </a:r>
            <a:r>
              <a:rPr lang="en-US"/>
              <a:t> a 15, vous nest pas eligible a </a:t>
            </a:r>
            <a:r>
              <a:rPr lang="en-US" err="1"/>
              <a:t>cette</a:t>
            </a:r>
            <a:r>
              <a:rPr lang="en-US"/>
              <a:t> etude</a:t>
            </a:r>
          </a:p>
          <a:p>
            <a:r>
              <a:rPr lang="en-US"/>
              <a:t>Si concubinage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marié</a:t>
            </a:r>
            <a:r>
              <a:rPr lang="en-US"/>
              <a:t>, combine </a:t>
            </a:r>
            <a:r>
              <a:rPr lang="en-US" err="1"/>
              <a:t>d’annee</a:t>
            </a:r>
            <a:r>
              <a:rPr lang="en-US"/>
              <a:t> est vous </a:t>
            </a:r>
            <a:r>
              <a:rPr lang="en-US" err="1"/>
              <a:t>en</a:t>
            </a:r>
            <a:r>
              <a:rPr lang="en-US"/>
              <a:t> relation avec </a:t>
            </a:r>
            <a:r>
              <a:rPr lang="en-US" err="1"/>
              <a:t>votre</a:t>
            </a:r>
            <a:r>
              <a:rPr lang="en-US"/>
              <a:t> conjoint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mari</a:t>
            </a:r>
            <a:endParaRPr lang="en-US"/>
          </a:p>
          <a:p>
            <a:r>
              <a:rPr lang="en-US"/>
              <a:t>Si non </a:t>
            </a:r>
            <a:r>
              <a:rPr lang="en-US" err="1"/>
              <a:t>satisfait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peu </a:t>
            </a:r>
            <a:r>
              <a:rPr lang="en-US" err="1"/>
              <a:t>satisfait</a:t>
            </a:r>
            <a:r>
              <a:rPr lang="en-US"/>
              <a:t> , </a:t>
            </a:r>
            <a:r>
              <a:rPr lang="en-US" err="1"/>
              <a:t>pouvez</a:t>
            </a:r>
            <a:r>
              <a:rPr lang="en-US"/>
              <a:t> vous </a:t>
            </a:r>
            <a:r>
              <a:rPr lang="en-US" err="1"/>
              <a:t>nopus</a:t>
            </a:r>
            <a:r>
              <a:rPr lang="en-US"/>
              <a:t> donner les raisons de </a:t>
            </a:r>
            <a:r>
              <a:rPr lang="en-US" err="1"/>
              <a:t>cette</a:t>
            </a:r>
            <a:r>
              <a:rPr lang="en-US"/>
              <a:t> situation</a:t>
            </a:r>
          </a:p>
          <a:p>
            <a:r>
              <a:rPr lang="en-US"/>
              <a:t>Si IMC est </a:t>
            </a:r>
            <a:r>
              <a:rPr lang="en-US" err="1"/>
              <a:t>superieur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egal a 25 et </a:t>
            </a:r>
            <a:r>
              <a:rPr lang="en-US" err="1"/>
              <a:t>inferieur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egal a 30 </a:t>
            </a:r>
            <a:r>
              <a:rPr lang="en-US" err="1"/>
              <a:t>savez</a:t>
            </a:r>
            <a:r>
              <a:rPr lang="en-US"/>
              <a:t> vous </a:t>
            </a:r>
            <a:r>
              <a:rPr lang="en-US" err="1"/>
              <a:t>que</a:t>
            </a:r>
            <a:r>
              <a:rPr lang="en-US"/>
              <a:t> vous </a:t>
            </a:r>
            <a:r>
              <a:rPr lang="en-US" err="1"/>
              <a:t>etes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surpoids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</a:t>
            </a:r>
            <a:r>
              <a:rPr lang="en-US" err="1"/>
              <a:t>choisir</a:t>
            </a:r>
            <a:r>
              <a:rPr lang="en-US"/>
              <a:t> 2 de </a:t>
            </a:r>
            <a:r>
              <a:rPr lang="en-US" err="1"/>
              <a:t>vos</a:t>
            </a:r>
            <a:r>
              <a:rPr lang="en-US"/>
              <a:t> </a:t>
            </a:r>
            <a:r>
              <a:rPr lang="en-US" err="1"/>
              <a:t>priorités</a:t>
            </a:r>
            <a:r>
              <a:rPr lang="en-US"/>
              <a:t> </a:t>
            </a:r>
            <a:r>
              <a:rPr lang="en-US" err="1"/>
              <a:t>actuelle</a:t>
            </a:r>
            <a:endParaRPr lang="en-US"/>
          </a:p>
          <a:p>
            <a:r>
              <a:rPr lang="en-US"/>
              <a:t>6votre date de naissance doit </a:t>
            </a:r>
            <a:r>
              <a:rPr lang="en-US" err="1"/>
              <a:t>etre</a:t>
            </a:r>
            <a:r>
              <a:rPr lang="en-US"/>
              <a:t> </a:t>
            </a:r>
            <a:r>
              <a:rPr lang="en-US" err="1"/>
              <a:t>inferieur</a:t>
            </a:r>
            <a:r>
              <a:rPr lang="en-US"/>
              <a:t> a </a:t>
            </a:r>
            <a:r>
              <a:rPr lang="en-US" err="1"/>
              <a:t>aujourdhui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&amp;</a:t>
            </a:r>
            <a:endParaRPr lang="en-US" sz="460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sauts conditionnels</a:t>
            </a:r>
            <a:endParaRPr lang="en-US" sz="380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7–8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 ·  Skip logic · Relevant · Constraint · Default · XPath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90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0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5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mécanismes de logique dans KoboToolbox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— sauter des questions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 des questions selon la réponse précédente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conditions d'affichage XPath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avancée pour logiques complexes multi-conditions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— valider les réponses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Bloquer des valeurs incorrectes avec messages d'erreur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valeurs pré-remplies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Pré-remplir automatiquement une réponse attendue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XPath essentielles</a:t>
            </a:r>
            <a:endParaRPr lang="en-US" sz="125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Opérateurs, fonctions, références : tout le vocabulaire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selects — listes liées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dynamiquement les choix selon une sélection précédente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complet sur </a:t>
            </a:r>
            <a:r>
              <a:rPr lang="en-US" sz="1250" b="1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12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125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4 mécanismes sur le formulaire réel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mécanismes de logique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avant d'entrer dans le détail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02996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349300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2029968" cy="4572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1673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2801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11480" y="17556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11480" y="1993392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dans l'onglet « Skip Logic » du Formbuilder. Interface visuelle, pas de code. Idéal pour les cas simples à 1 condition.</a:t>
            </a:r>
            <a:endParaRPr lang="en-US" sz="950"/>
          </a:p>
        </p:txBody>
      </p:sp>
      <p:sp>
        <p:nvSpPr>
          <p:cNvPr id="16" name="Shape 13"/>
          <p:cNvSpPr/>
          <p:nvPr/>
        </p:nvSpPr>
        <p:spPr>
          <a:xfrm>
            <a:off x="411480" y="3145536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11480" y="32186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XLSForm :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411480" y="34381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48056" y="34564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800"/>
          </a:p>
        </p:txBody>
      </p:sp>
      <p:sp>
        <p:nvSpPr>
          <p:cNvPr id="20" name="Text 17"/>
          <p:cNvSpPr/>
          <p:nvPr/>
        </p:nvSpPr>
        <p:spPr>
          <a:xfrm>
            <a:off x="411480" y="369417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411480" y="38953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48056" y="39136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 = 'femme'</a:t>
            </a:r>
            <a:endParaRPr lang="en-US" sz="750"/>
          </a:p>
        </p:txBody>
      </p:sp>
      <p:sp>
        <p:nvSpPr>
          <p:cNvPr id="23" name="Shape 20"/>
          <p:cNvSpPr/>
          <p:nvPr/>
        </p:nvSpPr>
        <p:spPr>
          <a:xfrm>
            <a:off x="2496312" y="1261872"/>
            <a:ext cx="202996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2496312" y="1261872"/>
            <a:ext cx="64008" cy="34930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2496312" y="1261872"/>
            <a:ext cx="2029968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316736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953512" y="12801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(XPath)</a:t>
            </a:r>
            <a:endParaRPr lang="en-US" sz="1300"/>
          </a:p>
        </p:txBody>
      </p:sp>
      <p:sp>
        <p:nvSpPr>
          <p:cNvPr id="28" name="Text 24"/>
          <p:cNvSpPr/>
          <p:nvPr/>
        </p:nvSpPr>
        <p:spPr>
          <a:xfrm>
            <a:off x="2587752" y="17556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relevant — XLSForm</a:t>
            </a:r>
            <a:endParaRPr lang="en-US" sz="900"/>
          </a:p>
        </p:txBody>
      </p:sp>
      <p:sp>
        <p:nvSpPr>
          <p:cNvPr id="29" name="Text 25"/>
          <p:cNvSpPr/>
          <p:nvPr/>
        </p:nvSpPr>
        <p:spPr>
          <a:xfrm>
            <a:off x="2587752" y="1993392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XPath dans la colonne relevant du fichier Excel. Permet des conditions complexes : AND, OR, not(), selected().</a:t>
            </a:r>
            <a:endParaRPr lang="en-US" sz="950"/>
          </a:p>
        </p:txBody>
      </p:sp>
      <p:sp>
        <p:nvSpPr>
          <p:cNvPr id="30" name="Shape 26"/>
          <p:cNvSpPr/>
          <p:nvPr/>
        </p:nvSpPr>
        <p:spPr>
          <a:xfrm>
            <a:off x="2587752" y="3145536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2587752" y="32186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XLSForm :</a:t>
            </a:r>
            <a:endParaRPr lang="en-US" sz="850"/>
          </a:p>
        </p:txBody>
      </p:sp>
      <p:sp>
        <p:nvSpPr>
          <p:cNvPr id="32" name="Shape 28"/>
          <p:cNvSpPr/>
          <p:nvPr/>
        </p:nvSpPr>
        <p:spPr>
          <a:xfrm>
            <a:off x="2587752" y="34381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2624328" y="34564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800"/>
          </a:p>
        </p:txBody>
      </p:sp>
      <p:sp>
        <p:nvSpPr>
          <p:cNvPr id="34" name="Text 30"/>
          <p:cNvSpPr/>
          <p:nvPr/>
        </p:nvSpPr>
        <p:spPr>
          <a:xfrm>
            <a:off x="2587752" y="369417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en-US" sz="850"/>
          </a:p>
        </p:txBody>
      </p:sp>
      <p:sp>
        <p:nvSpPr>
          <p:cNvPr id="35" name="Shape 31"/>
          <p:cNvSpPr/>
          <p:nvPr/>
        </p:nvSpPr>
        <p:spPr>
          <a:xfrm>
            <a:off x="2587752" y="38953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2624328" y="39136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${age} &gt;= 15 and ${sexe} = 'femme'</a:t>
            </a:r>
            <a:endParaRPr lang="en-US" sz="750"/>
          </a:p>
        </p:txBody>
      </p:sp>
      <p:sp>
        <p:nvSpPr>
          <p:cNvPr id="37" name="Shape 33"/>
          <p:cNvSpPr/>
          <p:nvPr/>
        </p:nvSpPr>
        <p:spPr>
          <a:xfrm>
            <a:off x="4672584" y="1261872"/>
            <a:ext cx="202996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4"/>
          <p:cNvSpPr/>
          <p:nvPr/>
        </p:nvSpPr>
        <p:spPr>
          <a:xfrm>
            <a:off x="4672584" y="1261872"/>
            <a:ext cx="64008" cy="349300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5"/>
          <p:cNvSpPr/>
          <p:nvPr/>
        </p:nvSpPr>
        <p:spPr>
          <a:xfrm>
            <a:off x="4672584" y="1261872"/>
            <a:ext cx="2029968" cy="457200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316736"/>
            <a:ext cx="329184" cy="32918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29784" y="12801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300"/>
          </a:p>
        </p:txBody>
      </p:sp>
      <p:sp>
        <p:nvSpPr>
          <p:cNvPr id="42" name="Text 37"/>
          <p:cNvSpPr/>
          <p:nvPr/>
        </p:nvSpPr>
        <p:spPr>
          <a:xfrm>
            <a:off x="4764024" y="17556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à la saisie</a:t>
            </a:r>
            <a:endParaRPr lang="en-US" sz="900"/>
          </a:p>
        </p:txBody>
      </p:sp>
      <p:sp>
        <p:nvSpPr>
          <p:cNvPr id="43" name="Text 38"/>
          <p:cNvSpPr/>
          <p:nvPr/>
        </p:nvSpPr>
        <p:spPr>
          <a:xfrm>
            <a:off x="4764024" y="1993392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une réponse incorrecte avant de passer à la question suivante. Affiche un message d'erreur personnalisable.</a:t>
            </a:r>
            <a:endParaRPr lang="en-US" sz="950"/>
          </a:p>
        </p:txBody>
      </p:sp>
      <p:sp>
        <p:nvSpPr>
          <p:cNvPr id="44" name="Shape 39"/>
          <p:cNvSpPr/>
          <p:nvPr/>
        </p:nvSpPr>
        <p:spPr>
          <a:xfrm>
            <a:off x="4764024" y="3145536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0"/>
          <p:cNvSpPr/>
          <p:nvPr/>
        </p:nvSpPr>
        <p:spPr>
          <a:xfrm>
            <a:off x="4764024" y="32186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XLSForm :</a:t>
            </a:r>
            <a:endParaRPr lang="en-US" sz="850"/>
          </a:p>
        </p:txBody>
      </p:sp>
      <p:sp>
        <p:nvSpPr>
          <p:cNvPr id="46" name="Shape 41"/>
          <p:cNvSpPr/>
          <p:nvPr/>
        </p:nvSpPr>
        <p:spPr>
          <a:xfrm>
            <a:off x="4764024" y="34381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2"/>
          <p:cNvSpPr/>
          <p:nvPr/>
        </p:nvSpPr>
        <p:spPr>
          <a:xfrm>
            <a:off x="4800600" y="34564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/>
          </a:p>
        </p:txBody>
      </p:sp>
      <p:sp>
        <p:nvSpPr>
          <p:cNvPr id="48" name="Text 43"/>
          <p:cNvSpPr/>
          <p:nvPr/>
        </p:nvSpPr>
        <p:spPr>
          <a:xfrm>
            <a:off x="4764024" y="369417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en-US" sz="850"/>
          </a:p>
        </p:txBody>
      </p:sp>
      <p:sp>
        <p:nvSpPr>
          <p:cNvPr id="49" name="Shape 44"/>
          <p:cNvSpPr/>
          <p:nvPr/>
        </p:nvSpPr>
        <p:spPr>
          <a:xfrm>
            <a:off x="4764024" y="38953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5"/>
          <p:cNvSpPr/>
          <p:nvPr/>
        </p:nvSpPr>
        <p:spPr>
          <a:xfrm>
            <a:off x="4800600" y="39136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0 and . &lt;= 120</a:t>
            </a:r>
            <a:endParaRPr lang="en-US" sz="750"/>
          </a:p>
        </p:txBody>
      </p:sp>
      <p:sp>
        <p:nvSpPr>
          <p:cNvPr id="51" name="Shape 46"/>
          <p:cNvSpPr/>
          <p:nvPr/>
        </p:nvSpPr>
        <p:spPr>
          <a:xfrm>
            <a:off x="6848856" y="1261872"/>
            <a:ext cx="202996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47"/>
          <p:cNvSpPr/>
          <p:nvPr/>
        </p:nvSpPr>
        <p:spPr>
          <a:xfrm>
            <a:off x="6848856" y="1261872"/>
            <a:ext cx="64008" cy="349300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8"/>
          <p:cNvSpPr/>
          <p:nvPr/>
        </p:nvSpPr>
        <p:spPr>
          <a:xfrm>
            <a:off x="6848856" y="1261872"/>
            <a:ext cx="2029968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316736"/>
            <a:ext cx="329184" cy="329184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306056" y="12801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00"/>
          </a:p>
        </p:txBody>
      </p:sp>
      <p:sp>
        <p:nvSpPr>
          <p:cNvPr id="56" name="Text 50"/>
          <p:cNvSpPr/>
          <p:nvPr/>
        </p:nvSpPr>
        <p:spPr>
          <a:xfrm>
            <a:off x="6940296" y="17556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Pré-remplissage automatique</a:t>
            </a:r>
            <a:endParaRPr lang="en-US" sz="900"/>
          </a:p>
        </p:txBody>
      </p:sp>
      <p:sp>
        <p:nvSpPr>
          <p:cNvPr id="57" name="Text 51"/>
          <p:cNvSpPr/>
          <p:nvPr/>
        </p:nvSpPr>
        <p:spPr>
          <a:xfrm>
            <a:off x="6940296" y="1993392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proposée automatiquement à l'enquêteur. Peut être statique (texte fixe) ou dynamique (formule XPath).</a:t>
            </a:r>
            <a:endParaRPr lang="en-US" sz="950"/>
          </a:p>
        </p:txBody>
      </p:sp>
      <p:sp>
        <p:nvSpPr>
          <p:cNvPr id="58" name="Shape 52"/>
          <p:cNvSpPr/>
          <p:nvPr/>
        </p:nvSpPr>
        <p:spPr>
          <a:xfrm>
            <a:off x="6940296" y="3145536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3"/>
          <p:cNvSpPr/>
          <p:nvPr/>
        </p:nvSpPr>
        <p:spPr>
          <a:xfrm>
            <a:off x="6940296" y="321868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XLSForm :</a:t>
            </a:r>
            <a:endParaRPr lang="en-US" sz="850"/>
          </a:p>
        </p:txBody>
      </p:sp>
      <p:sp>
        <p:nvSpPr>
          <p:cNvPr id="60" name="Shape 54"/>
          <p:cNvSpPr/>
          <p:nvPr/>
        </p:nvSpPr>
        <p:spPr>
          <a:xfrm>
            <a:off x="6940296" y="34381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5"/>
          <p:cNvSpPr/>
          <p:nvPr/>
        </p:nvSpPr>
        <p:spPr>
          <a:xfrm>
            <a:off x="6976872" y="34564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/>
          </a:p>
        </p:txBody>
      </p:sp>
      <p:sp>
        <p:nvSpPr>
          <p:cNvPr id="62" name="Text 56"/>
          <p:cNvSpPr/>
          <p:nvPr/>
        </p:nvSpPr>
        <p:spPr>
          <a:xfrm>
            <a:off x="6940296" y="369417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en-US" sz="850"/>
          </a:p>
        </p:txBody>
      </p:sp>
      <p:sp>
        <p:nvSpPr>
          <p:cNvPr id="63" name="Shape 57"/>
          <p:cNvSpPr/>
          <p:nvPr/>
        </p:nvSpPr>
        <p:spPr>
          <a:xfrm>
            <a:off x="6940296" y="3895344"/>
            <a:ext cx="184708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58"/>
          <p:cNvSpPr/>
          <p:nvPr/>
        </p:nvSpPr>
        <p:spPr>
          <a:xfrm>
            <a:off x="6976872" y="39136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— Interface graphique du Formbuilder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Masquer des questions sans écrire de code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fonctionne ?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Formbuilder, chaque question possède un onglet « Skip Logic ». On y définit une règle : si la réponse à la question X correspond à la condition Y, alors cette question est affichée (ou masquée).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dans le Formbuilder :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859536" y="27614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la question à conditionner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859536" y="30906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l'onglet « Skip Logic »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859536" y="34198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+ Add a condition »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859536" y="374904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question déclencheuse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859536" y="407822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l'opérateur (= / ≠ / &gt; / &lt;…)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237744" cy="237744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8640" y="4389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859536" y="440740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la valeur de déclenchement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</a:t>
            </a:r>
            <a:r>
              <a:rPr lang="en-US" sz="95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4864608" y="173736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si ONG VEZO = Non → afficher « Autres ONG »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864608" y="2157984"/>
            <a:ext cx="3822192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64608" y="2157984"/>
            <a:ext cx="54864" cy="493776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956048" y="2212848"/>
            <a:ext cx="749808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956048" y="22128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5779008" y="221284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Connaissez-vous </a:t>
            </a:r>
            <a:r>
              <a:rPr lang="en-US" sz="1000" b="1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</a:t>
            </a: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?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5779008" y="2450592"/>
            <a:ext cx="2816352" cy="164592"/>
          </a:xfrm>
          <a:prstGeom prst="rect">
            <a:avLst/>
          </a:prstGeom>
          <a:solidFill>
            <a:srgbClr val="F0F7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815584" y="2459736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✓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4864608" y="272491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réponse = « Non »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5074920" y="2926080"/>
            <a:ext cx="0" cy="237744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973616" y="2944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Afficher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4864608" y="3182112"/>
            <a:ext cx="3822192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864608" y="3182112"/>
            <a:ext cx="54864" cy="493776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956048" y="3236976"/>
            <a:ext cx="749808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956048" y="32369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700"/>
          </a:p>
        </p:txBody>
      </p:sp>
      <p:sp>
        <p:nvSpPr>
          <p:cNvPr id="49" name="Text 47"/>
          <p:cNvSpPr/>
          <p:nvPr/>
        </p:nvSpPr>
        <p:spPr>
          <a:xfrm>
            <a:off x="5779008" y="323697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ONG que vous connaissez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864608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réponse = « Oui » → masquer la question suivante :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4864608" y="4078224"/>
            <a:ext cx="3822192" cy="493776"/>
          </a:xfrm>
          <a:prstGeom prst="rect">
            <a:avLst/>
          </a:prstGeom>
          <a:solidFill>
            <a:srgbClr val="EEF0F0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864608" y="4078224"/>
            <a:ext cx="54864" cy="493776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956048" y="4133088"/>
            <a:ext cx="749808" cy="182880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956048" y="4133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/>
          </a:p>
        </p:txBody>
      </p:sp>
      <p:sp>
        <p:nvSpPr>
          <p:cNvPr id="55" name="Text 53"/>
          <p:cNvSpPr/>
          <p:nvPr/>
        </p:nvSpPr>
        <p:spPr>
          <a:xfrm>
            <a:off x="5779008" y="413308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quand </a:t>
            </a:r>
            <a:r>
              <a:rPr lang="en-US" sz="100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connaissez</a:t>
            </a:r>
            <a:r>
              <a:rPr lang="en-US" sz="10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-vous VEZO ?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5779008" y="437083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(masquée)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— Opérateurs disponibles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Tous les opérateurs de comparaison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Skip Logic propose ces opérateurs — chacun génère automatiquement du code XPath en arrière-plan.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5486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6824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886968" y="1682496"/>
            <a:ext cx="14630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86968" y="1682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Signification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2368296" y="1682496"/>
            <a:ext cx="320040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68296" y="1682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XPath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5586984" y="1682496"/>
            <a:ext cx="25603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86984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548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86968" y="1993392"/>
            <a:ext cx="1463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368296" y="1993392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586984" y="1993392"/>
            <a:ext cx="25603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56616" y="2029968"/>
            <a:ext cx="475488" cy="237744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56616" y="202996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941832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 à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2404872" y="2048256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41448" y="20665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 = 'femme'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5641848" y="2066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: avec apostrophes. Nombre : sans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320040" y="2340864"/>
            <a:ext cx="5486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86968" y="2340864"/>
            <a:ext cx="14630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368296" y="2340864"/>
            <a:ext cx="320040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586984" y="2340864"/>
            <a:ext cx="256032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56616" y="2377440"/>
            <a:ext cx="475488" cy="23774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56616" y="23774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941832" y="2414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 de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2404872" y="2395728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441448" y="241401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${statut} != 'celibataire'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5641848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d'une modalité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320040" y="2688336"/>
            <a:ext cx="548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886968" y="2688336"/>
            <a:ext cx="1463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368296" y="2688336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586984" y="2688336"/>
            <a:ext cx="25603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56616" y="2724912"/>
            <a:ext cx="475488" cy="2377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56616" y="27249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941832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supérieur à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2404872" y="2743200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441448" y="2761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${age} &gt; 18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5641848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numérique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320040" y="3035808"/>
            <a:ext cx="5486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886968" y="3035808"/>
            <a:ext cx="14630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2368296" y="3035808"/>
            <a:ext cx="320040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5586984" y="3035808"/>
            <a:ext cx="256032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56616" y="3072384"/>
            <a:ext cx="475488" cy="2377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56616" y="307238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941832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supérieur ou égal à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2404872" y="3090672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441448" y="310896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${nb_enfants} &gt;= 1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5641848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minimum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320040" y="3383280"/>
            <a:ext cx="548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886968" y="3383280"/>
            <a:ext cx="1463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2368296" y="3383280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5586984" y="3383280"/>
            <a:ext cx="25603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56616" y="3419856"/>
            <a:ext cx="475488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56616" y="341985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941832" y="3456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inférieur à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2404872" y="3438144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441448" y="3456432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${age} &lt; 16</a:t>
            </a:r>
            <a:endParaRPr lang="en-US" sz="800"/>
          </a:p>
        </p:txBody>
      </p:sp>
      <p:sp>
        <p:nvSpPr>
          <p:cNvPr id="67" name="Text 65"/>
          <p:cNvSpPr/>
          <p:nvPr/>
        </p:nvSpPr>
        <p:spPr>
          <a:xfrm>
            <a:off x="5641848" y="34564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numérique</a:t>
            </a:r>
            <a:endParaRPr lang="en-US" sz="950"/>
          </a:p>
        </p:txBody>
      </p:sp>
      <p:sp>
        <p:nvSpPr>
          <p:cNvPr id="68" name="Shape 66"/>
          <p:cNvSpPr/>
          <p:nvPr/>
        </p:nvSpPr>
        <p:spPr>
          <a:xfrm>
            <a:off x="320040" y="3730752"/>
            <a:ext cx="5486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886968" y="3730752"/>
            <a:ext cx="14630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2368296" y="3730752"/>
            <a:ext cx="320040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5586984" y="3730752"/>
            <a:ext cx="256032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56616" y="3767328"/>
            <a:ext cx="475488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356616" y="376732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</a:t>
            </a:r>
            <a:endParaRPr lang="en-US" sz="900"/>
          </a:p>
        </p:txBody>
      </p:sp>
      <p:sp>
        <p:nvSpPr>
          <p:cNvPr id="74" name="Text 72"/>
          <p:cNvSpPr/>
          <p:nvPr/>
        </p:nvSpPr>
        <p:spPr>
          <a:xfrm>
            <a:off x="941832" y="3803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inférieur ou égal à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2404872" y="3785616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2441448" y="380390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${score} &lt;= 5</a:t>
            </a:r>
            <a:endParaRPr lang="en-US" sz="800"/>
          </a:p>
        </p:txBody>
      </p:sp>
      <p:sp>
        <p:nvSpPr>
          <p:cNvPr id="77" name="Text 75"/>
          <p:cNvSpPr/>
          <p:nvPr/>
        </p:nvSpPr>
        <p:spPr>
          <a:xfrm>
            <a:off x="5641848" y="3803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maximum</a:t>
            </a:r>
            <a:endParaRPr lang="en-US" sz="950"/>
          </a:p>
        </p:txBody>
      </p:sp>
      <p:sp>
        <p:nvSpPr>
          <p:cNvPr id="78" name="Shape 76"/>
          <p:cNvSpPr/>
          <p:nvPr/>
        </p:nvSpPr>
        <p:spPr>
          <a:xfrm>
            <a:off x="320040" y="4078224"/>
            <a:ext cx="548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886968" y="4078224"/>
            <a:ext cx="14630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2368296" y="4078224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5586984" y="4078224"/>
            <a:ext cx="25603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356616" y="4114800"/>
            <a:ext cx="475488" cy="23774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356616" y="411480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selected()</a:t>
            </a:r>
            <a:endParaRPr lang="en-US" sz="900"/>
          </a:p>
        </p:txBody>
      </p:sp>
      <p:sp>
        <p:nvSpPr>
          <p:cNvPr id="84" name="Text 82"/>
          <p:cNvSpPr/>
          <p:nvPr/>
        </p:nvSpPr>
        <p:spPr>
          <a:xfrm>
            <a:off x="941832" y="41513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 choix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2404872" y="4133088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2441448" y="41513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selected(${religion},'chretienne')</a:t>
            </a:r>
            <a:endParaRPr lang="en-US" sz="800"/>
          </a:p>
        </p:txBody>
      </p:sp>
      <p:sp>
        <p:nvSpPr>
          <p:cNvPr id="87" name="Text 85"/>
          <p:cNvSpPr/>
          <p:nvPr/>
        </p:nvSpPr>
        <p:spPr>
          <a:xfrm>
            <a:off x="5641848" y="4151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select_multiple seulement</a:t>
            </a:r>
            <a:endParaRPr lang="en-US" sz="950"/>
          </a:p>
        </p:txBody>
      </p:sp>
      <p:sp>
        <p:nvSpPr>
          <p:cNvPr id="88" name="Shape 86"/>
          <p:cNvSpPr/>
          <p:nvPr/>
        </p:nvSpPr>
        <p:spPr>
          <a:xfrm>
            <a:off x="320040" y="4425696"/>
            <a:ext cx="5486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886968" y="4425696"/>
            <a:ext cx="146304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2368296" y="4425696"/>
            <a:ext cx="320040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5586984" y="4425696"/>
            <a:ext cx="2560320" cy="329184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356616" y="4462272"/>
            <a:ext cx="475488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356616" y="44622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not(selected())</a:t>
            </a:r>
            <a:endParaRPr lang="en-US" sz="900"/>
          </a:p>
        </p:txBody>
      </p:sp>
      <p:sp>
        <p:nvSpPr>
          <p:cNvPr id="94" name="Text 92"/>
          <p:cNvSpPr/>
          <p:nvPr/>
        </p:nvSpPr>
        <p:spPr>
          <a:xfrm>
            <a:off x="941832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contient pas</a:t>
            </a:r>
            <a:endParaRPr lang="en-US" sz="1000"/>
          </a:p>
        </p:txBody>
      </p:sp>
      <p:sp>
        <p:nvSpPr>
          <p:cNvPr id="95" name="Shape 93"/>
          <p:cNvSpPr/>
          <p:nvPr/>
        </p:nvSpPr>
        <p:spPr>
          <a:xfrm>
            <a:off x="2404872" y="4480560"/>
            <a:ext cx="3127248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2441448" y="449884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not(selected(${religion},'autre'))</a:t>
            </a:r>
            <a:endParaRPr lang="en-US" sz="800"/>
          </a:p>
        </p:txBody>
      </p:sp>
      <p:sp>
        <p:nvSpPr>
          <p:cNvPr id="97" name="Text 95"/>
          <p:cNvSpPr/>
          <p:nvPr/>
        </p:nvSpPr>
        <p:spPr>
          <a:xfrm>
            <a:off x="5641848" y="4498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 selected()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Conditions XPath avancées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Plusieurs conditions combinées avec AND / OR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relevant accepte toute expression XPath valide. Contrairement à l'interface Skip Logic qui ne gère qu'une condition à la fois, relevant permet de combiner plusieurs conditions.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64008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simple (AND implicite)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187952" y="1792224"/>
            <a:ext cx="4535424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42816" y="1810512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 = 'femme'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457200" y="20482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n'apparaît que si sexe = féminin. Équivalent au Skip Logic simple.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577840" y="2011680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14416" y="202996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Filtrer les questions spécifiques à un groupe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20040" y="2359152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64008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395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conditions AND (les deux doivent être vraies)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187952" y="2414016"/>
            <a:ext cx="4535424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42816" y="2432304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 = 'femme' and ${age} &gt;= 15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457200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apparaît uniquement pour les femmes de 15 ans ou plus.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5577840" y="2633472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14416" y="265176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err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: questions maternité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20040" y="2980944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980944"/>
            <a:ext cx="64008" cy="5486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conditions OR (au moins une vraie)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187952" y="3035808"/>
            <a:ext cx="4535424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242816" y="3054096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${statut} = 'mariee' or ${statut} = 'concubinage'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la question pour les femmes mariées OU en concubinage.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5577840" y="3255264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614416" y="327355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Questions sur la vie en couple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320040" y="3602736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3602736"/>
            <a:ext cx="64008" cy="548640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sur select_multiple (selected)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4187952" y="3657600"/>
            <a:ext cx="4535424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242816" y="3675888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selected(${religion}, 'chretienne') or selected(${religion}, 'catholique')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457200" y="3913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selected() teste si une valeur spécifique est cochée dans un choix multiple.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5577840" y="387705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614416" y="389534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Obligatoire pour select_multiple — l'opérateur = ne fonctionne pas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20040" y="4224528"/>
            <a:ext cx="64008" cy="54864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sur un calculate ou note précédent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4187952" y="4279392"/>
            <a:ext cx="4535424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242816" y="4297680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${score_total} &gt;= 3 and ${score_total} &lt;= 8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457200" y="45354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référencer n'importe quelle question précédente y compris un calculate.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5577840" y="4498848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5614416" y="4517136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Afficher des recommandations selon un score calculé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Fonctions XPath utiles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Boîte à outils des expressions logiques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1155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selected(${q}, 'valeur')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3520440" y="1261872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38728" y="126187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11480" y="1572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strike="sngStrike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si 'valeur' est cochée dans un choix multiple. Indispensable — = ne fonctionne pas sur select_multiple.</a:t>
            </a:r>
            <a:endParaRPr lang="en-US" sz="950" strike="sngStrike"/>
          </a:p>
        </p:txBody>
      </p:sp>
      <p:sp>
        <p:nvSpPr>
          <p:cNvPr id="16" name="Shape 14"/>
          <p:cNvSpPr/>
          <p:nvPr/>
        </p:nvSpPr>
        <p:spPr>
          <a:xfrm>
            <a:off x="411480" y="2084832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48056" y="210312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selected(${religion}, 'chretienne')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54880" y="1261872"/>
            <a:ext cx="64008" cy="1115568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206240" cy="256032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not(condition)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7955280" y="1261872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973568" y="126187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4846320" y="1572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strike="sngStrike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une condition. not(selected()) = la valeur n'est PAS cochée.</a:t>
            </a:r>
            <a:endParaRPr lang="en-US" sz="950" strike="sngStrike"/>
          </a:p>
        </p:txBody>
      </p:sp>
      <p:sp>
        <p:nvSpPr>
          <p:cNvPr id="25" name="Shape 23"/>
          <p:cNvSpPr/>
          <p:nvPr/>
        </p:nvSpPr>
        <p:spPr>
          <a:xfrm>
            <a:off x="4846320" y="2084832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82896" y="210312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not(selected(${religion}, 'autre'))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320040" y="2505456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505456"/>
            <a:ext cx="64008" cy="11155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420624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11480" y="2505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count-selected(${q})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3520440" y="2505456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538728" y="250545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1148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 nombre de choix sélectionnés dans un select_multiple.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411480" y="3328416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48056" y="334670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count-selected(${ong_connues}) &gt;= 2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4754880" y="2505456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54880" y="2505456"/>
            <a:ext cx="64008" cy="11155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754880" y="2505456"/>
            <a:ext cx="4206240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46320" y="2505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string-length(${q})</a:t>
            </a:r>
            <a:endParaRPr lang="en-US" sz="850"/>
          </a:p>
        </p:txBody>
      </p:sp>
      <p:sp>
        <p:nvSpPr>
          <p:cNvPr id="40" name="Shape 38"/>
          <p:cNvSpPr/>
          <p:nvPr/>
        </p:nvSpPr>
        <p:spPr>
          <a:xfrm>
            <a:off x="7955280" y="2505456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973568" y="250545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84632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strike="sngStrike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nombre de caractères d'un champ texte. Utile pour vérifier si une réponse est vide.</a:t>
            </a:r>
            <a:endParaRPr lang="en-US" sz="950" strike="sngStrike"/>
          </a:p>
        </p:txBody>
      </p:sp>
      <p:sp>
        <p:nvSpPr>
          <p:cNvPr id="43" name="Shape 41"/>
          <p:cNvSpPr/>
          <p:nvPr/>
        </p:nvSpPr>
        <p:spPr>
          <a:xfrm>
            <a:off x="4846320" y="3328416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82896" y="334670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string-length(${commentaire}) &gt; 0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20040" y="3749040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749040"/>
            <a:ext cx="64008" cy="111556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4206240" cy="25603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1148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3520440" y="3749040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538728" y="37490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11480" y="4059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la date du jour. Utilisé dans relevant et default pour des conditions temporelles.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11480" y="4572000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48056" y="459028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${date_naissance} &lt; today()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4754880" y="3749040"/>
            <a:ext cx="420624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754880" y="3749040"/>
            <a:ext cx="64008" cy="11155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754880" y="3749040"/>
            <a:ext cx="4206240" cy="25603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84632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position(..)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7955280" y="3749040"/>
            <a:ext cx="1005840" cy="256032"/>
          </a:xfrm>
          <a:prstGeom prst="rect">
            <a:avLst/>
          </a:prstGeom>
          <a:solidFill>
            <a:srgbClr val="1A1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7973568" y="37490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Répétition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846320" y="4059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strike="sngStrike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 le numéro de la ligne courante dans une section repeat. Utile pour numéroter automatiquement.</a:t>
            </a:r>
            <a:endParaRPr lang="en-US" sz="950" strike="sngStrike"/>
          </a:p>
        </p:txBody>
      </p:sp>
      <p:sp>
        <p:nvSpPr>
          <p:cNvPr id="61" name="Shape 59"/>
          <p:cNvSpPr/>
          <p:nvPr/>
        </p:nvSpPr>
        <p:spPr>
          <a:xfrm>
            <a:off x="4846320" y="4572000"/>
            <a:ext cx="402336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882896" y="459028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concat('Membre n° ', position(..))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— Valider les réponses à la saisie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Bloquer les valeurs incorrectes avec message d'erreur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constraint contient une expression XPath qui doit être vraie pour que la réponse soit acceptée. Si elle est fausse, un message d'erreur s'affiche et l'enquêteur ne peut pas continuer.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« . » représente la valeur saisie.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contraintes :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45720" cy="3474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21792" y="2935224"/>
            <a:ext cx="548640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1792" y="29352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1225296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valide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450592" y="2935224"/>
            <a:ext cx="210312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487168" y="295351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5 and . &lt;= 110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4023360" cy="34747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8640" y="3255264"/>
            <a:ext cx="45720" cy="3474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21792" y="3319272"/>
            <a:ext cx="548640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1792" y="3319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1225296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personnes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2450592" y="3319272"/>
            <a:ext cx="210312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487168" y="333756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1 and . &lt;= 30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548640" y="3639312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48640" y="3639312"/>
            <a:ext cx="45720" cy="3474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21792" y="3703320"/>
            <a:ext cx="548640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21792" y="3703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1225296" y="3675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(cm)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2450592" y="3703320"/>
            <a:ext cx="210312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487168" y="3721608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 40 and . &lt; 250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4023360" cy="34747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45720" cy="3474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21792" y="4087368"/>
            <a:ext cx="548640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1792" y="4087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1225296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min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2450592" y="4087368"/>
            <a:ext cx="210312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487168" y="4105656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string-length(.) &gt;= 3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548640" y="4407408"/>
            <a:ext cx="4023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548640" y="4407408"/>
            <a:ext cx="45720" cy="34747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21792" y="4471416"/>
            <a:ext cx="548640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21792" y="4471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/>
          </a:p>
        </p:txBody>
      </p:sp>
      <p:sp>
        <p:nvSpPr>
          <p:cNvPr id="46" name="Text 44"/>
          <p:cNvSpPr/>
          <p:nvPr/>
        </p:nvSpPr>
        <p:spPr>
          <a:xfrm>
            <a:off x="1225296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valide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2450592" y="4471416"/>
            <a:ext cx="210312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487168" y="448970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&lt;= today()</a:t>
            </a:r>
            <a:endParaRPr lang="en-US" sz="800"/>
          </a:p>
        </p:txBody>
      </p:sp>
      <p:sp>
        <p:nvSpPr>
          <p:cNvPr id="49" name="Shape 47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— Aperçu erreur de validation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Âge ?  *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4864608" y="2048256"/>
            <a:ext cx="3749040" cy="365760"/>
          </a:xfrm>
          <a:prstGeom prst="rect">
            <a:avLst/>
          </a:prstGeom>
          <a:solidFill>
            <a:srgbClr val="EA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864608" y="2414016"/>
            <a:ext cx="3749040" cy="0"/>
          </a:xfrm>
          <a:prstGeom prst="line">
            <a:avLst/>
          </a:prstGeom>
          <a:noFill/>
          <a:ln w="254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91947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4864608" y="2487168"/>
            <a:ext cx="3749040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919472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Valeur incorrecte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4919472" y="2761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L'âge doit être compris entre 5 et 110 ans.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4864608" y="3200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constraint_message :</a:t>
            </a:r>
            <a:endParaRPr lang="en-US" sz="1000"/>
          </a:p>
        </p:txBody>
      </p:sp>
      <p:sp>
        <p:nvSpPr>
          <p:cNvPr id="60" name="Shape 58"/>
          <p:cNvSpPr/>
          <p:nvPr/>
        </p:nvSpPr>
        <p:spPr>
          <a:xfrm>
            <a:off x="4864608" y="3438144"/>
            <a:ext cx="3749040" cy="310896"/>
          </a:xfrm>
          <a:prstGeom prst="rect">
            <a:avLst/>
          </a:prstGeom>
          <a:solidFill>
            <a:srgbClr val="F0F7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901184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L'âge doit être compris entre 5 et 110 ans.</a:t>
            </a:r>
            <a:endParaRPr lang="en-US" sz="950"/>
          </a:p>
        </p:txBody>
      </p:sp>
      <p:sp>
        <p:nvSpPr>
          <p:cNvPr id="62" name="Text 60"/>
          <p:cNvSpPr/>
          <p:nvPr/>
        </p:nvSpPr>
        <p:spPr>
          <a:xfrm>
            <a:off x="4864608" y="3822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constraint_message, Kobo affiche un message générique.</a:t>
            </a:r>
            <a:endParaRPr lang="en-US" sz="950"/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constraint_message pour guider précisément l'enquêteur.</a:t>
            </a:r>
            <a:endParaRPr lang="en-US" sz="950"/>
          </a:p>
        </p:txBody>
      </p:sp>
      <p:sp>
        <p:nvSpPr>
          <p:cNvPr id="63" name="Shape 61"/>
          <p:cNvSpPr/>
          <p:nvPr/>
        </p:nvSpPr>
        <p:spPr>
          <a:xfrm>
            <a:off x="4864608" y="4334256"/>
            <a:ext cx="374904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919472" y="4352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= . &gt;= 5 and . &lt;= 110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constraint_message = L'âge doit être entre 5 et 110 ans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— Exemples terrain complets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Contraintes pour le </a:t>
            </a:r>
            <a:r>
              <a:rPr lang="en-US" sz="1300" err="1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les contraintes recommandées pour chaque question numérique et date du formulaire ONG VEZO :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2194560" cy="43891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74904" y="17007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532888" y="1645920"/>
            <a:ext cx="914400" cy="43891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87752" y="17007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465576" y="1645920"/>
            <a:ext cx="2377440" cy="43891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520440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5861304" y="1645920"/>
            <a:ext cx="2194560" cy="43891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16168" y="17007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constraint_message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8247888" y="1645920"/>
            <a:ext cx="640080" cy="43891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302752" y="17007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" y="2176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répondant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2532888" y="2121408"/>
            <a:ext cx="91440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87752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465576" y="2121408"/>
            <a:ext cx="237744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520440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5 and . &lt;= 110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5861304" y="2121408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916168" y="21762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entre 5 et 110 ans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8247888" y="2121408"/>
            <a:ext cx="64008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302752" y="21762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20040" y="259689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74904" y="2651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ménage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2532888" y="2596896"/>
            <a:ext cx="914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87752" y="26517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3465576" y="2596896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520440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1 and . &lt;= 50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5861304" y="259689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916168" y="2651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et 50 personnes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8247888" y="2596896"/>
            <a:ext cx="640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302752" y="2651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320040" y="3072384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74904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&gt; 16 ans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2532888" y="3072384"/>
            <a:ext cx="91440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587752" y="3127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3465576" y="3072384"/>
            <a:ext cx="237744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520440" y="3127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0 and . &lt;= ${nb_menage}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5861304" y="3072384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916168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dépasser le total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8247888" y="3072384"/>
            <a:ext cx="64008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8302752" y="31272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320040" y="354787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74904" y="3602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(cm)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2532888" y="3547872"/>
            <a:ext cx="914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587752" y="36027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3465576" y="3547872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3520440" y="3602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 40 and . &lt; 250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5861304" y="354787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5916168" y="3602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entre 40 et 250 cm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8247888" y="3547872"/>
            <a:ext cx="640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8302752" y="3602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320040" y="4023360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74904" y="40782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collecte</a:t>
            </a:r>
            <a:endParaRPr lang="en-US" sz="950"/>
          </a:p>
        </p:txBody>
      </p:sp>
      <p:sp>
        <p:nvSpPr>
          <p:cNvPr id="62" name="Shape 60"/>
          <p:cNvSpPr/>
          <p:nvPr/>
        </p:nvSpPr>
        <p:spPr>
          <a:xfrm>
            <a:off x="2532888" y="4023360"/>
            <a:ext cx="91440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2587752" y="40782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/>
          </a:p>
        </p:txBody>
      </p:sp>
      <p:sp>
        <p:nvSpPr>
          <p:cNvPr id="64" name="Shape 62"/>
          <p:cNvSpPr/>
          <p:nvPr/>
        </p:nvSpPr>
        <p:spPr>
          <a:xfrm>
            <a:off x="3465576" y="4023360"/>
            <a:ext cx="237744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3520440" y="40782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&lt;= today()</a:t>
            </a:r>
            <a:endParaRPr lang="en-US" sz="950"/>
          </a:p>
        </p:txBody>
      </p:sp>
      <p:sp>
        <p:nvSpPr>
          <p:cNvPr id="66" name="Shape 64"/>
          <p:cNvSpPr/>
          <p:nvPr/>
        </p:nvSpPr>
        <p:spPr>
          <a:xfrm>
            <a:off x="5861304" y="4023360"/>
            <a:ext cx="219456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916168" y="40782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ne peut être future</a:t>
            </a:r>
            <a:endParaRPr lang="en-US" sz="950"/>
          </a:p>
        </p:txBody>
      </p:sp>
      <p:sp>
        <p:nvSpPr>
          <p:cNvPr id="68" name="Shape 66"/>
          <p:cNvSpPr/>
          <p:nvPr/>
        </p:nvSpPr>
        <p:spPr>
          <a:xfrm>
            <a:off x="8247888" y="4023360"/>
            <a:ext cx="640080" cy="438912"/>
          </a:xfrm>
          <a:prstGeom prst="rect">
            <a:avLst/>
          </a:prstGeom>
          <a:solidFill>
            <a:srgbClr val="F0FB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8302752" y="40782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950"/>
          </a:p>
        </p:txBody>
      </p:sp>
      <p:sp>
        <p:nvSpPr>
          <p:cNvPr id="70" name="Shape 68"/>
          <p:cNvSpPr/>
          <p:nvPr/>
        </p:nvSpPr>
        <p:spPr>
          <a:xfrm>
            <a:off x="320040" y="449884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374904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l'agent (longueur)</a:t>
            </a:r>
            <a:endParaRPr lang="en-US" sz="950"/>
          </a:p>
        </p:txBody>
      </p:sp>
      <p:sp>
        <p:nvSpPr>
          <p:cNvPr id="72" name="Shape 70"/>
          <p:cNvSpPr/>
          <p:nvPr/>
        </p:nvSpPr>
        <p:spPr>
          <a:xfrm>
            <a:off x="2532888" y="4498848"/>
            <a:ext cx="914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2587752" y="45537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/>
          </a:p>
        </p:txBody>
      </p:sp>
      <p:sp>
        <p:nvSpPr>
          <p:cNvPr id="74" name="Shape 72"/>
          <p:cNvSpPr/>
          <p:nvPr/>
        </p:nvSpPr>
        <p:spPr>
          <a:xfrm>
            <a:off x="3465576" y="4498848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520440" y="4553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string-length(.) &gt;= 3</a:t>
            </a:r>
            <a:endParaRPr lang="en-US" sz="950"/>
          </a:p>
        </p:txBody>
      </p:sp>
      <p:sp>
        <p:nvSpPr>
          <p:cNvPr id="76" name="Shape 74"/>
          <p:cNvSpPr/>
          <p:nvPr/>
        </p:nvSpPr>
        <p:spPr>
          <a:xfrm>
            <a:off x="5861304" y="4498848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5916168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caractères requis</a:t>
            </a:r>
            <a:endParaRPr lang="en-US" sz="950"/>
          </a:p>
        </p:txBody>
      </p:sp>
      <p:sp>
        <p:nvSpPr>
          <p:cNvPr id="78" name="Shape 76"/>
          <p:cNvSpPr/>
          <p:nvPr/>
        </p:nvSpPr>
        <p:spPr>
          <a:xfrm>
            <a:off x="8247888" y="4498848"/>
            <a:ext cx="6400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8302752" y="45537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50"/>
          </a:p>
        </p:txBody>
      </p:sp>
      <p:sp>
        <p:nvSpPr>
          <p:cNvPr id="80" name="Shape 78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FDF2E9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626864"/>
            <a:ext cx="201168" cy="201168"/>
          </a:xfrm>
          <a:prstGeom prst="rect">
            <a:avLst/>
          </a:prstGeom>
        </p:spPr>
      </p:pic>
      <p:sp>
        <p:nvSpPr>
          <p:cNvPr id="82" name="Text 79"/>
          <p:cNvSpPr/>
          <p:nvPr/>
        </p:nvSpPr>
        <p:spPr>
          <a:xfrm>
            <a:off x="694944" y="46085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${nb_menage} dans la contrainte de « Nb &gt; 16 ans » référence la réponse d'une question précédente — cross-validation dynamique !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Valeurs pré-remplies automatiquement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Réduire les saisies répétitives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utiliser default ?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default pré-remplit une réponse avant que l'enquêteur ne la voit. Il peut l'accepter ou la modifier. Cela réduit les erreurs et accélère la collecte.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valeurs par défaut :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48640" y="2542032"/>
            <a:ext cx="4023360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statique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05456" y="2578608"/>
            <a:ext cx="199339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42032" y="2596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'2024'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640080" y="279806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nombre fixe — entre apostrophes pour les textes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548640" y="3072384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48640" y="3072384"/>
            <a:ext cx="64008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4023360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jour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05456" y="3108960"/>
            <a:ext cx="199339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42032" y="3127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640080" y="332841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utile pour la date de collecte — se met à jour chaque jour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548640" y="3602736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48640" y="3602736"/>
            <a:ext cx="64008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48640" y="3602736"/>
            <a:ext cx="4023360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40080" y="36210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05456" y="3639312"/>
            <a:ext cx="199339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542032" y="3657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${prenom_agent}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640080" y="385876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la valeur d'une autre question déjà saisie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548640" y="4133088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48640" y="4133088"/>
            <a:ext cx="64008" cy="457200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48640" y="4133088"/>
            <a:ext cx="4023360" cy="25603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0080" y="4151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dynamique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2505456" y="4169664"/>
            <a:ext cx="199339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542032" y="4187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string(${annee})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640080" y="438912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une valeur : entier → texte, concat, etc.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Aperçu formulaire</a:t>
            </a:r>
            <a:endParaRPr lang="en-US" sz="950"/>
          </a:p>
        </p:txBody>
      </p:sp>
      <p:sp>
        <p:nvSpPr>
          <p:cNvPr id="44" name="Text 42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collecte  *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4864608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today() — pré-rempli automatiquement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864608" y="2267712"/>
            <a:ext cx="3749040" cy="365760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919472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03 / 2026</a:t>
            </a:r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4864608" y="2633472"/>
            <a:ext cx="3749040" cy="0"/>
          </a:xfrm>
          <a:prstGeom prst="line">
            <a:avLst/>
          </a:prstGeom>
          <a:noFill/>
          <a:ln w="1905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864608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(L'enquêteur peut modifier si nécessaire)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4864608" y="2999232"/>
            <a:ext cx="374904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64608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 *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4864608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'2024' — valeur fixe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4864608" y="3602736"/>
            <a:ext cx="3749040" cy="34747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919472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/>
          </a:p>
        </p:txBody>
      </p:sp>
      <p:sp>
        <p:nvSpPr>
          <p:cNvPr id="55" name="Shape 53"/>
          <p:cNvSpPr/>
          <p:nvPr/>
        </p:nvSpPr>
        <p:spPr>
          <a:xfrm>
            <a:off x="4864608" y="4041648"/>
            <a:ext cx="374904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919472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today()        → date du jour auto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'2024'         → valeur texte fixe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strike="sngStrike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dynamique — Formules XPath avancées</a:t>
            </a:r>
            <a:endParaRPr lang="en-US" sz="2600" strike="sngStrike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Pré-remplir en fonction d'autres réponses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default peut contenir une formule XPath complète — il se calcule à l'ouverture de la question et peut référencer n'importe quelle question précédente.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6400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Pré-remplir le nom complet depuis prénom + nom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5577840" y="177393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614416" y="179222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text  ·  name = nom_complet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57200" y="2048256"/>
            <a:ext cx="5120640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" y="2066544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concat(${prenom}, ' ', ${nom_famille})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6126480" y="20665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de deux champs texte — l'enquêteur peut corriger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64008" cy="56692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4140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l'année depuis la date de collecte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5577840" y="241401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614416" y="24323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calculate  ·  name = annee_collecte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5120640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3776" y="2706624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string(format-date(today(), '%Y'))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6126480" y="270662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format-date() formate une date — %Y = année sur 4 chiffres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3017520"/>
            <a:ext cx="6400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3054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le département de la session précédente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5577840" y="305409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614416" y="307238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text  ·  name = departement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457200" y="3328416"/>
            <a:ext cx="51206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93776" y="3346704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${departement_session_prec}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6126480" y="334670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Référencer une valeur d'une session précédente via un calculate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320040" y="365760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64008" cy="566928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36941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Pré-calculer le score si 3 questions déjà répondues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5577840" y="369417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614416" y="371246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integer  ·  name = score_estime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457200" y="3968496"/>
            <a:ext cx="5120640" cy="1828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93776" y="3986784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if(${q1} = 'oui', 1, 0) + if(${q2} = 'oui', 1, 0)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6126480" y="39867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if(condition, valeur_si_vrai, valeur_si_faux) — très puissant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20040" y="4297680"/>
            <a:ext cx="64008" cy="56692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4334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code unique enquêteur + date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5577840" y="4334256"/>
            <a:ext cx="3145536" cy="219456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614416" y="435254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text  ·  name = id_session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457200" y="4608576"/>
            <a:ext cx="512064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93776" y="4626864"/>
            <a:ext cx="5870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concat(${code_agent}, '-', format-date(today(), '%Y%m%d'))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6126480" y="46268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AGENT-AAAAMMJJ automatique à chaque session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XPath — Les opérateurs logiques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Combiner les conditions avec and / or / not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02336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les DEUX conditions doivent être vraies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402336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1810512"/>
            <a:ext cx="1645920" cy="987552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${age} &gt;= 15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249424" y="201168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2724912" y="1810512"/>
            <a:ext cx="1554480" cy="987552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24912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2724912" y="21945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${sexe}='femme'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2798064" cy="16459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85216" y="27614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Afficher SI femme ET âge ≥ 15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4617720" y="1261872"/>
            <a:ext cx="4206240" cy="310896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9160" y="126187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au moins UNE condition doit être vraie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17720" y="1627632"/>
            <a:ext cx="420624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800600" y="1810512"/>
            <a:ext cx="1645920" cy="987552"/>
          </a:xfrm>
          <a:prstGeom prst="rect">
            <a:avLst/>
          </a:prstGeom>
          <a:solidFill>
            <a:srgbClr val="FF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4800600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${statut}='mariee'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6510528" y="201168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6986016" y="1810512"/>
            <a:ext cx="1645920" cy="987552"/>
          </a:xfrm>
          <a:prstGeom prst="rect">
            <a:avLst/>
          </a:prstGeom>
          <a:solidFill>
            <a:srgbClr val="FF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8601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6986016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${statut}='union'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4800600" y="2743200"/>
            <a:ext cx="3803904" cy="164592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37176" y="276148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Afficher SI mariée OU en union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320040" y="3090672"/>
            <a:ext cx="8503920" cy="3108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11480" y="309067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AND et OR (parenthèses obligatoires)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320040" y="3456432"/>
            <a:ext cx="850392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3529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complexe :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457200" y="3803904"/>
            <a:ext cx="8193024" cy="21945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12064" y="3822192"/>
            <a:ext cx="8083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(${age} &gt;= 15 and ${age} &lt;= 49) and (${sexe} = 'femme' or ${statut} = 'mariee')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457200" y="3529584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Femme de 15 à 49 ans OU femme mariée de 15 à 49 ans (questions santé reproductive)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274320" y="4430267"/>
            <a:ext cx="8503920" cy="438911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11480" y="4425696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not() — inverser une condition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320040" y="4754880"/>
            <a:ext cx="8503920" cy="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57200" y="4773168"/>
            <a:ext cx="8193024" cy="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4773168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not(selected(${religion}, 'autre'))  →  Afficher si la religion cochée n'est PAS « autre »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— Logique sur le </a:t>
            </a:r>
            <a:r>
              <a:rPr lang="en-US" sz="26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Appliquer les 4 mécanismes pas à pas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formulaire Enquête_VEZO_2024 et appliquez ces règles de logique :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64008" cy="420624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11480" y="1700784"/>
            <a:ext cx="1005840" cy="237744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700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15087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ONG connues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547872" y="1700784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84448" y="171907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SI ${</a:t>
            </a:r>
            <a:r>
              <a:rPr lang="en-US" sz="800" err="1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ong_VEZO</a:t>
            </a: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= 'non'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6876288" y="1700784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12864" y="1719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Inutile de demander les concurrents </a:t>
            </a:r>
            <a:r>
              <a:rPr lang="en-US" sz="750" err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n'est pas connue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320040" y="2121408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64008" cy="42062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11480" y="2176272"/>
            <a:ext cx="1005840" cy="23774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21762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1508760" y="2157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été entretenu sur l'éducation ?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547872" y="2176272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584448" y="219456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${age} &gt;= 18 and ${statut} != 'celibataire'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6876288" y="2176272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912864" y="2194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pertinente uniquement pour adultes en couple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320040" y="2596896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2596896"/>
            <a:ext cx="64008" cy="42062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11480" y="2651760"/>
            <a:ext cx="1005840" cy="2377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11480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1508760" y="2633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répondant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3547872" y="2651760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584448" y="267004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5 and . &lt;= 110   +   message : Âge entre 5 et 110 ans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6876288" y="2651760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912864" y="2670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erreurs de saisie (ex: 1990 au lieu de 30)</a:t>
            </a:r>
            <a:endParaRPr lang="en-US" sz="750"/>
          </a:p>
        </p:txBody>
      </p:sp>
      <p:sp>
        <p:nvSpPr>
          <p:cNvPr id="37" name="Shape 35"/>
          <p:cNvSpPr/>
          <p:nvPr/>
        </p:nvSpPr>
        <p:spPr>
          <a:xfrm>
            <a:off x="320040" y="3072384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3072384"/>
            <a:ext cx="64008" cy="42062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11480" y="3127248"/>
            <a:ext cx="1005840" cy="2377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11480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1508760" y="3108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&gt; 16 ans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3547872" y="3127248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584448" y="3145536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0 and . &lt;= ${nb_menage}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6876288" y="3127248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912864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dépasser le nombre total de personnes du ménage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320040" y="3547872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0040" y="3547872"/>
            <a:ext cx="64008" cy="42062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11480" y="3602736"/>
            <a:ext cx="1005840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11480" y="36027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1508760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collecte (Jour)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3547872" y="3602736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584448" y="362102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   →   pré-rempli avec la date du jour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6876288" y="3602736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912864" y="36210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L'enquêteur peut corriger mais rarement nécessaire</a:t>
            </a:r>
            <a:endParaRPr lang="en-US" sz="750"/>
          </a:p>
        </p:txBody>
      </p:sp>
      <p:sp>
        <p:nvSpPr>
          <p:cNvPr id="55" name="Shape 53"/>
          <p:cNvSpPr/>
          <p:nvPr/>
        </p:nvSpPr>
        <p:spPr>
          <a:xfrm>
            <a:off x="320040" y="4023360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20040" y="4023360"/>
            <a:ext cx="64008" cy="42062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411480" y="4078224"/>
            <a:ext cx="1005840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11480" y="40782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1508760" y="4059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000"/>
          </a:p>
        </p:txBody>
      </p:sp>
      <p:sp>
        <p:nvSpPr>
          <p:cNvPr id="60" name="Shape 58"/>
          <p:cNvSpPr/>
          <p:nvPr/>
        </p:nvSpPr>
        <p:spPr>
          <a:xfrm>
            <a:off x="3547872" y="4078224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584448" y="409651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'2026'   →   valeur fixe de l'année de campagne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6876288" y="4078224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912864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oublis — peut être modifié si collecte multi-annuelle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320040" y="4498848"/>
            <a:ext cx="85039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20040" y="4498848"/>
            <a:ext cx="64008" cy="42062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411480" y="4553712"/>
            <a:ext cx="1005840" cy="23774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11480" y="4553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800"/>
          </a:p>
        </p:txBody>
      </p:sp>
      <p:sp>
        <p:nvSpPr>
          <p:cNvPr id="68" name="Text 66"/>
          <p:cNvSpPr/>
          <p:nvPr/>
        </p:nvSpPr>
        <p:spPr>
          <a:xfrm>
            <a:off x="1508760" y="4535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score_ong (invisible)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3547872" y="4553712"/>
            <a:ext cx="3291840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3584448" y="457200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count-selected(${autres_ong})   →   nb d'ONG connues</a:t>
            </a:r>
            <a:endParaRPr lang="en-US" sz="800"/>
          </a:p>
        </p:txBody>
      </p:sp>
      <p:sp>
        <p:nvSpPr>
          <p:cNvPr id="71" name="Shape 69"/>
          <p:cNvSpPr/>
          <p:nvPr/>
        </p:nvSpPr>
        <p:spPr>
          <a:xfrm>
            <a:off x="6876288" y="4553712"/>
            <a:ext cx="1883664" cy="201168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6912864" y="4572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Réutilisé dans une note : « Vous connaissez ${score_ong} ONG »</a:t>
            </a:r>
            <a:endParaRPr lang="en-US" sz="7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Logique &amp; XPath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à connaître avant d'aller sur le terrain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521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= sur un select_multiple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L'opérateur = ne fonctionne pas sur les choix multiples. Utiliser selected(${q}, 'valeur') à la place.</a:t>
            </a:r>
            <a:endParaRPr lang="en-US" sz="95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selected(${religion}, 'chretienne')</a:t>
            </a:r>
            <a:endParaRPr lang="en-US" sz="85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52144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Référencer une question qui vient après</a:t>
            </a:r>
            <a:endParaRPr lang="en-US" sz="115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${q2} ne peut pas être utilisé dans le relevant de ${q1} si q2 est défini plus bas dans le formulaire.</a:t>
            </a:r>
            <a:endParaRPr lang="en-US" sz="95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référencer des questions précédentes</a:t>
            </a:r>
            <a:endParaRPr lang="en-US" sz="850"/>
          </a:p>
        </p:txBody>
      </p:sp>
      <p:sp>
        <p:nvSpPr>
          <p:cNvPr id="23" name="Shape 19"/>
          <p:cNvSpPr/>
          <p:nvPr/>
        </p:nvSpPr>
        <p:spPr>
          <a:xfrm>
            <a:off x="320040" y="2523744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523744"/>
            <a:ext cx="64008" cy="115214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15184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968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les apostrophes sur les textes</a:t>
            </a:r>
            <a:endParaRPr lang="en-US" sz="1150"/>
          </a:p>
        </p:txBody>
      </p:sp>
      <p:sp>
        <p:nvSpPr>
          <p:cNvPr id="27" name="Text 22"/>
          <p:cNvSpPr/>
          <p:nvPr/>
        </p:nvSpPr>
        <p:spPr>
          <a:xfrm>
            <a:off x="411480" y="294436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${sexe} = femme est incorrect. Les valeurs texte doivent être entre apostrophes simples.</a:t>
            </a:r>
            <a:endParaRPr lang="en-US" sz="950"/>
          </a:p>
        </p:txBody>
      </p:sp>
      <p:sp>
        <p:nvSpPr>
          <p:cNvPr id="28" name="Shape 23"/>
          <p:cNvSpPr/>
          <p:nvPr/>
        </p:nvSpPr>
        <p:spPr>
          <a:xfrm>
            <a:off x="411480" y="3401568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4198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${sexe} = 'femme'</a:t>
            </a:r>
            <a:endParaRPr lang="en-US" sz="850"/>
          </a:p>
        </p:txBody>
      </p:sp>
      <p:sp>
        <p:nvSpPr>
          <p:cNvPr id="30" name="Shape 25"/>
          <p:cNvSpPr/>
          <p:nvPr/>
        </p:nvSpPr>
        <p:spPr>
          <a:xfrm>
            <a:off x="4754880" y="2523744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523744"/>
            <a:ext cx="64008" cy="1152144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15184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968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sur le texte saisi → utiliser le point ( . )</a:t>
            </a:r>
            <a:endParaRPr lang="en-US" sz="1150"/>
          </a:p>
        </p:txBody>
      </p:sp>
      <p:sp>
        <p:nvSpPr>
          <p:cNvPr id="34" name="Text 28"/>
          <p:cNvSpPr/>
          <p:nvPr/>
        </p:nvSpPr>
        <p:spPr>
          <a:xfrm>
            <a:off x="4846320" y="294436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constraint, la valeur en cours de saisie est représentée par le point. Pas par le nom de la question.</a:t>
            </a:r>
            <a:endParaRPr lang="en-US" sz="950"/>
          </a:p>
        </p:txBody>
      </p:sp>
      <p:sp>
        <p:nvSpPr>
          <p:cNvPr id="35" name="Shape 29"/>
          <p:cNvSpPr/>
          <p:nvPr/>
        </p:nvSpPr>
        <p:spPr>
          <a:xfrm>
            <a:off x="4846320" y="3401568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4198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 &gt;= 5 and . &lt;= 110   (pas ${age} &gt;= 5)</a:t>
            </a:r>
            <a:endParaRPr lang="en-US" sz="850"/>
          </a:p>
        </p:txBody>
      </p:sp>
      <p:sp>
        <p:nvSpPr>
          <p:cNvPr id="37" name="Shape 31"/>
          <p:cNvSpPr/>
          <p:nvPr/>
        </p:nvSpPr>
        <p:spPr>
          <a:xfrm>
            <a:off x="320040" y="3767328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767328"/>
            <a:ext cx="64008" cy="11521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58768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8404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texte dans default sans apostrophes</a:t>
            </a:r>
            <a:endParaRPr lang="en-US" sz="1150"/>
          </a:p>
        </p:txBody>
      </p:sp>
      <p:sp>
        <p:nvSpPr>
          <p:cNvPr id="41" name="Text 34"/>
          <p:cNvSpPr/>
          <p:nvPr/>
        </p:nvSpPr>
        <p:spPr>
          <a:xfrm>
            <a:off x="411480" y="418795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2024 interprète 2024 comme une formule. Pour une chaîne fixe : default = '2024'.</a:t>
            </a:r>
            <a:endParaRPr lang="en-US" sz="950"/>
          </a:p>
        </p:txBody>
      </p:sp>
      <p:sp>
        <p:nvSpPr>
          <p:cNvPr id="42" name="Shape 35"/>
          <p:cNvSpPr/>
          <p:nvPr/>
        </p:nvSpPr>
        <p:spPr>
          <a:xfrm>
            <a:off x="411480" y="464515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6634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default = '2024'</a:t>
            </a:r>
            <a:endParaRPr lang="en-US" sz="850"/>
          </a:p>
        </p:txBody>
      </p:sp>
      <p:sp>
        <p:nvSpPr>
          <p:cNvPr id="44" name="Shape 37"/>
          <p:cNvSpPr/>
          <p:nvPr/>
        </p:nvSpPr>
        <p:spPr>
          <a:xfrm>
            <a:off x="4754880" y="3767328"/>
            <a:ext cx="4206240" cy="11521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767328"/>
            <a:ext cx="64008" cy="11521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58768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8404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parité AND / OR sans parenthèses</a:t>
            </a:r>
            <a:endParaRPr lang="en-US" sz="1150"/>
          </a:p>
        </p:txBody>
      </p:sp>
      <p:sp>
        <p:nvSpPr>
          <p:cNvPr id="48" name="Text 40"/>
          <p:cNvSpPr/>
          <p:nvPr/>
        </p:nvSpPr>
        <p:spPr>
          <a:xfrm>
            <a:off x="4846320" y="418795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or c est ambigu. Toujours parenthèser : (a and b) or c pour être explicite.</a:t>
            </a:r>
            <a:endParaRPr lang="en-US" sz="950"/>
          </a:p>
        </p:txBody>
      </p:sp>
      <p:sp>
        <p:nvSpPr>
          <p:cNvPr id="49" name="Shape 41"/>
          <p:cNvSpPr/>
          <p:nvPr/>
        </p:nvSpPr>
        <p:spPr>
          <a:xfrm>
            <a:off x="4846320" y="464515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6634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(${age} &gt;= 15 and ${age} &lt;= 49) or ${statut} = 'mariee'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rapide — Cheat sheet XPath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sous la main pendant la création de formulaires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834640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93192" y="12618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de comparaison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572768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93192" y="1609344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" y="16093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960120" y="1627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 à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93192" y="1810512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9768" y="1828800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${q} = 'oui'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048256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93192" y="2084832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93192" y="208483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96012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393192" y="2286000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29768" y="2304288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${q} != 'non'</a:t>
            </a:r>
            <a:endParaRPr lang="en-US" sz="750"/>
          </a:p>
        </p:txBody>
      </p:sp>
      <p:sp>
        <p:nvSpPr>
          <p:cNvPr id="25" name="Shape 23"/>
          <p:cNvSpPr/>
          <p:nvPr/>
        </p:nvSpPr>
        <p:spPr>
          <a:xfrm>
            <a:off x="320040" y="2523744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523744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93192" y="2560320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93192" y="25603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960120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supérieur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93192" y="2761488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29768" y="2779776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 18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320040" y="2999232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2999232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93192" y="3035808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93192" y="3035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960120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sup. ou égal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93192" y="3236976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29768" y="3255264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&gt;= 18</a:t>
            </a:r>
            <a:endParaRPr lang="en-US" sz="750"/>
          </a:p>
        </p:txBody>
      </p:sp>
      <p:sp>
        <p:nvSpPr>
          <p:cNvPr id="39" name="Shape 37"/>
          <p:cNvSpPr/>
          <p:nvPr/>
        </p:nvSpPr>
        <p:spPr>
          <a:xfrm>
            <a:off x="320040" y="3474720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3474720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93192" y="3511296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93192" y="35112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960120" y="35295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inférieur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393192" y="3712464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29768" y="3730752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&lt; 65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320040" y="3950208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0040" y="3950208"/>
            <a:ext cx="45720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93192" y="3986784"/>
            <a:ext cx="512064" cy="1828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93192" y="39867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</a:t>
            </a:r>
            <a:endParaRPr lang="en-US" sz="750"/>
          </a:p>
        </p:txBody>
      </p:sp>
      <p:sp>
        <p:nvSpPr>
          <p:cNvPr id="50" name="Text 48"/>
          <p:cNvSpPr/>
          <p:nvPr/>
        </p:nvSpPr>
        <p:spPr>
          <a:xfrm>
            <a:off x="960120" y="4005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 ou égal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393192" y="4187952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29768" y="4206240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&lt;= 65</a:t>
            </a:r>
            <a:endParaRPr lang="en-US" sz="750"/>
          </a:p>
        </p:txBody>
      </p:sp>
      <p:sp>
        <p:nvSpPr>
          <p:cNvPr id="53" name="Shape 51"/>
          <p:cNvSpPr/>
          <p:nvPr/>
        </p:nvSpPr>
        <p:spPr>
          <a:xfrm>
            <a:off x="3182112" y="1261872"/>
            <a:ext cx="2834640" cy="27432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55264" y="12618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logiques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3182112" y="1572768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182112" y="1572768"/>
            <a:ext cx="45720" cy="4572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255264" y="1609344"/>
            <a:ext cx="512064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255264" y="16093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750"/>
          </a:p>
        </p:txBody>
      </p:sp>
      <p:sp>
        <p:nvSpPr>
          <p:cNvPr id="59" name="Text 57"/>
          <p:cNvSpPr/>
          <p:nvPr/>
        </p:nvSpPr>
        <p:spPr>
          <a:xfrm>
            <a:off x="3822192" y="1627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vrais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3255264" y="1810512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291840" y="1828800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750"/>
          </a:p>
        </p:txBody>
      </p:sp>
      <p:sp>
        <p:nvSpPr>
          <p:cNvPr id="62" name="Shape 60"/>
          <p:cNvSpPr/>
          <p:nvPr/>
        </p:nvSpPr>
        <p:spPr>
          <a:xfrm>
            <a:off x="3182112" y="2048256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3182112" y="2048256"/>
            <a:ext cx="45720" cy="4572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255264" y="2084832"/>
            <a:ext cx="512064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3255264" y="208483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750"/>
          </a:p>
        </p:txBody>
      </p:sp>
      <p:sp>
        <p:nvSpPr>
          <p:cNvPr id="66" name="Text 64"/>
          <p:cNvSpPr/>
          <p:nvPr/>
        </p:nvSpPr>
        <p:spPr>
          <a:xfrm>
            <a:off x="3822192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3255264" y="2286000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3291840" y="2304288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750"/>
          </a:p>
        </p:txBody>
      </p:sp>
      <p:sp>
        <p:nvSpPr>
          <p:cNvPr id="69" name="Shape 67"/>
          <p:cNvSpPr/>
          <p:nvPr/>
        </p:nvSpPr>
        <p:spPr>
          <a:xfrm>
            <a:off x="3182112" y="2523744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3182112" y="2523744"/>
            <a:ext cx="45720" cy="4572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3255264" y="2560320"/>
            <a:ext cx="512064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3255264" y="25603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not()</a:t>
            </a:r>
            <a:endParaRPr lang="en-US" sz="750"/>
          </a:p>
        </p:txBody>
      </p:sp>
      <p:sp>
        <p:nvSpPr>
          <p:cNvPr id="73" name="Text 71"/>
          <p:cNvSpPr/>
          <p:nvPr/>
        </p:nvSpPr>
        <p:spPr>
          <a:xfrm>
            <a:off x="382219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900"/>
          </a:p>
        </p:txBody>
      </p:sp>
      <p:sp>
        <p:nvSpPr>
          <p:cNvPr id="74" name="Shape 72"/>
          <p:cNvSpPr/>
          <p:nvPr/>
        </p:nvSpPr>
        <p:spPr>
          <a:xfrm>
            <a:off x="3255264" y="2761488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3291840" y="2779776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not(A)</a:t>
            </a:r>
            <a:endParaRPr lang="en-US" sz="750"/>
          </a:p>
        </p:txBody>
      </p:sp>
      <p:sp>
        <p:nvSpPr>
          <p:cNvPr id="76" name="Shape 74"/>
          <p:cNvSpPr/>
          <p:nvPr/>
        </p:nvSpPr>
        <p:spPr>
          <a:xfrm>
            <a:off x="3182112" y="2999232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3182112" y="2999232"/>
            <a:ext cx="45720" cy="45720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255264" y="3035808"/>
            <a:ext cx="512064" cy="182880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3255264" y="3035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750"/>
          </a:p>
        </p:txBody>
      </p:sp>
      <p:sp>
        <p:nvSpPr>
          <p:cNvPr id="80" name="Text 78"/>
          <p:cNvSpPr/>
          <p:nvPr/>
        </p:nvSpPr>
        <p:spPr>
          <a:xfrm>
            <a:off x="3822192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grouper</a:t>
            </a:r>
            <a:endParaRPr lang="en-US" sz="900"/>
          </a:p>
        </p:txBody>
      </p:sp>
      <p:sp>
        <p:nvSpPr>
          <p:cNvPr id="81" name="Shape 79"/>
          <p:cNvSpPr/>
          <p:nvPr/>
        </p:nvSpPr>
        <p:spPr>
          <a:xfrm>
            <a:off x="3255264" y="3236976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3291840" y="3255264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or B) and C</a:t>
            </a:r>
            <a:endParaRPr lang="en-US" sz="750"/>
          </a:p>
        </p:txBody>
      </p:sp>
      <p:sp>
        <p:nvSpPr>
          <p:cNvPr id="83" name="Shape 81"/>
          <p:cNvSpPr/>
          <p:nvPr/>
        </p:nvSpPr>
        <p:spPr>
          <a:xfrm>
            <a:off x="6035040" y="1261872"/>
            <a:ext cx="2834640" cy="2743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6108192" y="12618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950"/>
          </a:p>
        </p:txBody>
      </p:sp>
      <p:sp>
        <p:nvSpPr>
          <p:cNvPr id="85" name="Shape 83"/>
          <p:cNvSpPr/>
          <p:nvPr/>
        </p:nvSpPr>
        <p:spPr>
          <a:xfrm>
            <a:off x="6035040" y="1572768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6035040" y="1572768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6108192" y="1609344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6108192" y="16093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selected()</a:t>
            </a:r>
            <a:endParaRPr lang="en-US" sz="750"/>
          </a:p>
        </p:txBody>
      </p:sp>
      <p:sp>
        <p:nvSpPr>
          <p:cNvPr id="89" name="Text 87"/>
          <p:cNvSpPr/>
          <p:nvPr/>
        </p:nvSpPr>
        <p:spPr>
          <a:xfrm>
            <a:off x="6675120" y="1627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multiple</a:t>
            </a:r>
            <a:endParaRPr lang="en-US" sz="900"/>
          </a:p>
        </p:txBody>
      </p:sp>
      <p:sp>
        <p:nvSpPr>
          <p:cNvPr id="90" name="Shape 88"/>
          <p:cNvSpPr/>
          <p:nvPr/>
        </p:nvSpPr>
        <p:spPr>
          <a:xfrm>
            <a:off x="6108192" y="1810512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6144768" y="1828800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selected(${q},'val')</a:t>
            </a:r>
            <a:endParaRPr lang="en-US" sz="750"/>
          </a:p>
        </p:txBody>
      </p:sp>
      <p:sp>
        <p:nvSpPr>
          <p:cNvPr id="92" name="Shape 90"/>
          <p:cNvSpPr/>
          <p:nvPr/>
        </p:nvSpPr>
        <p:spPr>
          <a:xfrm>
            <a:off x="6035040" y="2048256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6035040" y="2048256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6108192" y="2084832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6108192" y="208483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count-selected()</a:t>
            </a:r>
            <a:endParaRPr lang="en-US" sz="750"/>
          </a:p>
        </p:txBody>
      </p:sp>
      <p:sp>
        <p:nvSpPr>
          <p:cNvPr id="96" name="Text 94"/>
          <p:cNvSpPr/>
          <p:nvPr/>
        </p:nvSpPr>
        <p:spPr>
          <a:xfrm>
            <a:off x="667512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cochés</a:t>
            </a:r>
            <a:endParaRPr lang="en-US" sz="900"/>
          </a:p>
        </p:txBody>
      </p:sp>
      <p:sp>
        <p:nvSpPr>
          <p:cNvPr id="97" name="Shape 95"/>
          <p:cNvSpPr/>
          <p:nvPr/>
        </p:nvSpPr>
        <p:spPr>
          <a:xfrm>
            <a:off x="6108192" y="2286000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6144768" y="2304288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count-selected(${q})</a:t>
            </a:r>
            <a:endParaRPr lang="en-US" sz="750"/>
          </a:p>
        </p:txBody>
      </p:sp>
      <p:sp>
        <p:nvSpPr>
          <p:cNvPr id="99" name="Shape 97"/>
          <p:cNvSpPr/>
          <p:nvPr/>
        </p:nvSpPr>
        <p:spPr>
          <a:xfrm>
            <a:off x="6035040" y="2523744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6035040" y="2523744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6108192" y="2560320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6108192" y="25603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string-length()</a:t>
            </a:r>
            <a:endParaRPr lang="en-US" sz="750"/>
          </a:p>
        </p:txBody>
      </p:sp>
      <p:sp>
        <p:nvSpPr>
          <p:cNvPr id="103" name="Text 101"/>
          <p:cNvSpPr/>
          <p:nvPr/>
        </p:nvSpPr>
        <p:spPr>
          <a:xfrm>
            <a:off x="6675120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texte</a:t>
            </a:r>
            <a:endParaRPr lang="en-US" sz="900"/>
          </a:p>
        </p:txBody>
      </p:sp>
      <p:sp>
        <p:nvSpPr>
          <p:cNvPr id="104" name="Shape 102"/>
          <p:cNvSpPr/>
          <p:nvPr/>
        </p:nvSpPr>
        <p:spPr>
          <a:xfrm>
            <a:off x="6108192" y="2761488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6144768" y="2779776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string-length(${q})</a:t>
            </a:r>
            <a:endParaRPr lang="en-US" sz="750"/>
          </a:p>
        </p:txBody>
      </p:sp>
      <p:sp>
        <p:nvSpPr>
          <p:cNvPr id="106" name="Shape 104"/>
          <p:cNvSpPr/>
          <p:nvPr/>
        </p:nvSpPr>
        <p:spPr>
          <a:xfrm>
            <a:off x="6035040" y="2999232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6035040" y="2999232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6108192" y="3035808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6108192" y="3035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</a:t>
            </a:r>
            <a:endParaRPr lang="en-US" sz="750"/>
          </a:p>
        </p:txBody>
      </p:sp>
      <p:sp>
        <p:nvSpPr>
          <p:cNvPr id="110" name="Text 108"/>
          <p:cNvSpPr/>
          <p:nvPr/>
        </p:nvSpPr>
        <p:spPr>
          <a:xfrm>
            <a:off x="6675120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jour</a:t>
            </a:r>
            <a:endParaRPr lang="en-US" sz="900"/>
          </a:p>
        </p:txBody>
      </p:sp>
      <p:sp>
        <p:nvSpPr>
          <p:cNvPr id="111" name="Shape 109"/>
          <p:cNvSpPr/>
          <p:nvPr/>
        </p:nvSpPr>
        <p:spPr>
          <a:xfrm>
            <a:off x="6108192" y="3236976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Text 110"/>
          <p:cNvSpPr/>
          <p:nvPr/>
        </p:nvSpPr>
        <p:spPr>
          <a:xfrm>
            <a:off x="6144768" y="3255264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</a:t>
            </a:r>
            <a:endParaRPr lang="en-US" sz="750"/>
          </a:p>
        </p:txBody>
      </p:sp>
      <p:sp>
        <p:nvSpPr>
          <p:cNvPr id="113" name="Shape 111"/>
          <p:cNvSpPr/>
          <p:nvPr/>
        </p:nvSpPr>
        <p:spPr>
          <a:xfrm>
            <a:off x="6035040" y="3474720"/>
            <a:ext cx="2834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6035040" y="3474720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6108192" y="3511296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6108192" y="35112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</a:t>
            </a:r>
            <a:endParaRPr lang="en-US" sz="750"/>
          </a:p>
        </p:txBody>
      </p:sp>
      <p:sp>
        <p:nvSpPr>
          <p:cNvPr id="117" name="Text 115"/>
          <p:cNvSpPr/>
          <p:nvPr/>
        </p:nvSpPr>
        <p:spPr>
          <a:xfrm>
            <a:off x="6675120" y="35295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textes</a:t>
            </a:r>
            <a:endParaRPr lang="en-US" sz="900"/>
          </a:p>
        </p:txBody>
      </p:sp>
      <p:sp>
        <p:nvSpPr>
          <p:cNvPr id="118" name="Shape 116"/>
          <p:cNvSpPr/>
          <p:nvPr/>
        </p:nvSpPr>
        <p:spPr>
          <a:xfrm>
            <a:off x="6108192" y="3712464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6144768" y="3730752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concat(${a},' ',${b})</a:t>
            </a:r>
            <a:endParaRPr lang="en-US" sz="750"/>
          </a:p>
        </p:txBody>
      </p:sp>
      <p:sp>
        <p:nvSpPr>
          <p:cNvPr id="120" name="Shape 118"/>
          <p:cNvSpPr/>
          <p:nvPr/>
        </p:nvSpPr>
        <p:spPr>
          <a:xfrm>
            <a:off x="6035040" y="3950208"/>
            <a:ext cx="2834640" cy="457200"/>
          </a:xfrm>
          <a:prstGeom prst="rect">
            <a:avLst/>
          </a:prstGeom>
          <a:solidFill>
            <a:srgbClr val="FDF2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6035040" y="3950208"/>
            <a:ext cx="457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6108192" y="3986784"/>
            <a:ext cx="512064" cy="1828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6108192" y="39867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if()</a:t>
            </a:r>
            <a:endParaRPr lang="en-US" sz="750"/>
          </a:p>
        </p:txBody>
      </p:sp>
      <p:sp>
        <p:nvSpPr>
          <p:cNvPr id="124" name="Text 122"/>
          <p:cNvSpPr/>
          <p:nvPr/>
        </p:nvSpPr>
        <p:spPr>
          <a:xfrm>
            <a:off x="6675120" y="4005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ternaire</a:t>
            </a:r>
            <a:endParaRPr lang="en-US" sz="900"/>
          </a:p>
        </p:txBody>
      </p:sp>
      <p:sp>
        <p:nvSpPr>
          <p:cNvPr id="125" name="Shape 123"/>
          <p:cNvSpPr/>
          <p:nvPr/>
        </p:nvSpPr>
        <p:spPr>
          <a:xfrm>
            <a:off x="6108192" y="4187952"/>
            <a:ext cx="2688336" cy="16459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6" name="Text 124"/>
          <p:cNvSpPr/>
          <p:nvPr/>
        </p:nvSpPr>
        <p:spPr>
          <a:xfrm>
            <a:off x="6144768" y="4206240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if(cond, A, B)</a:t>
            </a:r>
            <a:endParaRPr lang="en-US" sz="7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5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5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Formbuilder · 1 condition simple · génère du relevant en arrière-plan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XPath · and / or / not() · selected() pour choix multiple · colonne relevant XLSForm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145A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(.) = valeur en cours · . &gt;= 0 and . &lt;= 120 · constraint_message personnalisable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today() pour date · 'texte' pour valeur fixe · ${q} pour reprendre une réponse précédente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clés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selected() · count-selected() · string-length() · today() · concat() · if()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choice_filter = colonne_dept = ${q_dept} · colonne filtre dans l'onglet Choices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</a:t>
            </a:r>
            <a:endParaRPr lang="en-US" sz="110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 marche pas sur select_multiple · point (.) dans constraint · apostrophes sur les textes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F0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9 :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420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formulaire</a:t>
            </a:r>
            <a:endParaRPr lang="en-US" sz="380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Déployer un formulaire et gérer les versions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Partager via lien URL ou QR code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Activer et désactiver la collecte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Comprendre brouillon vs déployé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C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Gérer plusieurs versions en parallèle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5 : Logique &amp; sauts conditionnels</dc:title>
  <dc:subject>PptxGenJS Presentation</dc:subject>
  <dc:creator>PptxGenJS</dc:creator>
  <cp:revision>1</cp:revision>
  <dcterms:created xsi:type="dcterms:W3CDTF">2026-03-22T18:24:33Z</dcterms:created>
  <dcterms:modified xsi:type="dcterms:W3CDTF">2026-04-12T02:33:06Z</dcterms:modified>
</cp:coreProperties>
</file>