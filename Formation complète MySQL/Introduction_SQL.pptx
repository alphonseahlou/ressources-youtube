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autoAdjust="0"/>
    <p:restoredTop sz="94610"/>
  </p:normalViewPr>
  <p:slideViewPr>
    <p:cSldViewPr snapToGrid="0" snapToObjects="1">
      <p:cViewPr varScale="1">
        <p:scale>
          <a:sx n="70" d="100"/>
          <a:sy n="70" d="100"/>
        </p:scale>
        <p:origin x="4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lou Alphonse Euphreme" userId="f12afe77-4db7-47e3-b604-bb0d456a5c02" providerId="ADAL" clId="{4890F534-C102-41F9-978A-E7DBDB1CFE02}"/>
    <pc:docChg chg="undo custSel addSld delSld modSld">
      <pc:chgData name="Ahlou Alphonse Euphreme" userId="f12afe77-4db7-47e3-b604-bb0d456a5c02" providerId="ADAL" clId="{4890F534-C102-41F9-978A-E7DBDB1CFE02}" dt="2026-06-26T02:38:27.979" v="340" actId="1076"/>
      <pc:docMkLst>
        <pc:docMk/>
      </pc:docMkLst>
      <pc:sldChg chg="modSp mod">
        <pc:chgData name="Ahlou Alphonse Euphreme" userId="f12afe77-4db7-47e3-b604-bb0d456a5c02" providerId="ADAL" clId="{4890F534-C102-41F9-978A-E7DBDB1CFE02}" dt="2026-06-25T21:12:34.255" v="169" actId="208"/>
        <pc:sldMkLst>
          <pc:docMk/>
          <pc:sldMk cId="0" sldId="256"/>
        </pc:sldMkLst>
        <pc:spChg chg="mod">
          <ac:chgData name="Ahlou Alphonse Euphreme" userId="f12afe77-4db7-47e3-b604-bb0d456a5c02" providerId="ADAL" clId="{4890F534-C102-41F9-978A-E7DBDB1CFE02}" dt="2026-06-25T21:07:57.714" v="165" actId="20577"/>
          <ac:spMkLst>
            <pc:docMk/>
            <pc:sldMk cId="0" sldId="256"/>
            <ac:spMk id="5" creationId="{00000000-0000-0000-0000-000000000000}"/>
          </ac:spMkLst>
        </pc:spChg>
        <pc:spChg chg="mod">
          <ac:chgData name="Ahlou Alphonse Euphreme" userId="f12afe77-4db7-47e3-b604-bb0d456a5c02" providerId="ADAL" clId="{4890F534-C102-41F9-978A-E7DBDB1CFE02}" dt="2026-06-25T20:57:05.453" v="22" actId="20577"/>
          <ac:spMkLst>
            <pc:docMk/>
            <pc:sldMk cId="0" sldId="256"/>
            <ac:spMk id="9" creationId="{00000000-0000-0000-0000-000000000000}"/>
          </ac:spMkLst>
        </pc:spChg>
        <pc:spChg chg="mod">
          <ac:chgData name="Ahlou Alphonse Euphreme" userId="f12afe77-4db7-47e3-b604-bb0d456a5c02" providerId="ADAL" clId="{4890F534-C102-41F9-978A-E7DBDB1CFE02}" dt="2026-06-25T20:56:55.177" v="15" actId="20577"/>
          <ac:spMkLst>
            <pc:docMk/>
            <pc:sldMk cId="0" sldId="256"/>
            <ac:spMk id="13" creationId="{00000000-0000-0000-0000-000000000000}"/>
          </ac:spMkLst>
        </pc:spChg>
        <pc:picChg chg="mod">
          <ac:chgData name="Ahlou Alphonse Euphreme" userId="f12afe77-4db7-47e3-b604-bb0d456a5c02" providerId="ADAL" clId="{4890F534-C102-41F9-978A-E7DBDB1CFE02}" dt="2026-06-25T21:12:34.255" v="169" actId="208"/>
          <ac:picMkLst>
            <pc:docMk/>
            <pc:sldMk cId="0" sldId="256"/>
            <ac:picMk id="2" creationId="{00000000-0000-0000-0000-000000000000}"/>
          </ac:picMkLst>
        </pc:picChg>
      </pc:sldChg>
      <pc:sldChg chg="addSp delSp modSp mod">
        <pc:chgData name="Ahlou Alphonse Euphreme" userId="f12afe77-4db7-47e3-b604-bb0d456a5c02" providerId="ADAL" clId="{4890F534-C102-41F9-978A-E7DBDB1CFE02}" dt="2026-06-26T02:38:27.979" v="340" actId="1076"/>
        <pc:sldMkLst>
          <pc:docMk/>
          <pc:sldMk cId="0" sldId="257"/>
        </pc:sldMkLst>
        <pc:spChg chg="mod">
          <ac:chgData name="Ahlou Alphonse Euphreme" userId="f12afe77-4db7-47e3-b604-bb0d456a5c02" providerId="ADAL" clId="{4890F534-C102-41F9-978A-E7DBDB1CFE02}" dt="2026-06-25T21:17:04.390" v="261" actId="313"/>
          <ac:spMkLst>
            <pc:docMk/>
            <pc:sldMk cId="0" sldId="257"/>
            <ac:spMk id="3" creationId="{00000000-0000-0000-0000-000000000000}"/>
          </ac:spMkLst>
        </pc:spChg>
        <pc:spChg chg="mod">
          <ac:chgData name="Ahlou Alphonse Euphreme" userId="f12afe77-4db7-47e3-b604-bb0d456a5c02" providerId="ADAL" clId="{4890F534-C102-41F9-978A-E7DBDB1CFE02}" dt="2026-06-26T02:37:12.541" v="332" actId="108"/>
          <ac:spMkLst>
            <pc:docMk/>
            <pc:sldMk cId="0" sldId="257"/>
            <ac:spMk id="4" creationId="{00000000-0000-0000-0000-000000000000}"/>
          </ac:spMkLst>
        </pc:spChg>
        <pc:spChg chg="del">
          <ac:chgData name="Ahlou Alphonse Euphreme" userId="f12afe77-4db7-47e3-b604-bb0d456a5c02" providerId="ADAL" clId="{4890F534-C102-41F9-978A-E7DBDB1CFE02}" dt="2026-06-25T21:17:41.368" v="267" actId="478"/>
          <ac:spMkLst>
            <pc:docMk/>
            <pc:sldMk cId="0" sldId="257"/>
            <ac:spMk id="5" creationId="{00000000-0000-0000-0000-000000000000}"/>
          </ac:spMkLst>
        </pc:spChg>
        <pc:spChg chg="del">
          <ac:chgData name="Ahlou Alphonse Euphreme" userId="f12afe77-4db7-47e3-b604-bb0d456a5c02" providerId="ADAL" clId="{4890F534-C102-41F9-978A-E7DBDB1CFE02}" dt="2026-06-25T21:17:34.594" v="265" actId="478"/>
          <ac:spMkLst>
            <pc:docMk/>
            <pc:sldMk cId="0" sldId="257"/>
            <ac:spMk id="6" creationId="{00000000-0000-0000-0000-000000000000}"/>
          </ac:spMkLst>
        </pc:spChg>
        <pc:spChg chg="del mod">
          <ac:chgData name="Ahlou Alphonse Euphreme" userId="f12afe77-4db7-47e3-b604-bb0d456a5c02" providerId="ADAL" clId="{4890F534-C102-41F9-978A-E7DBDB1CFE02}" dt="2026-06-25T21:17:34.594" v="265" actId="478"/>
          <ac:spMkLst>
            <pc:docMk/>
            <pc:sldMk cId="0" sldId="257"/>
            <ac:spMk id="8" creationId="{00000000-0000-0000-0000-000000000000}"/>
          </ac:spMkLst>
        </pc:spChg>
        <pc:spChg chg="del">
          <ac:chgData name="Ahlou Alphonse Euphreme" userId="f12afe77-4db7-47e3-b604-bb0d456a5c02" providerId="ADAL" clId="{4890F534-C102-41F9-978A-E7DBDB1CFE02}" dt="2026-06-25T21:17:34.594" v="265" actId="478"/>
          <ac:spMkLst>
            <pc:docMk/>
            <pc:sldMk cId="0" sldId="257"/>
            <ac:spMk id="9" creationId="{00000000-0000-0000-0000-000000000000}"/>
          </ac:spMkLst>
        </pc:spChg>
        <pc:spChg chg="del">
          <ac:chgData name="Ahlou Alphonse Euphreme" userId="f12afe77-4db7-47e3-b604-bb0d456a5c02" providerId="ADAL" clId="{4890F534-C102-41F9-978A-E7DBDB1CFE02}" dt="2026-06-25T21:17:20.900" v="262" actId="478"/>
          <ac:spMkLst>
            <pc:docMk/>
            <pc:sldMk cId="0" sldId="257"/>
            <ac:spMk id="10" creationId="{00000000-0000-0000-0000-000000000000}"/>
          </ac:spMkLst>
        </pc:spChg>
        <pc:spChg chg="del">
          <ac:chgData name="Ahlou Alphonse Euphreme" userId="f12afe77-4db7-47e3-b604-bb0d456a5c02" providerId="ADAL" clId="{4890F534-C102-41F9-978A-E7DBDB1CFE02}" dt="2026-06-25T21:17:34.594" v="265" actId="478"/>
          <ac:spMkLst>
            <pc:docMk/>
            <pc:sldMk cId="0" sldId="257"/>
            <ac:spMk id="11" creationId="{00000000-0000-0000-0000-000000000000}"/>
          </ac:spMkLst>
        </pc:spChg>
        <pc:spChg chg="del mod">
          <ac:chgData name="Ahlou Alphonse Euphreme" userId="f12afe77-4db7-47e3-b604-bb0d456a5c02" providerId="ADAL" clId="{4890F534-C102-41F9-978A-E7DBDB1CFE02}" dt="2026-06-25T21:17:24.935" v="263" actId="478"/>
          <ac:spMkLst>
            <pc:docMk/>
            <pc:sldMk cId="0" sldId="257"/>
            <ac:spMk id="13" creationId="{00000000-0000-0000-0000-000000000000}"/>
          </ac:spMkLst>
        </pc:spChg>
        <pc:spChg chg="del">
          <ac:chgData name="Ahlou Alphonse Euphreme" userId="f12afe77-4db7-47e3-b604-bb0d456a5c02" providerId="ADAL" clId="{4890F534-C102-41F9-978A-E7DBDB1CFE02}" dt="2026-06-25T21:17:30.268" v="264" actId="478"/>
          <ac:spMkLst>
            <pc:docMk/>
            <pc:sldMk cId="0" sldId="257"/>
            <ac:spMk id="14" creationId="{00000000-0000-0000-0000-000000000000}"/>
          </ac:spMkLst>
        </pc:spChg>
        <pc:spChg chg="del">
          <ac:chgData name="Ahlou Alphonse Euphreme" userId="f12afe77-4db7-47e3-b604-bb0d456a5c02" providerId="ADAL" clId="{4890F534-C102-41F9-978A-E7DBDB1CFE02}" dt="2026-06-25T21:17:39.179" v="266" actId="478"/>
          <ac:spMkLst>
            <pc:docMk/>
            <pc:sldMk cId="0" sldId="257"/>
            <ac:spMk id="15" creationId="{00000000-0000-0000-0000-000000000000}"/>
          </ac:spMkLst>
        </pc:spChg>
        <pc:spChg chg="add del mod">
          <ac:chgData name="Ahlou Alphonse Euphreme" userId="f12afe77-4db7-47e3-b604-bb0d456a5c02" providerId="ADAL" clId="{4890F534-C102-41F9-978A-E7DBDB1CFE02}" dt="2026-06-26T02:36:35.219" v="324" actId="478"/>
          <ac:spMkLst>
            <pc:docMk/>
            <pc:sldMk cId="0" sldId="257"/>
            <ac:spMk id="18" creationId="{4B91EDA2-A5E4-D074-9C44-4AB54E868875}"/>
          </ac:spMkLst>
        </pc:spChg>
        <pc:picChg chg="del">
          <ac:chgData name="Ahlou Alphonse Euphreme" userId="f12afe77-4db7-47e3-b604-bb0d456a5c02" providerId="ADAL" clId="{4890F534-C102-41F9-978A-E7DBDB1CFE02}" dt="2026-06-25T21:17:34.594" v="265" actId="478"/>
          <ac:picMkLst>
            <pc:docMk/>
            <pc:sldMk cId="0" sldId="257"/>
            <ac:picMk id="7" creationId="{00000000-0000-0000-0000-000000000000}"/>
          </ac:picMkLst>
        </pc:picChg>
        <pc:picChg chg="del">
          <ac:chgData name="Ahlou Alphonse Euphreme" userId="f12afe77-4db7-47e3-b604-bb0d456a5c02" providerId="ADAL" clId="{4890F534-C102-41F9-978A-E7DBDB1CFE02}" dt="2026-06-25T21:17:34.594" v="265" actId="478"/>
          <ac:picMkLst>
            <pc:docMk/>
            <pc:sldMk cId="0" sldId="257"/>
            <ac:picMk id="12" creationId="{00000000-0000-0000-0000-000000000000}"/>
          </ac:picMkLst>
        </pc:picChg>
        <pc:picChg chg="add mod">
          <ac:chgData name="Ahlou Alphonse Euphreme" userId="f12afe77-4db7-47e3-b604-bb0d456a5c02" providerId="ADAL" clId="{4890F534-C102-41F9-978A-E7DBDB1CFE02}" dt="2026-06-26T02:38:27.979" v="340" actId="1076"/>
          <ac:picMkLst>
            <pc:docMk/>
            <pc:sldMk cId="0" sldId="257"/>
            <ac:picMk id="17" creationId="{B83F0406-D5D3-276D-0999-A3BB5920AE5C}"/>
          </ac:picMkLst>
        </pc:picChg>
        <pc:picChg chg="add mod">
          <ac:chgData name="Ahlou Alphonse Euphreme" userId="f12afe77-4db7-47e3-b604-bb0d456a5c02" providerId="ADAL" clId="{4890F534-C102-41F9-978A-E7DBDB1CFE02}" dt="2026-06-26T02:38:24.448" v="339" actId="1076"/>
          <ac:picMkLst>
            <pc:docMk/>
            <pc:sldMk cId="0" sldId="257"/>
            <ac:picMk id="20" creationId="{3245126E-C6BF-BBF8-092A-4251CE62C4A1}"/>
          </ac:picMkLst>
        </pc:picChg>
      </pc:sldChg>
      <pc:sldChg chg="modSp mod">
        <pc:chgData name="Ahlou Alphonse Euphreme" userId="f12afe77-4db7-47e3-b604-bb0d456a5c02" providerId="ADAL" clId="{4890F534-C102-41F9-978A-E7DBDB1CFE02}" dt="2026-06-24T21:03:49.434" v="2" actId="207"/>
        <pc:sldMkLst>
          <pc:docMk/>
          <pc:sldMk cId="0" sldId="260"/>
        </pc:sldMkLst>
        <pc:spChg chg="mod">
          <ac:chgData name="Ahlou Alphonse Euphreme" userId="f12afe77-4db7-47e3-b604-bb0d456a5c02" providerId="ADAL" clId="{4890F534-C102-41F9-978A-E7DBDB1CFE02}" dt="2026-06-24T21:03:49.434" v="2" actId="207"/>
          <ac:spMkLst>
            <pc:docMk/>
            <pc:sldMk cId="0" sldId="260"/>
            <ac:spMk id="3" creationId="{00000000-0000-0000-0000-000000000000}"/>
          </ac:spMkLst>
        </pc:spChg>
      </pc:sldChg>
      <pc:sldChg chg="addSp modSp mod">
        <pc:chgData name="Ahlou Alphonse Euphreme" userId="f12afe77-4db7-47e3-b604-bb0d456a5c02" providerId="ADAL" clId="{4890F534-C102-41F9-978A-E7DBDB1CFE02}" dt="2026-06-25T21:23:14.128" v="280" actId="1035"/>
        <pc:sldMkLst>
          <pc:docMk/>
          <pc:sldMk cId="0" sldId="261"/>
        </pc:sldMkLst>
        <pc:spChg chg="add mod">
          <ac:chgData name="Ahlou Alphonse Euphreme" userId="f12afe77-4db7-47e3-b604-bb0d456a5c02" providerId="ADAL" clId="{4890F534-C102-41F9-978A-E7DBDB1CFE02}" dt="2026-06-25T21:23:14.128" v="280" actId="1035"/>
          <ac:spMkLst>
            <pc:docMk/>
            <pc:sldMk cId="0" sldId="261"/>
            <ac:spMk id="33" creationId="{6E0E5E9B-0C15-DBDC-5AEA-04C4916ECCA1}"/>
          </ac:spMkLst>
        </pc:spChg>
      </pc:sldChg>
      <pc:sldChg chg="delSp modSp mod">
        <pc:chgData name="Ahlou Alphonse Euphreme" userId="f12afe77-4db7-47e3-b604-bb0d456a5c02" providerId="ADAL" clId="{4890F534-C102-41F9-978A-E7DBDB1CFE02}" dt="2026-06-25T21:05:46.121" v="162" actId="478"/>
        <pc:sldMkLst>
          <pc:docMk/>
          <pc:sldMk cId="0" sldId="264"/>
        </pc:sldMkLst>
        <pc:spChg chg="mod">
          <ac:chgData name="Ahlou Alphonse Euphreme" userId="f12afe77-4db7-47e3-b604-bb0d456a5c02" providerId="ADAL" clId="{4890F534-C102-41F9-978A-E7DBDB1CFE02}" dt="2026-06-24T21:03:25.466" v="0" actId="207"/>
          <ac:spMkLst>
            <pc:docMk/>
            <pc:sldMk cId="0" sldId="264"/>
            <ac:spMk id="3" creationId="{00000000-0000-0000-0000-000000000000}"/>
          </ac:spMkLst>
        </pc:spChg>
        <pc:spChg chg="del">
          <ac:chgData name="Ahlou Alphonse Euphreme" userId="f12afe77-4db7-47e3-b604-bb0d456a5c02" providerId="ADAL" clId="{4890F534-C102-41F9-978A-E7DBDB1CFE02}" dt="2026-06-25T21:05:46.121" v="162" actId="478"/>
          <ac:spMkLst>
            <pc:docMk/>
            <pc:sldMk cId="0" sldId="264"/>
            <ac:spMk id="25" creationId="{00000000-0000-0000-0000-000000000000}"/>
          </ac:spMkLst>
        </pc:spChg>
      </pc:sldChg>
      <pc:sldChg chg="modSp mod">
        <pc:chgData name="Ahlou Alphonse Euphreme" userId="f12afe77-4db7-47e3-b604-bb0d456a5c02" providerId="ADAL" clId="{4890F534-C102-41F9-978A-E7DBDB1CFE02}" dt="2026-06-25T21:04:33.390" v="161" actId="20577"/>
        <pc:sldMkLst>
          <pc:docMk/>
          <pc:sldMk cId="0" sldId="265"/>
        </pc:sldMkLst>
        <pc:spChg chg="mod">
          <ac:chgData name="Ahlou Alphonse Euphreme" userId="f12afe77-4db7-47e3-b604-bb0d456a5c02" providerId="ADAL" clId="{4890F534-C102-41F9-978A-E7DBDB1CFE02}" dt="2026-06-24T21:03:37.499" v="1" actId="207"/>
          <ac:spMkLst>
            <pc:docMk/>
            <pc:sldMk cId="0" sldId="265"/>
            <ac:spMk id="4" creationId="{00000000-0000-0000-0000-000000000000}"/>
          </ac:spMkLst>
        </pc:spChg>
        <pc:spChg chg="mod">
          <ac:chgData name="Ahlou Alphonse Euphreme" userId="f12afe77-4db7-47e3-b604-bb0d456a5c02" providerId="ADAL" clId="{4890F534-C102-41F9-978A-E7DBDB1CFE02}" dt="2026-06-25T21:04:33.390" v="161" actId="20577"/>
          <ac:spMkLst>
            <pc:docMk/>
            <pc:sldMk cId="0" sldId="265"/>
            <ac:spMk id="26" creationId="{00000000-0000-0000-0000-000000000000}"/>
          </ac:spMkLst>
        </pc:spChg>
      </pc:sldChg>
      <pc:sldChg chg="new del">
        <pc:chgData name="Ahlou Alphonse Euphreme" userId="f12afe77-4db7-47e3-b604-bb0d456a5c02" providerId="ADAL" clId="{4890F534-C102-41F9-978A-E7DBDB1CFE02}" dt="2026-06-25T21:16:02.035" v="171" actId="47"/>
        <pc:sldMkLst>
          <pc:docMk/>
          <pc:sldMk cId="2418783229" sldId="266"/>
        </pc:sldMkLst>
      </pc:sldChg>
      <pc:sldChg chg="add">
        <pc:chgData name="Ahlou Alphonse Euphreme" userId="f12afe77-4db7-47e3-b604-bb0d456a5c02" providerId="ADAL" clId="{4890F534-C102-41F9-978A-E7DBDB1CFE02}" dt="2026-06-25T21:16:07.695" v="172" actId="2890"/>
        <pc:sldMkLst>
          <pc:docMk/>
          <pc:sldMk cId="3137752221"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751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d'ouverture. Présenter l'objectif : poser les bases conceptuelles avant d'écrire des requêtes.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distinction langage / moteur : c'est la première source de confusion chez les débutants.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4C43A-44FC-A6C6-6466-FE966D090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AA83B-2A05-7900-947F-7C40C6815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90550-AB5A-D050-2411-C0C0DAEB12BF}"/>
              </a:ext>
            </a:extLst>
          </p:cNvPr>
          <p:cNvSpPr>
            <a:spLocks noGrp="1"/>
          </p:cNvSpPr>
          <p:nvPr>
            <p:ph type="body" idx="1"/>
          </p:nvPr>
        </p:nvSpPr>
        <p:spPr/>
        <p:txBody>
          <a:bodyPr/>
          <a:lstStyle/>
          <a:p>
            <a:r>
              <a:rPr lang="en-US" dirty="0"/>
              <a:t>Insister sur la distinction langage / moteur : c'est la première source de confusion chez les débutants.</a:t>
            </a:r>
          </a:p>
        </p:txBody>
      </p:sp>
      <p:sp>
        <p:nvSpPr>
          <p:cNvPr id="4" name="Slide Number Placeholder 3">
            <a:extLst>
              <a:ext uri="{FF2B5EF4-FFF2-40B4-BE49-F238E27FC236}">
                <a16:creationId xmlns:a16="http://schemas.microsoft.com/office/drawing/2014/main" id="{9E1ECAC8-CBB3-FB7D-27D0-51876CD7748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60340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concrètement table = grille, ligne = un patient, colonne = une propriété, type = nature de la donnée.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l'endroit où les débutants décrochent : appuyer le propos avec le schéma de la diapo suivante.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fil rouge réutilisé dans toute la série : un patient passe des consultations, chaque consultation est assurée par un médecin.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carte d'ensemble. Préciser que la série se concentrera surtout sur le DML, en particulier SELECT.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cette grille tôt : elle explique pourquoi un alias du SELECT n'est pas utilisable dans le WHERE, etc.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pièges/atouts à poser tôt. Le NULL en particulier mérite peut-être un tuto dédié plus tard.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ACID = pourquoi on peut faire confiance à une base. L'exemple type : un virement bancaire (débit + crédit) doit être atomique.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 on passe de la théorie à la pratique. Le Module 2 attaque le SELECT sur la base Gestion Hospitalière.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fr-CA"/>
              <a:t>Modifier le style du titre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9EF79740-DFDC-4131-BFBA-D75E93A01AC7}" type="datetimeFigureOut">
              <a:rPr lang="fr-FR" smtClean="0"/>
              <a:t>25/06/2026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22676AC-21B5-492E-8AFD-1BE4F60FC67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9462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9EF79740-DFDC-4131-BFBA-D75E93A01AC7}" type="datetimeFigureOut">
              <a:rPr lang="fr-FR" smtClean="0"/>
              <a:t>25/06/2026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19145309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fr-CA"/>
              <a:t>Modifier le style du titre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9EF79740-DFDC-4131-BFBA-D75E93A01AC7}" type="datetimeFigureOut">
              <a:rPr lang="fr-FR" smtClean="0"/>
              <a:t>25/06/2026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22676AC-21B5-492E-8AFD-1BE4F60FC67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9878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fr-CA"/>
              <a:t>Modifier le style du titre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9EF79740-DFDC-4131-BFBA-D75E93A01AC7}" type="datetimeFigureOut">
              <a:rPr lang="fr-FR" smtClean="0"/>
              <a:t>25/06/2026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22088534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CA"/>
              <a:t>Modifier le style du titre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Content Placeholder 3"/>
          <p:cNvSpPr>
            <a:spLocks noGrp="1"/>
          </p:cNvSpPr>
          <p:nvPr>
            <p:ph sz="half" idx="2"/>
          </p:nvPr>
        </p:nvSpPr>
        <p:spPr>
          <a:xfrm>
            <a:off x="1024128" y="2967788"/>
            <a:ext cx="4754880" cy="3341572"/>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CA"/>
              <a:t>Cliquez pour modifier les styles du texte du masque</a:t>
            </a:r>
          </a:p>
        </p:txBody>
      </p:sp>
      <p:sp>
        <p:nvSpPr>
          <p:cNvPr id="6" name="Content Placeholder 5"/>
          <p:cNvSpPr>
            <a:spLocks noGrp="1"/>
          </p:cNvSpPr>
          <p:nvPr>
            <p:ph sz="quarter" idx="4"/>
          </p:nvPr>
        </p:nvSpPr>
        <p:spPr>
          <a:xfrm>
            <a:off x="5990888" y="2967788"/>
            <a:ext cx="4754880" cy="3341572"/>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9EF79740-DFDC-4131-BFBA-D75E93A01AC7}" type="datetimeFigureOut">
              <a:rPr lang="fr-FR" smtClean="0"/>
              <a:t>25/06/2026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230386853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9EF79740-DFDC-4131-BFBA-D75E93A01AC7}" type="datetimeFigureOut">
              <a:rPr lang="fr-FR" smtClean="0"/>
              <a:t>25/06/2026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14370764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79740-DFDC-4131-BFBA-D75E93A01AC7}" type="datetimeFigureOut">
              <a:rPr lang="fr-FR" smtClean="0"/>
              <a:t>25/06/2026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9378676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fr-CA"/>
              <a:t>Modifier le style du titre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9EF79740-DFDC-4131-BFBA-D75E93A01AC7}" type="datetimeFigureOut">
              <a:rPr lang="fr-FR" smtClean="0"/>
              <a:t>25/06/2026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41497459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fr-CA"/>
              <a:t>Modifier le style du titre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CA"/>
              <a:t>Cliquez sur l'icône pour ajouter une image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9EF79740-DFDC-4131-BFBA-D75E93A01AC7}" type="datetimeFigureOut">
              <a:rPr lang="fr-FR" smtClean="0"/>
              <a:t>25/06/2026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22676AC-21B5-492E-8AFD-1BE4F60FC67F}"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7838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9EF79740-DFDC-4131-BFBA-D75E93A01AC7}" type="datetimeFigureOut">
              <a:rPr lang="fr-FR" smtClean="0"/>
              <a:t>25/06/2026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22676AC-21B5-492E-8AFD-1BE4F60FC67F}" type="slidenum">
              <a:rPr lang="fr-FR" smtClean="0"/>
              <a:t>‹n°›</a:t>
            </a:fld>
            <a:endParaRPr lang="fr-FR"/>
          </a:p>
        </p:txBody>
      </p:sp>
    </p:spTree>
    <p:extLst>
      <p:ext uri="{BB962C8B-B14F-4D97-AF65-F5344CB8AC3E}">
        <p14:creationId xmlns:p14="http://schemas.microsoft.com/office/powerpoint/2010/main" val="3192443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fr-CA"/>
              <a:t>Modifier le style du titre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9EF79740-DFDC-4131-BFBA-D75E93A01AC7}" type="datetimeFigureOut">
              <a:rPr lang="fr-FR" smtClean="0"/>
              <a:t>25/06/2026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22676AC-21B5-492E-8AFD-1BE4F60FC67F}" type="slidenum">
              <a:rPr lang="fr-FR" smtClean="0"/>
              <a:t>‹n°›</a:t>
            </a:fld>
            <a:endParaRPr lang="fr-F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98092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265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EF79740-DFDC-4131-BFBA-D75E93A01AC7}" type="datetimeFigureOut">
              <a:rPr lang="fr-FR" smtClean="0"/>
              <a:t>25/06/2026</a:t>
            </a:fld>
            <a:endParaRPr lang="fr-F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fr-F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22676AC-21B5-492E-8AFD-1BE4F60FC67F}" type="slidenum">
              <a:rPr lang="fr-FR" smtClean="0"/>
              <a:t>‹n°›</a:t>
            </a:fld>
            <a:endParaRPr lang="fr-F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7947543"/>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tretch>
            <a:fillRect/>
          </a:stretch>
        </p:blipFill>
        <p:spPr>
          <a:xfrm>
            <a:off x="8869680" y="1371600"/>
            <a:ext cx="3840480" cy="3840480"/>
          </a:xfrm>
          <a:prstGeom prst="rect">
            <a:avLst/>
          </a:prstGeom>
        </p:spPr>
      </p:pic>
      <p:sp>
        <p:nvSpPr>
          <p:cNvPr id="3" name="Text 0"/>
          <p:cNvSpPr/>
          <p:nvPr/>
        </p:nvSpPr>
        <p:spPr>
          <a:xfrm>
            <a:off x="868680" y="1417320"/>
            <a:ext cx="7315200" cy="365760"/>
          </a:xfrm>
          <a:prstGeom prst="rect">
            <a:avLst/>
          </a:prstGeom>
          <a:noFill/>
          <a:ln/>
        </p:spPr>
        <p:txBody>
          <a:bodyPr wrap="square" lIns="0" tIns="0" rIns="0" bIns="0" rtlCol="0" anchor="ctr"/>
          <a:lstStyle/>
          <a:p>
            <a:pPr marL="0" indent="0">
              <a:buNone/>
            </a:pPr>
            <a:r>
              <a:rPr lang="en-US" sz="1500" b="1" kern="0" spc="400" dirty="0">
                <a:solidFill>
                  <a:srgbClr val="5EEAD4"/>
                </a:solidFill>
                <a:latin typeface="Calibri" pitchFamily="34" charset="0"/>
                <a:ea typeface="Calibri" pitchFamily="34" charset="-122"/>
                <a:cs typeface="Calibri" pitchFamily="34" charset="-120"/>
              </a:rPr>
              <a:t>SÉRIE DE TUTORIELS</a:t>
            </a:r>
            <a:endParaRPr lang="en-US" sz="1500" dirty="0"/>
          </a:p>
        </p:txBody>
      </p:sp>
      <p:sp>
        <p:nvSpPr>
          <p:cNvPr id="4" name="Text 1"/>
          <p:cNvSpPr/>
          <p:nvPr/>
        </p:nvSpPr>
        <p:spPr>
          <a:xfrm>
            <a:off x="822960" y="1874520"/>
            <a:ext cx="10058400" cy="1371600"/>
          </a:xfrm>
          <a:prstGeom prst="rect">
            <a:avLst/>
          </a:prstGeom>
          <a:noFill/>
          <a:ln/>
        </p:spPr>
        <p:txBody>
          <a:bodyPr wrap="square" lIns="0" tIns="0" rIns="0" bIns="0" rtlCol="0" anchor="ctr"/>
          <a:lstStyle/>
          <a:p>
            <a:pPr marL="0" indent="0">
              <a:buNone/>
            </a:pPr>
            <a:r>
              <a:rPr lang="en-US" sz="6200" b="1" dirty="0">
                <a:latin typeface="Cambria" pitchFamily="34" charset="0"/>
                <a:ea typeface="Cambria" pitchFamily="34" charset="-122"/>
                <a:cs typeface="Cambria" pitchFamily="34" charset="-120"/>
              </a:rPr>
              <a:t>Introduction au SQL</a:t>
            </a:r>
            <a:endParaRPr lang="en-US" sz="6200" dirty="0"/>
          </a:p>
        </p:txBody>
      </p:sp>
      <p:sp>
        <p:nvSpPr>
          <p:cNvPr id="5" name="Text 2"/>
          <p:cNvSpPr/>
          <p:nvPr/>
        </p:nvSpPr>
        <p:spPr>
          <a:xfrm>
            <a:off x="868680" y="3246120"/>
            <a:ext cx="7406640" cy="548640"/>
          </a:xfrm>
          <a:prstGeom prst="rect">
            <a:avLst/>
          </a:prstGeom>
          <a:noFill/>
          <a:ln/>
        </p:spPr>
        <p:txBody>
          <a:bodyPr wrap="square" lIns="0" tIns="0" rIns="0" bIns="0" rtlCol="0" anchor="ctr"/>
          <a:lstStyle/>
          <a:p>
            <a:pPr marL="0" indent="0">
              <a:buNone/>
            </a:pPr>
            <a:r>
              <a:rPr lang="en-US" sz="2000" dirty="0" err="1">
                <a:solidFill>
                  <a:srgbClr val="9FB3C8"/>
                </a:solidFill>
                <a:latin typeface="Calibri" pitchFamily="34" charset="0"/>
                <a:ea typeface="Calibri" pitchFamily="34" charset="-122"/>
                <a:cs typeface="Calibri" pitchFamily="34" charset="-120"/>
              </a:rPr>
              <a:t>Concevoir</a:t>
            </a:r>
            <a:r>
              <a:rPr lang="en-US" sz="2000" dirty="0">
                <a:solidFill>
                  <a:srgbClr val="9FB3C8"/>
                </a:solidFill>
                <a:latin typeface="Calibri" pitchFamily="34" charset="0"/>
                <a:ea typeface="Calibri" pitchFamily="34" charset="-122"/>
                <a:cs typeface="Calibri" pitchFamily="34" charset="-120"/>
              </a:rPr>
              <a:t>, </a:t>
            </a:r>
            <a:r>
              <a:rPr lang="en-US" sz="2000" dirty="0" err="1">
                <a:solidFill>
                  <a:srgbClr val="9FB3C8"/>
                </a:solidFill>
                <a:latin typeface="Calibri" pitchFamily="34" charset="0"/>
                <a:ea typeface="Calibri" pitchFamily="34" charset="-122"/>
                <a:cs typeface="Calibri" pitchFamily="34" charset="-120"/>
              </a:rPr>
              <a:t>Interroger</a:t>
            </a:r>
            <a:r>
              <a:rPr lang="en-US" sz="2000" dirty="0">
                <a:solidFill>
                  <a:srgbClr val="9FB3C8"/>
                </a:solidFill>
                <a:latin typeface="Calibri" pitchFamily="34" charset="0"/>
                <a:ea typeface="Calibri" pitchFamily="34" charset="-122"/>
                <a:cs typeface="Calibri" pitchFamily="34" charset="-120"/>
              </a:rPr>
              <a:t> et structurer les bases de données relationnelles</a:t>
            </a:r>
            <a:endParaRPr lang="en-US" sz="2000" dirty="0"/>
          </a:p>
        </p:txBody>
      </p:sp>
      <p:sp>
        <p:nvSpPr>
          <p:cNvPr id="6" name="Shape 3"/>
          <p:cNvSpPr/>
          <p:nvPr/>
        </p:nvSpPr>
        <p:spPr>
          <a:xfrm>
            <a:off x="868680" y="4114800"/>
            <a:ext cx="2457907" cy="475488"/>
          </a:xfrm>
          <a:prstGeom prst="roundRect">
            <a:avLst>
              <a:gd name="adj" fmla="val 50000"/>
            </a:avLst>
          </a:prstGeom>
          <a:solidFill>
            <a:srgbClr val="13314F"/>
          </a:solidFill>
          <a:ln w="12700">
            <a:solidFill>
              <a:srgbClr val="14B8A6"/>
            </a:solidFill>
            <a:prstDash val="solid"/>
          </a:ln>
        </p:spPr>
      </p:sp>
      <p:sp>
        <p:nvSpPr>
          <p:cNvPr id="7" name="Text 4"/>
          <p:cNvSpPr/>
          <p:nvPr/>
        </p:nvSpPr>
        <p:spPr>
          <a:xfrm>
            <a:off x="868680" y="4114800"/>
            <a:ext cx="2457907" cy="475488"/>
          </a:xfrm>
          <a:prstGeom prst="rect">
            <a:avLst/>
          </a:prstGeom>
          <a:noFill/>
          <a:ln/>
        </p:spPr>
        <p:txBody>
          <a:bodyPr wrap="square" lIns="0" tIns="0" rIns="0" bIns="0" rtlCol="0" anchor="ctr"/>
          <a:lstStyle/>
          <a:p>
            <a:pPr marL="0" indent="0" algn="ctr">
              <a:buNone/>
            </a:pPr>
            <a:r>
              <a:rPr lang="en-US" sz="1300" dirty="0">
                <a:solidFill>
                  <a:srgbClr val="5EEAD4"/>
                </a:solidFill>
                <a:latin typeface="Calibri" pitchFamily="34" charset="0"/>
                <a:ea typeface="Calibri" pitchFamily="34" charset="-122"/>
                <a:cs typeface="Calibri" pitchFamily="34" charset="-120"/>
              </a:rPr>
              <a:t>Le modèle relationnel</a:t>
            </a:r>
            <a:endParaRPr lang="en-US" sz="1300" dirty="0"/>
          </a:p>
        </p:txBody>
      </p:sp>
      <p:sp>
        <p:nvSpPr>
          <p:cNvPr id="8" name="Shape 5"/>
          <p:cNvSpPr/>
          <p:nvPr/>
        </p:nvSpPr>
        <p:spPr>
          <a:xfrm>
            <a:off x="3600907" y="4114800"/>
            <a:ext cx="1865376" cy="475488"/>
          </a:xfrm>
          <a:prstGeom prst="roundRect">
            <a:avLst>
              <a:gd name="adj" fmla="val 50000"/>
            </a:avLst>
          </a:prstGeom>
          <a:solidFill>
            <a:srgbClr val="13314F"/>
          </a:solidFill>
          <a:ln w="12700">
            <a:solidFill>
              <a:srgbClr val="14B8A6"/>
            </a:solidFill>
            <a:prstDash val="solid"/>
          </a:ln>
        </p:spPr>
      </p:sp>
      <p:sp>
        <p:nvSpPr>
          <p:cNvPr id="9" name="Text 6"/>
          <p:cNvSpPr/>
          <p:nvPr/>
        </p:nvSpPr>
        <p:spPr>
          <a:xfrm>
            <a:off x="3600907" y="4114800"/>
            <a:ext cx="1865376" cy="475488"/>
          </a:xfrm>
          <a:prstGeom prst="rect">
            <a:avLst/>
          </a:prstGeom>
          <a:noFill/>
          <a:ln/>
        </p:spPr>
        <p:txBody>
          <a:bodyPr wrap="square" lIns="0" tIns="0" rIns="0" bIns="0" rtlCol="0" anchor="ctr"/>
          <a:lstStyle/>
          <a:p>
            <a:pPr marL="0" indent="0" algn="ctr">
              <a:buNone/>
            </a:pPr>
            <a:r>
              <a:rPr lang="en-US" sz="1300" dirty="0" err="1">
                <a:solidFill>
                  <a:srgbClr val="5EEAD4"/>
                </a:solidFill>
                <a:latin typeface="Calibri" pitchFamily="34" charset="0"/>
                <a:ea typeface="Calibri" pitchFamily="34" charset="-122"/>
                <a:cs typeface="Calibri" pitchFamily="34" charset="-120"/>
              </a:rPr>
              <a:t>Requêtes</a:t>
            </a:r>
            <a:endParaRPr lang="en-US" sz="1300" dirty="0"/>
          </a:p>
        </p:txBody>
      </p:sp>
      <p:sp>
        <p:nvSpPr>
          <p:cNvPr id="10" name="Shape 7"/>
          <p:cNvSpPr/>
          <p:nvPr/>
        </p:nvSpPr>
        <p:spPr>
          <a:xfrm>
            <a:off x="5740603" y="4114800"/>
            <a:ext cx="2260397" cy="475488"/>
          </a:xfrm>
          <a:prstGeom prst="roundRect">
            <a:avLst>
              <a:gd name="adj" fmla="val 50000"/>
            </a:avLst>
          </a:prstGeom>
          <a:solidFill>
            <a:srgbClr val="13314F"/>
          </a:solidFill>
          <a:ln w="12700">
            <a:solidFill>
              <a:srgbClr val="14B8A6"/>
            </a:solidFill>
            <a:prstDash val="solid"/>
          </a:ln>
        </p:spPr>
      </p:sp>
      <p:sp>
        <p:nvSpPr>
          <p:cNvPr id="11" name="Text 8"/>
          <p:cNvSpPr/>
          <p:nvPr/>
        </p:nvSpPr>
        <p:spPr>
          <a:xfrm>
            <a:off x="5740603" y="4114800"/>
            <a:ext cx="2260397" cy="475488"/>
          </a:xfrm>
          <a:prstGeom prst="rect">
            <a:avLst/>
          </a:prstGeom>
          <a:noFill/>
          <a:ln/>
        </p:spPr>
        <p:txBody>
          <a:bodyPr wrap="square" lIns="0" tIns="0" rIns="0" bIns="0" rtlCol="0" anchor="ctr"/>
          <a:lstStyle/>
          <a:p>
            <a:pPr marL="0" indent="0" algn="ctr">
              <a:buNone/>
            </a:pPr>
            <a:r>
              <a:rPr lang="en-US" sz="1300" dirty="0">
                <a:solidFill>
                  <a:srgbClr val="5EEAD4"/>
                </a:solidFill>
                <a:latin typeface="Calibri" pitchFamily="34" charset="0"/>
                <a:ea typeface="Calibri" pitchFamily="34" charset="-122"/>
                <a:cs typeface="Calibri" pitchFamily="34" charset="-120"/>
              </a:rPr>
              <a:t>Transactions &amp; ACID</a:t>
            </a:r>
            <a:endParaRPr lang="en-US" sz="1300" dirty="0"/>
          </a:p>
        </p:txBody>
      </p:sp>
      <p:sp>
        <p:nvSpPr>
          <p:cNvPr id="12" name="Shape 9"/>
          <p:cNvSpPr/>
          <p:nvPr/>
        </p:nvSpPr>
        <p:spPr>
          <a:xfrm>
            <a:off x="868680" y="5074920"/>
            <a:ext cx="1280160" cy="0"/>
          </a:xfrm>
          <a:prstGeom prst="line">
            <a:avLst/>
          </a:prstGeom>
          <a:noFill/>
          <a:ln w="38100">
            <a:solidFill>
              <a:srgbClr val="F59E0B"/>
            </a:solidFill>
            <a:prstDash val="solid"/>
          </a:ln>
        </p:spPr>
      </p:sp>
      <p:sp>
        <p:nvSpPr>
          <p:cNvPr id="13" name="Text 10"/>
          <p:cNvSpPr/>
          <p:nvPr/>
        </p:nvSpPr>
        <p:spPr>
          <a:xfrm>
            <a:off x="868680" y="5212080"/>
            <a:ext cx="9144000" cy="365760"/>
          </a:xfrm>
          <a:prstGeom prst="rect">
            <a:avLst/>
          </a:prstGeom>
          <a:noFill/>
          <a:ln/>
        </p:spPr>
        <p:txBody>
          <a:bodyPr wrap="square" lIns="0" tIns="0" rIns="0" bIns="0" rtlCol="0" anchor="ctr"/>
          <a:lstStyle/>
          <a:p>
            <a:pPr marL="0" indent="0">
              <a:buNone/>
            </a:pPr>
            <a:r>
              <a:rPr lang="en-US" sz="1350" i="1" dirty="0">
                <a:solidFill>
                  <a:srgbClr val="9FB3C8"/>
                </a:solidFill>
                <a:latin typeface="Calibri" pitchFamily="34" charset="0"/>
                <a:ea typeface="Calibri" pitchFamily="34" charset="-122"/>
                <a:cs typeface="Calibri" pitchFamily="34" charset="-120"/>
              </a:rPr>
              <a:t>Les fondamentaux  ·  Base : Gestion Hospitalière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1</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C’ est quoi </a:t>
            </a:r>
            <a:r>
              <a:rPr lang="en-US" sz="3300" b="1" dirty="0" err="1">
                <a:solidFill>
                  <a:srgbClr val="13314F"/>
                </a:solidFill>
                <a:latin typeface="Cambria" pitchFamily="34" charset="0"/>
                <a:ea typeface="Cambria" pitchFamily="34" charset="-122"/>
                <a:cs typeface="Cambria" pitchFamily="34" charset="-120"/>
              </a:rPr>
              <a:t>une</a:t>
            </a:r>
            <a:r>
              <a:rPr lang="en-US" sz="3300" b="1" dirty="0">
                <a:solidFill>
                  <a:srgbClr val="13314F"/>
                </a:solidFill>
                <a:latin typeface="Cambria" pitchFamily="34" charset="0"/>
                <a:ea typeface="Cambria" pitchFamily="34" charset="-122"/>
                <a:cs typeface="Cambria" pitchFamily="34" charset="-120"/>
              </a:rPr>
              <a:t> base de </a:t>
            </a:r>
            <a:r>
              <a:rPr lang="en-US" sz="3300" b="1" dirty="0" err="1">
                <a:solidFill>
                  <a:srgbClr val="13314F"/>
                </a:solidFill>
                <a:latin typeface="Cambria" pitchFamily="34" charset="0"/>
                <a:ea typeface="Cambria" pitchFamily="34" charset="-122"/>
                <a:cs typeface="Cambria" pitchFamily="34" charset="-120"/>
              </a:rPr>
              <a:t>donn</a:t>
            </a:r>
            <a:r>
              <a:rPr lang="fr-CA" sz="3300" b="1" dirty="0" err="1">
                <a:solidFill>
                  <a:srgbClr val="13314F"/>
                </a:solidFill>
                <a:latin typeface="Cambria" pitchFamily="34" charset="0"/>
                <a:ea typeface="Cambria" pitchFamily="34" charset="-122"/>
                <a:cs typeface="Cambria" pitchFamily="34" charset="-120"/>
              </a:rPr>
              <a:t>ée</a:t>
            </a:r>
            <a:r>
              <a:rPr lang="en-US" sz="3300" b="1" dirty="0">
                <a:solidFill>
                  <a:srgbClr val="13314F"/>
                </a:solidFill>
                <a:latin typeface="Cambria" pitchFamily="34" charset="0"/>
                <a:ea typeface="Cambria" pitchFamily="34" charset="-122"/>
                <a:cs typeface="Cambria" pitchFamily="34" charset="-120"/>
              </a:rPr>
              <a:t> ?</a:t>
            </a:r>
            <a:endParaRPr lang="en-US" sz="3300" dirty="0"/>
          </a:p>
        </p:txBody>
      </p:sp>
      <p:sp>
        <p:nvSpPr>
          <p:cNvPr id="4" name="Text 2"/>
          <p:cNvSpPr/>
          <p:nvPr/>
        </p:nvSpPr>
        <p:spPr>
          <a:xfrm>
            <a:off x="841248" y="1554480"/>
            <a:ext cx="10085832" cy="1472184"/>
          </a:xfrm>
          <a:prstGeom prst="rect">
            <a:avLst/>
          </a:prstGeom>
          <a:noFill/>
          <a:ln/>
        </p:spPr>
        <p:txBody>
          <a:bodyPr wrap="square" lIns="0" tIns="0" rIns="0" bIns="0" rtlCol="0" anchor="ctr"/>
          <a:lstStyle/>
          <a:p>
            <a:pPr>
              <a:lnSpc>
                <a:spcPct val="110000"/>
              </a:lnSpc>
            </a:pPr>
            <a:r>
              <a:rPr lang="fr-FR" sz="1550" dirty="0">
                <a:solidFill>
                  <a:srgbClr val="5B7184"/>
                </a:solidFill>
                <a:latin typeface="Calibri" pitchFamily="34" charset="0"/>
                <a:ea typeface="Calibri" pitchFamily="34" charset="-122"/>
                <a:cs typeface="Calibri" pitchFamily="34" charset="-120"/>
              </a:rPr>
              <a:t>Une base de données structurée, c'est comme plusieurs tableurs Excel connectés dans un dossier unique : disciplinée, avec ses lignes et ses colonnes, respectant des règles strictes, avec des liens fiables entre les tables, capable de gérer d'énormes volumes de données, le tout interrogeable par un langage dédié, le SQL</a:t>
            </a:r>
          </a:p>
        </p:txBody>
      </p:sp>
      <p:pic>
        <p:nvPicPr>
          <p:cNvPr id="17" name="Image 16">
            <a:extLst>
              <a:ext uri="{FF2B5EF4-FFF2-40B4-BE49-F238E27FC236}">
                <a16:creationId xmlns:a16="http://schemas.microsoft.com/office/drawing/2014/main" id="{B83F0406-D5D3-276D-0999-A3BB5920AE5C}"/>
              </a:ext>
            </a:extLst>
          </p:cNvPr>
          <p:cNvPicPr>
            <a:picLocks noChangeAspect="1"/>
          </p:cNvPicPr>
          <p:nvPr/>
        </p:nvPicPr>
        <p:blipFill>
          <a:blip r:embed="rId3"/>
          <a:stretch>
            <a:fillRect/>
          </a:stretch>
        </p:blipFill>
        <p:spPr>
          <a:xfrm>
            <a:off x="4184905" y="4133088"/>
            <a:ext cx="7254242" cy="1737360"/>
          </a:xfrm>
          <a:prstGeom prst="rect">
            <a:avLst/>
          </a:prstGeom>
        </p:spPr>
      </p:pic>
      <p:pic>
        <p:nvPicPr>
          <p:cNvPr id="20" name="Image 0" descr="preencoded.png">
            <a:extLst>
              <a:ext uri="{FF2B5EF4-FFF2-40B4-BE49-F238E27FC236}">
                <a16:creationId xmlns:a16="http://schemas.microsoft.com/office/drawing/2014/main" id="{3245126E-C6BF-BBF8-092A-4251CE62C4A1}"/>
              </a:ext>
            </a:extLst>
          </p:cNvPr>
          <p:cNvPicPr>
            <a:picLocks noChangeAspect="1"/>
          </p:cNvPicPr>
          <p:nvPr/>
        </p:nvPicPr>
        <p:blipFill>
          <a:blip r:embed="rId4">
            <a:alphaModFix amt="12000"/>
          </a:blip>
          <a:stretch>
            <a:fillRect/>
          </a:stretch>
        </p:blipFill>
        <p:spPr>
          <a:xfrm>
            <a:off x="539496" y="2843784"/>
            <a:ext cx="384048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a:extLst>
            <a:ext uri="{FF2B5EF4-FFF2-40B4-BE49-F238E27FC236}">
              <a16:creationId xmlns:a16="http://schemas.microsoft.com/office/drawing/2014/main" id="{9A664B8E-4E14-030F-D776-06DF358389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9BF57C-0F42-EFA2-6792-14E3565A27FA}"/>
              </a:ext>
            </a:extLst>
          </p:cNvPr>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1</a:t>
            </a:r>
            <a:endParaRPr lang="en-US" sz="1250" dirty="0"/>
          </a:p>
        </p:txBody>
      </p:sp>
      <p:sp>
        <p:nvSpPr>
          <p:cNvPr id="3" name="Text 1">
            <a:extLst>
              <a:ext uri="{FF2B5EF4-FFF2-40B4-BE49-F238E27FC236}">
                <a16:creationId xmlns:a16="http://schemas.microsoft.com/office/drawing/2014/main" id="{6D6BB53D-1A65-AD61-9085-330A71E4F3DF}"/>
              </a:ext>
            </a:extLst>
          </p:cNvPr>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Qu'est-ce que SQL ?</a:t>
            </a:r>
            <a:endParaRPr lang="en-US" sz="3300" dirty="0"/>
          </a:p>
        </p:txBody>
      </p:sp>
      <p:sp>
        <p:nvSpPr>
          <p:cNvPr id="4" name="Text 2">
            <a:extLst>
              <a:ext uri="{FF2B5EF4-FFF2-40B4-BE49-F238E27FC236}">
                <a16:creationId xmlns:a16="http://schemas.microsoft.com/office/drawing/2014/main" id="{52AFF29D-BDE4-F6F6-CBE5-1F0AEC0F7929}"/>
              </a:ext>
            </a:extLst>
          </p:cNvPr>
          <p:cNvSpPr/>
          <p:nvPr/>
        </p:nvSpPr>
        <p:spPr>
          <a:xfrm>
            <a:off x="841248" y="1554480"/>
            <a:ext cx="10424160" cy="640080"/>
          </a:xfrm>
          <a:prstGeom prst="rect">
            <a:avLst/>
          </a:prstGeom>
          <a:noFill/>
          <a:ln/>
        </p:spPr>
        <p:txBody>
          <a:bodyPr wrap="square" lIns="0" tIns="0" rIns="0" bIns="0" rtlCol="0" anchor="ctr"/>
          <a:lstStyle/>
          <a:p>
            <a:pPr marL="0" indent="0">
              <a:lnSpc>
                <a:spcPct val="110000"/>
              </a:lnSpc>
              <a:buNone/>
            </a:pPr>
            <a:r>
              <a:rPr lang="en-US" sz="1550" dirty="0">
                <a:solidFill>
                  <a:srgbClr val="5B7184"/>
                </a:solidFill>
                <a:latin typeface="Calibri" pitchFamily="34" charset="0"/>
                <a:ea typeface="Calibri" pitchFamily="34" charset="-122"/>
                <a:cs typeface="Calibri" pitchFamily="34" charset="-120"/>
              </a:rPr>
              <a:t>SQL (Structured Query Language) est le langage standard pour dialoguer avec une base de données relationnelle. Il ne faut pas le confondre avec le moteur qui l'exécute.</a:t>
            </a:r>
            <a:endParaRPr lang="en-US" sz="1550" dirty="0"/>
          </a:p>
        </p:txBody>
      </p:sp>
      <p:sp>
        <p:nvSpPr>
          <p:cNvPr id="5" name="Shape 3">
            <a:extLst>
              <a:ext uri="{FF2B5EF4-FFF2-40B4-BE49-F238E27FC236}">
                <a16:creationId xmlns:a16="http://schemas.microsoft.com/office/drawing/2014/main" id="{178E0ECB-3A07-092F-879E-E5D0631E5F27}"/>
              </a:ext>
            </a:extLst>
          </p:cNvPr>
          <p:cNvSpPr/>
          <p:nvPr/>
        </p:nvSpPr>
        <p:spPr>
          <a:xfrm>
            <a:off x="841248" y="2468880"/>
            <a:ext cx="5074920" cy="3246120"/>
          </a:xfrm>
          <a:prstGeom prst="roundRect">
            <a:avLst>
              <a:gd name="adj" fmla="val 2817"/>
            </a:avLst>
          </a:prstGeom>
          <a:solidFill>
            <a:srgbClr val="FFFFFF"/>
          </a:solidFill>
          <a:ln/>
          <a:effectLst>
            <a:outerShdw blurRad="114300" dist="38100" dir="5400000" algn="bl" rotWithShape="0">
              <a:srgbClr val="0B1F33">
                <a:alpha val="16000"/>
              </a:srgbClr>
            </a:outerShdw>
          </a:effectLst>
        </p:spPr>
      </p:sp>
      <p:sp>
        <p:nvSpPr>
          <p:cNvPr id="6" name="Shape 4">
            <a:extLst>
              <a:ext uri="{FF2B5EF4-FFF2-40B4-BE49-F238E27FC236}">
                <a16:creationId xmlns:a16="http://schemas.microsoft.com/office/drawing/2014/main" id="{F041E2AD-7E3E-2099-EF02-5CAC7A4AF239}"/>
              </a:ext>
            </a:extLst>
          </p:cNvPr>
          <p:cNvSpPr/>
          <p:nvPr/>
        </p:nvSpPr>
        <p:spPr>
          <a:xfrm>
            <a:off x="1188720" y="2816352"/>
            <a:ext cx="868680" cy="868680"/>
          </a:xfrm>
          <a:prstGeom prst="ellipse">
            <a:avLst/>
          </a:prstGeom>
          <a:solidFill>
            <a:srgbClr val="14B8A6"/>
          </a:solidFill>
          <a:ln/>
          <a:effectLst>
            <a:outerShdw blurRad="114300" dist="38100" dir="5400000" algn="bl" rotWithShape="0">
              <a:srgbClr val="0B1F33">
                <a:alpha val="16000"/>
              </a:srgbClr>
            </a:outerShdw>
          </a:effectLst>
        </p:spPr>
      </p:sp>
      <p:pic>
        <p:nvPicPr>
          <p:cNvPr id="7" name="Image 0" descr="preencoded.png">
            <a:extLst>
              <a:ext uri="{FF2B5EF4-FFF2-40B4-BE49-F238E27FC236}">
                <a16:creationId xmlns:a16="http://schemas.microsoft.com/office/drawing/2014/main" id="{8A324485-F259-17B7-372A-EBC885C0F7BA}"/>
              </a:ext>
            </a:extLst>
          </p:cNvPr>
          <p:cNvPicPr>
            <a:picLocks noChangeAspect="1"/>
          </p:cNvPicPr>
          <p:nvPr/>
        </p:nvPicPr>
        <p:blipFill>
          <a:blip r:embed="rId3"/>
          <a:stretch>
            <a:fillRect/>
          </a:stretch>
        </p:blipFill>
        <p:spPr>
          <a:xfrm>
            <a:off x="1423264" y="3050896"/>
            <a:ext cx="399593" cy="399593"/>
          </a:xfrm>
          <a:prstGeom prst="rect">
            <a:avLst/>
          </a:prstGeom>
        </p:spPr>
      </p:pic>
      <p:sp>
        <p:nvSpPr>
          <p:cNvPr id="8" name="Text 5">
            <a:extLst>
              <a:ext uri="{FF2B5EF4-FFF2-40B4-BE49-F238E27FC236}">
                <a16:creationId xmlns:a16="http://schemas.microsoft.com/office/drawing/2014/main" id="{BB63EE64-1C1D-BBED-DE81-EACD849AD0D2}"/>
              </a:ext>
            </a:extLst>
          </p:cNvPr>
          <p:cNvSpPr/>
          <p:nvPr/>
        </p:nvSpPr>
        <p:spPr>
          <a:xfrm>
            <a:off x="2240280" y="2926080"/>
            <a:ext cx="3474720" cy="457200"/>
          </a:xfrm>
          <a:prstGeom prst="rect">
            <a:avLst/>
          </a:prstGeom>
          <a:noFill/>
          <a:ln/>
        </p:spPr>
        <p:txBody>
          <a:bodyPr wrap="square" lIns="0" tIns="0" rIns="0" bIns="0" rtlCol="0" anchor="ctr"/>
          <a:lstStyle/>
          <a:p>
            <a:pPr marL="0" indent="0">
              <a:buNone/>
            </a:pPr>
            <a:r>
              <a:rPr lang="en-US" sz="2100" b="1" dirty="0">
                <a:solidFill>
                  <a:srgbClr val="13314F"/>
                </a:solidFill>
                <a:latin typeface="Cambria" pitchFamily="34" charset="0"/>
                <a:ea typeface="Cambria" pitchFamily="34" charset="-122"/>
                <a:cs typeface="Cambria" pitchFamily="34" charset="-120"/>
              </a:rPr>
              <a:t>SQL - le langage</a:t>
            </a:r>
            <a:endParaRPr lang="en-US" sz="2100" dirty="0"/>
          </a:p>
        </p:txBody>
      </p:sp>
      <p:sp>
        <p:nvSpPr>
          <p:cNvPr id="9" name="Text 6">
            <a:extLst>
              <a:ext uri="{FF2B5EF4-FFF2-40B4-BE49-F238E27FC236}">
                <a16:creationId xmlns:a16="http://schemas.microsoft.com/office/drawing/2014/main" id="{2264C4E6-CA18-D27A-79DE-C6BFFA8FEA8E}"/>
              </a:ext>
            </a:extLst>
          </p:cNvPr>
          <p:cNvSpPr/>
          <p:nvPr/>
        </p:nvSpPr>
        <p:spPr>
          <a:xfrm>
            <a:off x="1234440" y="3886200"/>
            <a:ext cx="4297680" cy="16459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Une syntaxe pour décrire ce que l'on veut obtenir.</a:t>
            </a:r>
            <a:endParaRPr lang="en-US" sz="1450" dirty="0"/>
          </a:p>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En grande partie standardisée (norme ISO).</a:t>
            </a:r>
            <a:endParaRPr lang="en-US" sz="1450" dirty="0"/>
          </a:p>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Le même savoir-faire se réutilise d'un projet à l'autre.</a:t>
            </a:r>
            <a:endParaRPr lang="en-US" sz="1450" dirty="0"/>
          </a:p>
        </p:txBody>
      </p:sp>
      <p:sp>
        <p:nvSpPr>
          <p:cNvPr id="10" name="Shape 7">
            <a:extLst>
              <a:ext uri="{FF2B5EF4-FFF2-40B4-BE49-F238E27FC236}">
                <a16:creationId xmlns:a16="http://schemas.microsoft.com/office/drawing/2014/main" id="{5B339B3B-481A-2D2C-031B-A3B06B3177E0}"/>
              </a:ext>
            </a:extLst>
          </p:cNvPr>
          <p:cNvSpPr/>
          <p:nvPr/>
        </p:nvSpPr>
        <p:spPr>
          <a:xfrm>
            <a:off x="6327648" y="2468880"/>
            <a:ext cx="5074920" cy="3246120"/>
          </a:xfrm>
          <a:prstGeom prst="roundRect">
            <a:avLst>
              <a:gd name="adj" fmla="val 2817"/>
            </a:avLst>
          </a:prstGeom>
          <a:solidFill>
            <a:srgbClr val="0B1F33"/>
          </a:solidFill>
          <a:ln/>
          <a:effectLst>
            <a:outerShdw blurRad="114300" dist="38100" dir="5400000" algn="bl" rotWithShape="0">
              <a:srgbClr val="0B1F33">
                <a:alpha val="16000"/>
              </a:srgbClr>
            </a:outerShdw>
          </a:effectLst>
        </p:spPr>
      </p:sp>
      <p:sp>
        <p:nvSpPr>
          <p:cNvPr id="11" name="Shape 8">
            <a:extLst>
              <a:ext uri="{FF2B5EF4-FFF2-40B4-BE49-F238E27FC236}">
                <a16:creationId xmlns:a16="http://schemas.microsoft.com/office/drawing/2014/main" id="{4C13C61F-9F56-63BB-38A5-AC3996E907A0}"/>
              </a:ext>
            </a:extLst>
          </p:cNvPr>
          <p:cNvSpPr/>
          <p:nvPr/>
        </p:nvSpPr>
        <p:spPr>
          <a:xfrm>
            <a:off x="6675120" y="2816352"/>
            <a:ext cx="868680" cy="868680"/>
          </a:xfrm>
          <a:prstGeom prst="ellipse">
            <a:avLst/>
          </a:prstGeom>
          <a:solidFill>
            <a:srgbClr val="F59E0B"/>
          </a:solidFill>
          <a:ln/>
          <a:effectLst>
            <a:outerShdw blurRad="114300" dist="38100" dir="5400000" algn="bl" rotWithShape="0">
              <a:srgbClr val="0B1F33">
                <a:alpha val="16000"/>
              </a:srgbClr>
            </a:outerShdw>
          </a:effectLst>
        </p:spPr>
      </p:sp>
      <p:pic>
        <p:nvPicPr>
          <p:cNvPr id="12" name="Image 1" descr="preencoded.png">
            <a:extLst>
              <a:ext uri="{FF2B5EF4-FFF2-40B4-BE49-F238E27FC236}">
                <a16:creationId xmlns:a16="http://schemas.microsoft.com/office/drawing/2014/main" id="{D9082A52-8F8F-C022-E9D1-6F809ECF9D1C}"/>
              </a:ext>
            </a:extLst>
          </p:cNvPr>
          <p:cNvPicPr>
            <a:picLocks noChangeAspect="1"/>
          </p:cNvPicPr>
          <p:nvPr/>
        </p:nvPicPr>
        <p:blipFill>
          <a:blip r:embed="rId4"/>
          <a:stretch>
            <a:fillRect/>
          </a:stretch>
        </p:blipFill>
        <p:spPr>
          <a:xfrm>
            <a:off x="6909664" y="3050896"/>
            <a:ext cx="399593" cy="399593"/>
          </a:xfrm>
          <a:prstGeom prst="rect">
            <a:avLst/>
          </a:prstGeom>
        </p:spPr>
      </p:pic>
      <p:sp>
        <p:nvSpPr>
          <p:cNvPr id="13" name="Text 9">
            <a:extLst>
              <a:ext uri="{FF2B5EF4-FFF2-40B4-BE49-F238E27FC236}">
                <a16:creationId xmlns:a16="http://schemas.microsoft.com/office/drawing/2014/main" id="{1DDDCC81-2CEF-063B-4446-B9AFB11C81ED}"/>
              </a:ext>
            </a:extLst>
          </p:cNvPr>
          <p:cNvSpPr/>
          <p:nvPr/>
        </p:nvSpPr>
        <p:spPr>
          <a:xfrm>
            <a:off x="7726680" y="2926080"/>
            <a:ext cx="3474720" cy="457200"/>
          </a:xfrm>
          <a:prstGeom prst="rect">
            <a:avLst/>
          </a:prstGeom>
          <a:noFill/>
          <a:ln/>
        </p:spPr>
        <p:txBody>
          <a:bodyPr wrap="square" lIns="0" tIns="0" rIns="0" bIns="0" rtlCol="0" anchor="ctr"/>
          <a:lstStyle/>
          <a:p>
            <a:pPr marL="0" indent="0">
              <a:buNone/>
            </a:pPr>
            <a:r>
              <a:rPr lang="en-US" sz="2100" b="1" dirty="0">
                <a:solidFill>
                  <a:srgbClr val="E8EEF4"/>
                </a:solidFill>
                <a:latin typeface="Cambria" pitchFamily="34" charset="0"/>
                <a:ea typeface="Cambria" pitchFamily="34" charset="-122"/>
                <a:cs typeface="Cambria" pitchFamily="34" charset="-120"/>
              </a:rPr>
              <a:t>SGBD - le moteur</a:t>
            </a:r>
            <a:endParaRPr lang="en-US" sz="2100" dirty="0"/>
          </a:p>
        </p:txBody>
      </p:sp>
      <p:sp>
        <p:nvSpPr>
          <p:cNvPr id="14" name="Text 10">
            <a:extLst>
              <a:ext uri="{FF2B5EF4-FFF2-40B4-BE49-F238E27FC236}">
                <a16:creationId xmlns:a16="http://schemas.microsoft.com/office/drawing/2014/main" id="{E04C60F6-3ECA-6E96-FD72-4BEEC54700ED}"/>
              </a:ext>
            </a:extLst>
          </p:cNvPr>
          <p:cNvSpPr/>
          <p:nvPr/>
        </p:nvSpPr>
        <p:spPr>
          <a:xfrm>
            <a:off x="6720840" y="3886200"/>
            <a:ext cx="4297680" cy="16459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Le logiciel qui stocke les données et exécute le SQL.</a:t>
            </a:r>
            <a:endParaRPr lang="en-US" sz="1450" dirty="0"/>
          </a:p>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PostgreSQL, MySQL, SQLite, SQL Server, Oracle…</a:t>
            </a:r>
            <a:endParaRPr lang="en-US" sz="1450" dirty="0"/>
          </a:p>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Chaque moteur ajoute ses propres variantes.</a:t>
            </a:r>
            <a:endParaRPr lang="en-US" sz="1450" dirty="0"/>
          </a:p>
        </p:txBody>
      </p:sp>
      <p:sp>
        <p:nvSpPr>
          <p:cNvPr id="15" name="Text 11">
            <a:extLst>
              <a:ext uri="{FF2B5EF4-FFF2-40B4-BE49-F238E27FC236}">
                <a16:creationId xmlns:a16="http://schemas.microsoft.com/office/drawing/2014/main" id="{8005863F-8D28-8240-764F-6A9EFB307485}"/>
              </a:ext>
            </a:extLst>
          </p:cNvPr>
          <p:cNvSpPr/>
          <p:nvPr/>
        </p:nvSpPr>
        <p:spPr>
          <a:xfrm>
            <a:off x="841248" y="5943600"/>
            <a:ext cx="10424160" cy="457200"/>
          </a:xfrm>
          <a:prstGeom prst="rect">
            <a:avLst/>
          </a:prstGeom>
          <a:noFill/>
          <a:ln/>
        </p:spPr>
        <p:txBody>
          <a:bodyPr wrap="square" lIns="0" tIns="0" rIns="0" bIns="0" rtlCol="0" anchor="ctr"/>
          <a:lstStyle/>
          <a:p>
            <a:pPr marL="0" indent="0">
              <a:buNone/>
            </a:pPr>
            <a:r>
              <a:rPr lang="en-US" sz="1350" b="1" i="1" dirty="0">
                <a:solidFill>
                  <a:srgbClr val="0D8C7E"/>
                </a:solidFill>
                <a:latin typeface="Calibri" pitchFamily="34" charset="0"/>
                <a:ea typeface="Calibri" pitchFamily="34" charset="-122"/>
                <a:cs typeface="Calibri" pitchFamily="34" charset="-120"/>
              </a:rPr>
              <a:t>À retenir :  </a:t>
            </a:r>
            <a:r>
              <a:rPr lang="en-US" sz="1350" i="1" dirty="0">
                <a:solidFill>
                  <a:srgbClr val="5B7184"/>
                </a:solidFill>
                <a:latin typeface="Calibri" pitchFamily="34" charset="0"/>
                <a:ea typeface="Calibri" pitchFamily="34" charset="-122"/>
                <a:cs typeface="Calibri" pitchFamily="34" charset="-120"/>
              </a:rPr>
              <a:t>le langage est commun, les dialectes diffèrent. Précisez toujours quel SGBD vous utilisez.</a:t>
            </a:r>
            <a:endParaRPr lang="en-US" sz="1350" dirty="0"/>
          </a:p>
        </p:txBody>
      </p:sp>
    </p:spTree>
    <p:extLst>
      <p:ext uri="{BB962C8B-B14F-4D97-AF65-F5344CB8AC3E}">
        <p14:creationId xmlns:p14="http://schemas.microsoft.com/office/powerpoint/2010/main" val="3137752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2</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Le modèle relationnel</a:t>
            </a:r>
            <a:endParaRPr lang="en-US" sz="3300" dirty="0"/>
          </a:p>
        </p:txBody>
      </p:sp>
      <p:sp>
        <p:nvSpPr>
          <p:cNvPr id="4" name="Text 2"/>
          <p:cNvSpPr/>
          <p:nvPr/>
        </p:nvSpPr>
        <p:spPr>
          <a:xfrm>
            <a:off x="841248" y="1554480"/>
            <a:ext cx="10424160" cy="457200"/>
          </a:xfrm>
          <a:prstGeom prst="rect">
            <a:avLst/>
          </a:prstGeom>
          <a:noFill/>
          <a:ln/>
        </p:spPr>
        <p:txBody>
          <a:bodyPr wrap="square" lIns="0" tIns="0" rIns="0" bIns="0" rtlCol="0" anchor="ctr"/>
          <a:lstStyle/>
          <a:p>
            <a:pPr marL="0" indent="0">
              <a:buNone/>
            </a:pPr>
            <a:r>
              <a:rPr lang="en-US" sz="1550" dirty="0">
                <a:solidFill>
                  <a:srgbClr val="5B7184"/>
                </a:solidFill>
                <a:latin typeface="Calibri" pitchFamily="34" charset="0"/>
                <a:ea typeface="Calibri" pitchFamily="34" charset="-122"/>
                <a:cs typeface="Calibri" pitchFamily="34" charset="-120"/>
              </a:rPr>
              <a:t>Une base relationnelle est un ensemble de tables. Chaque table décrit un type d'entité.</a:t>
            </a:r>
            <a:endParaRPr lang="en-US" sz="1550" dirty="0"/>
          </a:p>
        </p:txBody>
      </p:sp>
      <p:sp>
        <p:nvSpPr>
          <p:cNvPr id="5" name="Shape 3"/>
          <p:cNvSpPr/>
          <p:nvPr/>
        </p:nvSpPr>
        <p:spPr>
          <a:xfrm>
            <a:off x="868680" y="2331720"/>
            <a:ext cx="566928" cy="566928"/>
          </a:xfrm>
          <a:prstGeom prst="ellipse">
            <a:avLst/>
          </a:prstGeom>
          <a:solidFill>
            <a:srgbClr val="14B8A6"/>
          </a:solidFill>
          <a:ln/>
          <a:effectLst>
            <a:outerShdw blurRad="114300" dist="38100" dir="5400000" algn="bl" rotWithShape="0">
              <a:srgbClr val="0B1F33">
                <a:alpha val="16000"/>
              </a:srgbClr>
            </a:outerShdw>
          </a:effectLst>
        </p:spPr>
      </p:sp>
      <p:pic>
        <p:nvPicPr>
          <p:cNvPr id="6" name="Image 0" descr="preencoded.png"/>
          <p:cNvPicPr>
            <a:picLocks noChangeAspect="1"/>
          </p:cNvPicPr>
          <p:nvPr/>
        </p:nvPicPr>
        <p:blipFill>
          <a:blip r:embed="rId3"/>
          <a:stretch>
            <a:fillRect/>
          </a:stretch>
        </p:blipFill>
        <p:spPr>
          <a:xfrm>
            <a:off x="1021751" y="2484791"/>
            <a:ext cx="260787" cy="260787"/>
          </a:xfrm>
          <a:prstGeom prst="rect">
            <a:avLst/>
          </a:prstGeom>
        </p:spPr>
      </p:pic>
      <p:sp>
        <p:nvSpPr>
          <p:cNvPr id="7" name="Text 4"/>
          <p:cNvSpPr/>
          <p:nvPr/>
        </p:nvSpPr>
        <p:spPr>
          <a:xfrm>
            <a:off x="1600200" y="2313432"/>
            <a:ext cx="3657600" cy="310896"/>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Table</a:t>
            </a:r>
            <a:endParaRPr lang="en-US" sz="1650" dirty="0"/>
          </a:p>
        </p:txBody>
      </p:sp>
      <p:sp>
        <p:nvSpPr>
          <p:cNvPr id="8" name="Text 5"/>
          <p:cNvSpPr/>
          <p:nvPr/>
        </p:nvSpPr>
        <p:spPr>
          <a:xfrm>
            <a:off x="1600200" y="2624328"/>
            <a:ext cx="3977640" cy="365760"/>
          </a:xfrm>
          <a:prstGeom prst="rect">
            <a:avLst/>
          </a:prstGeom>
          <a:noFill/>
          <a:ln/>
        </p:spPr>
        <p:txBody>
          <a:bodyPr wrap="square" lIns="0" tIns="0" rIns="0" bIns="0" rtlCol="0" anchor="ctr"/>
          <a:lstStyle/>
          <a:p>
            <a:pPr marL="0" indent="0">
              <a:buNone/>
            </a:pPr>
            <a:r>
              <a:rPr lang="en-US" sz="1250" dirty="0">
                <a:solidFill>
                  <a:srgbClr val="5B7184"/>
                </a:solidFill>
                <a:latin typeface="Calibri" pitchFamily="34" charset="0"/>
                <a:ea typeface="Calibri" pitchFamily="34" charset="-122"/>
                <a:cs typeface="Calibri" pitchFamily="34" charset="-120"/>
              </a:rPr>
              <a:t>Une relation : un type d'entité (ex. les patients).</a:t>
            </a:r>
            <a:endParaRPr lang="en-US" sz="1250" dirty="0"/>
          </a:p>
        </p:txBody>
      </p:sp>
      <p:sp>
        <p:nvSpPr>
          <p:cNvPr id="9" name="Shape 6"/>
          <p:cNvSpPr/>
          <p:nvPr/>
        </p:nvSpPr>
        <p:spPr>
          <a:xfrm>
            <a:off x="868680" y="3246120"/>
            <a:ext cx="566928" cy="566928"/>
          </a:xfrm>
          <a:prstGeom prst="ellipse">
            <a:avLst/>
          </a:prstGeom>
          <a:solidFill>
            <a:srgbClr val="0B1F33"/>
          </a:solidFill>
          <a:ln/>
          <a:effectLst>
            <a:outerShdw blurRad="114300" dist="38100" dir="5400000" algn="bl" rotWithShape="0">
              <a:srgbClr val="0B1F33">
                <a:alpha val="16000"/>
              </a:srgbClr>
            </a:outerShdw>
          </a:effectLst>
        </p:spPr>
      </p:sp>
      <p:pic>
        <p:nvPicPr>
          <p:cNvPr id="10" name="Image 1" descr="preencoded.png"/>
          <p:cNvPicPr>
            <a:picLocks noChangeAspect="1"/>
          </p:cNvPicPr>
          <p:nvPr/>
        </p:nvPicPr>
        <p:blipFill>
          <a:blip r:embed="rId4"/>
          <a:stretch>
            <a:fillRect/>
          </a:stretch>
        </p:blipFill>
        <p:spPr>
          <a:xfrm>
            <a:off x="1021751" y="3399191"/>
            <a:ext cx="260787" cy="260787"/>
          </a:xfrm>
          <a:prstGeom prst="rect">
            <a:avLst/>
          </a:prstGeom>
        </p:spPr>
      </p:pic>
      <p:sp>
        <p:nvSpPr>
          <p:cNvPr id="11" name="Text 7"/>
          <p:cNvSpPr/>
          <p:nvPr/>
        </p:nvSpPr>
        <p:spPr>
          <a:xfrm>
            <a:off x="1600200" y="3227832"/>
            <a:ext cx="3657600" cy="310896"/>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Ligne</a:t>
            </a:r>
            <a:endParaRPr lang="en-US" sz="1650" dirty="0"/>
          </a:p>
        </p:txBody>
      </p:sp>
      <p:sp>
        <p:nvSpPr>
          <p:cNvPr id="12" name="Text 8"/>
          <p:cNvSpPr/>
          <p:nvPr/>
        </p:nvSpPr>
        <p:spPr>
          <a:xfrm>
            <a:off x="1600200" y="3538728"/>
            <a:ext cx="3977640" cy="365760"/>
          </a:xfrm>
          <a:prstGeom prst="rect">
            <a:avLst/>
          </a:prstGeom>
          <a:noFill/>
          <a:ln/>
        </p:spPr>
        <p:txBody>
          <a:bodyPr wrap="square" lIns="0" tIns="0" rIns="0" bIns="0" rtlCol="0" anchor="ctr"/>
          <a:lstStyle/>
          <a:p>
            <a:pPr marL="0" indent="0">
              <a:buNone/>
            </a:pPr>
            <a:r>
              <a:rPr lang="en-US" sz="1250" dirty="0">
                <a:solidFill>
                  <a:srgbClr val="5B7184"/>
                </a:solidFill>
                <a:latin typeface="Calibri" pitchFamily="34" charset="0"/>
                <a:ea typeface="Calibri" pitchFamily="34" charset="-122"/>
                <a:cs typeface="Calibri" pitchFamily="34" charset="-120"/>
              </a:rPr>
              <a:t>Un enregistrement : une entité concrète.</a:t>
            </a:r>
            <a:endParaRPr lang="en-US" sz="1250" dirty="0"/>
          </a:p>
        </p:txBody>
      </p:sp>
      <p:sp>
        <p:nvSpPr>
          <p:cNvPr id="13" name="Shape 9"/>
          <p:cNvSpPr/>
          <p:nvPr/>
        </p:nvSpPr>
        <p:spPr>
          <a:xfrm>
            <a:off x="868680" y="4160520"/>
            <a:ext cx="566928" cy="566928"/>
          </a:xfrm>
          <a:prstGeom prst="ellipse">
            <a:avLst/>
          </a:prstGeom>
          <a:solidFill>
            <a:srgbClr val="14B8A6"/>
          </a:solidFill>
          <a:ln/>
          <a:effectLst>
            <a:outerShdw blurRad="114300" dist="38100" dir="5400000" algn="bl" rotWithShape="0">
              <a:srgbClr val="0B1F33">
                <a:alpha val="16000"/>
              </a:srgbClr>
            </a:outerShdw>
          </a:effectLst>
        </p:spPr>
      </p:sp>
      <p:pic>
        <p:nvPicPr>
          <p:cNvPr id="14" name="Image 2" descr="preencoded.png"/>
          <p:cNvPicPr>
            <a:picLocks noChangeAspect="1"/>
          </p:cNvPicPr>
          <p:nvPr/>
        </p:nvPicPr>
        <p:blipFill>
          <a:blip r:embed="rId5"/>
          <a:stretch>
            <a:fillRect/>
          </a:stretch>
        </p:blipFill>
        <p:spPr>
          <a:xfrm>
            <a:off x="1021751" y="4313591"/>
            <a:ext cx="260787" cy="260787"/>
          </a:xfrm>
          <a:prstGeom prst="rect">
            <a:avLst/>
          </a:prstGeom>
        </p:spPr>
      </p:pic>
      <p:sp>
        <p:nvSpPr>
          <p:cNvPr id="15" name="Text 10"/>
          <p:cNvSpPr/>
          <p:nvPr/>
        </p:nvSpPr>
        <p:spPr>
          <a:xfrm>
            <a:off x="1600200" y="4142232"/>
            <a:ext cx="3657600" cy="310896"/>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Colonne</a:t>
            </a:r>
            <a:endParaRPr lang="en-US" sz="1650" dirty="0"/>
          </a:p>
        </p:txBody>
      </p:sp>
      <p:sp>
        <p:nvSpPr>
          <p:cNvPr id="16" name="Text 11"/>
          <p:cNvSpPr/>
          <p:nvPr/>
        </p:nvSpPr>
        <p:spPr>
          <a:xfrm>
            <a:off x="1600200" y="4453128"/>
            <a:ext cx="3977640" cy="365760"/>
          </a:xfrm>
          <a:prstGeom prst="rect">
            <a:avLst/>
          </a:prstGeom>
          <a:noFill/>
          <a:ln/>
        </p:spPr>
        <p:txBody>
          <a:bodyPr wrap="square" lIns="0" tIns="0" rIns="0" bIns="0" rtlCol="0" anchor="ctr"/>
          <a:lstStyle/>
          <a:p>
            <a:pPr marL="0" indent="0">
              <a:buNone/>
            </a:pPr>
            <a:r>
              <a:rPr lang="en-US" sz="1250" dirty="0">
                <a:solidFill>
                  <a:srgbClr val="5B7184"/>
                </a:solidFill>
                <a:latin typeface="Calibri" pitchFamily="34" charset="0"/>
                <a:ea typeface="Calibri" pitchFamily="34" charset="-122"/>
                <a:cs typeface="Calibri" pitchFamily="34" charset="-120"/>
              </a:rPr>
              <a:t>Un attribut : une propriété de l'entité.</a:t>
            </a:r>
            <a:endParaRPr lang="en-US" sz="1250" dirty="0"/>
          </a:p>
        </p:txBody>
      </p:sp>
      <p:sp>
        <p:nvSpPr>
          <p:cNvPr id="17" name="Shape 12"/>
          <p:cNvSpPr/>
          <p:nvPr/>
        </p:nvSpPr>
        <p:spPr>
          <a:xfrm>
            <a:off x="868680" y="5074920"/>
            <a:ext cx="566928" cy="566928"/>
          </a:xfrm>
          <a:prstGeom prst="ellipse">
            <a:avLst/>
          </a:prstGeom>
          <a:solidFill>
            <a:srgbClr val="0B1F33"/>
          </a:solidFill>
          <a:ln/>
          <a:effectLst>
            <a:outerShdw blurRad="114300" dist="38100" dir="5400000" algn="bl" rotWithShape="0">
              <a:srgbClr val="0B1F33">
                <a:alpha val="16000"/>
              </a:srgbClr>
            </a:outerShdw>
          </a:effectLst>
        </p:spPr>
      </p:sp>
      <p:pic>
        <p:nvPicPr>
          <p:cNvPr id="18" name="Image 3" descr="preencoded.png"/>
          <p:cNvPicPr>
            <a:picLocks noChangeAspect="1"/>
          </p:cNvPicPr>
          <p:nvPr/>
        </p:nvPicPr>
        <p:blipFill>
          <a:blip r:embed="rId6"/>
          <a:stretch>
            <a:fillRect/>
          </a:stretch>
        </p:blipFill>
        <p:spPr>
          <a:xfrm>
            <a:off x="1021751" y="5227991"/>
            <a:ext cx="260787" cy="260787"/>
          </a:xfrm>
          <a:prstGeom prst="rect">
            <a:avLst/>
          </a:prstGeom>
        </p:spPr>
      </p:pic>
      <p:sp>
        <p:nvSpPr>
          <p:cNvPr id="19" name="Text 13"/>
          <p:cNvSpPr/>
          <p:nvPr/>
        </p:nvSpPr>
        <p:spPr>
          <a:xfrm>
            <a:off x="1600200" y="5056632"/>
            <a:ext cx="3657600" cy="310896"/>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Type</a:t>
            </a:r>
            <a:endParaRPr lang="en-US" sz="1650" dirty="0"/>
          </a:p>
        </p:txBody>
      </p:sp>
      <p:sp>
        <p:nvSpPr>
          <p:cNvPr id="20" name="Text 14"/>
          <p:cNvSpPr/>
          <p:nvPr/>
        </p:nvSpPr>
        <p:spPr>
          <a:xfrm>
            <a:off x="1600200" y="5367528"/>
            <a:ext cx="3977640" cy="365760"/>
          </a:xfrm>
          <a:prstGeom prst="rect">
            <a:avLst/>
          </a:prstGeom>
          <a:noFill/>
          <a:ln/>
        </p:spPr>
        <p:txBody>
          <a:bodyPr wrap="square" lIns="0" tIns="0" rIns="0" bIns="0" rtlCol="0" anchor="ctr"/>
          <a:lstStyle/>
          <a:p>
            <a:pPr marL="0" indent="0">
              <a:buNone/>
            </a:pPr>
            <a:r>
              <a:rPr lang="en-US" sz="1250" dirty="0">
                <a:solidFill>
                  <a:srgbClr val="5B7184"/>
                </a:solidFill>
                <a:latin typeface="Calibri" pitchFamily="34" charset="0"/>
                <a:ea typeface="Calibri" pitchFamily="34" charset="-122"/>
                <a:cs typeface="Calibri" pitchFamily="34" charset="-120"/>
              </a:rPr>
              <a:t>La nature de la donnée : entier, texte, date…</a:t>
            </a:r>
            <a:endParaRPr lang="en-US" sz="1250" dirty="0"/>
          </a:p>
        </p:txBody>
      </p:sp>
      <p:sp>
        <p:nvSpPr>
          <p:cNvPr id="21" name="Shape 15"/>
          <p:cNvSpPr/>
          <p:nvPr/>
        </p:nvSpPr>
        <p:spPr>
          <a:xfrm>
            <a:off x="5897880" y="2423160"/>
            <a:ext cx="914400" cy="530352"/>
          </a:xfrm>
          <a:prstGeom prst="rect">
            <a:avLst/>
          </a:prstGeom>
          <a:solidFill>
            <a:srgbClr val="0B1F33"/>
          </a:solidFill>
          <a:ln/>
        </p:spPr>
      </p:sp>
      <p:sp>
        <p:nvSpPr>
          <p:cNvPr id="22" name="Text 16"/>
          <p:cNvSpPr/>
          <p:nvPr/>
        </p:nvSpPr>
        <p:spPr>
          <a:xfrm>
            <a:off x="5897880" y="2423160"/>
            <a:ext cx="914400" cy="530352"/>
          </a:xfrm>
          <a:prstGeom prst="rect">
            <a:avLst/>
          </a:prstGeom>
          <a:noFill/>
          <a:ln/>
        </p:spPr>
        <p:txBody>
          <a:bodyPr wrap="square" lIns="0" tIns="0" rIns="0" bIns="0" rtlCol="0" anchor="ctr"/>
          <a:lstStyle/>
          <a:p>
            <a:pPr marL="0" indent="0" algn="ctr">
              <a:buNone/>
            </a:pPr>
            <a:r>
              <a:rPr lang="en-US" sz="1250" b="1" dirty="0">
                <a:solidFill>
                  <a:srgbClr val="5EEAD4"/>
                </a:solidFill>
                <a:latin typeface="Calibri" pitchFamily="34" charset="0"/>
                <a:ea typeface="Calibri" pitchFamily="34" charset="-122"/>
                <a:cs typeface="Calibri" pitchFamily="34" charset="-120"/>
              </a:rPr>
              <a:t>id_patient</a:t>
            </a:r>
            <a:endParaRPr lang="en-US" sz="1250" dirty="0"/>
          </a:p>
        </p:txBody>
      </p:sp>
      <p:sp>
        <p:nvSpPr>
          <p:cNvPr id="23" name="Shape 17"/>
          <p:cNvSpPr/>
          <p:nvPr/>
        </p:nvSpPr>
        <p:spPr>
          <a:xfrm>
            <a:off x="6812280" y="2423160"/>
            <a:ext cx="914400" cy="530352"/>
          </a:xfrm>
          <a:prstGeom prst="rect">
            <a:avLst/>
          </a:prstGeom>
          <a:solidFill>
            <a:srgbClr val="0B1F33"/>
          </a:solidFill>
          <a:ln/>
        </p:spPr>
      </p:sp>
      <p:sp>
        <p:nvSpPr>
          <p:cNvPr id="24" name="Text 18"/>
          <p:cNvSpPr/>
          <p:nvPr/>
        </p:nvSpPr>
        <p:spPr>
          <a:xfrm>
            <a:off x="6812280" y="2423160"/>
            <a:ext cx="914400" cy="530352"/>
          </a:xfrm>
          <a:prstGeom prst="rect">
            <a:avLst/>
          </a:prstGeom>
          <a:noFill/>
          <a:ln/>
        </p:spPr>
        <p:txBody>
          <a:bodyPr wrap="square" lIns="0" tIns="0" rIns="0" bIns="0" rtlCol="0" anchor="ctr"/>
          <a:lstStyle/>
          <a:p>
            <a:pPr marL="0" indent="0" algn="ctr">
              <a:buNone/>
            </a:pPr>
            <a:r>
              <a:rPr lang="en-US" sz="1250" b="1" dirty="0">
                <a:solidFill>
                  <a:srgbClr val="5EEAD4"/>
                </a:solidFill>
                <a:latin typeface="Calibri" pitchFamily="34" charset="0"/>
                <a:ea typeface="Calibri" pitchFamily="34" charset="-122"/>
                <a:cs typeface="Calibri" pitchFamily="34" charset="-120"/>
              </a:rPr>
              <a:t>nom</a:t>
            </a:r>
            <a:endParaRPr lang="en-US" sz="1250" dirty="0"/>
          </a:p>
        </p:txBody>
      </p:sp>
      <p:sp>
        <p:nvSpPr>
          <p:cNvPr id="25" name="Shape 19"/>
          <p:cNvSpPr/>
          <p:nvPr/>
        </p:nvSpPr>
        <p:spPr>
          <a:xfrm>
            <a:off x="7726680" y="2423160"/>
            <a:ext cx="1417320" cy="530352"/>
          </a:xfrm>
          <a:prstGeom prst="rect">
            <a:avLst/>
          </a:prstGeom>
          <a:solidFill>
            <a:srgbClr val="0B1F33"/>
          </a:solidFill>
          <a:ln/>
        </p:spPr>
      </p:sp>
      <p:sp>
        <p:nvSpPr>
          <p:cNvPr id="26" name="Text 20"/>
          <p:cNvSpPr/>
          <p:nvPr/>
        </p:nvSpPr>
        <p:spPr>
          <a:xfrm>
            <a:off x="7726680" y="2423160"/>
            <a:ext cx="1417320" cy="530352"/>
          </a:xfrm>
          <a:prstGeom prst="rect">
            <a:avLst/>
          </a:prstGeom>
          <a:noFill/>
          <a:ln/>
        </p:spPr>
        <p:txBody>
          <a:bodyPr wrap="square" lIns="0" tIns="0" rIns="0" bIns="0" rtlCol="0" anchor="ctr"/>
          <a:lstStyle/>
          <a:p>
            <a:pPr marL="0" indent="0" algn="ctr">
              <a:buNone/>
            </a:pPr>
            <a:r>
              <a:rPr lang="en-US" sz="1250" b="1" dirty="0">
                <a:solidFill>
                  <a:srgbClr val="5EEAD4"/>
                </a:solidFill>
                <a:latin typeface="Calibri" pitchFamily="34" charset="0"/>
                <a:ea typeface="Calibri" pitchFamily="34" charset="-122"/>
                <a:cs typeface="Calibri" pitchFamily="34" charset="-120"/>
              </a:rPr>
              <a:t>service</a:t>
            </a:r>
            <a:endParaRPr lang="en-US" sz="1250" dirty="0"/>
          </a:p>
        </p:txBody>
      </p:sp>
      <p:sp>
        <p:nvSpPr>
          <p:cNvPr id="27" name="Shape 21"/>
          <p:cNvSpPr/>
          <p:nvPr/>
        </p:nvSpPr>
        <p:spPr>
          <a:xfrm>
            <a:off x="9144000" y="2423160"/>
            <a:ext cx="1463040" cy="530352"/>
          </a:xfrm>
          <a:prstGeom prst="rect">
            <a:avLst/>
          </a:prstGeom>
          <a:solidFill>
            <a:srgbClr val="0B1F33"/>
          </a:solidFill>
          <a:ln/>
        </p:spPr>
      </p:sp>
      <p:sp>
        <p:nvSpPr>
          <p:cNvPr id="28" name="Text 22"/>
          <p:cNvSpPr/>
          <p:nvPr/>
        </p:nvSpPr>
        <p:spPr>
          <a:xfrm>
            <a:off x="9144000" y="2423160"/>
            <a:ext cx="1463040" cy="530352"/>
          </a:xfrm>
          <a:prstGeom prst="rect">
            <a:avLst/>
          </a:prstGeom>
          <a:noFill/>
          <a:ln/>
        </p:spPr>
        <p:txBody>
          <a:bodyPr wrap="square" lIns="0" tIns="0" rIns="0" bIns="0" rtlCol="0" anchor="ctr"/>
          <a:lstStyle/>
          <a:p>
            <a:pPr marL="0" indent="0" algn="ctr">
              <a:buNone/>
            </a:pPr>
            <a:r>
              <a:rPr lang="en-US" sz="1250" b="1" dirty="0">
                <a:solidFill>
                  <a:srgbClr val="5EEAD4"/>
                </a:solidFill>
                <a:latin typeface="Calibri" pitchFamily="34" charset="0"/>
                <a:ea typeface="Calibri" pitchFamily="34" charset="-122"/>
                <a:cs typeface="Calibri" pitchFamily="34" charset="-120"/>
              </a:rPr>
              <a:t>statut</a:t>
            </a:r>
            <a:endParaRPr lang="en-US" sz="1250" dirty="0"/>
          </a:p>
        </p:txBody>
      </p:sp>
      <p:sp>
        <p:nvSpPr>
          <p:cNvPr id="29" name="Shape 23"/>
          <p:cNvSpPr/>
          <p:nvPr/>
        </p:nvSpPr>
        <p:spPr>
          <a:xfrm>
            <a:off x="5897880" y="2953512"/>
            <a:ext cx="914400" cy="475488"/>
          </a:xfrm>
          <a:prstGeom prst="rect">
            <a:avLst/>
          </a:prstGeom>
          <a:solidFill>
            <a:srgbClr val="FFFFFF"/>
          </a:solidFill>
          <a:ln w="6350">
            <a:solidFill>
              <a:srgbClr val="D5DEE7"/>
            </a:solidFill>
            <a:prstDash val="solid"/>
          </a:ln>
        </p:spPr>
      </p:sp>
      <p:sp>
        <p:nvSpPr>
          <p:cNvPr id="30" name="Text 24"/>
          <p:cNvSpPr/>
          <p:nvPr/>
        </p:nvSpPr>
        <p:spPr>
          <a:xfrm>
            <a:off x="5897880" y="2953512"/>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1</a:t>
            </a:r>
            <a:endParaRPr lang="en-US" sz="1250" dirty="0"/>
          </a:p>
        </p:txBody>
      </p:sp>
      <p:sp>
        <p:nvSpPr>
          <p:cNvPr id="31" name="Shape 25"/>
          <p:cNvSpPr/>
          <p:nvPr/>
        </p:nvSpPr>
        <p:spPr>
          <a:xfrm>
            <a:off x="6812280" y="2953512"/>
            <a:ext cx="914400" cy="475488"/>
          </a:xfrm>
          <a:prstGeom prst="rect">
            <a:avLst/>
          </a:prstGeom>
          <a:solidFill>
            <a:srgbClr val="FFFFFF"/>
          </a:solidFill>
          <a:ln w="6350">
            <a:solidFill>
              <a:srgbClr val="D5DEE7"/>
            </a:solidFill>
            <a:prstDash val="solid"/>
          </a:ln>
        </p:spPr>
      </p:sp>
      <p:sp>
        <p:nvSpPr>
          <p:cNvPr id="32" name="Text 26"/>
          <p:cNvSpPr/>
          <p:nvPr/>
        </p:nvSpPr>
        <p:spPr>
          <a:xfrm>
            <a:off x="6812280" y="2953512"/>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Martin</a:t>
            </a:r>
            <a:endParaRPr lang="en-US" sz="1250" dirty="0"/>
          </a:p>
        </p:txBody>
      </p:sp>
      <p:sp>
        <p:nvSpPr>
          <p:cNvPr id="33" name="Shape 27"/>
          <p:cNvSpPr/>
          <p:nvPr/>
        </p:nvSpPr>
        <p:spPr>
          <a:xfrm>
            <a:off x="7726680" y="2953512"/>
            <a:ext cx="1417320" cy="475488"/>
          </a:xfrm>
          <a:prstGeom prst="rect">
            <a:avLst/>
          </a:prstGeom>
          <a:solidFill>
            <a:srgbClr val="FFFFFF"/>
          </a:solidFill>
          <a:ln w="6350">
            <a:solidFill>
              <a:srgbClr val="D5DEE7"/>
            </a:solidFill>
            <a:prstDash val="solid"/>
          </a:ln>
        </p:spPr>
      </p:sp>
      <p:sp>
        <p:nvSpPr>
          <p:cNvPr id="34" name="Text 28"/>
          <p:cNvSpPr/>
          <p:nvPr/>
        </p:nvSpPr>
        <p:spPr>
          <a:xfrm>
            <a:off x="7726680" y="2953512"/>
            <a:ext cx="141732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Cardiologie</a:t>
            </a:r>
            <a:endParaRPr lang="en-US" sz="1250" dirty="0"/>
          </a:p>
        </p:txBody>
      </p:sp>
      <p:sp>
        <p:nvSpPr>
          <p:cNvPr id="35" name="Shape 29"/>
          <p:cNvSpPr/>
          <p:nvPr/>
        </p:nvSpPr>
        <p:spPr>
          <a:xfrm>
            <a:off x="9144000" y="2953512"/>
            <a:ext cx="1463040" cy="475488"/>
          </a:xfrm>
          <a:prstGeom prst="rect">
            <a:avLst/>
          </a:prstGeom>
          <a:solidFill>
            <a:srgbClr val="FFFFFF"/>
          </a:solidFill>
          <a:ln w="6350">
            <a:solidFill>
              <a:srgbClr val="D5DEE7"/>
            </a:solidFill>
            <a:prstDash val="solid"/>
          </a:ln>
        </p:spPr>
      </p:sp>
      <p:sp>
        <p:nvSpPr>
          <p:cNvPr id="36" name="Text 30"/>
          <p:cNvSpPr/>
          <p:nvPr/>
        </p:nvSpPr>
        <p:spPr>
          <a:xfrm>
            <a:off x="9144000" y="2953512"/>
            <a:ext cx="146304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Hospitalisé</a:t>
            </a:r>
            <a:endParaRPr lang="en-US" sz="1250" dirty="0"/>
          </a:p>
        </p:txBody>
      </p:sp>
      <p:sp>
        <p:nvSpPr>
          <p:cNvPr id="37" name="Shape 31"/>
          <p:cNvSpPr/>
          <p:nvPr/>
        </p:nvSpPr>
        <p:spPr>
          <a:xfrm>
            <a:off x="5897880" y="3429000"/>
            <a:ext cx="914400" cy="475488"/>
          </a:xfrm>
          <a:prstGeom prst="rect">
            <a:avLst/>
          </a:prstGeom>
          <a:solidFill>
            <a:srgbClr val="EAF1F7"/>
          </a:solidFill>
          <a:ln w="6350">
            <a:solidFill>
              <a:srgbClr val="D5DEE7"/>
            </a:solidFill>
            <a:prstDash val="solid"/>
          </a:ln>
        </p:spPr>
      </p:sp>
      <p:sp>
        <p:nvSpPr>
          <p:cNvPr id="38" name="Text 32"/>
          <p:cNvSpPr/>
          <p:nvPr/>
        </p:nvSpPr>
        <p:spPr>
          <a:xfrm>
            <a:off x="5897880" y="3429000"/>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2</a:t>
            </a:r>
            <a:endParaRPr lang="en-US" sz="1250" dirty="0"/>
          </a:p>
        </p:txBody>
      </p:sp>
      <p:sp>
        <p:nvSpPr>
          <p:cNvPr id="39" name="Shape 33"/>
          <p:cNvSpPr/>
          <p:nvPr/>
        </p:nvSpPr>
        <p:spPr>
          <a:xfrm>
            <a:off x="6812280" y="3429000"/>
            <a:ext cx="914400" cy="475488"/>
          </a:xfrm>
          <a:prstGeom prst="rect">
            <a:avLst/>
          </a:prstGeom>
          <a:solidFill>
            <a:srgbClr val="EAF1F7"/>
          </a:solidFill>
          <a:ln w="6350">
            <a:solidFill>
              <a:srgbClr val="D5DEE7"/>
            </a:solidFill>
            <a:prstDash val="solid"/>
          </a:ln>
        </p:spPr>
      </p:sp>
      <p:sp>
        <p:nvSpPr>
          <p:cNvPr id="40" name="Text 34"/>
          <p:cNvSpPr/>
          <p:nvPr/>
        </p:nvSpPr>
        <p:spPr>
          <a:xfrm>
            <a:off x="6812280" y="3429000"/>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Dubois</a:t>
            </a:r>
            <a:endParaRPr lang="en-US" sz="1250" dirty="0"/>
          </a:p>
        </p:txBody>
      </p:sp>
      <p:sp>
        <p:nvSpPr>
          <p:cNvPr id="41" name="Shape 35"/>
          <p:cNvSpPr/>
          <p:nvPr/>
        </p:nvSpPr>
        <p:spPr>
          <a:xfrm>
            <a:off x="7726680" y="3429000"/>
            <a:ext cx="1417320" cy="475488"/>
          </a:xfrm>
          <a:prstGeom prst="rect">
            <a:avLst/>
          </a:prstGeom>
          <a:solidFill>
            <a:srgbClr val="EAF1F7"/>
          </a:solidFill>
          <a:ln w="6350">
            <a:solidFill>
              <a:srgbClr val="D5DEE7"/>
            </a:solidFill>
            <a:prstDash val="solid"/>
          </a:ln>
        </p:spPr>
      </p:sp>
      <p:sp>
        <p:nvSpPr>
          <p:cNvPr id="42" name="Text 36"/>
          <p:cNvSpPr/>
          <p:nvPr/>
        </p:nvSpPr>
        <p:spPr>
          <a:xfrm>
            <a:off x="7726680" y="3429000"/>
            <a:ext cx="141732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Neurologie</a:t>
            </a:r>
            <a:endParaRPr lang="en-US" sz="1250" dirty="0"/>
          </a:p>
        </p:txBody>
      </p:sp>
      <p:sp>
        <p:nvSpPr>
          <p:cNvPr id="43" name="Shape 37"/>
          <p:cNvSpPr/>
          <p:nvPr/>
        </p:nvSpPr>
        <p:spPr>
          <a:xfrm>
            <a:off x="9144000" y="3429000"/>
            <a:ext cx="1463040" cy="475488"/>
          </a:xfrm>
          <a:prstGeom prst="rect">
            <a:avLst/>
          </a:prstGeom>
          <a:solidFill>
            <a:srgbClr val="EAF1F7"/>
          </a:solidFill>
          <a:ln w="6350">
            <a:solidFill>
              <a:srgbClr val="D5DEE7"/>
            </a:solidFill>
            <a:prstDash val="solid"/>
          </a:ln>
        </p:spPr>
      </p:sp>
      <p:sp>
        <p:nvSpPr>
          <p:cNvPr id="44" name="Text 38"/>
          <p:cNvSpPr/>
          <p:nvPr/>
        </p:nvSpPr>
        <p:spPr>
          <a:xfrm>
            <a:off x="9144000" y="3429000"/>
            <a:ext cx="146304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Hospitalisé</a:t>
            </a:r>
            <a:endParaRPr lang="en-US" sz="1250" dirty="0"/>
          </a:p>
        </p:txBody>
      </p:sp>
      <p:sp>
        <p:nvSpPr>
          <p:cNvPr id="45" name="Shape 39"/>
          <p:cNvSpPr/>
          <p:nvPr/>
        </p:nvSpPr>
        <p:spPr>
          <a:xfrm>
            <a:off x="5897880" y="3904488"/>
            <a:ext cx="914400" cy="475488"/>
          </a:xfrm>
          <a:prstGeom prst="rect">
            <a:avLst/>
          </a:prstGeom>
          <a:solidFill>
            <a:srgbClr val="FFFFFF"/>
          </a:solidFill>
          <a:ln w="6350">
            <a:solidFill>
              <a:srgbClr val="D5DEE7"/>
            </a:solidFill>
            <a:prstDash val="solid"/>
          </a:ln>
        </p:spPr>
      </p:sp>
      <p:sp>
        <p:nvSpPr>
          <p:cNvPr id="46" name="Text 40"/>
          <p:cNvSpPr/>
          <p:nvPr/>
        </p:nvSpPr>
        <p:spPr>
          <a:xfrm>
            <a:off x="5897880" y="3904488"/>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3</a:t>
            </a:r>
            <a:endParaRPr lang="en-US" sz="1250" dirty="0"/>
          </a:p>
        </p:txBody>
      </p:sp>
      <p:sp>
        <p:nvSpPr>
          <p:cNvPr id="47" name="Shape 41"/>
          <p:cNvSpPr/>
          <p:nvPr/>
        </p:nvSpPr>
        <p:spPr>
          <a:xfrm>
            <a:off x="6812280" y="3904488"/>
            <a:ext cx="914400" cy="475488"/>
          </a:xfrm>
          <a:prstGeom prst="rect">
            <a:avLst/>
          </a:prstGeom>
          <a:solidFill>
            <a:srgbClr val="FFFFFF"/>
          </a:solidFill>
          <a:ln w="6350">
            <a:solidFill>
              <a:srgbClr val="D5DEE7"/>
            </a:solidFill>
            <a:prstDash val="solid"/>
          </a:ln>
        </p:spPr>
      </p:sp>
      <p:sp>
        <p:nvSpPr>
          <p:cNvPr id="48" name="Text 42"/>
          <p:cNvSpPr/>
          <p:nvPr/>
        </p:nvSpPr>
        <p:spPr>
          <a:xfrm>
            <a:off x="6812280" y="3904488"/>
            <a:ext cx="91440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Leroy</a:t>
            </a:r>
            <a:endParaRPr lang="en-US" sz="1250" dirty="0"/>
          </a:p>
        </p:txBody>
      </p:sp>
      <p:sp>
        <p:nvSpPr>
          <p:cNvPr id="49" name="Shape 43"/>
          <p:cNvSpPr/>
          <p:nvPr/>
        </p:nvSpPr>
        <p:spPr>
          <a:xfrm>
            <a:off x="7726680" y="3904488"/>
            <a:ext cx="1417320" cy="475488"/>
          </a:xfrm>
          <a:prstGeom prst="rect">
            <a:avLst/>
          </a:prstGeom>
          <a:solidFill>
            <a:srgbClr val="FFFFFF"/>
          </a:solidFill>
          <a:ln w="6350">
            <a:solidFill>
              <a:srgbClr val="D5DEE7"/>
            </a:solidFill>
            <a:prstDash val="solid"/>
          </a:ln>
        </p:spPr>
      </p:sp>
      <p:sp>
        <p:nvSpPr>
          <p:cNvPr id="50" name="Text 44"/>
          <p:cNvSpPr/>
          <p:nvPr/>
        </p:nvSpPr>
        <p:spPr>
          <a:xfrm>
            <a:off x="7726680" y="3904488"/>
            <a:ext cx="141732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Cardiologie</a:t>
            </a:r>
            <a:endParaRPr lang="en-US" sz="1250" dirty="0"/>
          </a:p>
        </p:txBody>
      </p:sp>
      <p:sp>
        <p:nvSpPr>
          <p:cNvPr id="51" name="Shape 45"/>
          <p:cNvSpPr/>
          <p:nvPr/>
        </p:nvSpPr>
        <p:spPr>
          <a:xfrm>
            <a:off x="9144000" y="3904488"/>
            <a:ext cx="1463040" cy="475488"/>
          </a:xfrm>
          <a:prstGeom prst="rect">
            <a:avLst/>
          </a:prstGeom>
          <a:solidFill>
            <a:srgbClr val="FFFFFF"/>
          </a:solidFill>
          <a:ln w="6350">
            <a:solidFill>
              <a:srgbClr val="D5DEE7"/>
            </a:solidFill>
            <a:prstDash val="solid"/>
          </a:ln>
        </p:spPr>
      </p:sp>
      <p:sp>
        <p:nvSpPr>
          <p:cNvPr id="52" name="Text 46"/>
          <p:cNvSpPr/>
          <p:nvPr/>
        </p:nvSpPr>
        <p:spPr>
          <a:xfrm>
            <a:off x="9144000" y="3904488"/>
            <a:ext cx="1463040" cy="475488"/>
          </a:xfrm>
          <a:prstGeom prst="rect">
            <a:avLst/>
          </a:prstGeom>
          <a:noFill/>
          <a:ln/>
        </p:spPr>
        <p:txBody>
          <a:bodyPr wrap="square" lIns="0" tIns="0" rIns="0" bIns="0" rtlCol="0" anchor="ctr"/>
          <a:lstStyle/>
          <a:p>
            <a:pPr marL="0" indent="0" algn="ctr">
              <a:buNone/>
            </a:pPr>
            <a:r>
              <a:rPr lang="en-US" sz="1250" dirty="0">
                <a:solidFill>
                  <a:srgbClr val="13314F"/>
                </a:solidFill>
                <a:latin typeface="Calibri" pitchFamily="34" charset="0"/>
                <a:ea typeface="Calibri" pitchFamily="34" charset="-122"/>
                <a:cs typeface="Calibri" pitchFamily="34" charset="-120"/>
              </a:rPr>
              <a:t>Ambulatoire</a:t>
            </a:r>
            <a:endParaRPr lang="en-US" sz="1250" dirty="0"/>
          </a:p>
        </p:txBody>
      </p:sp>
      <p:sp>
        <p:nvSpPr>
          <p:cNvPr id="53" name="Text 47"/>
          <p:cNvSpPr/>
          <p:nvPr/>
        </p:nvSpPr>
        <p:spPr>
          <a:xfrm>
            <a:off x="5897880" y="2039112"/>
            <a:ext cx="4709160" cy="320040"/>
          </a:xfrm>
          <a:prstGeom prst="rect">
            <a:avLst/>
          </a:prstGeom>
          <a:noFill/>
          <a:ln/>
        </p:spPr>
        <p:txBody>
          <a:bodyPr wrap="square" lIns="0" tIns="0" rIns="0" bIns="0" rtlCol="0" anchor="ctr"/>
          <a:lstStyle/>
          <a:p>
            <a:pPr marL="0" indent="0">
              <a:buNone/>
            </a:pPr>
            <a:r>
              <a:rPr lang="en-US" sz="1300" b="1" dirty="0">
                <a:solidFill>
                  <a:srgbClr val="0D8C7E"/>
                </a:solidFill>
                <a:latin typeface="Calibri" pitchFamily="34" charset="0"/>
                <a:ea typeface="Calibri" pitchFamily="34" charset="-122"/>
                <a:cs typeface="Calibri" pitchFamily="34" charset="-120"/>
              </a:rPr>
              <a:t>Table  patients</a:t>
            </a:r>
            <a:endParaRPr lang="en-US" sz="1300" dirty="0"/>
          </a:p>
        </p:txBody>
      </p:sp>
      <p:sp>
        <p:nvSpPr>
          <p:cNvPr id="54" name="Shape 48"/>
          <p:cNvSpPr/>
          <p:nvPr/>
        </p:nvSpPr>
        <p:spPr>
          <a:xfrm>
            <a:off x="7269480" y="4489704"/>
            <a:ext cx="0" cy="292608"/>
          </a:xfrm>
          <a:prstGeom prst="line">
            <a:avLst/>
          </a:prstGeom>
          <a:noFill/>
          <a:ln w="19050">
            <a:solidFill>
              <a:srgbClr val="F59E0B"/>
            </a:solidFill>
            <a:prstDash val="solid"/>
            <a:headEnd type="triangle"/>
            <a:tailEnd type="triangle"/>
          </a:ln>
        </p:spPr>
      </p:sp>
      <p:sp>
        <p:nvSpPr>
          <p:cNvPr id="55" name="Text 49"/>
          <p:cNvSpPr/>
          <p:nvPr/>
        </p:nvSpPr>
        <p:spPr>
          <a:xfrm>
            <a:off x="6263640" y="4800600"/>
            <a:ext cx="3657600" cy="274320"/>
          </a:xfrm>
          <a:prstGeom prst="rect">
            <a:avLst/>
          </a:prstGeom>
          <a:noFill/>
          <a:ln/>
        </p:spPr>
        <p:txBody>
          <a:bodyPr wrap="square" lIns="0" tIns="0" rIns="0" bIns="0" rtlCol="0" anchor="ctr"/>
          <a:lstStyle/>
          <a:p>
            <a:pPr marL="0" indent="0">
              <a:buNone/>
            </a:pPr>
            <a:r>
              <a:rPr lang="en-US" sz="1150" i="1" dirty="0">
                <a:solidFill>
                  <a:srgbClr val="5B7184"/>
                </a:solidFill>
                <a:latin typeface="Calibri" pitchFamily="34" charset="0"/>
                <a:ea typeface="Calibri" pitchFamily="34" charset="-122"/>
                <a:cs typeface="Calibri" pitchFamily="34" charset="-120"/>
              </a:rPr>
              <a:t>une colonne = un attribut</a:t>
            </a:r>
            <a:endParaRPr lang="en-US" sz="1150" dirty="0"/>
          </a:p>
        </p:txBody>
      </p:sp>
      <p:sp>
        <p:nvSpPr>
          <p:cNvPr id="56" name="Shape 50"/>
          <p:cNvSpPr/>
          <p:nvPr/>
        </p:nvSpPr>
        <p:spPr>
          <a:xfrm>
            <a:off x="10652760" y="3191256"/>
            <a:ext cx="320040" cy="0"/>
          </a:xfrm>
          <a:prstGeom prst="line">
            <a:avLst/>
          </a:prstGeom>
          <a:noFill/>
          <a:ln w="19050">
            <a:solidFill>
              <a:srgbClr val="F59E0B"/>
            </a:solidFill>
            <a:prstDash val="solid"/>
            <a:headEnd type="triangle"/>
          </a:ln>
        </p:spPr>
      </p:sp>
      <p:sp>
        <p:nvSpPr>
          <p:cNvPr id="57" name="Text 51"/>
          <p:cNvSpPr/>
          <p:nvPr/>
        </p:nvSpPr>
        <p:spPr>
          <a:xfrm>
            <a:off x="11018520" y="2907792"/>
            <a:ext cx="1143000" cy="640080"/>
          </a:xfrm>
          <a:prstGeom prst="rect">
            <a:avLst/>
          </a:prstGeom>
          <a:noFill/>
          <a:ln/>
        </p:spPr>
        <p:txBody>
          <a:bodyPr wrap="square" lIns="0" tIns="0" rIns="0" bIns="0" rtlCol="0" anchor="ctr"/>
          <a:lstStyle/>
          <a:p>
            <a:pPr marL="0" indent="0">
              <a:buNone/>
            </a:pPr>
            <a:r>
              <a:rPr lang="en-US" sz="1050" i="1" dirty="0">
                <a:solidFill>
                  <a:srgbClr val="5B7184"/>
                </a:solidFill>
                <a:latin typeface="Calibri" pitchFamily="34" charset="0"/>
                <a:ea typeface="Calibri" pitchFamily="34" charset="-122"/>
                <a:cs typeface="Calibri" pitchFamily="34" charset="-120"/>
              </a:rPr>
              <a:t>une ligne =</a:t>
            </a:r>
            <a:endParaRPr lang="en-US" sz="1050" dirty="0"/>
          </a:p>
          <a:p>
            <a:pPr marL="0" indent="0">
              <a:buNone/>
            </a:pPr>
            <a:r>
              <a:rPr lang="en-US" sz="1050" i="1" dirty="0">
                <a:solidFill>
                  <a:srgbClr val="5B7184"/>
                </a:solidFill>
                <a:latin typeface="Calibri" pitchFamily="34" charset="0"/>
                <a:ea typeface="Calibri" pitchFamily="34" charset="-122"/>
                <a:cs typeface="Calibri" pitchFamily="34" charset="-120"/>
              </a:rPr>
              <a:t>un enregistrement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3</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Les clés : le cœur du « relationnel »</a:t>
            </a:r>
            <a:endParaRPr lang="en-US" sz="3300" dirty="0"/>
          </a:p>
        </p:txBody>
      </p:sp>
      <p:sp>
        <p:nvSpPr>
          <p:cNvPr id="4" name="Text 2"/>
          <p:cNvSpPr/>
          <p:nvPr/>
        </p:nvSpPr>
        <p:spPr>
          <a:xfrm>
            <a:off x="841248" y="1554480"/>
            <a:ext cx="10424160" cy="457200"/>
          </a:xfrm>
          <a:prstGeom prst="rect">
            <a:avLst/>
          </a:prstGeom>
          <a:noFill/>
          <a:ln/>
        </p:spPr>
        <p:txBody>
          <a:bodyPr wrap="square" lIns="0" tIns="0" rIns="0" bIns="0" rtlCol="0" anchor="ctr"/>
          <a:lstStyle/>
          <a:p>
            <a:pPr marL="0" indent="0">
              <a:buNone/>
            </a:pPr>
            <a:r>
              <a:rPr lang="en-US" sz="1550" dirty="0">
                <a:solidFill>
                  <a:srgbClr val="5B7184"/>
                </a:solidFill>
                <a:latin typeface="Calibri" pitchFamily="34" charset="0"/>
                <a:ea typeface="Calibri" pitchFamily="34" charset="-122"/>
                <a:cs typeface="Calibri" pitchFamily="34" charset="-120"/>
              </a:rPr>
              <a:t>Les clés identifient les lignes et tissent les liens entre les tables.</a:t>
            </a:r>
            <a:endParaRPr lang="en-US" sz="1550" dirty="0"/>
          </a:p>
        </p:txBody>
      </p:sp>
      <p:sp>
        <p:nvSpPr>
          <p:cNvPr id="5" name="Shape 3"/>
          <p:cNvSpPr/>
          <p:nvPr/>
        </p:nvSpPr>
        <p:spPr>
          <a:xfrm>
            <a:off x="841248" y="2423160"/>
            <a:ext cx="5074920" cy="3154680"/>
          </a:xfrm>
          <a:prstGeom prst="roundRect">
            <a:avLst>
              <a:gd name="adj" fmla="val 2899"/>
            </a:avLst>
          </a:prstGeom>
          <a:solidFill>
            <a:srgbClr val="FFFFFF"/>
          </a:solidFill>
          <a:ln/>
          <a:effectLst>
            <a:outerShdw blurRad="114300" dist="38100" dir="5400000" algn="bl" rotWithShape="0">
              <a:srgbClr val="0B1F33">
                <a:alpha val="16000"/>
              </a:srgbClr>
            </a:outerShdw>
          </a:effectLst>
        </p:spPr>
      </p:sp>
      <p:sp>
        <p:nvSpPr>
          <p:cNvPr id="6" name="Shape 4"/>
          <p:cNvSpPr/>
          <p:nvPr/>
        </p:nvSpPr>
        <p:spPr>
          <a:xfrm>
            <a:off x="1188720" y="2788920"/>
            <a:ext cx="868680" cy="868680"/>
          </a:xfrm>
          <a:prstGeom prst="ellipse">
            <a:avLst/>
          </a:prstGeom>
          <a:solidFill>
            <a:srgbClr val="F59E0B"/>
          </a:solidFill>
          <a:ln/>
          <a:effectLst>
            <a:outerShdw blurRad="114300" dist="38100" dir="5400000" algn="bl" rotWithShape="0">
              <a:srgbClr val="0B1F33">
                <a:alpha val="16000"/>
              </a:srgbClr>
            </a:outerShdw>
          </a:effectLst>
        </p:spPr>
      </p:sp>
      <p:pic>
        <p:nvPicPr>
          <p:cNvPr id="7" name="Image 0" descr="preencoded.png"/>
          <p:cNvPicPr>
            <a:picLocks noChangeAspect="1"/>
          </p:cNvPicPr>
          <p:nvPr/>
        </p:nvPicPr>
        <p:blipFill>
          <a:blip r:embed="rId3"/>
          <a:stretch>
            <a:fillRect/>
          </a:stretch>
        </p:blipFill>
        <p:spPr>
          <a:xfrm>
            <a:off x="1423264" y="3023464"/>
            <a:ext cx="399593" cy="399593"/>
          </a:xfrm>
          <a:prstGeom prst="rect">
            <a:avLst/>
          </a:prstGeom>
        </p:spPr>
      </p:pic>
      <p:sp>
        <p:nvSpPr>
          <p:cNvPr id="8" name="Text 5"/>
          <p:cNvSpPr/>
          <p:nvPr/>
        </p:nvSpPr>
        <p:spPr>
          <a:xfrm>
            <a:off x="2240280" y="2926080"/>
            <a:ext cx="3474720" cy="411480"/>
          </a:xfrm>
          <a:prstGeom prst="rect">
            <a:avLst/>
          </a:prstGeom>
          <a:noFill/>
          <a:ln/>
        </p:spPr>
        <p:txBody>
          <a:bodyPr wrap="square" lIns="0" tIns="0" rIns="0" bIns="0" rtlCol="0" anchor="ctr"/>
          <a:lstStyle/>
          <a:p>
            <a:pPr marL="0" indent="0">
              <a:buNone/>
            </a:pPr>
            <a:r>
              <a:rPr lang="en-US" sz="2100" b="1" dirty="0">
                <a:solidFill>
                  <a:srgbClr val="13314F"/>
                </a:solidFill>
                <a:latin typeface="Cambria" pitchFamily="34" charset="0"/>
                <a:ea typeface="Cambria" pitchFamily="34" charset="-122"/>
                <a:cs typeface="Cambria" pitchFamily="34" charset="-120"/>
              </a:rPr>
              <a:t>Clé primaire</a:t>
            </a:r>
            <a:endParaRPr lang="en-US" sz="2100" dirty="0"/>
          </a:p>
        </p:txBody>
      </p:sp>
      <p:sp>
        <p:nvSpPr>
          <p:cNvPr id="9" name="Text 6"/>
          <p:cNvSpPr/>
          <p:nvPr/>
        </p:nvSpPr>
        <p:spPr>
          <a:xfrm>
            <a:off x="2240280" y="3383280"/>
            <a:ext cx="3474720" cy="274320"/>
          </a:xfrm>
          <a:prstGeom prst="rect">
            <a:avLst/>
          </a:prstGeom>
          <a:noFill/>
          <a:ln/>
        </p:spPr>
        <p:txBody>
          <a:bodyPr wrap="square" lIns="0" tIns="0" rIns="0" bIns="0" rtlCol="0" anchor="ctr"/>
          <a:lstStyle/>
          <a:p>
            <a:pPr marL="0" indent="0">
              <a:buNone/>
            </a:pPr>
            <a:r>
              <a:rPr lang="en-US" sz="1150" b="1" kern="0" spc="200" dirty="0">
                <a:solidFill>
                  <a:srgbClr val="F59E0B"/>
                </a:solidFill>
                <a:latin typeface="Calibri" pitchFamily="34" charset="0"/>
                <a:ea typeface="Calibri" pitchFamily="34" charset="-122"/>
                <a:cs typeface="Calibri" pitchFamily="34" charset="-120"/>
              </a:rPr>
              <a:t>PRIMARY KEY</a:t>
            </a:r>
            <a:endParaRPr lang="en-US" sz="1150" dirty="0"/>
          </a:p>
        </p:txBody>
      </p:sp>
      <p:sp>
        <p:nvSpPr>
          <p:cNvPr id="10" name="Text 7"/>
          <p:cNvSpPr/>
          <p:nvPr/>
        </p:nvSpPr>
        <p:spPr>
          <a:xfrm>
            <a:off x="1234440" y="3886200"/>
            <a:ext cx="4297680" cy="146304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Identifie chaque ligne de façon unique.</a:t>
            </a:r>
            <a:endParaRPr lang="en-US" sz="1450" dirty="0"/>
          </a:p>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Jamais vide, jamais dupliquée.</a:t>
            </a:r>
            <a:endParaRPr lang="en-US" sz="1450" dirty="0"/>
          </a:p>
          <a:p>
            <a:pPr marL="342900" indent="-342900">
              <a:lnSpc>
                <a:spcPct val="105000"/>
              </a:lnSpc>
              <a:spcAft>
                <a:spcPts val="900"/>
              </a:spcAft>
              <a:buSzPct val="100000"/>
              <a:buChar char="•"/>
            </a:pPr>
            <a:r>
              <a:rPr lang="en-US" sz="1450" dirty="0">
                <a:solidFill>
                  <a:srgbClr val="13314F"/>
                </a:solidFill>
                <a:latin typeface="Calibri" pitchFamily="34" charset="0"/>
                <a:ea typeface="Calibri" pitchFamily="34" charset="-122"/>
                <a:cs typeface="Calibri" pitchFamily="34" charset="-120"/>
              </a:rPr>
              <a:t>Souvent un identifiant numérique (id).</a:t>
            </a:r>
            <a:endParaRPr lang="en-US" sz="1450" dirty="0"/>
          </a:p>
        </p:txBody>
      </p:sp>
      <p:sp>
        <p:nvSpPr>
          <p:cNvPr id="11" name="Shape 8"/>
          <p:cNvSpPr/>
          <p:nvPr/>
        </p:nvSpPr>
        <p:spPr>
          <a:xfrm>
            <a:off x="6327648" y="2423160"/>
            <a:ext cx="5074920" cy="3154680"/>
          </a:xfrm>
          <a:prstGeom prst="roundRect">
            <a:avLst>
              <a:gd name="adj" fmla="val 2899"/>
            </a:avLst>
          </a:prstGeom>
          <a:solidFill>
            <a:srgbClr val="0B1F33"/>
          </a:solidFill>
          <a:ln/>
          <a:effectLst>
            <a:outerShdw blurRad="114300" dist="38100" dir="5400000" algn="bl" rotWithShape="0">
              <a:srgbClr val="0B1F33">
                <a:alpha val="16000"/>
              </a:srgbClr>
            </a:outerShdw>
          </a:effectLst>
        </p:spPr>
      </p:sp>
      <p:sp>
        <p:nvSpPr>
          <p:cNvPr id="12" name="Shape 9"/>
          <p:cNvSpPr/>
          <p:nvPr/>
        </p:nvSpPr>
        <p:spPr>
          <a:xfrm>
            <a:off x="6693408" y="2788920"/>
            <a:ext cx="868680" cy="868680"/>
          </a:xfrm>
          <a:prstGeom prst="ellipse">
            <a:avLst/>
          </a:prstGeom>
          <a:solidFill>
            <a:srgbClr val="14B8A6"/>
          </a:solidFill>
          <a:ln/>
          <a:effectLst>
            <a:outerShdw blurRad="114300" dist="38100" dir="5400000" algn="bl" rotWithShape="0">
              <a:srgbClr val="0B1F33">
                <a:alpha val="16000"/>
              </a:srgbClr>
            </a:outerShdw>
          </a:effectLst>
        </p:spPr>
      </p:sp>
      <p:pic>
        <p:nvPicPr>
          <p:cNvPr id="13" name="Image 1" descr="preencoded.png"/>
          <p:cNvPicPr>
            <a:picLocks noChangeAspect="1"/>
          </p:cNvPicPr>
          <p:nvPr/>
        </p:nvPicPr>
        <p:blipFill>
          <a:blip r:embed="rId4"/>
          <a:stretch>
            <a:fillRect/>
          </a:stretch>
        </p:blipFill>
        <p:spPr>
          <a:xfrm>
            <a:off x="6927952" y="3023464"/>
            <a:ext cx="399593" cy="399593"/>
          </a:xfrm>
          <a:prstGeom prst="rect">
            <a:avLst/>
          </a:prstGeom>
        </p:spPr>
      </p:pic>
      <p:sp>
        <p:nvSpPr>
          <p:cNvPr id="14" name="Text 10"/>
          <p:cNvSpPr/>
          <p:nvPr/>
        </p:nvSpPr>
        <p:spPr>
          <a:xfrm>
            <a:off x="7744968" y="2926080"/>
            <a:ext cx="3474720" cy="411480"/>
          </a:xfrm>
          <a:prstGeom prst="rect">
            <a:avLst/>
          </a:prstGeom>
          <a:noFill/>
          <a:ln/>
        </p:spPr>
        <p:txBody>
          <a:bodyPr wrap="square" lIns="0" tIns="0" rIns="0" bIns="0" rtlCol="0" anchor="ctr"/>
          <a:lstStyle/>
          <a:p>
            <a:pPr marL="0" indent="0">
              <a:buNone/>
            </a:pPr>
            <a:r>
              <a:rPr lang="en-US" sz="2100" b="1" dirty="0">
                <a:solidFill>
                  <a:srgbClr val="E8EEF4"/>
                </a:solidFill>
                <a:latin typeface="Cambria" pitchFamily="34" charset="0"/>
                <a:ea typeface="Cambria" pitchFamily="34" charset="-122"/>
                <a:cs typeface="Cambria" pitchFamily="34" charset="-120"/>
              </a:rPr>
              <a:t>Clé étrangère</a:t>
            </a:r>
            <a:endParaRPr lang="en-US" sz="2100" dirty="0"/>
          </a:p>
        </p:txBody>
      </p:sp>
      <p:sp>
        <p:nvSpPr>
          <p:cNvPr id="15" name="Text 11"/>
          <p:cNvSpPr/>
          <p:nvPr/>
        </p:nvSpPr>
        <p:spPr>
          <a:xfrm>
            <a:off x="7744968" y="3383280"/>
            <a:ext cx="3474720" cy="274320"/>
          </a:xfrm>
          <a:prstGeom prst="rect">
            <a:avLst/>
          </a:prstGeom>
          <a:noFill/>
          <a:ln/>
        </p:spPr>
        <p:txBody>
          <a:bodyPr wrap="square" lIns="0" tIns="0" rIns="0" bIns="0" rtlCol="0" anchor="ctr"/>
          <a:lstStyle/>
          <a:p>
            <a:pPr marL="0" indent="0">
              <a:buNone/>
            </a:pPr>
            <a:r>
              <a:rPr lang="en-US" sz="1150" b="1" kern="0" spc="200" dirty="0">
                <a:solidFill>
                  <a:srgbClr val="5EEAD4"/>
                </a:solidFill>
                <a:latin typeface="Calibri" pitchFamily="34" charset="0"/>
                <a:ea typeface="Calibri" pitchFamily="34" charset="-122"/>
                <a:cs typeface="Calibri" pitchFamily="34" charset="-120"/>
              </a:rPr>
              <a:t>FOREIGN KEY</a:t>
            </a:r>
            <a:endParaRPr lang="en-US" sz="1150" dirty="0"/>
          </a:p>
        </p:txBody>
      </p:sp>
      <p:sp>
        <p:nvSpPr>
          <p:cNvPr id="16" name="Text 12"/>
          <p:cNvSpPr/>
          <p:nvPr/>
        </p:nvSpPr>
        <p:spPr>
          <a:xfrm>
            <a:off x="6739128" y="3886200"/>
            <a:ext cx="4297680" cy="146304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Pointe vers la clé primaire d'une autre table.</a:t>
            </a:r>
            <a:endParaRPr lang="en-US" sz="1450" dirty="0"/>
          </a:p>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Matérialise la relation entre deux tables.</a:t>
            </a:r>
            <a:endParaRPr lang="en-US" sz="1450" dirty="0"/>
          </a:p>
          <a:p>
            <a:pPr marL="342900" indent="-342900">
              <a:lnSpc>
                <a:spcPct val="105000"/>
              </a:lnSpc>
              <a:spcAft>
                <a:spcPts val="900"/>
              </a:spcAft>
              <a:buSzPct val="100000"/>
              <a:buChar char="•"/>
            </a:pPr>
            <a:r>
              <a:rPr lang="en-US" sz="1450" dirty="0">
                <a:solidFill>
                  <a:srgbClr val="E8EEF4"/>
                </a:solidFill>
                <a:latin typeface="Calibri" pitchFamily="34" charset="0"/>
                <a:ea typeface="Calibri" pitchFamily="34" charset="-122"/>
                <a:cs typeface="Calibri" pitchFamily="34" charset="-120"/>
              </a:rPr>
              <a:t>Garantit la cohérence des références.</a:t>
            </a:r>
            <a:endParaRPr lang="en-US" sz="1450" dirty="0"/>
          </a:p>
        </p:txBody>
      </p:sp>
      <p:sp>
        <p:nvSpPr>
          <p:cNvPr id="17" name="Text 13"/>
          <p:cNvSpPr/>
          <p:nvPr/>
        </p:nvSpPr>
        <p:spPr>
          <a:xfrm>
            <a:off x="841248" y="5897880"/>
            <a:ext cx="10424160" cy="457200"/>
          </a:xfrm>
          <a:prstGeom prst="rect">
            <a:avLst/>
          </a:prstGeom>
          <a:noFill/>
          <a:ln/>
        </p:spPr>
        <p:txBody>
          <a:bodyPr wrap="square" lIns="0" tIns="0" rIns="0" bIns="0" rtlCol="0" anchor="ctr"/>
          <a:lstStyle/>
          <a:p>
            <a:pPr marL="0" indent="0" algn="ctr">
              <a:buNone/>
            </a:pPr>
            <a:r>
              <a:rPr lang="en-US" sz="1400" b="1" dirty="0">
                <a:solidFill>
                  <a:srgbClr val="0D8C7E"/>
                </a:solidFill>
                <a:latin typeface="Courier New" pitchFamily="34" charset="0"/>
                <a:ea typeface="Courier New" pitchFamily="34" charset="-122"/>
                <a:cs typeface="Courier New" pitchFamily="34" charset="-120"/>
              </a:rPr>
              <a:t>consultations.id_patient</a:t>
            </a:r>
            <a:r>
              <a:rPr lang="en-US" sz="1400" dirty="0">
                <a:solidFill>
                  <a:srgbClr val="5B7184"/>
                </a:solidFill>
                <a:latin typeface="Courier New" pitchFamily="34" charset="0"/>
                <a:ea typeface="Courier New" pitchFamily="34" charset="-122"/>
                <a:cs typeface="Courier New" pitchFamily="34" charset="-120"/>
              </a:rPr>
              <a:t>  →  </a:t>
            </a:r>
            <a:r>
              <a:rPr lang="en-US" sz="1400" b="1" dirty="0">
                <a:solidFill>
                  <a:srgbClr val="F59E0B"/>
                </a:solidFill>
                <a:latin typeface="Courier New" pitchFamily="34" charset="0"/>
                <a:ea typeface="Courier New" pitchFamily="34" charset="-122"/>
                <a:cs typeface="Courier New" pitchFamily="34" charset="-120"/>
              </a:rPr>
              <a:t>patients.id_patient</a:t>
            </a:r>
            <a:r>
              <a:rPr lang="en-US" sz="1400" dirty="0">
                <a:solidFill>
                  <a:srgbClr val="5B7184"/>
                </a:solidFill>
                <a:latin typeface="Courier New" pitchFamily="34" charset="0"/>
                <a:ea typeface="Courier New" pitchFamily="34" charset="-122"/>
                <a:cs typeface="Courier New" pitchFamily="34" charset="-120"/>
              </a:rPr>
              <a:t>    : voilà comment deux tables se relient.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buNone/>
            </a:pPr>
            <a:r>
              <a:rPr lang="en-US" sz="1250" b="1" kern="0" spc="300" dirty="0">
                <a:solidFill>
                  <a:srgbClr val="5EEAD4"/>
                </a:solidFill>
                <a:latin typeface="Calibri" pitchFamily="34" charset="0"/>
                <a:ea typeface="Calibri" pitchFamily="34" charset="-122"/>
                <a:cs typeface="Calibri" pitchFamily="34" charset="-120"/>
              </a:rPr>
              <a:t>FIL ROUGE</a:t>
            </a:r>
            <a:endParaRPr lang="en-US" sz="1250" dirty="0"/>
          </a:p>
        </p:txBody>
      </p:sp>
      <p:sp>
        <p:nvSpPr>
          <p:cNvPr id="3" name="Text 1"/>
          <p:cNvSpPr/>
          <p:nvPr/>
        </p:nvSpPr>
        <p:spPr>
          <a:xfrm>
            <a:off x="822960" y="786384"/>
            <a:ext cx="10515600" cy="731520"/>
          </a:xfrm>
          <a:prstGeom prst="rect">
            <a:avLst/>
          </a:prstGeom>
          <a:noFill/>
          <a:ln/>
        </p:spPr>
        <p:txBody>
          <a:bodyPr wrap="square" lIns="0" tIns="0" rIns="0" bIns="0" rtlCol="0" anchor="ctr"/>
          <a:lstStyle/>
          <a:p>
            <a:pPr marL="0" indent="0">
              <a:buNone/>
            </a:pPr>
            <a:r>
              <a:rPr lang="en-US" sz="3300" b="1" dirty="0">
                <a:latin typeface="Cambria" pitchFamily="34" charset="0"/>
                <a:ea typeface="Cambria" pitchFamily="34" charset="-122"/>
                <a:cs typeface="Cambria" pitchFamily="34" charset="-120"/>
              </a:rPr>
              <a:t>Un schéma relationnel : l'hôpital</a:t>
            </a:r>
            <a:endParaRPr lang="en-US" sz="3300" dirty="0"/>
          </a:p>
        </p:txBody>
      </p:sp>
      <p:sp>
        <p:nvSpPr>
          <p:cNvPr id="4" name="Text 2"/>
          <p:cNvSpPr/>
          <p:nvPr/>
        </p:nvSpPr>
        <p:spPr>
          <a:xfrm>
            <a:off x="841248" y="1572768"/>
            <a:ext cx="10424160" cy="365760"/>
          </a:xfrm>
          <a:prstGeom prst="rect">
            <a:avLst/>
          </a:prstGeom>
          <a:noFill/>
          <a:ln/>
        </p:spPr>
        <p:txBody>
          <a:bodyPr wrap="square" lIns="0" tIns="0" rIns="0" bIns="0" rtlCol="0" anchor="ctr"/>
          <a:lstStyle/>
          <a:p>
            <a:pPr marL="0" indent="0">
              <a:buNone/>
            </a:pPr>
            <a:r>
              <a:rPr lang="en-US" sz="1450" dirty="0">
                <a:solidFill>
                  <a:srgbClr val="9FB3C8"/>
                </a:solidFill>
                <a:latin typeface="Calibri" pitchFamily="34" charset="0"/>
                <a:ea typeface="Calibri" pitchFamily="34" charset="-122"/>
                <a:cs typeface="Calibri" pitchFamily="34" charset="-120"/>
              </a:rPr>
              <a:t>Extrait de la base « Gestion Hospitalière » (6 tables au total). Les clés étrangères (lignes oranges) pointent vers les clés primaires.</a:t>
            </a:r>
            <a:endParaRPr lang="en-US" sz="1450" dirty="0"/>
          </a:p>
        </p:txBody>
      </p:sp>
      <p:sp>
        <p:nvSpPr>
          <p:cNvPr id="5" name="Shape 3"/>
          <p:cNvSpPr/>
          <p:nvPr/>
        </p:nvSpPr>
        <p:spPr>
          <a:xfrm>
            <a:off x="914400" y="2331720"/>
            <a:ext cx="2926080" cy="1993392"/>
          </a:xfrm>
          <a:prstGeom prst="rect">
            <a:avLst/>
          </a:prstGeom>
          <a:solidFill>
            <a:srgbClr val="13314F"/>
          </a:solidFill>
          <a:ln w="15875">
            <a:solidFill>
              <a:srgbClr val="14B8A6"/>
            </a:solidFill>
            <a:prstDash val="solid"/>
          </a:ln>
          <a:effectLst>
            <a:outerShdw blurRad="114300" dist="38100" dir="5400000" algn="bl" rotWithShape="0">
              <a:srgbClr val="0B1F33">
                <a:alpha val="16000"/>
              </a:srgbClr>
            </a:outerShdw>
          </a:effectLst>
        </p:spPr>
      </p:sp>
      <p:sp>
        <p:nvSpPr>
          <p:cNvPr id="6" name="Shape 4"/>
          <p:cNvSpPr/>
          <p:nvPr/>
        </p:nvSpPr>
        <p:spPr>
          <a:xfrm>
            <a:off x="914400" y="2331720"/>
            <a:ext cx="2926080" cy="457200"/>
          </a:xfrm>
          <a:prstGeom prst="rect">
            <a:avLst/>
          </a:prstGeom>
          <a:solidFill>
            <a:srgbClr val="14B8A6"/>
          </a:solidFill>
          <a:ln/>
        </p:spPr>
      </p:sp>
      <p:sp>
        <p:nvSpPr>
          <p:cNvPr id="7" name="Text 5"/>
          <p:cNvSpPr/>
          <p:nvPr/>
        </p:nvSpPr>
        <p:spPr>
          <a:xfrm>
            <a:off x="914400" y="2331720"/>
            <a:ext cx="2926080" cy="457200"/>
          </a:xfrm>
          <a:prstGeom prst="rect">
            <a:avLst/>
          </a:prstGeom>
          <a:noFill/>
          <a:ln/>
        </p:spPr>
        <p:txBody>
          <a:bodyPr wrap="square" lIns="0" tIns="0" rIns="0" bIns="0" rtlCol="0" anchor="ctr"/>
          <a:lstStyle/>
          <a:p>
            <a:pPr marL="0" indent="0" algn="ctr">
              <a:buNone/>
            </a:pPr>
            <a:r>
              <a:rPr lang="en-US" sz="1450" b="1" dirty="0">
                <a:solidFill>
                  <a:srgbClr val="0B1F33"/>
                </a:solidFill>
                <a:latin typeface="Calibri" pitchFamily="34" charset="0"/>
                <a:ea typeface="Calibri" pitchFamily="34" charset="-122"/>
                <a:cs typeface="Calibri" pitchFamily="34" charset="-120"/>
              </a:rPr>
              <a:t>patients</a:t>
            </a:r>
            <a:endParaRPr lang="en-US" sz="1450" dirty="0"/>
          </a:p>
        </p:txBody>
      </p:sp>
      <p:sp>
        <p:nvSpPr>
          <p:cNvPr id="8" name="Text 6"/>
          <p:cNvSpPr/>
          <p:nvPr/>
        </p:nvSpPr>
        <p:spPr>
          <a:xfrm>
            <a:off x="1078992" y="2788920"/>
            <a:ext cx="2651760" cy="384048"/>
          </a:xfrm>
          <a:prstGeom prst="rect">
            <a:avLst/>
          </a:prstGeom>
          <a:noFill/>
          <a:ln/>
        </p:spPr>
        <p:txBody>
          <a:bodyPr wrap="square" lIns="0" tIns="0" rIns="0" bIns="0" rtlCol="0" anchor="ctr"/>
          <a:lstStyle/>
          <a:p>
            <a:pPr marL="0" indent="0">
              <a:buNone/>
            </a:pPr>
            <a:r>
              <a:rPr lang="en-US" sz="1050" b="1" dirty="0">
                <a:solidFill>
                  <a:srgbClr val="F59E0B"/>
                </a:solidFill>
                <a:latin typeface="Courier New" pitchFamily="34" charset="0"/>
                <a:ea typeface="Courier New" pitchFamily="34" charset="-122"/>
                <a:cs typeface="Courier New" pitchFamily="34" charset="-120"/>
              </a:rPr>
              <a:t>PK  </a:t>
            </a:r>
            <a:r>
              <a:rPr lang="en-US" sz="1250" b="1" dirty="0">
                <a:solidFill>
                  <a:srgbClr val="E8EEF4"/>
                </a:solidFill>
                <a:latin typeface="Courier New" pitchFamily="34" charset="0"/>
                <a:ea typeface="Courier New" pitchFamily="34" charset="-122"/>
                <a:cs typeface="Courier New" pitchFamily="34" charset="-120"/>
              </a:rPr>
              <a:t>id_patient</a:t>
            </a:r>
            <a:endParaRPr lang="en-US" sz="1050" dirty="0"/>
          </a:p>
        </p:txBody>
      </p:sp>
      <p:sp>
        <p:nvSpPr>
          <p:cNvPr id="9" name="Shape 7"/>
          <p:cNvSpPr/>
          <p:nvPr/>
        </p:nvSpPr>
        <p:spPr>
          <a:xfrm>
            <a:off x="914400" y="3172968"/>
            <a:ext cx="2926080" cy="0"/>
          </a:xfrm>
          <a:prstGeom prst="line">
            <a:avLst/>
          </a:prstGeom>
          <a:noFill/>
          <a:ln w="6350">
            <a:solidFill>
              <a:srgbClr val="27485F"/>
            </a:solidFill>
            <a:prstDash val="solid"/>
          </a:ln>
        </p:spPr>
      </p:sp>
      <p:sp>
        <p:nvSpPr>
          <p:cNvPr id="10" name="Text 8"/>
          <p:cNvSpPr/>
          <p:nvPr/>
        </p:nvSpPr>
        <p:spPr>
          <a:xfrm>
            <a:off x="1078992" y="3172968"/>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nom</a:t>
            </a:r>
            <a:endParaRPr lang="en-US" sz="1050" dirty="0"/>
          </a:p>
        </p:txBody>
      </p:sp>
      <p:sp>
        <p:nvSpPr>
          <p:cNvPr id="11" name="Shape 9"/>
          <p:cNvSpPr/>
          <p:nvPr/>
        </p:nvSpPr>
        <p:spPr>
          <a:xfrm>
            <a:off x="914400" y="3557016"/>
            <a:ext cx="2926080" cy="0"/>
          </a:xfrm>
          <a:prstGeom prst="line">
            <a:avLst/>
          </a:prstGeom>
          <a:noFill/>
          <a:ln w="6350">
            <a:solidFill>
              <a:srgbClr val="27485F"/>
            </a:solidFill>
            <a:prstDash val="solid"/>
          </a:ln>
        </p:spPr>
      </p:sp>
      <p:sp>
        <p:nvSpPr>
          <p:cNvPr id="12" name="Text 10"/>
          <p:cNvSpPr/>
          <p:nvPr/>
        </p:nvSpPr>
        <p:spPr>
          <a:xfrm>
            <a:off x="1078992" y="3557016"/>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prenom</a:t>
            </a:r>
            <a:endParaRPr lang="en-US" sz="1050" dirty="0"/>
          </a:p>
        </p:txBody>
      </p:sp>
      <p:sp>
        <p:nvSpPr>
          <p:cNvPr id="13" name="Shape 11"/>
          <p:cNvSpPr/>
          <p:nvPr/>
        </p:nvSpPr>
        <p:spPr>
          <a:xfrm>
            <a:off x="914400" y="3941064"/>
            <a:ext cx="2926080" cy="0"/>
          </a:xfrm>
          <a:prstGeom prst="line">
            <a:avLst/>
          </a:prstGeom>
          <a:noFill/>
          <a:ln w="6350">
            <a:solidFill>
              <a:srgbClr val="27485F"/>
            </a:solidFill>
            <a:prstDash val="solid"/>
          </a:ln>
        </p:spPr>
      </p:sp>
      <p:sp>
        <p:nvSpPr>
          <p:cNvPr id="14" name="Text 12"/>
          <p:cNvSpPr/>
          <p:nvPr/>
        </p:nvSpPr>
        <p:spPr>
          <a:xfrm>
            <a:off x="1078992" y="3941064"/>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service</a:t>
            </a:r>
            <a:endParaRPr lang="en-US" sz="1050" dirty="0"/>
          </a:p>
        </p:txBody>
      </p:sp>
      <p:sp>
        <p:nvSpPr>
          <p:cNvPr id="15" name="Shape 13"/>
          <p:cNvSpPr/>
          <p:nvPr/>
        </p:nvSpPr>
        <p:spPr>
          <a:xfrm>
            <a:off x="4617720" y="2331720"/>
            <a:ext cx="3017520" cy="2377440"/>
          </a:xfrm>
          <a:prstGeom prst="rect">
            <a:avLst/>
          </a:prstGeom>
          <a:solidFill>
            <a:srgbClr val="13314F"/>
          </a:solidFill>
          <a:ln w="15875">
            <a:solidFill>
              <a:srgbClr val="14B8A6"/>
            </a:solidFill>
            <a:prstDash val="solid"/>
          </a:ln>
          <a:effectLst>
            <a:outerShdw blurRad="114300" dist="38100" dir="5400000" algn="bl" rotWithShape="0">
              <a:srgbClr val="0B1F33">
                <a:alpha val="16000"/>
              </a:srgbClr>
            </a:outerShdw>
          </a:effectLst>
        </p:spPr>
      </p:sp>
      <p:sp>
        <p:nvSpPr>
          <p:cNvPr id="16" name="Shape 14"/>
          <p:cNvSpPr/>
          <p:nvPr/>
        </p:nvSpPr>
        <p:spPr>
          <a:xfrm>
            <a:off x="4617720" y="2331720"/>
            <a:ext cx="3017520" cy="457200"/>
          </a:xfrm>
          <a:prstGeom prst="rect">
            <a:avLst/>
          </a:prstGeom>
          <a:solidFill>
            <a:srgbClr val="14B8A6"/>
          </a:solidFill>
          <a:ln/>
        </p:spPr>
      </p:sp>
      <p:sp>
        <p:nvSpPr>
          <p:cNvPr id="17" name="Text 15"/>
          <p:cNvSpPr/>
          <p:nvPr/>
        </p:nvSpPr>
        <p:spPr>
          <a:xfrm>
            <a:off x="4617720" y="2331720"/>
            <a:ext cx="3017520" cy="457200"/>
          </a:xfrm>
          <a:prstGeom prst="rect">
            <a:avLst/>
          </a:prstGeom>
          <a:noFill/>
          <a:ln/>
        </p:spPr>
        <p:txBody>
          <a:bodyPr wrap="square" lIns="0" tIns="0" rIns="0" bIns="0" rtlCol="0" anchor="ctr"/>
          <a:lstStyle/>
          <a:p>
            <a:pPr marL="0" indent="0" algn="ctr">
              <a:buNone/>
            </a:pPr>
            <a:r>
              <a:rPr lang="en-US" sz="1450" b="1" dirty="0">
                <a:solidFill>
                  <a:srgbClr val="0B1F33"/>
                </a:solidFill>
                <a:latin typeface="Calibri" pitchFamily="34" charset="0"/>
                <a:ea typeface="Calibri" pitchFamily="34" charset="-122"/>
                <a:cs typeface="Calibri" pitchFamily="34" charset="-120"/>
              </a:rPr>
              <a:t>consultations</a:t>
            </a:r>
            <a:endParaRPr lang="en-US" sz="1450" dirty="0"/>
          </a:p>
        </p:txBody>
      </p:sp>
      <p:sp>
        <p:nvSpPr>
          <p:cNvPr id="18" name="Text 16"/>
          <p:cNvSpPr/>
          <p:nvPr/>
        </p:nvSpPr>
        <p:spPr>
          <a:xfrm>
            <a:off x="4782312" y="2788920"/>
            <a:ext cx="2743200" cy="384048"/>
          </a:xfrm>
          <a:prstGeom prst="rect">
            <a:avLst/>
          </a:prstGeom>
          <a:noFill/>
          <a:ln/>
        </p:spPr>
        <p:txBody>
          <a:bodyPr wrap="square" lIns="0" tIns="0" rIns="0" bIns="0" rtlCol="0" anchor="ctr"/>
          <a:lstStyle/>
          <a:p>
            <a:pPr marL="0" indent="0">
              <a:buNone/>
            </a:pPr>
            <a:r>
              <a:rPr lang="en-US" sz="1050" b="1" dirty="0">
                <a:solidFill>
                  <a:srgbClr val="F59E0B"/>
                </a:solidFill>
                <a:latin typeface="Courier New" pitchFamily="34" charset="0"/>
                <a:ea typeface="Courier New" pitchFamily="34" charset="-122"/>
                <a:cs typeface="Courier New" pitchFamily="34" charset="-120"/>
              </a:rPr>
              <a:t>PK  </a:t>
            </a:r>
            <a:r>
              <a:rPr lang="en-US" sz="1250" b="1" dirty="0">
                <a:solidFill>
                  <a:srgbClr val="E8EEF4"/>
                </a:solidFill>
                <a:latin typeface="Courier New" pitchFamily="34" charset="0"/>
                <a:ea typeface="Courier New" pitchFamily="34" charset="-122"/>
                <a:cs typeface="Courier New" pitchFamily="34" charset="-120"/>
              </a:rPr>
              <a:t>id_consultation</a:t>
            </a:r>
            <a:endParaRPr lang="en-US" sz="1050" dirty="0"/>
          </a:p>
        </p:txBody>
      </p:sp>
      <p:sp>
        <p:nvSpPr>
          <p:cNvPr id="19" name="Shape 17"/>
          <p:cNvSpPr/>
          <p:nvPr/>
        </p:nvSpPr>
        <p:spPr>
          <a:xfrm>
            <a:off x="4617720" y="3172968"/>
            <a:ext cx="3017520" cy="0"/>
          </a:xfrm>
          <a:prstGeom prst="line">
            <a:avLst/>
          </a:prstGeom>
          <a:noFill/>
          <a:ln w="6350">
            <a:solidFill>
              <a:srgbClr val="27485F"/>
            </a:solidFill>
            <a:prstDash val="solid"/>
          </a:ln>
        </p:spPr>
      </p:sp>
      <p:sp>
        <p:nvSpPr>
          <p:cNvPr id="20" name="Text 18"/>
          <p:cNvSpPr/>
          <p:nvPr/>
        </p:nvSpPr>
        <p:spPr>
          <a:xfrm>
            <a:off x="4782312" y="3172968"/>
            <a:ext cx="2743200" cy="384048"/>
          </a:xfrm>
          <a:prstGeom prst="rect">
            <a:avLst/>
          </a:prstGeom>
          <a:noFill/>
          <a:ln/>
        </p:spPr>
        <p:txBody>
          <a:bodyPr wrap="square" lIns="0" tIns="0" rIns="0" bIns="0" rtlCol="0" anchor="ctr"/>
          <a:lstStyle/>
          <a:p>
            <a:pPr marL="0" indent="0">
              <a:buNone/>
            </a:pPr>
            <a:r>
              <a:rPr lang="en-US" sz="1050" b="1" dirty="0">
                <a:solidFill>
                  <a:srgbClr val="5EEAD4"/>
                </a:solidFill>
                <a:latin typeface="Courier New" pitchFamily="34" charset="0"/>
                <a:ea typeface="Courier New" pitchFamily="34" charset="-122"/>
                <a:cs typeface="Courier New" pitchFamily="34" charset="-120"/>
              </a:rPr>
              <a:t>FK  </a:t>
            </a:r>
            <a:r>
              <a:rPr lang="en-US" sz="1250" dirty="0">
                <a:solidFill>
                  <a:srgbClr val="E8EEF4"/>
                </a:solidFill>
                <a:latin typeface="Courier New" pitchFamily="34" charset="0"/>
                <a:ea typeface="Courier New" pitchFamily="34" charset="-122"/>
                <a:cs typeface="Courier New" pitchFamily="34" charset="-120"/>
              </a:rPr>
              <a:t>id_patient</a:t>
            </a:r>
            <a:endParaRPr lang="en-US" sz="1050" dirty="0"/>
          </a:p>
        </p:txBody>
      </p:sp>
      <p:sp>
        <p:nvSpPr>
          <p:cNvPr id="21" name="Shape 19"/>
          <p:cNvSpPr/>
          <p:nvPr/>
        </p:nvSpPr>
        <p:spPr>
          <a:xfrm>
            <a:off x="4617720" y="3557016"/>
            <a:ext cx="3017520" cy="0"/>
          </a:xfrm>
          <a:prstGeom prst="line">
            <a:avLst/>
          </a:prstGeom>
          <a:noFill/>
          <a:ln w="6350">
            <a:solidFill>
              <a:srgbClr val="27485F"/>
            </a:solidFill>
            <a:prstDash val="solid"/>
          </a:ln>
        </p:spPr>
      </p:sp>
      <p:sp>
        <p:nvSpPr>
          <p:cNvPr id="22" name="Text 20"/>
          <p:cNvSpPr/>
          <p:nvPr/>
        </p:nvSpPr>
        <p:spPr>
          <a:xfrm>
            <a:off x="4782312" y="3557016"/>
            <a:ext cx="2743200" cy="384048"/>
          </a:xfrm>
          <a:prstGeom prst="rect">
            <a:avLst/>
          </a:prstGeom>
          <a:noFill/>
          <a:ln/>
        </p:spPr>
        <p:txBody>
          <a:bodyPr wrap="square" lIns="0" tIns="0" rIns="0" bIns="0" rtlCol="0" anchor="ctr"/>
          <a:lstStyle/>
          <a:p>
            <a:pPr marL="0" indent="0">
              <a:buNone/>
            </a:pPr>
            <a:r>
              <a:rPr lang="en-US" sz="1050" b="1" dirty="0">
                <a:solidFill>
                  <a:srgbClr val="5EEAD4"/>
                </a:solidFill>
                <a:latin typeface="Courier New" pitchFamily="34" charset="0"/>
                <a:ea typeface="Courier New" pitchFamily="34" charset="-122"/>
                <a:cs typeface="Courier New" pitchFamily="34" charset="-120"/>
              </a:rPr>
              <a:t>FK  </a:t>
            </a:r>
            <a:r>
              <a:rPr lang="en-US" sz="1250" dirty="0">
                <a:solidFill>
                  <a:srgbClr val="E8EEF4"/>
                </a:solidFill>
                <a:latin typeface="Courier New" pitchFamily="34" charset="0"/>
                <a:ea typeface="Courier New" pitchFamily="34" charset="-122"/>
                <a:cs typeface="Courier New" pitchFamily="34" charset="-120"/>
              </a:rPr>
              <a:t>medecin_id</a:t>
            </a:r>
            <a:endParaRPr lang="en-US" sz="1050" dirty="0"/>
          </a:p>
        </p:txBody>
      </p:sp>
      <p:sp>
        <p:nvSpPr>
          <p:cNvPr id="23" name="Shape 21"/>
          <p:cNvSpPr/>
          <p:nvPr/>
        </p:nvSpPr>
        <p:spPr>
          <a:xfrm>
            <a:off x="4617720" y="3941064"/>
            <a:ext cx="3017520" cy="0"/>
          </a:xfrm>
          <a:prstGeom prst="line">
            <a:avLst/>
          </a:prstGeom>
          <a:noFill/>
          <a:ln w="6350">
            <a:solidFill>
              <a:srgbClr val="27485F"/>
            </a:solidFill>
            <a:prstDash val="solid"/>
          </a:ln>
        </p:spPr>
      </p:sp>
      <p:sp>
        <p:nvSpPr>
          <p:cNvPr id="24" name="Text 22"/>
          <p:cNvSpPr/>
          <p:nvPr/>
        </p:nvSpPr>
        <p:spPr>
          <a:xfrm>
            <a:off x="4782312" y="3941064"/>
            <a:ext cx="274320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diagnostic</a:t>
            </a:r>
            <a:endParaRPr lang="en-US" sz="1050" dirty="0"/>
          </a:p>
        </p:txBody>
      </p:sp>
      <p:sp>
        <p:nvSpPr>
          <p:cNvPr id="25" name="Shape 23"/>
          <p:cNvSpPr/>
          <p:nvPr/>
        </p:nvSpPr>
        <p:spPr>
          <a:xfrm>
            <a:off x="4617720" y="4325112"/>
            <a:ext cx="3017520" cy="0"/>
          </a:xfrm>
          <a:prstGeom prst="line">
            <a:avLst/>
          </a:prstGeom>
          <a:noFill/>
          <a:ln w="6350">
            <a:solidFill>
              <a:srgbClr val="27485F"/>
            </a:solidFill>
            <a:prstDash val="solid"/>
          </a:ln>
        </p:spPr>
      </p:sp>
      <p:sp>
        <p:nvSpPr>
          <p:cNvPr id="26" name="Text 24"/>
          <p:cNvSpPr/>
          <p:nvPr/>
        </p:nvSpPr>
        <p:spPr>
          <a:xfrm>
            <a:off x="4782312" y="4325112"/>
            <a:ext cx="274320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date</a:t>
            </a:r>
            <a:endParaRPr lang="en-US" sz="1050" dirty="0"/>
          </a:p>
        </p:txBody>
      </p:sp>
      <p:sp>
        <p:nvSpPr>
          <p:cNvPr id="27" name="Shape 25"/>
          <p:cNvSpPr/>
          <p:nvPr/>
        </p:nvSpPr>
        <p:spPr>
          <a:xfrm>
            <a:off x="8321040" y="2331720"/>
            <a:ext cx="2926080" cy="1993392"/>
          </a:xfrm>
          <a:prstGeom prst="rect">
            <a:avLst/>
          </a:prstGeom>
          <a:solidFill>
            <a:srgbClr val="13314F"/>
          </a:solidFill>
          <a:ln w="15875">
            <a:solidFill>
              <a:srgbClr val="14B8A6"/>
            </a:solidFill>
            <a:prstDash val="solid"/>
          </a:ln>
          <a:effectLst>
            <a:outerShdw blurRad="114300" dist="38100" dir="5400000" algn="bl" rotWithShape="0">
              <a:srgbClr val="0B1F33">
                <a:alpha val="16000"/>
              </a:srgbClr>
            </a:outerShdw>
          </a:effectLst>
        </p:spPr>
      </p:sp>
      <p:sp>
        <p:nvSpPr>
          <p:cNvPr id="28" name="Shape 26"/>
          <p:cNvSpPr/>
          <p:nvPr/>
        </p:nvSpPr>
        <p:spPr>
          <a:xfrm>
            <a:off x="8321040" y="2331720"/>
            <a:ext cx="2926080" cy="457200"/>
          </a:xfrm>
          <a:prstGeom prst="rect">
            <a:avLst/>
          </a:prstGeom>
          <a:solidFill>
            <a:srgbClr val="14B8A6"/>
          </a:solidFill>
          <a:ln/>
        </p:spPr>
      </p:sp>
      <p:sp>
        <p:nvSpPr>
          <p:cNvPr id="29" name="Text 27"/>
          <p:cNvSpPr/>
          <p:nvPr/>
        </p:nvSpPr>
        <p:spPr>
          <a:xfrm>
            <a:off x="8321040" y="2331720"/>
            <a:ext cx="2926080" cy="457200"/>
          </a:xfrm>
          <a:prstGeom prst="rect">
            <a:avLst/>
          </a:prstGeom>
          <a:noFill/>
          <a:ln/>
        </p:spPr>
        <p:txBody>
          <a:bodyPr wrap="square" lIns="0" tIns="0" rIns="0" bIns="0" rtlCol="0" anchor="ctr"/>
          <a:lstStyle/>
          <a:p>
            <a:pPr marL="0" indent="0" algn="ctr">
              <a:buNone/>
            </a:pPr>
            <a:r>
              <a:rPr lang="en-US" sz="1450" b="1" dirty="0">
                <a:solidFill>
                  <a:srgbClr val="0B1F33"/>
                </a:solidFill>
                <a:latin typeface="Calibri" pitchFamily="34" charset="0"/>
                <a:ea typeface="Calibri" pitchFamily="34" charset="-122"/>
                <a:cs typeface="Calibri" pitchFamily="34" charset="-120"/>
              </a:rPr>
              <a:t>medecins</a:t>
            </a:r>
            <a:endParaRPr lang="en-US" sz="1450" dirty="0"/>
          </a:p>
        </p:txBody>
      </p:sp>
      <p:sp>
        <p:nvSpPr>
          <p:cNvPr id="30" name="Text 28"/>
          <p:cNvSpPr/>
          <p:nvPr/>
        </p:nvSpPr>
        <p:spPr>
          <a:xfrm>
            <a:off x="8485632" y="2788920"/>
            <a:ext cx="2651760" cy="384048"/>
          </a:xfrm>
          <a:prstGeom prst="rect">
            <a:avLst/>
          </a:prstGeom>
          <a:noFill/>
          <a:ln/>
        </p:spPr>
        <p:txBody>
          <a:bodyPr wrap="square" lIns="0" tIns="0" rIns="0" bIns="0" rtlCol="0" anchor="ctr"/>
          <a:lstStyle/>
          <a:p>
            <a:pPr marL="0" indent="0">
              <a:buNone/>
            </a:pPr>
            <a:r>
              <a:rPr lang="en-US" sz="1050" b="1" dirty="0">
                <a:solidFill>
                  <a:srgbClr val="F59E0B"/>
                </a:solidFill>
                <a:latin typeface="Courier New" pitchFamily="34" charset="0"/>
                <a:ea typeface="Courier New" pitchFamily="34" charset="-122"/>
                <a:cs typeface="Courier New" pitchFamily="34" charset="-120"/>
              </a:rPr>
              <a:t>PK  </a:t>
            </a:r>
            <a:r>
              <a:rPr lang="en-US" sz="1250" b="1" dirty="0">
                <a:solidFill>
                  <a:srgbClr val="E8EEF4"/>
                </a:solidFill>
                <a:latin typeface="Courier New" pitchFamily="34" charset="0"/>
                <a:ea typeface="Courier New" pitchFamily="34" charset="-122"/>
                <a:cs typeface="Courier New" pitchFamily="34" charset="-120"/>
              </a:rPr>
              <a:t>id_medecin</a:t>
            </a:r>
            <a:endParaRPr lang="en-US" sz="1050" dirty="0"/>
          </a:p>
        </p:txBody>
      </p:sp>
      <p:sp>
        <p:nvSpPr>
          <p:cNvPr id="31" name="Shape 29"/>
          <p:cNvSpPr/>
          <p:nvPr/>
        </p:nvSpPr>
        <p:spPr>
          <a:xfrm>
            <a:off x="8321040" y="3172968"/>
            <a:ext cx="2926080" cy="0"/>
          </a:xfrm>
          <a:prstGeom prst="line">
            <a:avLst/>
          </a:prstGeom>
          <a:noFill/>
          <a:ln w="6350">
            <a:solidFill>
              <a:srgbClr val="27485F"/>
            </a:solidFill>
            <a:prstDash val="solid"/>
          </a:ln>
        </p:spPr>
      </p:sp>
      <p:sp>
        <p:nvSpPr>
          <p:cNvPr id="32" name="Text 30"/>
          <p:cNvSpPr/>
          <p:nvPr/>
        </p:nvSpPr>
        <p:spPr>
          <a:xfrm>
            <a:off x="8485632" y="3172968"/>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nom</a:t>
            </a:r>
            <a:endParaRPr lang="en-US" sz="1050" dirty="0"/>
          </a:p>
        </p:txBody>
      </p:sp>
      <p:sp>
        <p:nvSpPr>
          <p:cNvPr id="33" name="Shape 31"/>
          <p:cNvSpPr/>
          <p:nvPr/>
        </p:nvSpPr>
        <p:spPr>
          <a:xfrm>
            <a:off x="8321040" y="3557016"/>
            <a:ext cx="2926080" cy="0"/>
          </a:xfrm>
          <a:prstGeom prst="line">
            <a:avLst/>
          </a:prstGeom>
          <a:noFill/>
          <a:ln w="6350">
            <a:solidFill>
              <a:srgbClr val="27485F"/>
            </a:solidFill>
            <a:prstDash val="solid"/>
          </a:ln>
        </p:spPr>
      </p:sp>
      <p:sp>
        <p:nvSpPr>
          <p:cNvPr id="34" name="Text 32"/>
          <p:cNvSpPr/>
          <p:nvPr/>
        </p:nvSpPr>
        <p:spPr>
          <a:xfrm>
            <a:off x="8485632" y="3557016"/>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specialite</a:t>
            </a:r>
            <a:endParaRPr lang="en-US" sz="1050" dirty="0"/>
          </a:p>
        </p:txBody>
      </p:sp>
      <p:sp>
        <p:nvSpPr>
          <p:cNvPr id="35" name="Shape 33"/>
          <p:cNvSpPr/>
          <p:nvPr/>
        </p:nvSpPr>
        <p:spPr>
          <a:xfrm>
            <a:off x="8321040" y="3941064"/>
            <a:ext cx="2926080" cy="0"/>
          </a:xfrm>
          <a:prstGeom prst="line">
            <a:avLst/>
          </a:prstGeom>
          <a:noFill/>
          <a:ln w="6350">
            <a:solidFill>
              <a:srgbClr val="27485F"/>
            </a:solidFill>
            <a:prstDash val="solid"/>
          </a:ln>
        </p:spPr>
      </p:sp>
      <p:sp>
        <p:nvSpPr>
          <p:cNvPr id="36" name="Text 34"/>
          <p:cNvSpPr/>
          <p:nvPr/>
        </p:nvSpPr>
        <p:spPr>
          <a:xfrm>
            <a:off x="8485632" y="3941064"/>
            <a:ext cx="2651760" cy="384048"/>
          </a:xfrm>
          <a:prstGeom prst="rect">
            <a:avLst/>
          </a:prstGeom>
          <a:noFill/>
          <a:ln/>
        </p:spPr>
        <p:txBody>
          <a:bodyPr wrap="square" lIns="0" tIns="0" rIns="0" bIns="0" rtlCol="0" anchor="ctr"/>
          <a:lstStyle/>
          <a:p>
            <a:pPr marL="0" indent="0">
              <a:buNone/>
            </a:pPr>
            <a:r>
              <a:rPr lang="en-US" sz="1250" dirty="0">
                <a:solidFill>
                  <a:srgbClr val="E8EEF4"/>
                </a:solidFill>
                <a:latin typeface="Courier New" pitchFamily="34" charset="0"/>
                <a:ea typeface="Courier New" pitchFamily="34" charset="-122"/>
                <a:cs typeface="Courier New" pitchFamily="34" charset="-120"/>
              </a:rPr>
              <a:t>service</a:t>
            </a:r>
            <a:endParaRPr lang="en-US" sz="1050" dirty="0"/>
          </a:p>
        </p:txBody>
      </p:sp>
      <p:sp>
        <p:nvSpPr>
          <p:cNvPr id="37" name="Shape 35"/>
          <p:cNvSpPr/>
          <p:nvPr/>
        </p:nvSpPr>
        <p:spPr>
          <a:xfrm>
            <a:off x="3840480" y="2980944"/>
            <a:ext cx="777240" cy="384048"/>
          </a:xfrm>
          <a:prstGeom prst="line">
            <a:avLst/>
          </a:prstGeom>
          <a:noFill/>
          <a:ln w="25400">
            <a:solidFill>
              <a:srgbClr val="F59E0B"/>
            </a:solidFill>
            <a:prstDash val="solid"/>
            <a:tailEnd type="triangle"/>
          </a:ln>
        </p:spPr>
      </p:sp>
      <p:sp>
        <p:nvSpPr>
          <p:cNvPr id="38" name="Shape 36"/>
          <p:cNvSpPr/>
          <p:nvPr/>
        </p:nvSpPr>
        <p:spPr>
          <a:xfrm>
            <a:off x="7635240" y="3749040"/>
            <a:ext cx="685800" cy="0"/>
          </a:xfrm>
          <a:prstGeom prst="line">
            <a:avLst/>
          </a:prstGeom>
          <a:noFill/>
          <a:ln w="25400">
            <a:solidFill>
              <a:srgbClr val="F59E0B"/>
            </a:solidFill>
            <a:prstDash val="solid"/>
            <a:tailEnd type="triangle"/>
          </a:ln>
        </p:spPr>
      </p:sp>
      <p:sp>
        <p:nvSpPr>
          <p:cNvPr id="39" name="Shape 37"/>
          <p:cNvSpPr/>
          <p:nvPr/>
        </p:nvSpPr>
        <p:spPr>
          <a:xfrm>
            <a:off x="914400" y="6099048"/>
            <a:ext cx="457200" cy="0"/>
          </a:xfrm>
          <a:prstGeom prst="line">
            <a:avLst/>
          </a:prstGeom>
          <a:noFill/>
          <a:ln w="25400">
            <a:solidFill>
              <a:srgbClr val="F59E0B"/>
            </a:solidFill>
            <a:prstDash val="solid"/>
            <a:tailEnd type="triangle"/>
          </a:ln>
        </p:spPr>
      </p:sp>
      <p:sp>
        <p:nvSpPr>
          <p:cNvPr id="40" name="Text 38"/>
          <p:cNvSpPr/>
          <p:nvPr/>
        </p:nvSpPr>
        <p:spPr>
          <a:xfrm>
            <a:off x="1481328" y="5943600"/>
            <a:ext cx="3474720" cy="32004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clé étrangère → clé primaire</a:t>
            </a:r>
            <a:endParaRPr lang="en-US" sz="1200" dirty="0"/>
          </a:p>
        </p:txBody>
      </p:sp>
      <p:sp>
        <p:nvSpPr>
          <p:cNvPr id="41" name="Text 39"/>
          <p:cNvSpPr/>
          <p:nvPr/>
        </p:nvSpPr>
        <p:spPr>
          <a:xfrm>
            <a:off x="5852160" y="5943600"/>
            <a:ext cx="5486400" cy="32004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PK </a:t>
            </a:r>
            <a:r>
              <a:rPr lang="en-US" sz="1200" dirty="0">
                <a:solidFill>
                  <a:srgbClr val="9FB3C8"/>
                </a:solidFill>
                <a:latin typeface="Calibri" pitchFamily="34" charset="0"/>
                <a:ea typeface="Calibri" pitchFamily="34" charset="-122"/>
                <a:cs typeface="Calibri" pitchFamily="34" charset="-120"/>
              </a:rPr>
              <a:t>clé primaire     </a:t>
            </a:r>
            <a:r>
              <a:rPr lang="en-US" sz="1200" b="1" dirty="0">
                <a:solidFill>
                  <a:srgbClr val="5EEAD4"/>
                </a:solidFill>
                <a:latin typeface="Calibri" pitchFamily="34" charset="0"/>
                <a:ea typeface="Calibri" pitchFamily="34" charset="-122"/>
                <a:cs typeface="Calibri" pitchFamily="34" charset="-120"/>
              </a:rPr>
              <a:t>FK </a:t>
            </a:r>
            <a:r>
              <a:rPr lang="en-US" sz="1200" dirty="0">
                <a:solidFill>
                  <a:srgbClr val="9FB3C8"/>
                </a:solidFill>
                <a:latin typeface="Calibri" pitchFamily="34" charset="0"/>
                <a:ea typeface="Calibri" pitchFamily="34" charset="-122"/>
                <a:cs typeface="Calibri" pitchFamily="34" charset="-120"/>
              </a:rPr>
              <a:t>clé étrangère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4</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Les quatre familles de commandes</a:t>
            </a:r>
            <a:endParaRPr lang="en-US" sz="3300" dirty="0"/>
          </a:p>
        </p:txBody>
      </p:sp>
      <p:sp>
        <p:nvSpPr>
          <p:cNvPr id="4" name="Text 2"/>
          <p:cNvSpPr/>
          <p:nvPr/>
        </p:nvSpPr>
        <p:spPr>
          <a:xfrm>
            <a:off x="841248" y="1554480"/>
            <a:ext cx="10424160" cy="457200"/>
          </a:xfrm>
          <a:prstGeom prst="rect">
            <a:avLst/>
          </a:prstGeom>
          <a:noFill/>
          <a:ln/>
        </p:spPr>
        <p:txBody>
          <a:bodyPr wrap="square" lIns="0" tIns="0" rIns="0" bIns="0" rtlCol="0" anchor="ctr"/>
          <a:lstStyle/>
          <a:p>
            <a:pPr marL="0" indent="0">
              <a:buNone/>
            </a:pPr>
            <a:r>
              <a:rPr lang="en-US" sz="1550" dirty="0">
                <a:solidFill>
                  <a:srgbClr val="5B7184"/>
                </a:solidFill>
                <a:latin typeface="Calibri" pitchFamily="34" charset="0"/>
                <a:ea typeface="Calibri" pitchFamily="34" charset="-122"/>
                <a:cs typeface="Calibri" pitchFamily="34" charset="-120"/>
              </a:rPr>
              <a:t>SQL se découpe en sous-langages. La majorité de l'apprentissage débutant tourne autour du SELECT (DML).</a:t>
            </a:r>
            <a:endParaRPr lang="en-US" sz="1550" dirty="0"/>
          </a:p>
        </p:txBody>
      </p:sp>
      <p:sp>
        <p:nvSpPr>
          <p:cNvPr id="5" name="Shape 3"/>
          <p:cNvSpPr/>
          <p:nvPr/>
        </p:nvSpPr>
        <p:spPr>
          <a:xfrm>
            <a:off x="841248" y="2423160"/>
            <a:ext cx="5074920" cy="1691640"/>
          </a:xfrm>
          <a:prstGeom prst="roundRect">
            <a:avLst>
              <a:gd name="adj" fmla="val 4865"/>
            </a:avLst>
          </a:prstGeom>
          <a:solidFill>
            <a:srgbClr val="FFFFFF"/>
          </a:solidFill>
          <a:ln/>
          <a:effectLst>
            <a:outerShdw blurRad="114300" dist="38100" dir="5400000" algn="bl" rotWithShape="0">
              <a:srgbClr val="0B1F33">
                <a:alpha val="16000"/>
              </a:srgbClr>
            </a:outerShdw>
          </a:effectLst>
        </p:spPr>
      </p:sp>
      <p:sp>
        <p:nvSpPr>
          <p:cNvPr id="6" name="Shape 4"/>
          <p:cNvSpPr/>
          <p:nvPr/>
        </p:nvSpPr>
        <p:spPr>
          <a:xfrm>
            <a:off x="1161288" y="2743200"/>
            <a:ext cx="777240" cy="777240"/>
          </a:xfrm>
          <a:prstGeom prst="ellipse">
            <a:avLst/>
          </a:prstGeom>
          <a:solidFill>
            <a:srgbClr val="0B1F33"/>
          </a:solidFill>
          <a:ln/>
          <a:effectLst>
            <a:outerShdw blurRad="114300" dist="38100" dir="5400000" algn="bl" rotWithShape="0">
              <a:srgbClr val="0B1F33">
                <a:alpha val="16000"/>
              </a:srgbClr>
            </a:outerShdw>
          </a:effectLst>
        </p:spPr>
      </p:sp>
      <p:pic>
        <p:nvPicPr>
          <p:cNvPr id="7" name="Image 0" descr="preencoded.png"/>
          <p:cNvPicPr>
            <a:picLocks noChangeAspect="1"/>
          </p:cNvPicPr>
          <p:nvPr/>
        </p:nvPicPr>
        <p:blipFill>
          <a:blip r:embed="rId3"/>
          <a:stretch>
            <a:fillRect/>
          </a:stretch>
        </p:blipFill>
        <p:spPr>
          <a:xfrm>
            <a:off x="1371143" y="2953055"/>
            <a:ext cx="357530" cy="357530"/>
          </a:xfrm>
          <a:prstGeom prst="rect">
            <a:avLst/>
          </a:prstGeom>
        </p:spPr>
      </p:pic>
      <p:sp>
        <p:nvSpPr>
          <p:cNvPr id="8" name="Text 5"/>
          <p:cNvSpPr/>
          <p:nvPr/>
        </p:nvSpPr>
        <p:spPr>
          <a:xfrm>
            <a:off x="2121408" y="2679192"/>
            <a:ext cx="1828800" cy="457200"/>
          </a:xfrm>
          <a:prstGeom prst="rect">
            <a:avLst/>
          </a:prstGeom>
          <a:noFill/>
          <a:ln/>
        </p:spPr>
        <p:txBody>
          <a:bodyPr wrap="square" lIns="0" tIns="0" rIns="0" bIns="0" rtlCol="0" anchor="ctr"/>
          <a:lstStyle/>
          <a:p>
            <a:pPr marL="0" indent="0">
              <a:buNone/>
            </a:pPr>
            <a:r>
              <a:rPr lang="en-US" sz="2500" b="1" dirty="0">
                <a:solidFill>
                  <a:srgbClr val="13314F"/>
                </a:solidFill>
                <a:latin typeface="Cambria" pitchFamily="34" charset="0"/>
                <a:ea typeface="Cambria" pitchFamily="34" charset="-122"/>
                <a:cs typeface="Cambria" pitchFamily="34" charset="-120"/>
              </a:rPr>
              <a:t>DDL</a:t>
            </a:r>
            <a:endParaRPr lang="en-US" sz="2500" dirty="0"/>
          </a:p>
        </p:txBody>
      </p:sp>
      <p:sp>
        <p:nvSpPr>
          <p:cNvPr id="9" name="Text 6"/>
          <p:cNvSpPr/>
          <p:nvPr/>
        </p:nvSpPr>
        <p:spPr>
          <a:xfrm>
            <a:off x="2121408" y="3172968"/>
            <a:ext cx="3657600" cy="274320"/>
          </a:xfrm>
          <a:prstGeom prst="rect">
            <a:avLst/>
          </a:prstGeom>
          <a:noFill/>
          <a:ln/>
        </p:spPr>
        <p:txBody>
          <a:bodyPr wrap="square" lIns="0" tIns="0" rIns="0" bIns="0" rtlCol="0" anchor="ctr"/>
          <a:lstStyle/>
          <a:p>
            <a:pPr marL="0" indent="0">
              <a:buNone/>
            </a:pPr>
            <a:r>
              <a:rPr lang="en-US" sz="1150" b="1" kern="0" spc="100" dirty="0">
                <a:solidFill>
                  <a:srgbClr val="0D8C7E"/>
                </a:solidFill>
                <a:latin typeface="Calibri" pitchFamily="34" charset="0"/>
                <a:ea typeface="Calibri" pitchFamily="34" charset="-122"/>
                <a:cs typeface="Calibri" pitchFamily="34" charset="-120"/>
              </a:rPr>
              <a:t>Data Definition</a:t>
            </a:r>
            <a:endParaRPr lang="en-US" sz="1150" dirty="0"/>
          </a:p>
        </p:txBody>
      </p:sp>
      <p:sp>
        <p:nvSpPr>
          <p:cNvPr id="10" name="Text 7"/>
          <p:cNvSpPr/>
          <p:nvPr/>
        </p:nvSpPr>
        <p:spPr>
          <a:xfrm>
            <a:off x="1207008" y="3502152"/>
            <a:ext cx="4343400" cy="274320"/>
          </a:xfrm>
          <a:prstGeom prst="rect">
            <a:avLst/>
          </a:prstGeom>
          <a:noFill/>
          <a:ln/>
        </p:spPr>
        <p:txBody>
          <a:bodyPr wrap="square" lIns="0" tIns="0" rIns="0" bIns="0" rtlCol="0" anchor="ctr"/>
          <a:lstStyle/>
          <a:p>
            <a:pPr marL="0" indent="0">
              <a:buNone/>
            </a:pPr>
            <a:r>
              <a:rPr lang="en-US" sz="1300" i="1" dirty="0">
                <a:solidFill>
                  <a:srgbClr val="5B7184"/>
                </a:solidFill>
                <a:latin typeface="Calibri" pitchFamily="34" charset="0"/>
                <a:ea typeface="Calibri" pitchFamily="34" charset="-122"/>
                <a:cs typeface="Calibri" pitchFamily="34" charset="-120"/>
              </a:rPr>
              <a:t>Définir la structure</a:t>
            </a:r>
            <a:endParaRPr lang="en-US" sz="1300" dirty="0"/>
          </a:p>
        </p:txBody>
      </p:sp>
      <p:sp>
        <p:nvSpPr>
          <p:cNvPr id="11" name="Text 8"/>
          <p:cNvSpPr/>
          <p:nvPr/>
        </p:nvSpPr>
        <p:spPr>
          <a:xfrm>
            <a:off x="1207008" y="3758184"/>
            <a:ext cx="4343400" cy="292608"/>
          </a:xfrm>
          <a:prstGeom prst="rect">
            <a:avLst/>
          </a:prstGeom>
          <a:noFill/>
          <a:ln/>
        </p:spPr>
        <p:txBody>
          <a:bodyPr wrap="square" lIns="0" tIns="0" rIns="0" bIns="0" rtlCol="0" anchor="ctr"/>
          <a:lstStyle/>
          <a:p>
            <a:pPr marL="0" indent="0">
              <a:buNone/>
            </a:pPr>
            <a:r>
              <a:rPr lang="en-US" sz="1150" b="1" dirty="0">
                <a:solidFill>
                  <a:srgbClr val="13314F"/>
                </a:solidFill>
                <a:latin typeface="Courier New" pitchFamily="34" charset="0"/>
                <a:ea typeface="Courier New" pitchFamily="34" charset="-122"/>
                <a:cs typeface="Courier New" pitchFamily="34" charset="-120"/>
              </a:rPr>
              <a:t>CREATE · ALTER · DROP</a:t>
            </a:r>
            <a:endParaRPr lang="en-US" sz="1150" dirty="0"/>
          </a:p>
        </p:txBody>
      </p:sp>
      <p:sp>
        <p:nvSpPr>
          <p:cNvPr id="12" name="Shape 9"/>
          <p:cNvSpPr/>
          <p:nvPr/>
        </p:nvSpPr>
        <p:spPr>
          <a:xfrm>
            <a:off x="6327648" y="2423160"/>
            <a:ext cx="5074920" cy="1691640"/>
          </a:xfrm>
          <a:prstGeom prst="roundRect">
            <a:avLst>
              <a:gd name="adj" fmla="val 4865"/>
            </a:avLst>
          </a:prstGeom>
          <a:solidFill>
            <a:srgbClr val="0B1F33"/>
          </a:solidFill>
          <a:ln/>
          <a:effectLst>
            <a:outerShdw blurRad="114300" dist="38100" dir="5400000" algn="bl" rotWithShape="0">
              <a:srgbClr val="0B1F33">
                <a:alpha val="16000"/>
              </a:srgbClr>
            </a:outerShdw>
          </a:effectLst>
        </p:spPr>
      </p:sp>
      <p:sp>
        <p:nvSpPr>
          <p:cNvPr id="13" name="Shape 10"/>
          <p:cNvSpPr/>
          <p:nvPr/>
        </p:nvSpPr>
        <p:spPr>
          <a:xfrm>
            <a:off x="6647688" y="2743200"/>
            <a:ext cx="777240" cy="777240"/>
          </a:xfrm>
          <a:prstGeom prst="ellipse">
            <a:avLst/>
          </a:prstGeom>
          <a:solidFill>
            <a:srgbClr val="14B8A6"/>
          </a:solidFill>
          <a:ln/>
          <a:effectLst>
            <a:outerShdw blurRad="114300" dist="38100" dir="5400000" algn="bl" rotWithShape="0">
              <a:srgbClr val="0B1F33">
                <a:alpha val="16000"/>
              </a:srgbClr>
            </a:outerShdw>
          </a:effectLst>
        </p:spPr>
      </p:sp>
      <p:pic>
        <p:nvPicPr>
          <p:cNvPr id="14" name="Image 1" descr="preencoded.png"/>
          <p:cNvPicPr>
            <a:picLocks noChangeAspect="1"/>
          </p:cNvPicPr>
          <p:nvPr/>
        </p:nvPicPr>
        <p:blipFill>
          <a:blip r:embed="rId4"/>
          <a:stretch>
            <a:fillRect/>
          </a:stretch>
        </p:blipFill>
        <p:spPr>
          <a:xfrm>
            <a:off x="6857543" y="2953055"/>
            <a:ext cx="357530" cy="357530"/>
          </a:xfrm>
          <a:prstGeom prst="rect">
            <a:avLst/>
          </a:prstGeom>
        </p:spPr>
      </p:pic>
      <p:sp>
        <p:nvSpPr>
          <p:cNvPr id="15" name="Text 11"/>
          <p:cNvSpPr/>
          <p:nvPr/>
        </p:nvSpPr>
        <p:spPr>
          <a:xfrm>
            <a:off x="7607808" y="2679192"/>
            <a:ext cx="1828800" cy="457200"/>
          </a:xfrm>
          <a:prstGeom prst="rect">
            <a:avLst/>
          </a:prstGeom>
          <a:noFill/>
          <a:ln/>
        </p:spPr>
        <p:txBody>
          <a:bodyPr wrap="square" lIns="0" tIns="0" rIns="0" bIns="0" rtlCol="0" anchor="ctr"/>
          <a:lstStyle/>
          <a:p>
            <a:pPr marL="0" indent="0">
              <a:buNone/>
            </a:pPr>
            <a:r>
              <a:rPr lang="en-US" sz="2500" b="1" dirty="0">
                <a:solidFill>
                  <a:srgbClr val="E8EEF4"/>
                </a:solidFill>
                <a:latin typeface="Cambria" pitchFamily="34" charset="0"/>
                <a:ea typeface="Cambria" pitchFamily="34" charset="-122"/>
                <a:cs typeface="Cambria" pitchFamily="34" charset="-120"/>
              </a:rPr>
              <a:t>DML</a:t>
            </a:r>
            <a:endParaRPr lang="en-US" sz="2500" dirty="0"/>
          </a:p>
        </p:txBody>
      </p:sp>
      <p:sp>
        <p:nvSpPr>
          <p:cNvPr id="16" name="Text 12"/>
          <p:cNvSpPr/>
          <p:nvPr/>
        </p:nvSpPr>
        <p:spPr>
          <a:xfrm>
            <a:off x="7607808" y="3172968"/>
            <a:ext cx="3657600" cy="274320"/>
          </a:xfrm>
          <a:prstGeom prst="rect">
            <a:avLst/>
          </a:prstGeom>
          <a:noFill/>
          <a:ln/>
        </p:spPr>
        <p:txBody>
          <a:bodyPr wrap="square" lIns="0" tIns="0" rIns="0" bIns="0" rtlCol="0" anchor="ctr"/>
          <a:lstStyle/>
          <a:p>
            <a:pPr marL="0" indent="0">
              <a:buNone/>
            </a:pPr>
            <a:r>
              <a:rPr lang="en-US" sz="1150" b="1" kern="0" spc="100" dirty="0">
                <a:solidFill>
                  <a:srgbClr val="5EEAD4"/>
                </a:solidFill>
                <a:latin typeface="Calibri" pitchFamily="34" charset="0"/>
                <a:ea typeface="Calibri" pitchFamily="34" charset="-122"/>
                <a:cs typeface="Calibri" pitchFamily="34" charset="-120"/>
              </a:rPr>
              <a:t>Data Manipulation</a:t>
            </a:r>
            <a:endParaRPr lang="en-US" sz="1150" dirty="0"/>
          </a:p>
        </p:txBody>
      </p:sp>
      <p:sp>
        <p:nvSpPr>
          <p:cNvPr id="17" name="Text 13"/>
          <p:cNvSpPr/>
          <p:nvPr/>
        </p:nvSpPr>
        <p:spPr>
          <a:xfrm>
            <a:off x="6693408" y="3502152"/>
            <a:ext cx="4343400" cy="274320"/>
          </a:xfrm>
          <a:prstGeom prst="rect">
            <a:avLst/>
          </a:prstGeom>
          <a:noFill/>
          <a:ln/>
        </p:spPr>
        <p:txBody>
          <a:bodyPr wrap="square" lIns="0" tIns="0" rIns="0" bIns="0" rtlCol="0" anchor="ctr"/>
          <a:lstStyle/>
          <a:p>
            <a:pPr marL="0" indent="0">
              <a:buNone/>
            </a:pPr>
            <a:r>
              <a:rPr lang="en-US" sz="1300" i="1" dirty="0">
                <a:solidFill>
                  <a:srgbClr val="9FB3C8"/>
                </a:solidFill>
                <a:latin typeface="Calibri" pitchFamily="34" charset="0"/>
                <a:ea typeface="Calibri" pitchFamily="34" charset="-122"/>
                <a:cs typeface="Calibri" pitchFamily="34" charset="-120"/>
              </a:rPr>
              <a:t>Manipuler les données</a:t>
            </a:r>
            <a:endParaRPr lang="en-US" sz="1300" dirty="0"/>
          </a:p>
        </p:txBody>
      </p:sp>
      <p:sp>
        <p:nvSpPr>
          <p:cNvPr id="18" name="Text 14"/>
          <p:cNvSpPr/>
          <p:nvPr/>
        </p:nvSpPr>
        <p:spPr>
          <a:xfrm>
            <a:off x="6693408" y="3758184"/>
            <a:ext cx="4343400" cy="292608"/>
          </a:xfrm>
          <a:prstGeom prst="rect">
            <a:avLst/>
          </a:prstGeom>
          <a:noFill/>
          <a:ln/>
        </p:spPr>
        <p:txBody>
          <a:bodyPr wrap="square" lIns="0" tIns="0" rIns="0" bIns="0" rtlCol="0" anchor="ctr"/>
          <a:lstStyle/>
          <a:p>
            <a:pPr marL="0" indent="0">
              <a:buNone/>
            </a:pPr>
            <a:r>
              <a:rPr lang="en-US" sz="1150" b="1" dirty="0">
                <a:solidFill>
                  <a:srgbClr val="5EEAD4"/>
                </a:solidFill>
                <a:latin typeface="Courier New" pitchFamily="34" charset="0"/>
                <a:ea typeface="Courier New" pitchFamily="34" charset="-122"/>
                <a:cs typeface="Courier New" pitchFamily="34" charset="-120"/>
              </a:rPr>
              <a:t>SELECT · INSERT · UPDATE · DELETE</a:t>
            </a:r>
            <a:endParaRPr lang="en-US" sz="1150" dirty="0"/>
          </a:p>
        </p:txBody>
      </p:sp>
      <p:sp>
        <p:nvSpPr>
          <p:cNvPr id="19" name="Shape 15"/>
          <p:cNvSpPr/>
          <p:nvPr/>
        </p:nvSpPr>
        <p:spPr>
          <a:xfrm>
            <a:off x="841248" y="4434840"/>
            <a:ext cx="5074920" cy="1691640"/>
          </a:xfrm>
          <a:prstGeom prst="roundRect">
            <a:avLst>
              <a:gd name="adj" fmla="val 4865"/>
            </a:avLst>
          </a:prstGeom>
          <a:solidFill>
            <a:srgbClr val="FFFFFF"/>
          </a:solidFill>
          <a:ln/>
          <a:effectLst>
            <a:outerShdw blurRad="114300" dist="38100" dir="5400000" algn="bl" rotWithShape="0">
              <a:srgbClr val="0B1F33">
                <a:alpha val="16000"/>
              </a:srgbClr>
            </a:outerShdw>
          </a:effectLst>
        </p:spPr>
      </p:sp>
      <p:sp>
        <p:nvSpPr>
          <p:cNvPr id="20" name="Shape 16"/>
          <p:cNvSpPr/>
          <p:nvPr/>
        </p:nvSpPr>
        <p:spPr>
          <a:xfrm>
            <a:off x="1161288" y="4754880"/>
            <a:ext cx="777240" cy="777240"/>
          </a:xfrm>
          <a:prstGeom prst="ellipse">
            <a:avLst/>
          </a:prstGeom>
          <a:solidFill>
            <a:srgbClr val="0B1F33"/>
          </a:solidFill>
          <a:ln/>
          <a:effectLst>
            <a:outerShdw blurRad="114300" dist="38100" dir="5400000" algn="bl" rotWithShape="0">
              <a:srgbClr val="0B1F33">
                <a:alpha val="16000"/>
              </a:srgbClr>
            </a:outerShdw>
          </a:effectLst>
        </p:spPr>
      </p:sp>
      <p:pic>
        <p:nvPicPr>
          <p:cNvPr id="21" name="Image 2" descr="preencoded.png"/>
          <p:cNvPicPr>
            <a:picLocks noChangeAspect="1"/>
          </p:cNvPicPr>
          <p:nvPr/>
        </p:nvPicPr>
        <p:blipFill>
          <a:blip r:embed="rId5"/>
          <a:stretch>
            <a:fillRect/>
          </a:stretch>
        </p:blipFill>
        <p:spPr>
          <a:xfrm>
            <a:off x="1371143" y="4964735"/>
            <a:ext cx="357530" cy="357530"/>
          </a:xfrm>
          <a:prstGeom prst="rect">
            <a:avLst/>
          </a:prstGeom>
        </p:spPr>
      </p:pic>
      <p:sp>
        <p:nvSpPr>
          <p:cNvPr id="22" name="Text 17"/>
          <p:cNvSpPr/>
          <p:nvPr/>
        </p:nvSpPr>
        <p:spPr>
          <a:xfrm>
            <a:off x="2121408" y="4690872"/>
            <a:ext cx="1828800" cy="457200"/>
          </a:xfrm>
          <a:prstGeom prst="rect">
            <a:avLst/>
          </a:prstGeom>
          <a:noFill/>
          <a:ln/>
        </p:spPr>
        <p:txBody>
          <a:bodyPr wrap="square" lIns="0" tIns="0" rIns="0" bIns="0" rtlCol="0" anchor="ctr"/>
          <a:lstStyle/>
          <a:p>
            <a:pPr marL="0" indent="0">
              <a:buNone/>
            </a:pPr>
            <a:r>
              <a:rPr lang="en-US" sz="2500" b="1" dirty="0">
                <a:solidFill>
                  <a:srgbClr val="13314F"/>
                </a:solidFill>
                <a:latin typeface="Cambria" pitchFamily="34" charset="0"/>
                <a:ea typeface="Cambria" pitchFamily="34" charset="-122"/>
                <a:cs typeface="Cambria" pitchFamily="34" charset="-120"/>
              </a:rPr>
              <a:t>DCL</a:t>
            </a:r>
            <a:endParaRPr lang="en-US" sz="2500" dirty="0"/>
          </a:p>
        </p:txBody>
      </p:sp>
      <p:sp>
        <p:nvSpPr>
          <p:cNvPr id="23" name="Text 18"/>
          <p:cNvSpPr/>
          <p:nvPr/>
        </p:nvSpPr>
        <p:spPr>
          <a:xfrm>
            <a:off x="2121408" y="5184648"/>
            <a:ext cx="3657600" cy="274320"/>
          </a:xfrm>
          <a:prstGeom prst="rect">
            <a:avLst/>
          </a:prstGeom>
          <a:noFill/>
          <a:ln/>
        </p:spPr>
        <p:txBody>
          <a:bodyPr wrap="square" lIns="0" tIns="0" rIns="0" bIns="0" rtlCol="0" anchor="ctr"/>
          <a:lstStyle/>
          <a:p>
            <a:pPr marL="0" indent="0">
              <a:buNone/>
            </a:pPr>
            <a:r>
              <a:rPr lang="en-US" sz="1150" b="1" kern="0" spc="100" dirty="0">
                <a:solidFill>
                  <a:srgbClr val="0D8C7E"/>
                </a:solidFill>
                <a:latin typeface="Calibri" pitchFamily="34" charset="0"/>
                <a:ea typeface="Calibri" pitchFamily="34" charset="-122"/>
                <a:cs typeface="Calibri" pitchFamily="34" charset="-120"/>
              </a:rPr>
              <a:t>Data Control</a:t>
            </a:r>
            <a:endParaRPr lang="en-US" sz="1150" dirty="0"/>
          </a:p>
        </p:txBody>
      </p:sp>
      <p:sp>
        <p:nvSpPr>
          <p:cNvPr id="24" name="Text 19"/>
          <p:cNvSpPr/>
          <p:nvPr/>
        </p:nvSpPr>
        <p:spPr>
          <a:xfrm>
            <a:off x="1207008" y="5513832"/>
            <a:ext cx="4343400" cy="274320"/>
          </a:xfrm>
          <a:prstGeom prst="rect">
            <a:avLst/>
          </a:prstGeom>
          <a:noFill/>
          <a:ln/>
        </p:spPr>
        <p:txBody>
          <a:bodyPr wrap="square" lIns="0" tIns="0" rIns="0" bIns="0" rtlCol="0" anchor="ctr"/>
          <a:lstStyle/>
          <a:p>
            <a:pPr marL="0" indent="0">
              <a:buNone/>
            </a:pPr>
            <a:r>
              <a:rPr lang="en-US" sz="1300" i="1" dirty="0">
                <a:solidFill>
                  <a:srgbClr val="5B7184"/>
                </a:solidFill>
                <a:latin typeface="Calibri" pitchFamily="34" charset="0"/>
                <a:ea typeface="Calibri" pitchFamily="34" charset="-122"/>
                <a:cs typeface="Calibri" pitchFamily="34" charset="-120"/>
              </a:rPr>
              <a:t>Gérer les droits</a:t>
            </a:r>
            <a:endParaRPr lang="en-US" sz="1300" dirty="0"/>
          </a:p>
        </p:txBody>
      </p:sp>
      <p:sp>
        <p:nvSpPr>
          <p:cNvPr id="25" name="Text 20"/>
          <p:cNvSpPr/>
          <p:nvPr/>
        </p:nvSpPr>
        <p:spPr>
          <a:xfrm>
            <a:off x="1207008" y="5769864"/>
            <a:ext cx="4343400" cy="292608"/>
          </a:xfrm>
          <a:prstGeom prst="rect">
            <a:avLst/>
          </a:prstGeom>
          <a:noFill/>
          <a:ln/>
        </p:spPr>
        <p:txBody>
          <a:bodyPr wrap="square" lIns="0" tIns="0" rIns="0" bIns="0" rtlCol="0" anchor="ctr"/>
          <a:lstStyle/>
          <a:p>
            <a:pPr marL="0" indent="0">
              <a:buNone/>
            </a:pPr>
            <a:r>
              <a:rPr lang="en-US" sz="1150" b="1" dirty="0">
                <a:solidFill>
                  <a:srgbClr val="13314F"/>
                </a:solidFill>
                <a:latin typeface="Courier New" pitchFamily="34" charset="0"/>
                <a:ea typeface="Courier New" pitchFamily="34" charset="-122"/>
                <a:cs typeface="Courier New" pitchFamily="34" charset="-120"/>
              </a:rPr>
              <a:t>GRANT · REVOKE</a:t>
            </a:r>
            <a:endParaRPr lang="en-US" sz="1150" dirty="0"/>
          </a:p>
        </p:txBody>
      </p:sp>
      <p:sp>
        <p:nvSpPr>
          <p:cNvPr id="26" name="Shape 21"/>
          <p:cNvSpPr/>
          <p:nvPr/>
        </p:nvSpPr>
        <p:spPr>
          <a:xfrm>
            <a:off x="6327648" y="4434840"/>
            <a:ext cx="5074920" cy="1691640"/>
          </a:xfrm>
          <a:prstGeom prst="roundRect">
            <a:avLst>
              <a:gd name="adj" fmla="val 4865"/>
            </a:avLst>
          </a:prstGeom>
          <a:solidFill>
            <a:srgbClr val="0B1F33"/>
          </a:solidFill>
          <a:ln/>
          <a:effectLst>
            <a:outerShdw blurRad="114300" dist="38100" dir="5400000" algn="bl" rotWithShape="0">
              <a:srgbClr val="0B1F33">
                <a:alpha val="16000"/>
              </a:srgbClr>
            </a:outerShdw>
          </a:effectLst>
        </p:spPr>
      </p:sp>
      <p:sp>
        <p:nvSpPr>
          <p:cNvPr id="27" name="Shape 22"/>
          <p:cNvSpPr/>
          <p:nvPr/>
        </p:nvSpPr>
        <p:spPr>
          <a:xfrm>
            <a:off x="6647688" y="4754880"/>
            <a:ext cx="777240" cy="777240"/>
          </a:xfrm>
          <a:prstGeom prst="ellipse">
            <a:avLst/>
          </a:prstGeom>
          <a:solidFill>
            <a:srgbClr val="14B8A6"/>
          </a:solidFill>
          <a:ln/>
          <a:effectLst>
            <a:outerShdw blurRad="114300" dist="38100" dir="5400000" algn="bl" rotWithShape="0">
              <a:srgbClr val="0B1F33">
                <a:alpha val="16000"/>
              </a:srgbClr>
            </a:outerShdw>
          </a:effectLst>
        </p:spPr>
      </p:sp>
      <p:pic>
        <p:nvPicPr>
          <p:cNvPr id="28" name="Image 3" descr="preencoded.png"/>
          <p:cNvPicPr>
            <a:picLocks noChangeAspect="1"/>
          </p:cNvPicPr>
          <p:nvPr/>
        </p:nvPicPr>
        <p:blipFill>
          <a:blip r:embed="rId6"/>
          <a:stretch>
            <a:fillRect/>
          </a:stretch>
        </p:blipFill>
        <p:spPr>
          <a:xfrm>
            <a:off x="6857543" y="4964735"/>
            <a:ext cx="357530" cy="357530"/>
          </a:xfrm>
          <a:prstGeom prst="rect">
            <a:avLst/>
          </a:prstGeom>
        </p:spPr>
      </p:pic>
      <p:sp>
        <p:nvSpPr>
          <p:cNvPr id="29" name="Text 23"/>
          <p:cNvSpPr/>
          <p:nvPr/>
        </p:nvSpPr>
        <p:spPr>
          <a:xfrm>
            <a:off x="7607808" y="4690872"/>
            <a:ext cx="1828800" cy="457200"/>
          </a:xfrm>
          <a:prstGeom prst="rect">
            <a:avLst/>
          </a:prstGeom>
          <a:noFill/>
          <a:ln/>
        </p:spPr>
        <p:txBody>
          <a:bodyPr wrap="square" lIns="0" tIns="0" rIns="0" bIns="0" rtlCol="0" anchor="ctr"/>
          <a:lstStyle/>
          <a:p>
            <a:pPr marL="0" indent="0">
              <a:buNone/>
            </a:pPr>
            <a:r>
              <a:rPr lang="en-US" sz="2500" b="1" dirty="0">
                <a:solidFill>
                  <a:srgbClr val="E8EEF4"/>
                </a:solidFill>
                <a:latin typeface="Cambria" pitchFamily="34" charset="0"/>
                <a:ea typeface="Cambria" pitchFamily="34" charset="-122"/>
                <a:cs typeface="Cambria" pitchFamily="34" charset="-120"/>
              </a:rPr>
              <a:t>TCL</a:t>
            </a:r>
            <a:endParaRPr lang="en-US" sz="2500" dirty="0"/>
          </a:p>
        </p:txBody>
      </p:sp>
      <p:sp>
        <p:nvSpPr>
          <p:cNvPr id="30" name="Text 24"/>
          <p:cNvSpPr/>
          <p:nvPr/>
        </p:nvSpPr>
        <p:spPr>
          <a:xfrm>
            <a:off x="7607808" y="5184648"/>
            <a:ext cx="3657600" cy="274320"/>
          </a:xfrm>
          <a:prstGeom prst="rect">
            <a:avLst/>
          </a:prstGeom>
          <a:noFill/>
          <a:ln/>
        </p:spPr>
        <p:txBody>
          <a:bodyPr wrap="square" lIns="0" tIns="0" rIns="0" bIns="0" rtlCol="0" anchor="ctr"/>
          <a:lstStyle/>
          <a:p>
            <a:pPr marL="0" indent="0">
              <a:buNone/>
            </a:pPr>
            <a:r>
              <a:rPr lang="en-US" sz="1150" b="1" kern="0" spc="100" dirty="0">
                <a:solidFill>
                  <a:srgbClr val="5EEAD4"/>
                </a:solidFill>
                <a:latin typeface="Calibri" pitchFamily="34" charset="0"/>
                <a:ea typeface="Calibri" pitchFamily="34" charset="-122"/>
                <a:cs typeface="Calibri" pitchFamily="34" charset="-120"/>
              </a:rPr>
              <a:t>Transaction Control</a:t>
            </a:r>
            <a:endParaRPr lang="en-US" sz="1150" dirty="0"/>
          </a:p>
        </p:txBody>
      </p:sp>
      <p:sp>
        <p:nvSpPr>
          <p:cNvPr id="31" name="Text 25"/>
          <p:cNvSpPr/>
          <p:nvPr/>
        </p:nvSpPr>
        <p:spPr>
          <a:xfrm>
            <a:off x="6693408" y="5513832"/>
            <a:ext cx="4343400" cy="274320"/>
          </a:xfrm>
          <a:prstGeom prst="rect">
            <a:avLst/>
          </a:prstGeom>
          <a:noFill/>
          <a:ln/>
        </p:spPr>
        <p:txBody>
          <a:bodyPr wrap="square" lIns="0" tIns="0" rIns="0" bIns="0" rtlCol="0" anchor="ctr"/>
          <a:lstStyle/>
          <a:p>
            <a:pPr marL="0" indent="0">
              <a:buNone/>
            </a:pPr>
            <a:r>
              <a:rPr lang="en-US" sz="1300" i="1" dirty="0">
                <a:solidFill>
                  <a:srgbClr val="9FB3C8"/>
                </a:solidFill>
                <a:latin typeface="Calibri" pitchFamily="34" charset="0"/>
                <a:ea typeface="Calibri" pitchFamily="34" charset="-122"/>
                <a:cs typeface="Calibri" pitchFamily="34" charset="-120"/>
              </a:rPr>
              <a:t>Gérer les transactions</a:t>
            </a:r>
            <a:endParaRPr lang="en-US" sz="1300" dirty="0"/>
          </a:p>
        </p:txBody>
      </p:sp>
      <p:sp>
        <p:nvSpPr>
          <p:cNvPr id="32" name="Text 26"/>
          <p:cNvSpPr/>
          <p:nvPr/>
        </p:nvSpPr>
        <p:spPr>
          <a:xfrm>
            <a:off x="6693408" y="5769864"/>
            <a:ext cx="4343400" cy="292608"/>
          </a:xfrm>
          <a:prstGeom prst="rect">
            <a:avLst/>
          </a:prstGeom>
          <a:noFill/>
          <a:ln/>
        </p:spPr>
        <p:txBody>
          <a:bodyPr wrap="square" lIns="0" tIns="0" rIns="0" bIns="0" rtlCol="0" anchor="ctr"/>
          <a:lstStyle/>
          <a:p>
            <a:pPr marL="0" indent="0">
              <a:buNone/>
            </a:pPr>
            <a:r>
              <a:rPr lang="en-US" sz="1150" b="1" dirty="0">
                <a:solidFill>
                  <a:srgbClr val="5EEAD4"/>
                </a:solidFill>
                <a:latin typeface="Courier New" pitchFamily="34" charset="0"/>
                <a:ea typeface="Courier New" pitchFamily="34" charset="-122"/>
                <a:cs typeface="Courier New" pitchFamily="34" charset="-120"/>
              </a:rPr>
              <a:t>COMMIT · ROLLBACK</a:t>
            </a:r>
            <a:endParaRPr lang="en-US" sz="1150" dirty="0"/>
          </a:p>
        </p:txBody>
      </p:sp>
      <p:sp>
        <p:nvSpPr>
          <p:cNvPr id="33" name="ZoneTexte 32">
            <a:extLst>
              <a:ext uri="{FF2B5EF4-FFF2-40B4-BE49-F238E27FC236}">
                <a16:creationId xmlns:a16="http://schemas.microsoft.com/office/drawing/2014/main" id="{6E0E5E9B-0C15-DBDC-5AEA-04C4916ECCA1}"/>
              </a:ext>
            </a:extLst>
          </p:cNvPr>
          <p:cNvSpPr txBox="1"/>
          <p:nvPr/>
        </p:nvSpPr>
        <p:spPr>
          <a:xfrm>
            <a:off x="841248" y="6172200"/>
            <a:ext cx="10936224" cy="646331"/>
          </a:xfrm>
          <a:prstGeom prst="rect">
            <a:avLst/>
          </a:prstGeom>
          <a:noFill/>
        </p:spPr>
        <p:txBody>
          <a:bodyPr wrap="square" rtlCol="0">
            <a:spAutoFit/>
          </a:bodyPr>
          <a:lstStyle/>
          <a:p>
            <a:r>
              <a:rPr lang="fr-FR" dirty="0"/>
              <a:t>En une phrase : </a:t>
            </a:r>
            <a:r>
              <a:rPr lang="fr-FR" b="1" dirty="0"/>
              <a:t>DDL</a:t>
            </a:r>
            <a:r>
              <a:rPr lang="fr-FR" dirty="0"/>
              <a:t> construit l'hôpital, </a:t>
            </a:r>
            <a:r>
              <a:rPr lang="fr-FR" b="1" dirty="0"/>
              <a:t>DML</a:t>
            </a:r>
            <a:r>
              <a:rPr lang="fr-FR" dirty="0"/>
              <a:t> y admet et soigne les patients, </a:t>
            </a:r>
            <a:r>
              <a:rPr lang="fr-FR" b="1" dirty="0"/>
              <a:t>DCL</a:t>
            </a:r>
            <a:r>
              <a:rPr lang="fr-FR" dirty="0"/>
              <a:t> distribue les badges d'accès, et </a:t>
            </a:r>
            <a:r>
              <a:rPr lang="fr-FR" b="1" dirty="0"/>
              <a:t>TCL</a:t>
            </a:r>
            <a:r>
              <a:rPr lang="fr-FR" dirty="0"/>
              <a:t> veille à ce qu'aucun acte ne reste à moitié fait.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5</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L'anatomie d'une requête SELECT</a:t>
            </a:r>
            <a:endParaRPr lang="en-US" sz="3300" dirty="0"/>
          </a:p>
        </p:txBody>
      </p:sp>
      <p:sp>
        <p:nvSpPr>
          <p:cNvPr id="4" name="Text 2"/>
          <p:cNvSpPr/>
          <p:nvPr/>
        </p:nvSpPr>
        <p:spPr>
          <a:xfrm>
            <a:off x="841248" y="1554480"/>
            <a:ext cx="10424160" cy="457200"/>
          </a:xfrm>
          <a:prstGeom prst="rect">
            <a:avLst/>
          </a:prstGeom>
          <a:noFill/>
          <a:ln/>
        </p:spPr>
        <p:txBody>
          <a:bodyPr wrap="square" lIns="0" tIns="0" rIns="0" bIns="0" rtlCol="0" anchor="ctr"/>
          <a:lstStyle/>
          <a:p>
            <a:pPr marL="0" indent="0">
              <a:buNone/>
            </a:pPr>
            <a:r>
              <a:rPr lang="en-US" sz="1550" dirty="0">
                <a:solidFill>
                  <a:srgbClr val="5B7184"/>
                </a:solidFill>
                <a:latin typeface="Calibri" pitchFamily="34" charset="0"/>
                <a:ea typeface="Calibri" pitchFamily="34" charset="-122"/>
                <a:cs typeface="Calibri" pitchFamily="34" charset="-120"/>
              </a:rPr>
              <a:t>Une clé de compréhension puissante : l'ordre dans lequel on écrit n'est pas l'ordre dans lequel le moteur exécute.</a:t>
            </a:r>
            <a:endParaRPr lang="en-US" sz="1550" dirty="0"/>
          </a:p>
        </p:txBody>
      </p:sp>
      <p:sp>
        <p:nvSpPr>
          <p:cNvPr id="5" name="Shape 3"/>
          <p:cNvSpPr/>
          <p:nvPr/>
        </p:nvSpPr>
        <p:spPr>
          <a:xfrm>
            <a:off x="841248" y="2286000"/>
            <a:ext cx="5074920" cy="4023360"/>
          </a:xfrm>
          <a:prstGeom prst="roundRect">
            <a:avLst>
              <a:gd name="adj" fmla="val 2045"/>
            </a:avLst>
          </a:prstGeom>
          <a:solidFill>
            <a:srgbClr val="0B1F33"/>
          </a:solidFill>
          <a:ln/>
          <a:effectLst>
            <a:outerShdw blurRad="114300" dist="38100" dir="5400000" algn="bl" rotWithShape="0">
              <a:srgbClr val="0B1F33">
                <a:alpha val="16000"/>
              </a:srgbClr>
            </a:outerShdw>
          </a:effectLst>
        </p:spPr>
      </p:sp>
      <p:sp>
        <p:nvSpPr>
          <p:cNvPr id="6" name="Text 4"/>
          <p:cNvSpPr/>
          <p:nvPr/>
        </p:nvSpPr>
        <p:spPr>
          <a:xfrm>
            <a:off x="1207008" y="2560320"/>
            <a:ext cx="4343400" cy="365760"/>
          </a:xfrm>
          <a:prstGeom prst="rect">
            <a:avLst/>
          </a:prstGeom>
          <a:noFill/>
          <a:ln/>
        </p:spPr>
        <p:txBody>
          <a:bodyPr wrap="square" lIns="0" tIns="0" rIns="0" bIns="0" rtlCol="0" anchor="ctr"/>
          <a:lstStyle/>
          <a:p>
            <a:pPr marL="0" indent="0">
              <a:buNone/>
            </a:pPr>
            <a:r>
              <a:rPr lang="en-US" sz="1800" b="1" dirty="0">
                <a:solidFill>
                  <a:srgbClr val="E8EEF4"/>
                </a:solidFill>
                <a:latin typeface="Cambria" pitchFamily="34" charset="0"/>
                <a:ea typeface="Cambria" pitchFamily="34" charset="-122"/>
                <a:cs typeface="Cambria" pitchFamily="34" charset="-120"/>
              </a:rPr>
              <a:t>Ordre d'écriture</a:t>
            </a:r>
            <a:endParaRPr lang="en-US" sz="1800" dirty="0"/>
          </a:p>
        </p:txBody>
      </p:sp>
      <p:sp>
        <p:nvSpPr>
          <p:cNvPr id="7" name="Text 5"/>
          <p:cNvSpPr/>
          <p:nvPr/>
        </p:nvSpPr>
        <p:spPr>
          <a:xfrm>
            <a:off x="1252728" y="3154680"/>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SELECT</a:t>
            </a:r>
            <a:r>
              <a:rPr lang="en-US" sz="1350" dirty="0">
                <a:solidFill>
                  <a:srgbClr val="9FB3C8"/>
                </a:solidFill>
                <a:latin typeface="Courier New" pitchFamily="34" charset="0"/>
                <a:ea typeface="Courier New" pitchFamily="34" charset="-122"/>
                <a:cs typeface="Courier New" pitchFamily="34" charset="-120"/>
              </a:rPr>
              <a:t>   les colonnes voulues</a:t>
            </a:r>
            <a:endParaRPr lang="en-US" sz="1350" dirty="0"/>
          </a:p>
        </p:txBody>
      </p:sp>
      <p:sp>
        <p:nvSpPr>
          <p:cNvPr id="8" name="Text 6"/>
          <p:cNvSpPr/>
          <p:nvPr/>
        </p:nvSpPr>
        <p:spPr>
          <a:xfrm>
            <a:off x="1252728" y="3538728"/>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FROM</a:t>
            </a:r>
            <a:r>
              <a:rPr lang="en-US" sz="1350" dirty="0">
                <a:solidFill>
                  <a:srgbClr val="9FB3C8"/>
                </a:solidFill>
                <a:latin typeface="Courier New" pitchFamily="34" charset="0"/>
                <a:ea typeface="Courier New" pitchFamily="34" charset="-122"/>
                <a:cs typeface="Courier New" pitchFamily="34" charset="-120"/>
              </a:rPr>
              <a:t>   la ou les tables</a:t>
            </a:r>
            <a:endParaRPr lang="en-US" sz="1350" dirty="0"/>
          </a:p>
        </p:txBody>
      </p:sp>
      <p:sp>
        <p:nvSpPr>
          <p:cNvPr id="9" name="Text 7"/>
          <p:cNvSpPr/>
          <p:nvPr/>
        </p:nvSpPr>
        <p:spPr>
          <a:xfrm>
            <a:off x="1252728" y="3922776"/>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WHERE</a:t>
            </a:r>
            <a:r>
              <a:rPr lang="en-US" sz="1350" dirty="0">
                <a:solidFill>
                  <a:srgbClr val="9FB3C8"/>
                </a:solidFill>
                <a:latin typeface="Courier New" pitchFamily="34" charset="0"/>
                <a:ea typeface="Courier New" pitchFamily="34" charset="-122"/>
                <a:cs typeface="Courier New" pitchFamily="34" charset="-120"/>
              </a:rPr>
              <a:t>   filtrer les lignes</a:t>
            </a:r>
            <a:endParaRPr lang="en-US" sz="1350" dirty="0"/>
          </a:p>
        </p:txBody>
      </p:sp>
      <p:sp>
        <p:nvSpPr>
          <p:cNvPr id="10" name="Text 8"/>
          <p:cNvSpPr/>
          <p:nvPr/>
        </p:nvSpPr>
        <p:spPr>
          <a:xfrm>
            <a:off x="1252728" y="4306824"/>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GROUP BY</a:t>
            </a:r>
            <a:r>
              <a:rPr lang="en-US" sz="1350" dirty="0">
                <a:solidFill>
                  <a:srgbClr val="9FB3C8"/>
                </a:solidFill>
                <a:latin typeface="Courier New" pitchFamily="34" charset="0"/>
                <a:ea typeface="Courier New" pitchFamily="34" charset="-122"/>
                <a:cs typeface="Courier New" pitchFamily="34" charset="-120"/>
              </a:rPr>
              <a:t>   regrouper</a:t>
            </a:r>
            <a:endParaRPr lang="en-US" sz="1350" dirty="0"/>
          </a:p>
        </p:txBody>
      </p:sp>
      <p:sp>
        <p:nvSpPr>
          <p:cNvPr id="11" name="Text 9"/>
          <p:cNvSpPr/>
          <p:nvPr/>
        </p:nvSpPr>
        <p:spPr>
          <a:xfrm>
            <a:off x="1252728" y="4690872"/>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HAVING</a:t>
            </a:r>
            <a:r>
              <a:rPr lang="en-US" sz="1350" dirty="0">
                <a:solidFill>
                  <a:srgbClr val="9FB3C8"/>
                </a:solidFill>
                <a:latin typeface="Courier New" pitchFamily="34" charset="0"/>
                <a:ea typeface="Courier New" pitchFamily="34" charset="-122"/>
                <a:cs typeface="Courier New" pitchFamily="34" charset="-120"/>
              </a:rPr>
              <a:t>   filtrer les groupes</a:t>
            </a:r>
            <a:endParaRPr lang="en-US" sz="1350" dirty="0"/>
          </a:p>
        </p:txBody>
      </p:sp>
      <p:sp>
        <p:nvSpPr>
          <p:cNvPr id="12" name="Text 10"/>
          <p:cNvSpPr/>
          <p:nvPr/>
        </p:nvSpPr>
        <p:spPr>
          <a:xfrm>
            <a:off x="1252728" y="5074920"/>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ORDER BY</a:t>
            </a:r>
            <a:r>
              <a:rPr lang="en-US" sz="1350" dirty="0">
                <a:solidFill>
                  <a:srgbClr val="9FB3C8"/>
                </a:solidFill>
                <a:latin typeface="Courier New" pitchFamily="34" charset="0"/>
                <a:ea typeface="Courier New" pitchFamily="34" charset="-122"/>
                <a:cs typeface="Courier New" pitchFamily="34" charset="-120"/>
              </a:rPr>
              <a:t>   trier</a:t>
            </a:r>
            <a:endParaRPr lang="en-US" sz="1350" dirty="0"/>
          </a:p>
        </p:txBody>
      </p:sp>
      <p:sp>
        <p:nvSpPr>
          <p:cNvPr id="13" name="Text 11"/>
          <p:cNvSpPr/>
          <p:nvPr/>
        </p:nvSpPr>
        <p:spPr>
          <a:xfrm>
            <a:off x="1252728" y="5458968"/>
            <a:ext cx="4434840" cy="365760"/>
          </a:xfrm>
          <a:prstGeom prst="rect">
            <a:avLst/>
          </a:prstGeom>
          <a:noFill/>
          <a:ln/>
        </p:spPr>
        <p:txBody>
          <a:bodyPr wrap="square" lIns="0" tIns="0" rIns="0" bIns="0" rtlCol="0" anchor="ctr"/>
          <a:lstStyle/>
          <a:p>
            <a:pPr marL="0" indent="0">
              <a:buNone/>
            </a:pPr>
            <a:r>
              <a:rPr lang="en-US" sz="1350" b="1" dirty="0">
                <a:solidFill>
                  <a:srgbClr val="5EEAD4"/>
                </a:solidFill>
                <a:latin typeface="Courier New" pitchFamily="34" charset="0"/>
                <a:ea typeface="Courier New" pitchFamily="34" charset="-122"/>
                <a:cs typeface="Courier New" pitchFamily="34" charset="-120"/>
              </a:rPr>
              <a:t>LIMIT</a:t>
            </a:r>
            <a:r>
              <a:rPr lang="en-US" sz="1350" dirty="0">
                <a:solidFill>
                  <a:srgbClr val="9FB3C8"/>
                </a:solidFill>
                <a:latin typeface="Courier New" pitchFamily="34" charset="0"/>
                <a:ea typeface="Courier New" pitchFamily="34" charset="-122"/>
                <a:cs typeface="Courier New" pitchFamily="34" charset="-120"/>
              </a:rPr>
              <a:t>   limiter le nombre</a:t>
            </a:r>
            <a:endParaRPr lang="en-US" sz="1350" dirty="0"/>
          </a:p>
        </p:txBody>
      </p:sp>
      <p:sp>
        <p:nvSpPr>
          <p:cNvPr id="14" name="Shape 12"/>
          <p:cNvSpPr/>
          <p:nvPr/>
        </p:nvSpPr>
        <p:spPr>
          <a:xfrm>
            <a:off x="6327648" y="2286000"/>
            <a:ext cx="5074920" cy="4023360"/>
          </a:xfrm>
          <a:prstGeom prst="roundRect">
            <a:avLst>
              <a:gd name="adj" fmla="val 2045"/>
            </a:avLst>
          </a:prstGeom>
          <a:solidFill>
            <a:srgbClr val="FFFFFF"/>
          </a:solidFill>
          <a:ln/>
          <a:effectLst>
            <a:outerShdw blurRad="114300" dist="38100" dir="5400000" algn="bl" rotWithShape="0">
              <a:srgbClr val="0B1F33">
                <a:alpha val="16000"/>
              </a:srgbClr>
            </a:outerShdw>
          </a:effectLst>
        </p:spPr>
      </p:sp>
      <p:sp>
        <p:nvSpPr>
          <p:cNvPr id="15" name="Text 13"/>
          <p:cNvSpPr/>
          <p:nvPr/>
        </p:nvSpPr>
        <p:spPr>
          <a:xfrm>
            <a:off x="6693408" y="2560320"/>
            <a:ext cx="4343400" cy="365760"/>
          </a:xfrm>
          <a:prstGeom prst="rect">
            <a:avLst/>
          </a:prstGeom>
          <a:noFill/>
          <a:ln/>
        </p:spPr>
        <p:txBody>
          <a:bodyPr wrap="square" lIns="0" tIns="0" rIns="0" bIns="0" rtlCol="0" anchor="ctr"/>
          <a:lstStyle/>
          <a:p>
            <a:pPr marL="0" indent="0">
              <a:buNone/>
            </a:pPr>
            <a:r>
              <a:rPr lang="en-US" sz="1800" b="1" dirty="0">
                <a:solidFill>
                  <a:srgbClr val="13314F"/>
                </a:solidFill>
                <a:latin typeface="Cambria" pitchFamily="34" charset="0"/>
                <a:ea typeface="Cambria" pitchFamily="34" charset="-122"/>
                <a:cs typeface="Cambria" pitchFamily="34" charset="-120"/>
              </a:rPr>
              <a:t>Ordre d'exécution logique</a:t>
            </a:r>
            <a:endParaRPr lang="en-US" sz="1800" dirty="0"/>
          </a:p>
        </p:txBody>
      </p:sp>
      <p:sp>
        <p:nvSpPr>
          <p:cNvPr id="16" name="Shape 14"/>
          <p:cNvSpPr/>
          <p:nvPr/>
        </p:nvSpPr>
        <p:spPr>
          <a:xfrm>
            <a:off x="6739128" y="3182112"/>
            <a:ext cx="274320" cy="274320"/>
          </a:xfrm>
          <a:prstGeom prst="ellipse">
            <a:avLst/>
          </a:prstGeom>
          <a:solidFill>
            <a:srgbClr val="14B8A6"/>
          </a:solidFill>
          <a:ln/>
        </p:spPr>
      </p:sp>
      <p:sp>
        <p:nvSpPr>
          <p:cNvPr id="17" name="Text 15"/>
          <p:cNvSpPr/>
          <p:nvPr/>
        </p:nvSpPr>
        <p:spPr>
          <a:xfrm>
            <a:off x="6739128" y="31821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7196328" y="3154680"/>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FROM</a:t>
            </a:r>
            <a:endParaRPr lang="en-US" sz="1400" dirty="0"/>
          </a:p>
        </p:txBody>
      </p:sp>
      <p:sp>
        <p:nvSpPr>
          <p:cNvPr id="19" name="Shape 17"/>
          <p:cNvSpPr/>
          <p:nvPr/>
        </p:nvSpPr>
        <p:spPr>
          <a:xfrm>
            <a:off x="6739128" y="3566160"/>
            <a:ext cx="274320" cy="274320"/>
          </a:xfrm>
          <a:prstGeom prst="ellipse">
            <a:avLst/>
          </a:prstGeom>
          <a:solidFill>
            <a:srgbClr val="14B8A6"/>
          </a:solidFill>
          <a:ln/>
        </p:spPr>
      </p:sp>
      <p:sp>
        <p:nvSpPr>
          <p:cNvPr id="20" name="Text 18"/>
          <p:cNvSpPr/>
          <p:nvPr/>
        </p:nvSpPr>
        <p:spPr>
          <a:xfrm>
            <a:off x="6739128" y="35661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7196328" y="3538728"/>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WHERE</a:t>
            </a:r>
            <a:endParaRPr lang="en-US" sz="1400" dirty="0"/>
          </a:p>
        </p:txBody>
      </p:sp>
      <p:sp>
        <p:nvSpPr>
          <p:cNvPr id="22" name="Shape 20"/>
          <p:cNvSpPr/>
          <p:nvPr/>
        </p:nvSpPr>
        <p:spPr>
          <a:xfrm>
            <a:off x="6739128" y="3950208"/>
            <a:ext cx="274320" cy="274320"/>
          </a:xfrm>
          <a:prstGeom prst="ellipse">
            <a:avLst/>
          </a:prstGeom>
          <a:solidFill>
            <a:srgbClr val="14B8A6"/>
          </a:solidFill>
          <a:ln/>
        </p:spPr>
      </p:sp>
      <p:sp>
        <p:nvSpPr>
          <p:cNvPr id="23" name="Text 21"/>
          <p:cNvSpPr/>
          <p:nvPr/>
        </p:nvSpPr>
        <p:spPr>
          <a:xfrm>
            <a:off x="6739128"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7196328" y="3922776"/>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GROUP BY</a:t>
            </a:r>
            <a:endParaRPr lang="en-US" sz="1400" dirty="0"/>
          </a:p>
        </p:txBody>
      </p:sp>
      <p:sp>
        <p:nvSpPr>
          <p:cNvPr id="25" name="Shape 23"/>
          <p:cNvSpPr/>
          <p:nvPr/>
        </p:nvSpPr>
        <p:spPr>
          <a:xfrm>
            <a:off x="6739128" y="4334256"/>
            <a:ext cx="274320" cy="274320"/>
          </a:xfrm>
          <a:prstGeom prst="ellipse">
            <a:avLst/>
          </a:prstGeom>
          <a:solidFill>
            <a:srgbClr val="14B8A6"/>
          </a:solidFill>
          <a:ln/>
        </p:spPr>
      </p:sp>
      <p:sp>
        <p:nvSpPr>
          <p:cNvPr id="26" name="Text 24"/>
          <p:cNvSpPr/>
          <p:nvPr/>
        </p:nvSpPr>
        <p:spPr>
          <a:xfrm>
            <a:off x="6739128" y="433425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7196328" y="4306824"/>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HAVING</a:t>
            </a:r>
            <a:endParaRPr lang="en-US" sz="1400" dirty="0"/>
          </a:p>
        </p:txBody>
      </p:sp>
      <p:sp>
        <p:nvSpPr>
          <p:cNvPr id="28" name="Shape 26"/>
          <p:cNvSpPr/>
          <p:nvPr/>
        </p:nvSpPr>
        <p:spPr>
          <a:xfrm>
            <a:off x="6739128" y="4718304"/>
            <a:ext cx="274320" cy="274320"/>
          </a:xfrm>
          <a:prstGeom prst="ellipse">
            <a:avLst/>
          </a:prstGeom>
          <a:solidFill>
            <a:srgbClr val="F59E0B"/>
          </a:solidFill>
          <a:ln/>
        </p:spPr>
      </p:sp>
      <p:sp>
        <p:nvSpPr>
          <p:cNvPr id="29" name="Text 27"/>
          <p:cNvSpPr/>
          <p:nvPr/>
        </p:nvSpPr>
        <p:spPr>
          <a:xfrm>
            <a:off x="6739128" y="471830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7196328" y="4690872"/>
            <a:ext cx="3886200" cy="329184"/>
          </a:xfrm>
          <a:prstGeom prst="rect">
            <a:avLst/>
          </a:prstGeom>
          <a:noFill/>
          <a:ln/>
        </p:spPr>
        <p:txBody>
          <a:bodyPr wrap="square" lIns="0" tIns="0" rIns="0" bIns="0" rtlCol="0" anchor="ctr"/>
          <a:lstStyle/>
          <a:p>
            <a:pPr marL="0" indent="0">
              <a:buNone/>
            </a:pPr>
            <a:r>
              <a:rPr lang="en-US" sz="1400" b="1" dirty="0">
                <a:solidFill>
                  <a:srgbClr val="B45309"/>
                </a:solidFill>
                <a:latin typeface="Courier New" pitchFamily="34" charset="0"/>
                <a:ea typeface="Courier New" pitchFamily="34" charset="-122"/>
                <a:cs typeface="Courier New" pitchFamily="34" charset="-120"/>
              </a:rPr>
              <a:t>SELECT</a:t>
            </a:r>
            <a:endParaRPr lang="en-US" sz="1400" dirty="0"/>
          </a:p>
        </p:txBody>
      </p:sp>
      <p:sp>
        <p:nvSpPr>
          <p:cNvPr id="31" name="Shape 29"/>
          <p:cNvSpPr/>
          <p:nvPr/>
        </p:nvSpPr>
        <p:spPr>
          <a:xfrm>
            <a:off x="6739128" y="5102352"/>
            <a:ext cx="274320" cy="274320"/>
          </a:xfrm>
          <a:prstGeom prst="ellipse">
            <a:avLst/>
          </a:prstGeom>
          <a:solidFill>
            <a:srgbClr val="14B8A6"/>
          </a:solidFill>
          <a:ln/>
        </p:spPr>
      </p:sp>
      <p:sp>
        <p:nvSpPr>
          <p:cNvPr id="32" name="Text 30"/>
          <p:cNvSpPr/>
          <p:nvPr/>
        </p:nvSpPr>
        <p:spPr>
          <a:xfrm>
            <a:off x="6739128" y="51023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7196328" y="5074920"/>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ORDER BY</a:t>
            </a:r>
            <a:endParaRPr lang="en-US" sz="1400" dirty="0"/>
          </a:p>
        </p:txBody>
      </p:sp>
      <p:sp>
        <p:nvSpPr>
          <p:cNvPr id="34" name="Shape 32"/>
          <p:cNvSpPr/>
          <p:nvPr/>
        </p:nvSpPr>
        <p:spPr>
          <a:xfrm>
            <a:off x="6739128" y="5486400"/>
            <a:ext cx="274320" cy="274320"/>
          </a:xfrm>
          <a:prstGeom prst="ellipse">
            <a:avLst/>
          </a:prstGeom>
          <a:solidFill>
            <a:srgbClr val="14B8A6"/>
          </a:solidFill>
          <a:ln/>
        </p:spPr>
      </p:sp>
      <p:sp>
        <p:nvSpPr>
          <p:cNvPr id="35" name="Text 33"/>
          <p:cNvSpPr/>
          <p:nvPr/>
        </p:nvSpPr>
        <p:spPr>
          <a:xfrm>
            <a:off x="6739128" y="5486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6" name="Text 34"/>
          <p:cNvSpPr/>
          <p:nvPr/>
        </p:nvSpPr>
        <p:spPr>
          <a:xfrm>
            <a:off x="7196328" y="5458968"/>
            <a:ext cx="3886200" cy="329184"/>
          </a:xfrm>
          <a:prstGeom prst="rect">
            <a:avLst/>
          </a:prstGeom>
          <a:noFill/>
          <a:ln/>
        </p:spPr>
        <p:txBody>
          <a:bodyPr wrap="square" lIns="0" tIns="0" rIns="0" bIns="0" rtlCol="0" anchor="ctr"/>
          <a:lstStyle/>
          <a:p>
            <a:pPr marL="0" indent="0">
              <a:buNone/>
            </a:pPr>
            <a:r>
              <a:rPr lang="en-US" sz="1400" b="1" dirty="0">
                <a:solidFill>
                  <a:srgbClr val="13314F"/>
                </a:solidFill>
                <a:latin typeface="Courier New" pitchFamily="34" charset="0"/>
                <a:ea typeface="Courier New" pitchFamily="34" charset="-122"/>
                <a:cs typeface="Courier New" pitchFamily="34" charset="-120"/>
              </a:rPr>
              <a:t>LIMIT</a:t>
            </a:r>
            <a:endParaRPr lang="en-US" sz="1400" dirty="0"/>
          </a:p>
        </p:txBody>
      </p:sp>
      <p:sp>
        <p:nvSpPr>
          <p:cNvPr id="37" name="Text 35"/>
          <p:cNvSpPr/>
          <p:nvPr/>
        </p:nvSpPr>
        <p:spPr>
          <a:xfrm>
            <a:off x="6739128" y="5852160"/>
            <a:ext cx="4343400" cy="365760"/>
          </a:xfrm>
          <a:prstGeom prst="rect">
            <a:avLst/>
          </a:prstGeom>
          <a:noFill/>
          <a:ln/>
        </p:spPr>
        <p:txBody>
          <a:bodyPr wrap="square" lIns="0" tIns="0" rIns="0" bIns="0" rtlCol="0" anchor="ctr"/>
          <a:lstStyle/>
          <a:p>
            <a:pPr marL="0" indent="0">
              <a:buNone/>
            </a:pPr>
            <a:r>
              <a:rPr lang="en-US" sz="1200" i="1" dirty="0">
                <a:solidFill>
                  <a:srgbClr val="5B7184"/>
                </a:solidFill>
                <a:latin typeface="Calibri" pitchFamily="34" charset="0"/>
                <a:ea typeface="Calibri" pitchFamily="34" charset="-122"/>
                <a:cs typeface="Calibri" pitchFamily="34" charset="-120"/>
              </a:rPr>
              <a:t>Le FROM est évalué en premier, le SELECT presque à la fin.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lgn="l">
              <a:buNone/>
            </a:pPr>
            <a:r>
              <a:rPr lang="en-US" sz="1250" b="1" kern="0" spc="300" dirty="0">
                <a:solidFill>
                  <a:srgbClr val="14B8A6"/>
                </a:solidFill>
                <a:latin typeface="Calibri" pitchFamily="34" charset="0"/>
                <a:ea typeface="Calibri" pitchFamily="34" charset="-122"/>
                <a:cs typeface="Calibri" pitchFamily="34" charset="-120"/>
              </a:rPr>
              <a:t>NOTION 6</a:t>
            </a:r>
            <a:endParaRPr lang="en-US" sz="1250" dirty="0"/>
          </a:p>
        </p:txBody>
      </p:sp>
      <p:sp>
        <p:nvSpPr>
          <p:cNvPr id="3" name="Text 1"/>
          <p:cNvSpPr/>
          <p:nvPr/>
        </p:nvSpPr>
        <p:spPr>
          <a:xfrm>
            <a:off x="822960" y="786384"/>
            <a:ext cx="10515600" cy="822960"/>
          </a:xfrm>
          <a:prstGeom prst="rect">
            <a:avLst/>
          </a:prstGeom>
          <a:noFill/>
          <a:ln/>
        </p:spPr>
        <p:txBody>
          <a:bodyPr wrap="square" lIns="0" tIns="0" rIns="0" bIns="0" rtlCol="0" anchor="ctr"/>
          <a:lstStyle/>
          <a:p>
            <a:pPr marL="0" indent="0" algn="l">
              <a:buNone/>
            </a:pPr>
            <a:r>
              <a:rPr lang="en-US" sz="3300" b="1" dirty="0">
                <a:solidFill>
                  <a:srgbClr val="13314F"/>
                </a:solidFill>
                <a:latin typeface="Cambria" pitchFamily="34" charset="0"/>
                <a:ea typeface="Cambria" pitchFamily="34" charset="-122"/>
                <a:cs typeface="Cambria" pitchFamily="34" charset="-120"/>
              </a:rPr>
              <a:t>Quelques principes transversaux</a:t>
            </a:r>
            <a:endParaRPr lang="en-US" sz="3300" dirty="0"/>
          </a:p>
        </p:txBody>
      </p:sp>
      <p:sp>
        <p:nvSpPr>
          <p:cNvPr id="4" name="Shape 2"/>
          <p:cNvSpPr/>
          <p:nvPr/>
        </p:nvSpPr>
        <p:spPr>
          <a:xfrm>
            <a:off x="841248" y="1874520"/>
            <a:ext cx="10469880" cy="1024128"/>
          </a:xfrm>
          <a:prstGeom prst="roundRect">
            <a:avLst>
              <a:gd name="adj" fmla="val 7143"/>
            </a:avLst>
          </a:prstGeom>
          <a:solidFill>
            <a:srgbClr val="FFFFFF"/>
          </a:solidFill>
          <a:ln/>
          <a:effectLst>
            <a:outerShdw blurRad="114300" dist="38100" dir="5400000" algn="bl" rotWithShape="0">
              <a:srgbClr val="0B1F33">
                <a:alpha val="16000"/>
              </a:srgbClr>
            </a:outerShdw>
          </a:effectLst>
        </p:spPr>
      </p:sp>
      <p:sp>
        <p:nvSpPr>
          <p:cNvPr id="5" name="Shape 3"/>
          <p:cNvSpPr/>
          <p:nvPr/>
        </p:nvSpPr>
        <p:spPr>
          <a:xfrm>
            <a:off x="1133856" y="2112264"/>
            <a:ext cx="548640" cy="548640"/>
          </a:xfrm>
          <a:prstGeom prst="ellipse">
            <a:avLst/>
          </a:prstGeom>
          <a:solidFill>
            <a:srgbClr val="14B8A6"/>
          </a:solidFill>
          <a:ln/>
          <a:effectLst>
            <a:outerShdw blurRad="114300" dist="38100" dir="5400000" algn="bl" rotWithShape="0">
              <a:srgbClr val="0B1F33">
                <a:alpha val="16000"/>
              </a:srgbClr>
            </a:outerShdw>
          </a:effectLst>
        </p:spPr>
      </p:sp>
      <p:pic>
        <p:nvPicPr>
          <p:cNvPr id="6" name="Image 0" descr="preencoded.png"/>
          <p:cNvPicPr>
            <a:picLocks noChangeAspect="1"/>
          </p:cNvPicPr>
          <p:nvPr/>
        </p:nvPicPr>
        <p:blipFill>
          <a:blip r:embed="rId3"/>
          <a:stretch>
            <a:fillRect/>
          </a:stretch>
        </p:blipFill>
        <p:spPr>
          <a:xfrm>
            <a:off x="1281989" y="2260397"/>
            <a:ext cx="252374" cy="252374"/>
          </a:xfrm>
          <a:prstGeom prst="rect">
            <a:avLst/>
          </a:prstGeom>
        </p:spPr>
      </p:pic>
      <p:sp>
        <p:nvSpPr>
          <p:cNvPr id="7" name="Text 4"/>
          <p:cNvSpPr/>
          <p:nvPr/>
        </p:nvSpPr>
        <p:spPr>
          <a:xfrm>
            <a:off x="1938528" y="2039112"/>
            <a:ext cx="3017520" cy="694944"/>
          </a:xfrm>
          <a:prstGeom prst="rect">
            <a:avLst/>
          </a:prstGeom>
          <a:noFill/>
          <a:ln/>
        </p:spPr>
        <p:txBody>
          <a:bodyPr wrap="square" lIns="0" tIns="0" rIns="0" bIns="0" rtlCol="0" anchor="ctr"/>
          <a:lstStyle/>
          <a:p>
            <a:pPr marL="0" indent="0">
              <a:buNone/>
            </a:pPr>
            <a:r>
              <a:rPr lang="en-US" sz="1750" b="1" dirty="0">
                <a:solidFill>
                  <a:srgbClr val="13314F"/>
                </a:solidFill>
                <a:latin typeface="Cambria" pitchFamily="34" charset="0"/>
                <a:ea typeface="Cambria" pitchFamily="34" charset="-122"/>
                <a:cs typeface="Cambria" pitchFamily="34" charset="-120"/>
              </a:rPr>
              <a:t>Langage déclaratif</a:t>
            </a:r>
            <a:endParaRPr lang="en-US" sz="1750" dirty="0"/>
          </a:p>
        </p:txBody>
      </p:sp>
      <p:sp>
        <p:nvSpPr>
          <p:cNvPr id="8" name="Text 5"/>
          <p:cNvSpPr/>
          <p:nvPr/>
        </p:nvSpPr>
        <p:spPr>
          <a:xfrm>
            <a:off x="5047488" y="2039112"/>
            <a:ext cx="6035040" cy="694944"/>
          </a:xfrm>
          <a:prstGeom prst="rect">
            <a:avLst/>
          </a:prstGeom>
          <a:noFill/>
          <a:ln/>
        </p:spPr>
        <p:txBody>
          <a:bodyPr wrap="square" lIns="0" tIns="0" rIns="0" bIns="0" rtlCol="0" anchor="ctr"/>
          <a:lstStyle/>
          <a:p>
            <a:pPr marL="0" indent="0">
              <a:lnSpc>
                <a:spcPct val="105000"/>
              </a:lnSpc>
              <a:buNone/>
            </a:pPr>
            <a:r>
              <a:rPr lang="en-US" sz="1350" dirty="0">
                <a:solidFill>
                  <a:srgbClr val="5B7184"/>
                </a:solidFill>
                <a:latin typeface="Calibri" pitchFamily="34" charset="0"/>
                <a:ea typeface="Calibri" pitchFamily="34" charset="-122"/>
                <a:cs typeface="Calibri" pitchFamily="34" charset="-120"/>
              </a:rPr>
              <a:t>On décrit le résultat voulu, pas la marche à suivre pour l'obtenir. Le moteur choisit le « comment ».</a:t>
            </a:r>
            <a:endParaRPr lang="en-US" sz="1350" dirty="0"/>
          </a:p>
        </p:txBody>
      </p:sp>
      <p:sp>
        <p:nvSpPr>
          <p:cNvPr id="9" name="Shape 6"/>
          <p:cNvSpPr/>
          <p:nvPr/>
        </p:nvSpPr>
        <p:spPr>
          <a:xfrm>
            <a:off x="841248" y="3026664"/>
            <a:ext cx="10469880" cy="1024128"/>
          </a:xfrm>
          <a:prstGeom prst="roundRect">
            <a:avLst>
              <a:gd name="adj" fmla="val 7143"/>
            </a:avLst>
          </a:prstGeom>
          <a:solidFill>
            <a:srgbClr val="FFFFFF"/>
          </a:solidFill>
          <a:ln/>
          <a:effectLst>
            <a:outerShdw blurRad="114300" dist="38100" dir="5400000" algn="bl" rotWithShape="0">
              <a:srgbClr val="0B1F33">
                <a:alpha val="16000"/>
              </a:srgbClr>
            </a:outerShdw>
          </a:effectLst>
        </p:spPr>
      </p:sp>
      <p:sp>
        <p:nvSpPr>
          <p:cNvPr id="10" name="Shape 7"/>
          <p:cNvSpPr/>
          <p:nvPr/>
        </p:nvSpPr>
        <p:spPr>
          <a:xfrm>
            <a:off x="1133856" y="3264408"/>
            <a:ext cx="548640" cy="548640"/>
          </a:xfrm>
          <a:prstGeom prst="ellipse">
            <a:avLst/>
          </a:prstGeom>
          <a:solidFill>
            <a:srgbClr val="0B1F33"/>
          </a:solidFill>
          <a:ln/>
          <a:effectLst>
            <a:outerShdw blurRad="114300" dist="38100" dir="5400000" algn="bl" rotWithShape="0">
              <a:srgbClr val="0B1F33">
                <a:alpha val="16000"/>
              </a:srgbClr>
            </a:outerShdw>
          </a:effectLst>
        </p:spPr>
      </p:sp>
      <p:pic>
        <p:nvPicPr>
          <p:cNvPr id="11" name="Image 1" descr="preencoded.png"/>
          <p:cNvPicPr>
            <a:picLocks noChangeAspect="1"/>
          </p:cNvPicPr>
          <p:nvPr/>
        </p:nvPicPr>
        <p:blipFill>
          <a:blip r:embed="rId4"/>
          <a:stretch>
            <a:fillRect/>
          </a:stretch>
        </p:blipFill>
        <p:spPr>
          <a:xfrm>
            <a:off x="1281989" y="3412541"/>
            <a:ext cx="252374" cy="252374"/>
          </a:xfrm>
          <a:prstGeom prst="rect">
            <a:avLst/>
          </a:prstGeom>
        </p:spPr>
      </p:pic>
      <p:sp>
        <p:nvSpPr>
          <p:cNvPr id="12" name="Text 8"/>
          <p:cNvSpPr/>
          <p:nvPr/>
        </p:nvSpPr>
        <p:spPr>
          <a:xfrm>
            <a:off x="1938528" y="3191256"/>
            <a:ext cx="3017520" cy="694944"/>
          </a:xfrm>
          <a:prstGeom prst="rect">
            <a:avLst/>
          </a:prstGeom>
          <a:noFill/>
          <a:ln/>
        </p:spPr>
        <p:txBody>
          <a:bodyPr wrap="square" lIns="0" tIns="0" rIns="0" bIns="0" rtlCol="0" anchor="ctr"/>
          <a:lstStyle/>
          <a:p>
            <a:pPr marL="0" indent="0">
              <a:buNone/>
            </a:pPr>
            <a:r>
              <a:rPr lang="en-US" sz="1750" b="1" dirty="0">
                <a:solidFill>
                  <a:srgbClr val="13314F"/>
                </a:solidFill>
                <a:latin typeface="Cambria" pitchFamily="34" charset="0"/>
                <a:ea typeface="Cambria" pitchFamily="34" charset="-122"/>
                <a:cs typeface="Cambria" pitchFamily="34" charset="-120"/>
              </a:rPr>
              <a:t>La valeur NULL</a:t>
            </a:r>
            <a:endParaRPr lang="en-US" sz="1750" dirty="0"/>
          </a:p>
        </p:txBody>
      </p:sp>
      <p:sp>
        <p:nvSpPr>
          <p:cNvPr id="13" name="Text 9"/>
          <p:cNvSpPr/>
          <p:nvPr/>
        </p:nvSpPr>
        <p:spPr>
          <a:xfrm>
            <a:off x="5047488" y="3191256"/>
            <a:ext cx="6035040" cy="694944"/>
          </a:xfrm>
          <a:prstGeom prst="rect">
            <a:avLst/>
          </a:prstGeom>
          <a:noFill/>
          <a:ln/>
        </p:spPr>
        <p:txBody>
          <a:bodyPr wrap="square" lIns="0" tIns="0" rIns="0" bIns="0" rtlCol="0" anchor="ctr"/>
          <a:lstStyle/>
          <a:p>
            <a:pPr marL="0" indent="0">
              <a:lnSpc>
                <a:spcPct val="105000"/>
              </a:lnSpc>
              <a:buNone/>
            </a:pPr>
            <a:r>
              <a:rPr lang="en-US" sz="1350" dirty="0">
                <a:solidFill>
                  <a:srgbClr val="5B7184"/>
                </a:solidFill>
                <a:latin typeface="Calibri" pitchFamily="34" charset="0"/>
                <a:ea typeface="Calibri" pitchFamily="34" charset="-122"/>
                <a:cs typeface="Calibri" pitchFamily="34" charset="-120"/>
              </a:rPr>
              <a:t>Une absence de valeur — différente de 0 ou d'une chaîne vide. Elle piège tout le monde au début.</a:t>
            </a:r>
            <a:endParaRPr lang="en-US" sz="1350" dirty="0"/>
          </a:p>
        </p:txBody>
      </p:sp>
      <p:sp>
        <p:nvSpPr>
          <p:cNvPr id="14" name="Shape 10"/>
          <p:cNvSpPr/>
          <p:nvPr/>
        </p:nvSpPr>
        <p:spPr>
          <a:xfrm>
            <a:off x="841248" y="4178808"/>
            <a:ext cx="10469880" cy="1024128"/>
          </a:xfrm>
          <a:prstGeom prst="roundRect">
            <a:avLst>
              <a:gd name="adj" fmla="val 7143"/>
            </a:avLst>
          </a:prstGeom>
          <a:solidFill>
            <a:srgbClr val="FFFFFF"/>
          </a:solidFill>
          <a:ln/>
          <a:effectLst>
            <a:outerShdw blurRad="114300" dist="38100" dir="5400000" algn="bl" rotWithShape="0">
              <a:srgbClr val="0B1F33">
                <a:alpha val="16000"/>
              </a:srgbClr>
            </a:outerShdw>
          </a:effectLst>
        </p:spPr>
      </p:sp>
      <p:sp>
        <p:nvSpPr>
          <p:cNvPr id="15" name="Shape 11"/>
          <p:cNvSpPr/>
          <p:nvPr/>
        </p:nvSpPr>
        <p:spPr>
          <a:xfrm>
            <a:off x="1133856" y="4416552"/>
            <a:ext cx="548640" cy="548640"/>
          </a:xfrm>
          <a:prstGeom prst="ellipse">
            <a:avLst/>
          </a:prstGeom>
          <a:solidFill>
            <a:srgbClr val="14B8A6"/>
          </a:solidFill>
          <a:ln/>
          <a:effectLst>
            <a:outerShdw blurRad="114300" dist="38100" dir="5400000" algn="bl" rotWithShape="0">
              <a:srgbClr val="0B1F33">
                <a:alpha val="16000"/>
              </a:srgbClr>
            </a:outerShdw>
          </a:effectLst>
        </p:spPr>
      </p:sp>
      <p:pic>
        <p:nvPicPr>
          <p:cNvPr id="16" name="Image 2" descr="preencoded.png"/>
          <p:cNvPicPr>
            <a:picLocks noChangeAspect="1"/>
          </p:cNvPicPr>
          <p:nvPr/>
        </p:nvPicPr>
        <p:blipFill>
          <a:blip r:embed="rId5"/>
          <a:stretch>
            <a:fillRect/>
          </a:stretch>
        </p:blipFill>
        <p:spPr>
          <a:xfrm>
            <a:off x="1281989" y="4564685"/>
            <a:ext cx="252374" cy="252374"/>
          </a:xfrm>
          <a:prstGeom prst="rect">
            <a:avLst/>
          </a:prstGeom>
        </p:spPr>
      </p:pic>
      <p:sp>
        <p:nvSpPr>
          <p:cNvPr id="17" name="Text 12"/>
          <p:cNvSpPr/>
          <p:nvPr/>
        </p:nvSpPr>
        <p:spPr>
          <a:xfrm>
            <a:off x="1938528" y="4343400"/>
            <a:ext cx="3017520" cy="694944"/>
          </a:xfrm>
          <a:prstGeom prst="rect">
            <a:avLst/>
          </a:prstGeom>
          <a:noFill/>
          <a:ln/>
        </p:spPr>
        <p:txBody>
          <a:bodyPr wrap="square" lIns="0" tIns="0" rIns="0" bIns="0" rtlCol="0" anchor="ctr"/>
          <a:lstStyle/>
          <a:p>
            <a:pPr marL="0" indent="0">
              <a:buNone/>
            </a:pPr>
            <a:r>
              <a:rPr lang="en-US" sz="1750" b="1" dirty="0">
                <a:solidFill>
                  <a:srgbClr val="13314F"/>
                </a:solidFill>
                <a:latin typeface="Cambria" pitchFamily="34" charset="0"/>
                <a:ea typeface="Cambria" pitchFamily="34" charset="-122"/>
                <a:cs typeface="Cambria" pitchFamily="34" charset="-120"/>
              </a:rPr>
              <a:t>Casse &amp; nommage</a:t>
            </a:r>
            <a:endParaRPr lang="en-US" sz="1750" dirty="0"/>
          </a:p>
        </p:txBody>
      </p:sp>
      <p:sp>
        <p:nvSpPr>
          <p:cNvPr id="18" name="Text 13"/>
          <p:cNvSpPr/>
          <p:nvPr/>
        </p:nvSpPr>
        <p:spPr>
          <a:xfrm>
            <a:off x="5047488" y="4343400"/>
            <a:ext cx="6035040" cy="694944"/>
          </a:xfrm>
          <a:prstGeom prst="rect">
            <a:avLst/>
          </a:prstGeom>
          <a:noFill/>
          <a:ln/>
        </p:spPr>
        <p:txBody>
          <a:bodyPr wrap="square" lIns="0" tIns="0" rIns="0" bIns="0" rtlCol="0" anchor="ctr"/>
          <a:lstStyle/>
          <a:p>
            <a:pPr marL="0" indent="0">
              <a:lnSpc>
                <a:spcPct val="105000"/>
              </a:lnSpc>
              <a:buNone/>
            </a:pPr>
            <a:r>
              <a:rPr lang="en-US" sz="1350" dirty="0">
                <a:solidFill>
                  <a:srgbClr val="5B7184"/>
                </a:solidFill>
                <a:latin typeface="Calibri" pitchFamily="34" charset="0"/>
                <a:ea typeface="Calibri" pitchFamily="34" charset="-122"/>
                <a:cs typeface="Calibri" pitchFamily="34" charset="-120"/>
              </a:rPr>
              <a:t>Mots-clés souvent insensibles à la casse ; adoptez des conventions de nommage cohérentes.</a:t>
            </a:r>
            <a:endParaRPr lang="en-US" sz="1350" dirty="0"/>
          </a:p>
        </p:txBody>
      </p:sp>
      <p:sp>
        <p:nvSpPr>
          <p:cNvPr id="19" name="Shape 14"/>
          <p:cNvSpPr/>
          <p:nvPr/>
        </p:nvSpPr>
        <p:spPr>
          <a:xfrm>
            <a:off x="841248" y="5330952"/>
            <a:ext cx="10469880" cy="1024128"/>
          </a:xfrm>
          <a:prstGeom prst="roundRect">
            <a:avLst>
              <a:gd name="adj" fmla="val 7143"/>
            </a:avLst>
          </a:prstGeom>
          <a:solidFill>
            <a:srgbClr val="FFFFFF"/>
          </a:solidFill>
          <a:ln/>
          <a:effectLst>
            <a:outerShdw blurRad="114300" dist="38100" dir="5400000" algn="bl" rotWithShape="0">
              <a:srgbClr val="0B1F33">
                <a:alpha val="16000"/>
              </a:srgbClr>
            </a:outerShdw>
          </a:effectLst>
        </p:spPr>
      </p:sp>
      <p:sp>
        <p:nvSpPr>
          <p:cNvPr id="20" name="Shape 15"/>
          <p:cNvSpPr/>
          <p:nvPr/>
        </p:nvSpPr>
        <p:spPr>
          <a:xfrm>
            <a:off x="1133856" y="5568696"/>
            <a:ext cx="548640" cy="548640"/>
          </a:xfrm>
          <a:prstGeom prst="ellipse">
            <a:avLst/>
          </a:prstGeom>
          <a:solidFill>
            <a:srgbClr val="0B1F33"/>
          </a:solidFill>
          <a:ln/>
          <a:effectLst>
            <a:outerShdw blurRad="114300" dist="38100" dir="5400000" algn="bl" rotWithShape="0">
              <a:srgbClr val="0B1F33">
                <a:alpha val="16000"/>
              </a:srgbClr>
            </a:outerShdw>
          </a:effectLst>
        </p:spPr>
      </p:sp>
      <p:pic>
        <p:nvPicPr>
          <p:cNvPr id="21" name="Image 3" descr="preencoded.png"/>
          <p:cNvPicPr>
            <a:picLocks noChangeAspect="1"/>
          </p:cNvPicPr>
          <p:nvPr/>
        </p:nvPicPr>
        <p:blipFill>
          <a:blip r:embed="rId6"/>
          <a:stretch>
            <a:fillRect/>
          </a:stretch>
        </p:blipFill>
        <p:spPr>
          <a:xfrm>
            <a:off x="1281989" y="5716829"/>
            <a:ext cx="252374" cy="252374"/>
          </a:xfrm>
          <a:prstGeom prst="rect">
            <a:avLst/>
          </a:prstGeom>
        </p:spPr>
      </p:pic>
      <p:sp>
        <p:nvSpPr>
          <p:cNvPr id="22" name="Text 16"/>
          <p:cNvSpPr/>
          <p:nvPr/>
        </p:nvSpPr>
        <p:spPr>
          <a:xfrm>
            <a:off x="1938528" y="5495544"/>
            <a:ext cx="3017520" cy="694944"/>
          </a:xfrm>
          <a:prstGeom prst="rect">
            <a:avLst/>
          </a:prstGeom>
          <a:noFill/>
          <a:ln/>
        </p:spPr>
        <p:txBody>
          <a:bodyPr wrap="square" lIns="0" tIns="0" rIns="0" bIns="0" rtlCol="0" anchor="ctr"/>
          <a:lstStyle/>
          <a:p>
            <a:pPr marL="0" indent="0">
              <a:buNone/>
            </a:pPr>
            <a:r>
              <a:rPr lang="en-US" sz="1750" b="1" dirty="0">
                <a:solidFill>
                  <a:srgbClr val="13314F"/>
                </a:solidFill>
                <a:latin typeface="Cambria" pitchFamily="34" charset="0"/>
                <a:ea typeface="Cambria" pitchFamily="34" charset="-122"/>
                <a:cs typeface="Cambria" pitchFamily="34" charset="-120"/>
              </a:rPr>
              <a:t>Le point-virgule</a:t>
            </a:r>
            <a:endParaRPr lang="en-US" sz="1750" dirty="0"/>
          </a:p>
        </p:txBody>
      </p:sp>
      <p:sp>
        <p:nvSpPr>
          <p:cNvPr id="23" name="Text 17"/>
          <p:cNvSpPr/>
          <p:nvPr/>
        </p:nvSpPr>
        <p:spPr>
          <a:xfrm>
            <a:off x="5047488" y="5495544"/>
            <a:ext cx="6035040" cy="694944"/>
          </a:xfrm>
          <a:prstGeom prst="rect">
            <a:avLst/>
          </a:prstGeom>
          <a:noFill/>
          <a:ln/>
        </p:spPr>
        <p:txBody>
          <a:bodyPr wrap="square" lIns="0" tIns="0" rIns="0" bIns="0" rtlCol="0" anchor="ctr"/>
          <a:lstStyle/>
          <a:p>
            <a:pPr marL="0" indent="0">
              <a:lnSpc>
                <a:spcPct val="105000"/>
              </a:lnSpc>
              <a:buNone/>
            </a:pPr>
            <a:r>
              <a:rPr lang="en-US" sz="1350" dirty="0">
                <a:solidFill>
                  <a:srgbClr val="5B7184"/>
                </a:solidFill>
                <a:latin typeface="Calibri" pitchFamily="34" charset="0"/>
                <a:ea typeface="Calibri" pitchFamily="34" charset="-122"/>
                <a:cs typeface="Calibri" pitchFamily="34" charset="-120"/>
              </a:rPr>
              <a:t>Termine une instruction. Petit détail, mais nécessaire pour enchaîner plusieurs requêtes.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841248" y="502920"/>
            <a:ext cx="5486400" cy="274320"/>
          </a:xfrm>
          <a:prstGeom prst="rect">
            <a:avLst/>
          </a:prstGeom>
          <a:noFill/>
          <a:ln/>
        </p:spPr>
        <p:txBody>
          <a:bodyPr wrap="square" lIns="0" tIns="0" rIns="0" bIns="0" rtlCol="0" anchor="ctr"/>
          <a:lstStyle/>
          <a:p>
            <a:pPr marL="0" indent="0">
              <a:buNone/>
            </a:pPr>
            <a:r>
              <a:rPr lang="en-US" sz="1250" b="1" kern="0" spc="300" dirty="0">
                <a:solidFill>
                  <a:srgbClr val="5EEAD4"/>
                </a:solidFill>
                <a:latin typeface="Calibri" pitchFamily="34" charset="0"/>
                <a:ea typeface="Calibri" pitchFamily="34" charset="-122"/>
                <a:cs typeface="Calibri" pitchFamily="34" charset="-120"/>
              </a:rPr>
              <a:t>NOTION 7</a:t>
            </a:r>
            <a:endParaRPr lang="en-US" sz="1250" dirty="0"/>
          </a:p>
        </p:txBody>
      </p:sp>
      <p:sp>
        <p:nvSpPr>
          <p:cNvPr id="3" name="Text 1"/>
          <p:cNvSpPr/>
          <p:nvPr/>
        </p:nvSpPr>
        <p:spPr>
          <a:xfrm>
            <a:off x="822960" y="786384"/>
            <a:ext cx="10515600" cy="731520"/>
          </a:xfrm>
          <a:prstGeom prst="rect">
            <a:avLst/>
          </a:prstGeom>
          <a:noFill/>
          <a:ln/>
        </p:spPr>
        <p:txBody>
          <a:bodyPr wrap="square" lIns="0" tIns="0" rIns="0" bIns="0" rtlCol="0" anchor="ctr"/>
          <a:lstStyle/>
          <a:p>
            <a:pPr marL="0" indent="0">
              <a:buNone/>
            </a:pPr>
            <a:r>
              <a:rPr lang="en-US" sz="3100" b="1" dirty="0">
                <a:latin typeface="Cambria" pitchFamily="34" charset="0"/>
                <a:ea typeface="Cambria" pitchFamily="34" charset="-122"/>
                <a:cs typeface="Cambria" pitchFamily="34" charset="-120"/>
              </a:rPr>
              <a:t>Les transactions et le principe ACID</a:t>
            </a:r>
            <a:endParaRPr lang="en-US" sz="3100" dirty="0"/>
          </a:p>
        </p:txBody>
      </p:sp>
      <p:sp>
        <p:nvSpPr>
          <p:cNvPr id="4" name="Text 2"/>
          <p:cNvSpPr/>
          <p:nvPr/>
        </p:nvSpPr>
        <p:spPr>
          <a:xfrm>
            <a:off x="841248" y="1572768"/>
            <a:ext cx="10424160" cy="457200"/>
          </a:xfrm>
          <a:prstGeom prst="rect">
            <a:avLst/>
          </a:prstGeom>
          <a:noFill/>
          <a:ln/>
        </p:spPr>
        <p:txBody>
          <a:bodyPr wrap="square" lIns="0" tIns="0" rIns="0" bIns="0" rtlCol="0" anchor="ctr"/>
          <a:lstStyle/>
          <a:p>
            <a:pPr marL="0" indent="0">
              <a:buNone/>
            </a:pPr>
            <a:r>
              <a:rPr lang="en-US" sz="1450" dirty="0">
                <a:solidFill>
                  <a:srgbClr val="9FB3C8"/>
                </a:solidFill>
                <a:latin typeface="Calibri" pitchFamily="34" charset="0"/>
                <a:ea typeface="Calibri" pitchFamily="34" charset="-122"/>
                <a:cs typeface="Calibri" pitchFamily="34" charset="-120"/>
              </a:rPr>
              <a:t>Une transaction regroupe plusieurs opérations en un tout indivisible. ACID en décrit les quatre garanties de fiabilité.</a:t>
            </a:r>
            <a:endParaRPr lang="en-US" sz="1450" dirty="0"/>
          </a:p>
        </p:txBody>
      </p:sp>
      <p:sp>
        <p:nvSpPr>
          <p:cNvPr id="5" name="Shape 3"/>
          <p:cNvSpPr/>
          <p:nvPr/>
        </p:nvSpPr>
        <p:spPr>
          <a:xfrm>
            <a:off x="841248" y="2377440"/>
            <a:ext cx="2670048" cy="3291840"/>
          </a:xfrm>
          <a:prstGeom prst="roundRect">
            <a:avLst>
              <a:gd name="adj" fmla="val 3425"/>
            </a:avLst>
          </a:prstGeom>
          <a:solidFill>
            <a:srgbClr val="13314F"/>
          </a:solidFill>
          <a:ln w="12700">
            <a:solidFill>
              <a:srgbClr val="27485F"/>
            </a:solidFill>
            <a:prstDash val="solid"/>
          </a:ln>
          <a:effectLst>
            <a:outerShdw blurRad="114300" dist="38100" dir="5400000" algn="bl" rotWithShape="0">
              <a:srgbClr val="0B1F33">
                <a:alpha val="16000"/>
              </a:srgbClr>
            </a:outerShdw>
          </a:effectLst>
        </p:spPr>
      </p:sp>
      <p:sp>
        <p:nvSpPr>
          <p:cNvPr id="6" name="Shape 4"/>
          <p:cNvSpPr/>
          <p:nvPr/>
        </p:nvSpPr>
        <p:spPr>
          <a:xfrm>
            <a:off x="1627632" y="2743200"/>
            <a:ext cx="1097280" cy="1097280"/>
          </a:xfrm>
          <a:prstGeom prst="ellipse">
            <a:avLst/>
          </a:prstGeom>
          <a:solidFill>
            <a:srgbClr val="14B8A6"/>
          </a:solidFill>
          <a:ln/>
          <a:effectLst>
            <a:outerShdw blurRad="114300" dist="38100" dir="5400000" algn="bl" rotWithShape="0">
              <a:srgbClr val="0B1F33">
                <a:alpha val="16000"/>
              </a:srgbClr>
            </a:outerShdw>
          </a:effectLst>
        </p:spPr>
      </p:sp>
      <p:sp>
        <p:nvSpPr>
          <p:cNvPr id="7" name="Text 5"/>
          <p:cNvSpPr/>
          <p:nvPr/>
        </p:nvSpPr>
        <p:spPr>
          <a:xfrm>
            <a:off x="1627632" y="2743200"/>
            <a:ext cx="1097280" cy="1097280"/>
          </a:xfrm>
          <a:prstGeom prst="rect">
            <a:avLst/>
          </a:prstGeom>
          <a:noFill/>
          <a:ln/>
        </p:spPr>
        <p:txBody>
          <a:bodyPr wrap="square" lIns="0" tIns="0" rIns="0" bIns="0" rtlCol="0" anchor="ctr"/>
          <a:lstStyle/>
          <a:p>
            <a:pPr marL="0" indent="0" algn="ctr">
              <a:buNone/>
            </a:pPr>
            <a:r>
              <a:rPr lang="en-US" sz="4000" b="1" dirty="0">
                <a:solidFill>
                  <a:srgbClr val="0B1F33"/>
                </a:solidFill>
                <a:latin typeface="Cambria" pitchFamily="34" charset="0"/>
                <a:ea typeface="Cambria" pitchFamily="34" charset="-122"/>
                <a:cs typeface="Cambria" pitchFamily="34" charset="-120"/>
              </a:rPr>
              <a:t>A</a:t>
            </a:r>
            <a:endParaRPr lang="en-US" sz="4000" dirty="0"/>
          </a:p>
        </p:txBody>
      </p:sp>
      <p:sp>
        <p:nvSpPr>
          <p:cNvPr id="8" name="Text 6"/>
          <p:cNvSpPr/>
          <p:nvPr/>
        </p:nvSpPr>
        <p:spPr>
          <a:xfrm>
            <a:off x="1024128" y="4005072"/>
            <a:ext cx="2304288" cy="411480"/>
          </a:xfrm>
          <a:prstGeom prst="rect">
            <a:avLst/>
          </a:prstGeom>
          <a:noFill/>
          <a:ln/>
        </p:spPr>
        <p:txBody>
          <a:bodyPr wrap="square" lIns="0" tIns="0" rIns="0" bIns="0" rtlCol="0" anchor="ctr"/>
          <a:lstStyle/>
          <a:p>
            <a:pPr marL="0" indent="0" algn="ctr">
              <a:buNone/>
            </a:pPr>
            <a:r>
              <a:rPr lang="en-US" sz="1900" b="1" dirty="0">
                <a:solidFill>
                  <a:srgbClr val="E8EEF4"/>
                </a:solidFill>
                <a:latin typeface="Cambria" pitchFamily="34" charset="0"/>
                <a:ea typeface="Cambria" pitchFamily="34" charset="-122"/>
                <a:cs typeface="Cambria" pitchFamily="34" charset="-120"/>
              </a:rPr>
              <a:t>Atomicité</a:t>
            </a:r>
            <a:endParaRPr lang="en-US" sz="1900" dirty="0"/>
          </a:p>
        </p:txBody>
      </p:sp>
      <p:sp>
        <p:nvSpPr>
          <p:cNvPr id="9" name="Text 7"/>
          <p:cNvSpPr/>
          <p:nvPr/>
        </p:nvSpPr>
        <p:spPr>
          <a:xfrm>
            <a:off x="1097280" y="4498848"/>
            <a:ext cx="2157984" cy="1005840"/>
          </a:xfrm>
          <a:prstGeom prst="rect">
            <a:avLst/>
          </a:prstGeom>
          <a:noFill/>
          <a:ln/>
        </p:spPr>
        <p:txBody>
          <a:bodyPr wrap="square" lIns="0" tIns="0" rIns="0" bIns="0" rtlCol="0" anchor="ctr"/>
          <a:lstStyle/>
          <a:p>
            <a:pPr marL="0" indent="0" algn="ctr">
              <a:lnSpc>
                <a:spcPct val="108000"/>
              </a:lnSpc>
              <a:buNone/>
            </a:pPr>
            <a:r>
              <a:rPr lang="en-US" sz="1250" dirty="0">
                <a:solidFill>
                  <a:srgbClr val="9FB3C8"/>
                </a:solidFill>
                <a:latin typeface="Calibri" pitchFamily="34" charset="0"/>
                <a:ea typeface="Calibri" pitchFamily="34" charset="-122"/>
                <a:cs typeface="Calibri" pitchFamily="34" charset="-120"/>
              </a:rPr>
              <a:t>Tout ou rien : si une étape échoue, toute la transaction est annulée.</a:t>
            </a:r>
            <a:endParaRPr lang="en-US" sz="1250" dirty="0"/>
          </a:p>
        </p:txBody>
      </p:sp>
      <p:sp>
        <p:nvSpPr>
          <p:cNvPr id="10" name="Shape 8"/>
          <p:cNvSpPr/>
          <p:nvPr/>
        </p:nvSpPr>
        <p:spPr>
          <a:xfrm>
            <a:off x="3758184" y="2377440"/>
            <a:ext cx="2670048" cy="3291840"/>
          </a:xfrm>
          <a:prstGeom prst="roundRect">
            <a:avLst>
              <a:gd name="adj" fmla="val 3425"/>
            </a:avLst>
          </a:prstGeom>
          <a:solidFill>
            <a:srgbClr val="13314F"/>
          </a:solidFill>
          <a:ln w="12700">
            <a:solidFill>
              <a:srgbClr val="27485F"/>
            </a:solidFill>
            <a:prstDash val="solid"/>
          </a:ln>
          <a:effectLst>
            <a:outerShdw blurRad="114300" dist="38100" dir="5400000" algn="bl" rotWithShape="0">
              <a:srgbClr val="0B1F33">
                <a:alpha val="16000"/>
              </a:srgbClr>
            </a:outerShdw>
          </a:effectLst>
        </p:spPr>
      </p:sp>
      <p:sp>
        <p:nvSpPr>
          <p:cNvPr id="11" name="Shape 9"/>
          <p:cNvSpPr/>
          <p:nvPr/>
        </p:nvSpPr>
        <p:spPr>
          <a:xfrm>
            <a:off x="4544568" y="2743200"/>
            <a:ext cx="1097280" cy="1097280"/>
          </a:xfrm>
          <a:prstGeom prst="ellipse">
            <a:avLst/>
          </a:prstGeom>
          <a:solidFill>
            <a:srgbClr val="F59E0B"/>
          </a:solidFill>
          <a:ln/>
          <a:effectLst>
            <a:outerShdw blurRad="114300" dist="38100" dir="5400000" algn="bl" rotWithShape="0">
              <a:srgbClr val="0B1F33">
                <a:alpha val="16000"/>
              </a:srgbClr>
            </a:outerShdw>
          </a:effectLst>
        </p:spPr>
      </p:sp>
      <p:sp>
        <p:nvSpPr>
          <p:cNvPr id="12" name="Text 10"/>
          <p:cNvSpPr/>
          <p:nvPr/>
        </p:nvSpPr>
        <p:spPr>
          <a:xfrm>
            <a:off x="4544568" y="2743200"/>
            <a:ext cx="1097280" cy="1097280"/>
          </a:xfrm>
          <a:prstGeom prst="rect">
            <a:avLst/>
          </a:prstGeom>
          <a:noFill/>
          <a:ln/>
        </p:spPr>
        <p:txBody>
          <a:bodyPr wrap="square" lIns="0" tIns="0" rIns="0" bIns="0" rtlCol="0" anchor="ctr"/>
          <a:lstStyle/>
          <a:p>
            <a:pPr marL="0" indent="0" algn="ctr">
              <a:buNone/>
            </a:pPr>
            <a:r>
              <a:rPr lang="en-US" sz="4000" b="1" dirty="0">
                <a:solidFill>
                  <a:srgbClr val="0B1F33"/>
                </a:solidFill>
                <a:latin typeface="Cambria" pitchFamily="34" charset="0"/>
                <a:ea typeface="Cambria" pitchFamily="34" charset="-122"/>
                <a:cs typeface="Cambria" pitchFamily="34" charset="-120"/>
              </a:rPr>
              <a:t>C</a:t>
            </a:r>
            <a:endParaRPr lang="en-US" sz="4000" dirty="0"/>
          </a:p>
        </p:txBody>
      </p:sp>
      <p:sp>
        <p:nvSpPr>
          <p:cNvPr id="13" name="Text 11"/>
          <p:cNvSpPr/>
          <p:nvPr/>
        </p:nvSpPr>
        <p:spPr>
          <a:xfrm>
            <a:off x="3941064" y="4005072"/>
            <a:ext cx="2304288" cy="411480"/>
          </a:xfrm>
          <a:prstGeom prst="rect">
            <a:avLst/>
          </a:prstGeom>
          <a:noFill/>
          <a:ln/>
        </p:spPr>
        <p:txBody>
          <a:bodyPr wrap="square" lIns="0" tIns="0" rIns="0" bIns="0" rtlCol="0" anchor="ctr"/>
          <a:lstStyle/>
          <a:p>
            <a:pPr marL="0" indent="0" algn="ctr">
              <a:buNone/>
            </a:pPr>
            <a:r>
              <a:rPr lang="en-US" sz="1900" b="1" dirty="0">
                <a:solidFill>
                  <a:srgbClr val="E8EEF4"/>
                </a:solidFill>
                <a:latin typeface="Cambria" pitchFamily="34" charset="0"/>
                <a:ea typeface="Cambria" pitchFamily="34" charset="-122"/>
                <a:cs typeface="Cambria" pitchFamily="34" charset="-120"/>
              </a:rPr>
              <a:t>Cohérence</a:t>
            </a:r>
            <a:endParaRPr lang="en-US" sz="1900" dirty="0"/>
          </a:p>
        </p:txBody>
      </p:sp>
      <p:sp>
        <p:nvSpPr>
          <p:cNvPr id="14" name="Text 12"/>
          <p:cNvSpPr/>
          <p:nvPr/>
        </p:nvSpPr>
        <p:spPr>
          <a:xfrm>
            <a:off x="4014216" y="4498848"/>
            <a:ext cx="2157984" cy="1005840"/>
          </a:xfrm>
          <a:prstGeom prst="rect">
            <a:avLst/>
          </a:prstGeom>
          <a:noFill/>
          <a:ln/>
        </p:spPr>
        <p:txBody>
          <a:bodyPr wrap="square" lIns="0" tIns="0" rIns="0" bIns="0" rtlCol="0" anchor="ctr"/>
          <a:lstStyle/>
          <a:p>
            <a:pPr marL="0" indent="0" algn="ctr">
              <a:lnSpc>
                <a:spcPct val="108000"/>
              </a:lnSpc>
              <a:buNone/>
            </a:pPr>
            <a:r>
              <a:rPr lang="en-US" sz="1250" dirty="0">
                <a:solidFill>
                  <a:srgbClr val="9FB3C8"/>
                </a:solidFill>
                <a:latin typeface="Calibri" pitchFamily="34" charset="0"/>
                <a:ea typeface="Calibri" pitchFamily="34" charset="-122"/>
                <a:cs typeface="Calibri" pitchFamily="34" charset="-120"/>
              </a:rPr>
              <a:t>La base passe d'un état valide à un autre, sans violer les règles.</a:t>
            </a:r>
            <a:endParaRPr lang="en-US" sz="1250" dirty="0"/>
          </a:p>
        </p:txBody>
      </p:sp>
      <p:sp>
        <p:nvSpPr>
          <p:cNvPr id="15" name="Shape 13"/>
          <p:cNvSpPr/>
          <p:nvPr/>
        </p:nvSpPr>
        <p:spPr>
          <a:xfrm>
            <a:off x="6675120" y="2377440"/>
            <a:ext cx="2670048" cy="3291840"/>
          </a:xfrm>
          <a:prstGeom prst="roundRect">
            <a:avLst>
              <a:gd name="adj" fmla="val 3425"/>
            </a:avLst>
          </a:prstGeom>
          <a:solidFill>
            <a:srgbClr val="13314F"/>
          </a:solidFill>
          <a:ln w="12700">
            <a:solidFill>
              <a:srgbClr val="27485F"/>
            </a:solidFill>
            <a:prstDash val="solid"/>
          </a:ln>
          <a:effectLst>
            <a:outerShdw blurRad="114300" dist="38100" dir="5400000" algn="bl" rotWithShape="0">
              <a:srgbClr val="0B1F33">
                <a:alpha val="16000"/>
              </a:srgbClr>
            </a:outerShdw>
          </a:effectLst>
        </p:spPr>
      </p:sp>
      <p:sp>
        <p:nvSpPr>
          <p:cNvPr id="16" name="Shape 14"/>
          <p:cNvSpPr/>
          <p:nvPr/>
        </p:nvSpPr>
        <p:spPr>
          <a:xfrm>
            <a:off x="7461504" y="2743200"/>
            <a:ext cx="1097280" cy="1097280"/>
          </a:xfrm>
          <a:prstGeom prst="ellipse">
            <a:avLst/>
          </a:prstGeom>
          <a:solidFill>
            <a:srgbClr val="14B8A6"/>
          </a:solidFill>
          <a:ln/>
          <a:effectLst>
            <a:outerShdw blurRad="114300" dist="38100" dir="5400000" algn="bl" rotWithShape="0">
              <a:srgbClr val="0B1F33">
                <a:alpha val="16000"/>
              </a:srgbClr>
            </a:outerShdw>
          </a:effectLst>
        </p:spPr>
      </p:sp>
      <p:sp>
        <p:nvSpPr>
          <p:cNvPr id="17" name="Text 15"/>
          <p:cNvSpPr/>
          <p:nvPr/>
        </p:nvSpPr>
        <p:spPr>
          <a:xfrm>
            <a:off x="7461504" y="2743200"/>
            <a:ext cx="1097280" cy="1097280"/>
          </a:xfrm>
          <a:prstGeom prst="rect">
            <a:avLst/>
          </a:prstGeom>
          <a:noFill/>
          <a:ln/>
        </p:spPr>
        <p:txBody>
          <a:bodyPr wrap="square" lIns="0" tIns="0" rIns="0" bIns="0" rtlCol="0" anchor="ctr"/>
          <a:lstStyle/>
          <a:p>
            <a:pPr marL="0" indent="0" algn="ctr">
              <a:buNone/>
            </a:pPr>
            <a:r>
              <a:rPr lang="en-US" sz="4000" b="1" dirty="0">
                <a:solidFill>
                  <a:srgbClr val="0B1F33"/>
                </a:solidFill>
                <a:latin typeface="Cambria" pitchFamily="34" charset="0"/>
                <a:ea typeface="Cambria" pitchFamily="34" charset="-122"/>
                <a:cs typeface="Cambria" pitchFamily="34" charset="-120"/>
              </a:rPr>
              <a:t>I</a:t>
            </a:r>
            <a:endParaRPr lang="en-US" sz="4000" dirty="0"/>
          </a:p>
        </p:txBody>
      </p:sp>
      <p:sp>
        <p:nvSpPr>
          <p:cNvPr id="18" name="Text 16"/>
          <p:cNvSpPr/>
          <p:nvPr/>
        </p:nvSpPr>
        <p:spPr>
          <a:xfrm>
            <a:off x="6858000" y="4005072"/>
            <a:ext cx="2304288" cy="411480"/>
          </a:xfrm>
          <a:prstGeom prst="rect">
            <a:avLst/>
          </a:prstGeom>
          <a:noFill/>
          <a:ln/>
        </p:spPr>
        <p:txBody>
          <a:bodyPr wrap="square" lIns="0" tIns="0" rIns="0" bIns="0" rtlCol="0" anchor="ctr"/>
          <a:lstStyle/>
          <a:p>
            <a:pPr marL="0" indent="0" algn="ctr">
              <a:buNone/>
            </a:pPr>
            <a:r>
              <a:rPr lang="en-US" sz="1900" b="1" dirty="0">
                <a:solidFill>
                  <a:srgbClr val="E8EEF4"/>
                </a:solidFill>
                <a:latin typeface="Cambria" pitchFamily="34" charset="0"/>
                <a:ea typeface="Cambria" pitchFamily="34" charset="-122"/>
                <a:cs typeface="Cambria" pitchFamily="34" charset="-120"/>
              </a:rPr>
              <a:t>Isolation</a:t>
            </a:r>
            <a:endParaRPr lang="en-US" sz="1900" dirty="0"/>
          </a:p>
        </p:txBody>
      </p:sp>
      <p:sp>
        <p:nvSpPr>
          <p:cNvPr id="19" name="Text 17"/>
          <p:cNvSpPr/>
          <p:nvPr/>
        </p:nvSpPr>
        <p:spPr>
          <a:xfrm>
            <a:off x="6931152" y="4498848"/>
            <a:ext cx="2157984" cy="1005840"/>
          </a:xfrm>
          <a:prstGeom prst="rect">
            <a:avLst/>
          </a:prstGeom>
          <a:noFill/>
          <a:ln/>
        </p:spPr>
        <p:txBody>
          <a:bodyPr wrap="square" lIns="0" tIns="0" rIns="0" bIns="0" rtlCol="0" anchor="ctr"/>
          <a:lstStyle/>
          <a:p>
            <a:pPr marL="0" indent="0" algn="ctr">
              <a:lnSpc>
                <a:spcPct val="108000"/>
              </a:lnSpc>
              <a:buNone/>
            </a:pPr>
            <a:r>
              <a:rPr lang="en-US" sz="1250" dirty="0">
                <a:solidFill>
                  <a:srgbClr val="9FB3C8"/>
                </a:solidFill>
                <a:latin typeface="Calibri" pitchFamily="34" charset="0"/>
                <a:ea typeface="Calibri" pitchFamily="34" charset="-122"/>
                <a:cs typeface="Calibri" pitchFamily="34" charset="-120"/>
              </a:rPr>
              <a:t>Les transactions concurrentes ne se perturbent pas entre elles.</a:t>
            </a:r>
            <a:endParaRPr lang="en-US" sz="1250" dirty="0"/>
          </a:p>
        </p:txBody>
      </p:sp>
      <p:sp>
        <p:nvSpPr>
          <p:cNvPr id="20" name="Shape 18"/>
          <p:cNvSpPr/>
          <p:nvPr/>
        </p:nvSpPr>
        <p:spPr>
          <a:xfrm>
            <a:off x="9592056" y="2377440"/>
            <a:ext cx="2670048" cy="3291840"/>
          </a:xfrm>
          <a:prstGeom prst="roundRect">
            <a:avLst>
              <a:gd name="adj" fmla="val 3425"/>
            </a:avLst>
          </a:prstGeom>
          <a:solidFill>
            <a:srgbClr val="13314F"/>
          </a:solidFill>
          <a:ln w="12700">
            <a:solidFill>
              <a:srgbClr val="27485F"/>
            </a:solidFill>
            <a:prstDash val="solid"/>
          </a:ln>
          <a:effectLst>
            <a:outerShdw blurRad="114300" dist="38100" dir="5400000" algn="bl" rotWithShape="0">
              <a:srgbClr val="0B1F33">
                <a:alpha val="16000"/>
              </a:srgbClr>
            </a:outerShdw>
          </a:effectLst>
        </p:spPr>
      </p:sp>
      <p:sp>
        <p:nvSpPr>
          <p:cNvPr id="21" name="Shape 19"/>
          <p:cNvSpPr/>
          <p:nvPr/>
        </p:nvSpPr>
        <p:spPr>
          <a:xfrm>
            <a:off x="10378440" y="2743200"/>
            <a:ext cx="1097280" cy="1097280"/>
          </a:xfrm>
          <a:prstGeom prst="ellipse">
            <a:avLst/>
          </a:prstGeom>
          <a:solidFill>
            <a:srgbClr val="F59E0B"/>
          </a:solidFill>
          <a:ln/>
          <a:effectLst>
            <a:outerShdw blurRad="114300" dist="38100" dir="5400000" algn="bl" rotWithShape="0">
              <a:srgbClr val="0B1F33">
                <a:alpha val="16000"/>
              </a:srgbClr>
            </a:outerShdw>
          </a:effectLst>
        </p:spPr>
      </p:sp>
      <p:sp>
        <p:nvSpPr>
          <p:cNvPr id="22" name="Text 20"/>
          <p:cNvSpPr/>
          <p:nvPr/>
        </p:nvSpPr>
        <p:spPr>
          <a:xfrm>
            <a:off x="10378440" y="2743200"/>
            <a:ext cx="1097280" cy="1097280"/>
          </a:xfrm>
          <a:prstGeom prst="rect">
            <a:avLst/>
          </a:prstGeom>
          <a:noFill/>
          <a:ln/>
        </p:spPr>
        <p:txBody>
          <a:bodyPr wrap="square" lIns="0" tIns="0" rIns="0" bIns="0" rtlCol="0" anchor="ctr"/>
          <a:lstStyle/>
          <a:p>
            <a:pPr marL="0" indent="0" algn="ctr">
              <a:buNone/>
            </a:pPr>
            <a:r>
              <a:rPr lang="en-US" sz="4000" b="1" dirty="0">
                <a:solidFill>
                  <a:srgbClr val="0B1F33"/>
                </a:solidFill>
                <a:latin typeface="Cambria" pitchFamily="34" charset="0"/>
                <a:ea typeface="Cambria" pitchFamily="34" charset="-122"/>
                <a:cs typeface="Cambria" pitchFamily="34" charset="-120"/>
              </a:rPr>
              <a:t>D</a:t>
            </a:r>
            <a:endParaRPr lang="en-US" sz="4000" dirty="0"/>
          </a:p>
        </p:txBody>
      </p:sp>
      <p:sp>
        <p:nvSpPr>
          <p:cNvPr id="23" name="Text 21"/>
          <p:cNvSpPr/>
          <p:nvPr/>
        </p:nvSpPr>
        <p:spPr>
          <a:xfrm>
            <a:off x="9774936" y="4005072"/>
            <a:ext cx="2304288" cy="411480"/>
          </a:xfrm>
          <a:prstGeom prst="rect">
            <a:avLst/>
          </a:prstGeom>
          <a:noFill/>
          <a:ln/>
        </p:spPr>
        <p:txBody>
          <a:bodyPr wrap="square" lIns="0" tIns="0" rIns="0" bIns="0" rtlCol="0" anchor="ctr"/>
          <a:lstStyle/>
          <a:p>
            <a:pPr marL="0" indent="0" algn="ctr">
              <a:buNone/>
            </a:pPr>
            <a:r>
              <a:rPr lang="en-US" sz="1900" b="1" dirty="0">
                <a:solidFill>
                  <a:srgbClr val="E8EEF4"/>
                </a:solidFill>
                <a:latin typeface="Cambria" pitchFamily="34" charset="0"/>
                <a:ea typeface="Cambria" pitchFamily="34" charset="-122"/>
                <a:cs typeface="Cambria" pitchFamily="34" charset="-120"/>
              </a:rPr>
              <a:t>Durabilité</a:t>
            </a:r>
            <a:endParaRPr lang="en-US" sz="1900" dirty="0"/>
          </a:p>
        </p:txBody>
      </p:sp>
      <p:sp>
        <p:nvSpPr>
          <p:cNvPr id="24" name="Text 22"/>
          <p:cNvSpPr/>
          <p:nvPr/>
        </p:nvSpPr>
        <p:spPr>
          <a:xfrm>
            <a:off x="9848088" y="4498848"/>
            <a:ext cx="2157984" cy="1005840"/>
          </a:xfrm>
          <a:prstGeom prst="rect">
            <a:avLst/>
          </a:prstGeom>
          <a:noFill/>
          <a:ln/>
        </p:spPr>
        <p:txBody>
          <a:bodyPr wrap="square" lIns="0" tIns="0" rIns="0" bIns="0" rtlCol="0" anchor="ctr"/>
          <a:lstStyle/>
          <a:p>
            <a:pPr marL="0" indent="0" algn="ctr">
              <a:lnSpc>
                <a:spcPct val="108000"/>
              </a:lnSpc>
              <a:buNone/>
            </a:pPr>
            <a:r>
              <a:rPr lang="en-US" sz="1250" dirty="0">
                <a:solidFill>
                  <a:srgbClr val="9FB3C8"/>
                </a:solidFill>
                <a:latin typeface="Calibri" pitchFamily="34" charset="0"/>
                <a:ea typeface="Calibri" pitchFamily="34" charset="-122"/>
                <a:cs typeface="Calibri" pitchFamily="34" charset="-120"/>
              </a:rPr>
              <a:t>Une fois validée (COMMIT), la donnée survit même à une panne.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0"/>
          </a:blip>
          <a:stretch>
            <a:fillRect/>
          </a:stretch>
        </p:blipFill>
        <p:spPr>
          <a:xfrm>
            <a:off x="9144000" y="4023360"/>
            <a:ext cx="3291840" cy="3291840"/>
          </a:xfrm>
          <a:prstGeom prst="rect">
            <a:avLst/>
          </a:prstGeom>
        </p:spPr>
      </p:pic>
      <p:sp>
        <p:nvSpPr>
          <p:cNvPr id="3" name="Text 0"/>
          <p:cNvSpPr/>
          <p:nvPr/>
        </p:nvSpPr>
        <p:spPr>
          <a:xfrm>
            <a:off x="868680" y="777240"/>
            <a:ext cx="5486400" cy="320040"/>
          </a:xfrm>
          <a:prstGeom prst="rect">
            <a:avLst/>
          </a:prstGeom>
          <a:noFill/>
          <a:ln/>
        </p:spPr>
        <p:txBody>
          <a:bodyPr wrap="square" lIns="0" tIns="0" rIns="0" bIns="0" rtlCol="0" anchor="ctr"/>
          <a:lstStyle/>
          <a:p>
            <a:pPr marL="0" indent="0">
              <a:buNone/>
            </a:pPr>
            <a:r>
              <a:rPr lang="en-US" sz="1300" b="1" kern="0" spc="400" dirty="0">
                <a:solidFill>
                  <a:srgbClr val="5EEAD4"/>
                </a:solidFill>
                <a:latin typeface="Calibri" pitchFamily="34" charset="0"/>
                <a:ea typeface="Calibri" pitchFamily="34" charset="-122"/>
                <a:cs typeface="Calibri" pitchFamily="34" charset="-120"/>
              </a:rPr>
              <a:t>EN PRATIQUE</a:t>
            </a:r>
            <a:endParaRPr lang="en-US" sz="1300" dirty="0"/>
          </a:p>
        </p:txBody>
      </p:sp>
      <p:sp>
        <p:nvSpPr>
          <p:cNvPr id="4" name="Text 1"/>
          <p:cNvSpPr/>
          <p:nvPr/>
        </p:nvSpPr>
        <p:spPr>
          <a:xfrm>
            <a:off x="822960" y="1097280"/>
            <a:ext cx="10515600" cy="8229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Pour démarrer du bon pied</a:t>
            </a:r>
            <a:endParaRPr lang="en-US" sz="3800" dirty="0"/>
          </a:p>
        </p:txBody>
      </p:sp>
      <p:sp>
        <p:nvSpPr>
          <p:cNvPr id="5" name="Shape 2"/>
          <p:cNvSpPr/>
          <p:nvPr/>
        </p:nvSpPr>
        <p:spPr>
          <a:xfrm>
            <a:off x="841248" y="2286000"/>
            <a:ext cx="7863840" cy="868680"/>
          </a:xfrm>
          <a:prstGeom prst="roundRect">
            <a:avLst>
              <a:gd name="adj" fmla="val 8421"/>
            </a:avLst>
          </a:prstGeom>
          <a:solidFill>
            <a:srgbClr val="13314F"/>
          </a:solidFill>
          <a:ln/>
        </p:spPr>
      </p:sp>
      <p:sp>
        <p:nvSpPr>
          <p:cNvPr id="6" name="Shape 3"/>
          <p:cNvSpPr/>
          <p:nvPr/>
        </p:nvSpPr>
        <p:spPr>
          <a:xfrm>
            <a:off x="1051560" y="2468880"/>
            <a:ext cx="502920" cy="502920"/>
          </a:xfrm>
          <a:prstGeom prst="ellipse">
            <a:avLst/>
          </a:prstGeom>
          <a:solidFill>
            <a:srgbClr val="14B8A6"/>
          </a:solidFill>
          <a:ln/>
          <a:effectLst>
            <a:outerShdw blurRad="114300" dist="38100" dir="5400000" algn="bl" rotWithShape="0">
              <a:srgbClr val="0B1F33">
                <a:alpha val="16000"/>
              </a:srgbClr>
            </a:outerShdw>
          </a:effectLst>
        </p:spPr>
      </p:sp>
      <p:pic>
        <p:nvPicPr>
          <p:cNvPr id="7" name="Image 1" descr="preencoded.png"/>
          <p:cNvPicPr>
            <a:picLocks noChangeAspect="1"/>
          </p:cNvPicPr>
          <p:nvPr/>
        </p:nvPicPr>
        <p:blipFill>
          <a:blip r:embed="rId4"/>
          <a:stretch>
            <a:fillRect/>
          </a:stretch>
        </p:blipFill>
        <p:spPr>
          <a:xfrm>
            <a:off x="1187348" y="2604668"/>
            <a:ext cx="231343" cy="231343"/>
          </a:xfrm>
          <a:prstGeom prst="rect">
            <a:avLst/>
          </a:prstGeom>
        </p:spPr>
      </p:pic>
      <p:sp>
        <p:nvSpPr>
          <p:cNvPr id="8" name="Text 4"/>
          <p:cNvSpPr/>
          <p:nvPr/>
        </p:nvSpPr>
        <p:spPr>
          <a:xfrm>
            <a:off x="1783080" y="2414016"/>
            <a:ext cx="2743200" cy="603504"/>
          </a:xfrm>
          <a:prstGeom prst="rect">
            <a:avLst/>
          </a:prstGeom>
          <a:noFill/>
          <a:ln/>
        </p:spPr>
        <p:txBody>
          <a:bodyPr wrap="square" lIns="0" tIns="0" rIns="0" bIns="0" rtlCol="0" anchor="ctr"/>
          <a:lstStyle/>
          <a:p>
            <a:pPr marL="0" indent="0">
              <a:buNone/>
            </a:pPr>
            <a:r>
              <a:rPr lang="en-US" sz="1550" b="1" dirty="0">
                <a:solidFill>
                  <a:srgbClr val="E8EEF4"/>
                </a:solidFill>
                <a:latin typeface="Cambria" pitchFamily="34" charset="0"/>
                <a:ea typeface="Cambria" pitchFamily="34" charset="-122"/>
                <a:cs typeface="Cambria" pitchFamily="34" charset="-120"/>
              </a:rPr>
              <a:t>Choisir un SGBD</a:t>
            </a:r>
            <a:endParaRPr lang="en-US" sz="1550" dirty="0"/>
          </a:p>
        </p:txBody>
      </p:sp>
      <p:sp>
        <p:nvSpPr>
          <p:cNvPr id="9" name="Text 5"/>
          <p:cNvSpPr/>
          <p:nvPr/>
        </p:nvSpPr>
        <p:spPr>
          <a:xfrm>
            <a:off x="4572000" y="2414016"/>
            <a:ext cx="3977640" cy="603504"/>
          </a:xfrm>
          <a:prstGeom prst="rect">
            <a:avLst/>
          </a:prstGeom>
          <a:noFill/>
          <a:ln/>
        </p:spPr>
        <p:txBody>
          <a:bodyPr wrap="square" lIns="0" tIns="0" rIns="0" bIns="0" rtlCol="0" anchor="ctr"/>
          <a:lstStyle/>
          <a:p>
            <a:pPr marL="0" indent="0">
              <a:lnSpc>
                <a:spcPct val="100000"/>
              </a:lnSpc>
              <a:buNone/>
            </a:pPr>
            <a:r>
              <a:rPr lang="en-US" sz="1180" dirty="0">
                <a:solidFill>
                  <a:srgbClr val="9FB3C8"/>
                </a:solidFill>
                <a:latin typeface="Calibri" pitchFamily="34" charset="0"/>
                <a:ea typeface="Calibri" pitchFamily="34" charset="-122"/>
                <a:cs typeface="Calibri" pitchFamily="34" charset="-120"/>
              </a:rPr>
              <a:t>Annoncez celui des tutos (ex. MySQL, PostgreSQL ou SQLite) et son installation.</a:t>
            </a:r>
            <a:endParaRPr lang="en-US" sz="1180" dirty="0"/>
          </a:p>
        </p:txBody>
      </p:sp>
      <p:sp>
        <p:nvSpPr>
          <p:cNvPr id="10" name="Shape 6"/>
          <p:cNvSpPr/>
          <p:nvPr/>
        </p:nvSpPr>
        <p:spPr>
          <a:xfrm>
            <a:off x="841248" y="3273552"/>
            <a:ext cx="7863840" cy="868680"/>
          </a:xfrm>
          <a:prstGeom prst="roundRect">
            <a:avLst>
              <a:gd name="adj" fmla="val 8421"/>
            </a:avLst>
          </a:prstGeom>
          <a:solidFill>
            <a:srgbClr val="13314F"/>
          </a:solidFill>
          <a:ln/>
        </p:spPr>
      </p:sp>
      <p:sp>
        <p:nvSpPr>
          <p:cNvPr id="11" name="Shape 7"/>
          <p:cNvSpPr/>
          <p:nvPr/>
        </p:nvSpPr>
        <p:spPr>
          <a:xfrm>
            <a:off x="1051560" y="3456432"/>
            <a:ext cx="502920" cy="502920"/>
          </a:xfrm>
          <a:prstGeom prst="ellipse">
            <a:avLst/>
          </a:prstGeom>
          <a:solidFill>
            <a:srgbClr val="F59E0B"/>
          </a:solidFill>
          <a:ln/>
          <a:effectLst>
            <a:outerShdw blurRad="114300" dist="38100" dir="5400000" algn="bl" rotWithShape="0">
              <a:srgbClr val="0B1F33">
                <a:alpha val="16000"/>
              </a:srgbClr>
            </a:outerShdw>
          </a:effectLst>
        </p:spPr>
      </p:sp>
      <p:pic>
        <p:nvPicPr>
          <p:cNvPr id="12" name="Image 2" descr="preencoded.png"/>
          <p:cNvPicPr>
            <a:picLocks noChangeAspect="1"/>
          </p:cNvPicPr>
          <p:nvPr/>
        </p:nvPicPr>
        <p:blipFill>
          <a:blip r:embed="rId5"/>
          <a:stretch>
            <a:fillRect/>
          </a:stretch>
        </p:blipFill>
        <p:spPr>
          <a:xfrm>
            <a:off x="1187348" y="3592220"/>
            <a:ext cx="231343" cy="231343"/>
          </a:xfrm>
          <a:prstGeom prst="rect">
            <a:avLst/>
          </a:prstGeom>
        </p:spPr>
      </p:pic>
      <p:sp>
        <p:nvSpPr>
          <p:cNvPr id="13" name="Text 8"/>
          <p:cNvSpPr/>
          <p:nvPr/>
        </p:nvSpPr>
        <p:spPr>
          <a:xfrm>
            <a:off x="1783080" y="3401568"/>
            <a:ext cx="2743200" cy="603504"/>
          </a:xfrm>
          <a:prstGeom prst="rect">
            <a:avLst/>
          </a:prstGeom>
          <a:noFill/>
          <a:ln/>
        </p:spPr>
        <p:txBody>
          <a:bodyPr wrap="square" lIns="0" tIns="0" rIns="0" bIns="0" rtlCol="0" anchor="ctr"/>
          <a:lstStyle/>
          <a:p>
            <a:pPr marL="0" indent="0">
              <a:buNone/>
            </a:pPr>
            <a:r>
              <a:rPr lang="en-US" sz="1550" b="1" dirty="0">
                <a:solidFill>
                  <a:srgbClr val="E8EEF4"/>
                </a:solidFill>
                <a:latin typeface="Cambria" pitchFamily="34" charset="0"/>
                <a:ea typeface="Cambria" pitchFamily="34" charset="-122"/>
                <a:cs typeface="Cambria" pitchFamily="34" charset="-120"/>
              </a:rPr>
              <a:t>Un bac à sable</a:t>
            </a:r>
            <a:endParaRPr lang="en-US" sz="1550" dirty="0"/>
          </a:p>
        </p:txBody>
      </p:sp>
      <p:sp>
        <p:nvSpPr>
          <p:cNvPr id="14" name="Text 9"/>
          <p:cNvSpPr/>
          <p:nvPr/>
        </p:nvSpPr>
        <p:spPr>
          <a:xfrm>
            <a:off x="4572000" y="3401568"/>
            <a:ext cx="3977640" cy="603504"/>
          </a:xfrm>
          <a:prstGeom prst="rect">
            <a:avLst/>
          </a:prstGeom>
          <a:noFill/>
          <a:ln/>
        </p:spPr>
        <p:txBody>
          <a:bodyPr wrap="square" lIns="0" tIns="0" rIns="0" bIns="0" rtlCol="0" anchor="ctr"/>
          <a:lstStyle/>
          <a:p>
            <a:pPr marL="0" indent="0">
              <a:lnSpc>
                <a:spcPct val="100000"/>
              </a:lnSpc>
              <a:buNone/>
            </a:pPr>
            <a:r>
              <a:rPr lang="en-US" sz="1180" dirty="0">
                <a:solidFill>
                  <a:srgbClr val="9FB3C8"/>
                </a:solidFill>
                <a:latin typeface="Calibri" pitchFamily="34" charset="0"/>
                <a:ea typeface="Calibri" pitchFamily="34" charset="-122"/>
                <a:cs typeface="Calibri" pitchFamily="34" charset="-120"/>
              </a:rPr>
              <a:t>Proposez un environnement sans installation : DB Fiddle, SQLite dans le navigateur…</a:t>
            </a:r>
            <a:endParaRPr lang="en-US" sz="1180" dirty="0"/>
          </a:p>
        </p:txBody>
      </p:sp>
      <p:sp>
        <p:nvSpPr>
          <p:cNvPr id="15" name="Shape 10"/>
          <p:cNvSpPr/>
          <p:nvPr/>
        </p:nvSpPr>
        <p:spPr>
          <a:xfrm>
            <a:off x="841248" y="4261104"/>
            <a:ext cx="7863840" cy="868680"/>
          </a:xfrm>
          <a:prstGeom prst="roundRect">
            <a:avLst>
              <a:gd name="adj" fmla="val 8421"/>
            </a:avLst>
          </a:prstGeom>
          <a:solidFill>
            <a:srgbClr val="13314F"/>
          </a:solidFill>
          <a:ln/>
        </p:spPr>
      </p:sp>
      <p:sp>
        <p:nvSpPr>
          <p:cNvPr id="16" name="Shape 11"/>
          <p:cNvSpPr/>
          <p:nvPr/>
        </p:nvSpPr>
        <p:spPr>
          <a:xfrm>
            <a:off x="1051560" y="4443984"/>
            <a:ext cx="502920" cy="502920"/>
          </a:xfrm>
          <a:prstGeom prst="ellipse">
            <a:avLst/>
          </a:prstGeom>
          <a:solidFill>
            <a:srgbClr val="14B8A6"/>
          </a:solidFill>
          <a:ln/>
          <a:effectLst>
            <a:outerShdw blurRad="114300" dist="38100" dir="5400000" algn="bl" rotWithShape="0">
              <a:srgbClr val="0B1F33">
                <a:alpha val="16000"/>
              </a:srgbClr>
            </a:outerShdw>
          </a:effectLst>
        </p:spPr>
      </p:sp>
      <p:pic>
        <p:nvPicPr>
          <p:cNvPr id="17" name="Image 3" descr="preencoded.png"/>
          <p:cNvPicPr>
            <a:picLocks noChangeAspect="1"/>
          </p:cNvPicPr>
          <p:nvPr/>
        </p:nvPicPr>
        <p:blipFill>
          <a:blip r:embed="rId6"/>
          <a:stretch>
            <a:fillRect/>
          </a:stretch>
        </p:blipFill>
        <p:spPr>
          <a:xfrm>
            <a:off x="1187348" y="4579772"/>
            <a:ext cx="231343" cy="231343"/>
          </a:xfrm>
          <a:prstGeom prst="rect">
            <a:avLst/>
          </a:prstGeom>
        </p:spPr>
      </p:pic>
      <p:sp>
        <p:nvSpPr>
          <p:cNvPr id="18" name="Text 12"/>
          <p:cNvSpPr/>
          <p:nvPr/>
        </p:nvSpPr>
        <p:spPr>
          <a:xfrm>
            <a:off x="1783080" y="4389120"/>
            <a:ext cx="2743200" cy="603504"/>
          </a:xfrm>
          <a:prstGeom prst="rect">
            <a:avLst/>
          </a:prstGeom>
          <a:noFill/>
          <a:ln/>
        </p:spPr>
        <p:txBody>
          <a:bodyPr wrap="square" lIns="0" tIns="0" rIns="0" bIns="0" rtlCol="0" anchor="ctr"/>
          <a:lstStyle/>
          <a:p>
            <a:pPr marL="0" indent="0">
              <a:buNone/>
            </a:pPr>
            <a:r>
              <a:rPr lang="en-US" sz="1550" b="1" dirty="0">
                <a:solidFill>
                  <a:srgbClr val="E8EEF4"/>
                </a:solidFill>
                <a:latin typeface="Cambria" pitchFamily="34" charset="0"/>
                <a:ea typeface="Cambria" pitchFamily="34" charset="-122"/>
                <a:cs typeface="Cambria" pitchFamily="34" charset="-120"/>
              </a:rPr>
              <a:t>Un jeu de données fil rouge</a:t>
            </a:r>
            <a:endParaRPr lang="en-US" sz="1550" dirty="0"/>
          </a:p>
        </p:txBody>
      </p:sp>
      <p:sp>
        <p:nvSpPr>
          <p:cNvPr id="19" name="Text 13"/>
          <p:cNvSpPr/>
          <p:nvPr/>
        </p:nvSpPr>
        <p:spPr>
          <a:xfrm>
            <a:off x="4572000" y="4389120"/>
            <a:ext cx="3977640" cy="603504"/>
          </a:xfrm>
          <a:prstGeom prst="rect">
            <a:avLst/>
          </a:prstGeom>
          <a:noFill/>
          <a:ln/>
        </p:spPr>
        <p:txBody>
          <a:bodyPr wrap="square" lIns="0" tIns="0" rIns="0" bIns="0" rtlCol="0" anchor="ctr"/>
          <a:lstStyle/>
          <a:p>
            <a:pPr marL="0" indent="0">
              <a:lnSpc>
                <a:spcPct val="100000"/>
              </a:lnSpc>
              <a:buNone/>
            </a:pPr>
            <a:r>
              <a:rPr lang="en-US" sz="1180" dirty="0">
                <a:solidFill>
                  <a:srgbClr val="9FB3C8"/>
                </a:solidFill>
                <a:latin typeface="Calibri" pitchFamily="34" charset="0"/>
                <a:ea typeface="Calibri" pitchFamily="34" charset="-122"/>
                <a:cs typeface="Calibri" pitchFamily="34" charset="-120"/>
              </a:rPr>
              <a:t>La base « Gestion Hospitalière » (patients · consultations · médecins…) tout au long de la série.</a:t>
            </a:r>
            <a:endParaRPr lang="en-US" sz="1180" dirty="0"/>
          </a:p>
        </p:txBody>
      </p:sp>
      <p:sp>
        <p:nvSpPr>
          <p:cNvPr id="20" name="Shape 14"/>
          <p:cNvSpPr/>
          <p:nvPr/>
        </p:nvSpPr>
        <p:spPr>
          <a:xfrm>
            <a:off x="841248" y="5248656"/>
            <a:ext cx="7863840" cy="868680"/>
          </a:xfrm>
          <a:prstGeom prst="roundRect">
            <a:avLst>
              <a:gd name="adj" fmla="val 8421"/>
            </a:avLst>
          </a:prstGeom>
          <a:solidFill>
            <a:srgbClr val="13314F"/>
          </a:solidFill>
          <a:ln/>
        </p:spPr>
      </p:sp>
      <p:sp>
        <p:nvSpPr>
          <p:cNvPr id="21" name="Shape 15"/>
          <p:cNvSpPr/>
          <p:nvPr/>
        </p:nvSpPr>
        <p:spPr>
          <a:xfrm>
            <a:off x="1051560" y="5431536"/>
            <a:ext cx="502920" cy="502920"/>
          </a:xfrm>
          <a:prstGeom prst="ellipse">
            <a:avLst/>
          </a:prstGeom>
          <a:solidFill>
            <a:srgbClr val="F59E0B"/>
          </a:solidFill>
          <a:ln/>
          <a:effectLst>
            <a:outerShdw blurRad="114300" dist="38100" dir="5400000" algn="bl" rotWithShape="0">
              <a:srgbClr val="0B1F33">
                <a:alpha val="16000"/>
              </a:srgbClr>
            </a:outerShdw>
          </a:effectLst>
        </p:spPr>
      </p:sp>
      <p:pic>
        <p:nvPicPr>
          <p:cNvPr id="22" name="Image 4" descr="preencoded.png"/>
          <p:cNvPicPr>
            <a:picLocks noChangeAspect="1"/>
          </p:cNvPicPr>
          <p:nvPr/>
        </p:nvPicPr>
        <p:blipFill>
          <a:blip r:embed="rId7"/>
          <a:stretch>
            <a:fillRect/>
          </a:stretch>
        </p:blipFill>
        <p:spPr>
          <a:xfrm>
            <a:off x="1187348" y="5567324"/>
            <a:ext cx="231343" cy="231343"/>
          </a:xfrm>
          <a:prstGeom prst="rect">
            <a:avLst/>
          </a:prstGeom>
        </p:spPr>
      </p:pic>
      <p:sp>
        <p:nvSpPr>
          <p:cNvPr id="23" name="Text 16"/>
          <p:cNvSpPr/>
          <p:nvPr/>
        </p:nvSpPr>
        <p:spPr>
          <a:xfrm>
            <a:off x="1783080" y="5376672"/>
            <a:ext cx="2743200" cy="603504"/>
          </a:xfrm>
          <a:prstGeom prst="rect">
            <a:avLst/>
          </a:prstGeom>
          <a:noFill/>
          <a:ln/>
        </p:spPr>
        <p:txBody>
          <a:bodyPr wrap="square" lIns="0" tIns="0" rIns="0" bIns="0" rtlCol="0" anchor="ctr"/>
          <a:lstStyle/>
          <a:p>
            <a:pPr marL="0" indent="0">
              <a:buNone/>
            </a:pPr>
            <a:r>
              <a:rPr lang="en-US" sz="1550" b="1" dirty="0">
                <a:solidFill>
                  <a:srgbClr val="E8EEF4"/>
                </a:solidFill>
                <a:latin typeface="Cambria" pitchFamily="34" charset="0"/>
                <a:ea typeface="Cambria" pitchFamily="34" charset="-122"/>
                <a:cs typeface="Cambria" pitchFamily="34" charset="-120"/>
              </a:rPr>
              <a:t>Pratiquer dès le début</a:t>
            </a:r>
            <a:endParaRPr lang="en-US" sz="1550" dirty="0"/>
          </a:p>
        </p:txBody>
      </p:sp>
      <p:sp>
        <p:nvSpPr>
          <p:cNvPr id="24" name="Text 17"/>
          <p:cNvSpPr/>
          <p:nvPr/>
        </p:nvSpPr>
        <p:spPr>
          <a:xfrm>
            <a:off x="4572000" y="5376672"/>
            <a:ext cx="3977640" cy="603504"/>
          </a:xfrm>
          <a:prstGeom prst="rect">
            <a:avLst/>
          </a:prstGeom>
          <a:noFill/>
          <a:ln/>
        </p:spPr>
        <p:txBody>
          <a:bodyPr wrap="square" lIns="0" tIns="0" rIns="0" bIns="0" rtlCol="0" anchor="ctr"/>
          <a:lstStyle/>
          <a:p>
            <a:pPr marL="0" indent="0">
              <a:lnSpc>
                <a:spcPct val="100000"/>
              </a:lnSpc>
              <a:buNone/>
            </a:pPr>
            <a:r>
              <a:rPr lang="en-US" sz="1180" dirty="0">
                <a:solidFill>
                  <a:srgbClr val="9FB3C8"/>
                </a:solidFill>
                <a:latin typeface="Calibri" pitchFamily="34" charset="0"/>
                <a:ea typeface="Calibri" pitchFamily="34" charset="-122"/>
                <a:cs typeface="Calibri" pitchFamily="34" charset="-120"/>
              </a:rPr>
              <a:t>Chaque notion s'accompagne d'une requête à exécuter soi-même.</a:t>
            </a:r>
            <a:endParaRPr lang="en-US" sz="1180" dirty="0"/>
          </a:p>
        </p:txBody>
      </p:sp>
      <p:sp>
        <p:nvSpPr>
          <p:cNvPr id="25" name="Shape 18"/>
          <p:cNvSpPr/>
          <p:nvPr/>
        </p:nvSpPr>
        <p:spPr>
          <a:xfrm>
            <a:off x="868680" y="6400800"/>
            <a:ext cx="1280160" cy="0"/>
          </a:xfrm>
          <a:prstGeom prst="line">
            <a:avLst/>
          </a:prstGeom>
          <a:noFill/>
          <a:ln w="38100">
            <a:solidFill>
              <a:srgbClr val="F59E0B"/>
            </a:solidFill>
            <a:prstDash val="solid"/>
          </a:ln>
        </p:spPr>
      </p:sp>
      <p:sp>
        <p:nvSpPr>
          <p:cNvPr id="26" name="Text 19"/>
          <p:cNvSpPr/>
          <p:nvPr/>
        </p:nvSpPr>
        <p:spPr>
          <a:xfrm>
            <a:off x="868680" y="6473952"/>
            <a:ext cx="10058400" cy="365760"/>
          </a:xfrm>
          <a:prstGeom prst="rect">
            <a:avLst/>
          </a:prstGeom>
          <a:noFill/>
          <a:ln/>
        </p:spPr>
        <p:txBody>
          <a:bodyPr wrap="square" lIns="0" tIns="0" rIns="0" bIns="0" rtlCol="0" anchor="ctr"/>
          <a:lstStyle/>
          <a:p>
            <a:pPr marL="0" indent="0">
              <a:buNone/>
            </a:pPr>
            <a:r>
              <a:rPr lang="en-US" sz="1400" i="1" dirty="0">
                <a:solidFill>
                  <a:srgbClr val="5EEAD4"/>
                </a:solidFill>
                <a:latin typeface="Calibri" pitchFamily="34" charset="0"/>
                <a:ea typeface="Calibri" pitchFamily="34" charset="-122"/>
                <a:cs typeface="Calibri" pitchFamily="34" charset="-120"/>
              </a:rPr>
              <a:t>Prochaine étape  ·  Installer le </a:t>
            </a:r>
            <a:r>
              <a:rPr lang="en-US" sz="1400" i="1" dirty="0" err="1">
                <a:solidFill>
                  <a:srgbClr val="5EEAD4"/>
                </a:solidFill>
                <a:latin typeface="Calibri" pitchFamily="34" charset="0"/>
                <a:ea typeface="Calibri" pitchFamily="34" charset="-122"/>
                <a:cs typeface="Calibri" pitchFamily="34" charset="-120"/>
              </a:rPr>
              <a:t>systheme</a:t>
            </a:r>
            <a:r>
              <a:rPr lang="en-US" sz="1400" i="1" dirty="0">
                <a:solidFill>
                  <a:srgbClr val="5EEAD4"/>
                </a:solidFill>
                <a:latin typeface="Calibri" pitchFamily="34" charset="0"/>
                <a:ea typeface="Calibri" pitchFamily="34" charset="-122"/>
                <a:cs typeface="Calibri" pitchFamily="34" charset="-120"/>
              </a:rPr>
              <a:t> </a:t>
            </a:r>
            <a:r>
              <a:rPr lang="en-US" sz="1400" i="1" dirty="0" err="1">
                <a:solidFill>
                  <a:srgbClr val="5EEAD4"/>
                </a:solidFill>
                <a:latin typeface="Calibri" pitchFamily="34" charset="0"/>
                <a:ea typeface="Calibri" pitchFamily="34" charset="-122"/>
                <a:cs typeface="Calibri" pitchFamily="34" charset="-120"/>
              </a:rPr>
              <a:t>que</a:t>
            </a:r>
            <a:r>
              <a:rPr lang="en-US" sz="1400" i="1" dirty="0">
                <a:solidFill>
                  <a:srgbClr val="5EEAD4"/>
                </a:solidFill>
                <a:latin typeface="Calibri" pitchFamily="34" charset="0"/>
                <a:ea typeface="Calibri" pitchFamily="34" charset="-122"/>
                <a:cs typeface="Calibri" pitchFamily="34" charset="-120"/>
              </a:rPr>
              <a:t> nous </a:t>
            </a:r>
            <a:r>
              <a:rPr lang="en-US" sz="1400" i="1" dirty="0" err="1">
                <a:solidFill>
                  <a:srgbClr val="5EEAD4"/>
                </a:solidFill>
                <a:latin typeface="Calibri" pitchFamily="34" charset="0"/>
                <a:ea typeface="Calibri" pitchFamily="34" charset="-122"/>
                <a:cs typeface="Calibri" pitchFamily="34" charset="-120"/>
              </a:rPr>
              <a:t>utiliserons</a:t>
            </a:r>
            <a:r>
              <a:rPr lang="en-US" sz="1400" i="1" dirty="0">
                <a:solidFill>
                  <a:srgbClr val="5EEAD4"/>
                </a:solidFill>
                <a:latin typeface="Calibri" pitchFamily="34" charset="0"/>
                <a:ea typeface="Calibri" pitchFamily="34" charset="-122"/>
                <a:cs typeface="Calibri" pitchFamily="34" charset="-120"/>
              </a:rPr>
              <a:t> tout au long de </a:t>
            </a:r>
            <a:r>
              <a:rPr lang="en-US" sz="1400" i="1" dirty="0" err="1">
                <a:solidFill>
                  <a:srgbClr val="5EEAD4"/>
                </a:solidFill>
                <a:latin typeface="Calibri" pitchFamily="34" charset="0"/>
                <a:ea typeface="Calibri" pitchFamily="34" charset="-122"/>
                <a:cs typeface="Calibri" pitchFamily="34" charset="-120"/>
              </a:rPr>
              <a:t>ce</a:t>
            </a:r>
            <a:r>
              <a:rPr lang="en-US" sz="1400" i="1" dirty="0">
                <a:solidFill>
                  <a:srgbClr val="5EEAD4"/>
                </a:solidFill>
                <a:latin typeface="Calibri" pitchFamily="34" charset="0"/>
                <a:ea typeface="Calibri" pitchFamily="34" charset="-122"/>
                <a:cs typeface="Calibri" pitchFamily="34" charset="-120"/>
              </a:rPr>
              <a:t> </a:t>
            </a:r>
            <a:r>
              <a:rPr lang="en-US" sz="1400" i="1" dirty="0" err="1">
                <a:solidFill>
                  <a:srgbClr val="5EEAD4"/>
                </a:solidFill>
                <a:latin typeface="Calibri" pitchFamily="34" charset="0"/>
                <a:ea typeface="Calibri" pitchFamily="34" charset="-122"/>
                <a:cs typeface="Calibri" pitchFamily="34" charset="-120"/>
              </a:rPr>
              <a:t>cours</a:t>
            </a:r>
            <a:endParaRPr lang="en-US" sz="1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é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348</TotalTime>
  <Words>1182</Words>
  <Application>Microsoft Office PowerPoint</Application>
  <PresentationFormat>Grand écran</PresentationFormat>
  <Paragraphs>193</Paragraphs>
  <Slides>11</Slides>
  <Notes>11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11</vt:i4>
      </vt:variant>
    </vt:vector>
  </HeadingPairs>
  <TitlesOfParts>
    <vt:vector size="18" baseType="lpstr">
      <vt:lpstr>Calibri</vt:lpstr>
      <vt:lpstr>Cambria</vt:lpstr>
      <vt:lpstr>Courier New</vt:lpstr>
      <vt:lpstr>Tw Cen MT</vt:lpstr>
      <vt:lpstr>Tw Cen MT Condensed</vt:lpstr>
      <vt:lpstr>Wingdings 3</vt:lpstr>
      <vt:lpstr>Intégral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 SQL</dc:title>
  <dc:subject>PptxGenJS Presentation</dc:subject>
  <dc:creator>Tutoriels SQL</dc:creator>
  <cp:lastModifiedBy>Fabien Nacheley</cp:lastModifiedBy>
  <cp:revision>2</cp:revision>
  <dcterms:created xsi:type="dcterms:W3CDTF">2026-06-24T21:01:38Z</dcterms:created>
  <dcterms:modified xsi:type="dcterms:W3CDTF">2026-06-26T02:38:41Z</dcterms:modified>
</cp:coreProperties>
</file>